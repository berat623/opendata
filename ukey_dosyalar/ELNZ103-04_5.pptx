
<file path=[Content_Types].xml><?xml version="1.0" encoding="utf-8"?>
<Types xmlns="http://schemas.openxmlformats.org/package/2006/content-types">
  <Override PartName="/ppt/slides/slide47.xml" ContentType="application/vnd.openxmlformats-officedocument.presentationml.slide+xml"/>
  <Override PartName="/ppt/slides/slide94.xml" ContentType="application/vnd.openxmlformats-officedocument.presentationml.slide+xml"/>
  <Override PartName="/ppt/slides/slide142.xml" ContentType="application/vnd.openxmlformats-officedocument.presentationml.slide+xml"/>
  <Override PartName="/ppt/slides/slide120.xml" ContentType="application/vnd.openxmlformats-officedocument.presentationml.slide+xml"/>
  <Override PartName="/ppt/slides/slide218.xml" ContentType="application/vnd.openxmlformats-officedocument.presentationml.slide+xml"/>
  <Override PartName="/ppt/notesSlides/notesSlide38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141.xml" ContentType="application/vnd.openxmlformats-officedocument.presentationml.notesSlide+xml"/>
  <Override PartName="/ppt/slides/slide25.xml" ContentType="application/vnd.openxmlformats-officedocument.presentationml.slide+xml"/>
  <Override PartName="/ppt/slides/slide72.xml" ContentType="application/vnd.openxmlformats-officedocument.presentationml.slide+xml"/>
  <Override PartName="/ppt/slideLayouts/slideLayout2.xml" ContentType="application/vnd.openxmlformats-officedocument.presentationml.slideLayout+xml"/>
  <Default Extension="xml" ContentType="application/xml"/>
  <Override PartName="/ppt/slides/slide50.xml" ContentType="application/vnd.openxmlformats-officedocument.presentationml.slide+xml"/>
  <Override PartName="/ppt/slides/slide243.xml" ContentType="application/vnd.openxmlformats-officedocument.presentationml.slide+xml"/>
  <Override PartName="/ppt/notesSlides/notesSlide16.xml" ContentType="application/vnd.openxmlformats-officedocument.presentationml.notesSlide+xml"/>
  <Override PartName="/ppt/notesSlides/notesSlide63.xml" ContentType="application/vnd.openxmlformats-officedocument.presentationml.notesSlide+xml"/>
  <Override PartName="/ppt/slides/slide221.xml" ContentType="application/vnd.openxmlformats-officedocument.presentationml.slide+xml"/>
  <Override PartName="/ppt/notesSlides/notesSlide41.xml" ContentType="application/vnd.openxmlformats-officedocument.presentationml.notesSlide+xml"/>
  <Override PartName="/ppt/notesSlides/notesSlide179.xml" ContentType="application/vnd.openxmlformats-officedocument.presentationml.notesSlide+xml"/>
  <Override PartName="/ppt/slides/slide158.xml" ContentType="application/vnd.openxmlformats-officedocument.presentationml.slide+xml"/>
  <Override PartName="/ppt/slides/slide136.xml" ContentType="application/vnd.openxmlformats-officedocument.presentationml.slide+xml"/>
  <Override PartName="/ppt/slides/slide183.xml" ContentType="application/vnd.openxmlformats-officedocument.presentationml.slide+xml"/>
  <Override PartName="/ppt/notesSlides/notesSlide7.xml" ContentType="application/vnd.openxmlformats-officedocument.presentationml.notesSlide+xml"/>
  <Override PartName="/ppt/notesSlides/notesSlide157.xml" ContentType="application/vnd.openxmlformats-officedocument.presentationml.notesSlide+xml"/>
  <Override PartName="/ppt/slides/slide88.xml" ContentType="application/vnd.openxmlformats-officedocument.presentationml.slide+xml"/>
  <Override PartName="/ppt/notesSlides/notesSlide135.xml" ContentType="application/vnd.openxmlformats-officedocument.presentationml.notesSlide+xml"/>
  <Override PartName="/ppt/notesSlides/notesSlide182.xml" ContentType="application/vnd.openxmlformats-officedocument.presentationml.notesSlide+xml"/>
  <Override PartName="/ppt/slides/slide19.xml" ContentType="application/vnd.openxmlformats-officedocument.presentationml.slide+xml"/>
  <Override PartName="/ppt/slides/slide66.xml" ContentType="application/vnd.openxmlformats-officedocument.presentationml.slide+xml"/>
  <Override PartName="/ppt/slides/slide114.xml" ContentType="application/vnd.openxmlformats-officedocument.presentationml.slide+xml"/>
  <Override PartName="/ppt/slides/slide161.xml" ContentType="application/vnd.openxmlformats-officedocument.presentationml.slide+xml"/>
  <Default Extension="png" ContentType="image/png"/>
  <Override PartName="/ppt/notesSlides/notesSlide79.xml" ContentType="application/vnd.openxmlformats-officedocument.presentationml.notesSlide+xml"/>
  <Override PartName="/ppt/slides/slide237.xml" ContentType="application/vnd.openxmlformats-officedocument.presentationml.slide+xml"/>
  <Override PartName="/ppt/theme/theme2.xml" ContentType="application/vnd.openxmlformats-officedocument.theme+xml"/>
  <Override PartName="/ppt/notesSlides/notesSlide57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60.xml" ContentType="application/vnd.openxmlformats-officedocument.presentationml.notesSlide+xml"/>
  <Override PartName="/ppt/slides/slide44.xml" ContentType="application/vnd.openxmlformats-officedocument.presentationml.slide+xml"/>
  <Override PartName="/ppt/slides/slide91.xml" ContentType="application/vnd.openxmlformats-officedocument.presentationml.slide+xml"/>
  <Override PartName="/ppt/slides/slide215.xml" ContentType="application/vnd.openxmlformats-officedocument.presentationml.slide+xml"/>
  <Override PartName="/ppt/slides/slide22.xml" ContentType="application/vnd.openxmlformats-officedocument.presentationml.slide+xml"/>
  <Override PartName="/ppt/slides/slide199.xml" ContentType="application/vnd.openxmlformats-officedocument.presentationml.slide+xml"/>
  <Override PartName="/ppt/notesSlides/notesSlide35.xml" ContentType="application/vnd.openxmlformats-officedocument.presentationml.notesSlide+xml"/>
  <Override PartName="/ppt/notesSlides/notesSlide82.xml" ContentType="application/vnd.openxmlformats-officedocument.presentationml.notesSlide+xml"/>
  <Override PartName="/ppt/slides/slide24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60.xml" ContentType="application/vnd.openxmlformats-officedocument.presentationml.notesSlide+xml"/>
  <Override PartName="/ppt/slides/slide177.xml" ContentType="application/vnd.openxmlformats-officedocument.presentationml.slide+xml"/>
  <Override PartName="/ppt/notesSlides/notesSlide129.xml" ContentType="application/vnd.openxmlformats-officedocument.presentationml.notesSlide+xml"/>
  <Override PartName="/ppt/notesSlides/notesSlide176.xml" ContentType="application/vnd.openxmlformats-officedocument.presentationml.notesSlide+xml"/>
  <Override PartName="/ppt/slides/slide108.xml" ContentType="application/vnd.openxmlformats-officedocument.presentationml.slide+xml"/>
  <Override PartName="/ppt/slides/slide155.xml" ContentType="application/vnd.openxmlformats-officedocument.presentationml.slide+xml"/>
  <Override PartName="/ppt/notesSlides/notesSlide4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54.xml" ContentType="application/vnd.openxmlformats-officedocument.presentationml.notesSlide+xml"/>
  <Override PartName="/ppt/slides/slide38.xml" ContentType="application/vnd.openxmlformats-officedocument.presentationml.slide+xml"/>
  <Override PartName="/ppt/slides/slide85.xml" ContentType="application/vnd.openxmlformats-officedocument.presentationml.slide+xml"/>
  <Override PartName="/ppt/slides/slide122.xml" ContentType="application/vnd.openxmlformats-officedocument.presentationml.slide+xml"/>
  <Override PartName="/ppt/slides/slide133.xml" ContentType="application/vnd.openxmlformats-officedocument.presentationml.slide+xml"/>
  <Override PartName="/ppt/slides/slide180.xml" ContentType="application/vnd.openxmlformats-officedocument.presentationml.slide+xml"/>
  <Override PartName="/ppt/notesSlides/notesSlide8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90.xml" ContentType="application/vnd.openxmlformats-officedocument.presentationml.notesSlide+xml"/>
  <Override PartName="/ppt/slides/slide27.xml" ContentType="application/vnd.openxmlformats-officedocument.presentationml.slide+xml"/>
  <Override PartName="/ppt/slides/slide74.xml" ContentType="application/vnd.openxmlformats-officedocument.presentationml.slide+xml"/>
  <Override PartName="/ppt/slides/slide111.xml" ContentType="application/vnd.openxmlformats-officedocument.presentationml.slide+xml"/>
  <Override PartName="/ppt/slides/slide209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29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121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100.xml" ContentType="application/vnd.openxmlformats-officedocument.presentationml.slide+xml"/>
  <Override PartName="/ppt/slides/slide234.xml" ContentType="application/vnd.openxmlformats-officedocument.presentationml.slide+xml"/>
  <Override PartName="/ppt/slides/slide245.xml" ContentType="application/vnd.openxmlformats-officedocument.presentationml.slide+xml"/>
  <Override PartName="/ppt/slideLayouts/slideLayout15.xml" ContentType="application/vnd.openxmlformats-officedocument.presentationml.slideLayout+xml"/>
  <Override PartName="/ppt/notesSlides/notesSlide18.xml" ContentType="application/vnd.openxmlformats-officedocument.presentationml.notesSlide+xml"/>
  <Default Extension="wmf" ContentType="image/x-wmf"/>
  <Override PartName="/ppt/notesSlides/notesSlide65.xml" ContentType="application/vnd.openxmlformats-officedocument.presentationml.notesSlide+xml"/>
  <Override PartName="/ppt/notesSlides/notesSlide110.xml" ContentType="application/vnd.openxmlformats-officedocument.presentationml.notesSlide+xml"/>
  <Override PartName="/ppt/slides/slide41.xml" ContentType="application/vnd.openxmlformats-officedocument.presentationml.slide+xml"/>
  <Override PartName="/ppt/slides/slide223.xml" ContentType="application/vnd.openxmlformats-officedocument.presentationml.slide+xml"/>
  <Override PartName="/ppt/notesSlides/notesSlide4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90.xml" ContentType="application/vnd.openxmlformats-officedocument.presentationml.notesSlide+xml"/>
  <Override PartName="/ppt/slides/slide30.xml" ContentType="application/vnd.openxmlformats-officedocument.presentationml.slide+xml"/>
  <Override PartName="/ppt/slides/slide149.xml" ContentType="application/vnd.openxmlformats-officedocument.presentationml.slide+xml"/>
  <Override PartName="/ppt/slides/slide196.xml" ContentType="application/vnd.openxmlformats-officedocument.presentationml.slide+xml"/>
  <Override PartName="/ppt/slides/slide21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138.xml" ContentType="application/vnd.openxmlformats-officedocument.presentationml.slide+xml"/>
  <Override PartName="/ppt/slides/slide185.xml" ContentType="application/vnd.openxmlformats-officedocument.presentationml.slide+xml"/>
  <Override PartName="/ppt/slides/slide201.xml" ContentType="application/vnd.openxmlformats-officedocument.presentationml.slide+xml"/>
  <Override PartName="/ppt/notesSlides/notesSlide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59.xml" ContentType="application/vnd.openxmlformats-officedocument.presentationml.notesSlide+xml"/>
  <Override PartName="/ppt/slides/slide79.xml" ContentType="application/vnd.openxmlformats-officedocument.presentationml.slide+xml"/>
  <Override PartName="/ppt/slides/slide127.xml" ContentType="application/vnd.openxmlformats-officedocument.presentationml.slide+xml"/>
  <Override PartName="/ppt/slides/slide174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84.xml" ContentType="application/vnd.openxmlformats-officedocument.presentationml.notesSlide+xml"/>
  <Override PartName="/ppt/slides/slide7.xml" ContentType="application/vnd.openxmlformats-officedocument.presentationml.slide+xml"/>
  <Override PartName="/ppt/slides/slide68.xml" ContentType="application/vnd.openxmlformats-officedocument.presentationml.slide+xml"/>
  <Override PartName="/ppt/slides/slide116.xml" ContentType="application/vnd.openxmlformats-officedocument.presentationml.slide+xml"/>
  <Override PartName="/ppt/slides/slide163.xml" ContentType="application/vnd.openxmlformats-officedocument.presentationml.slide+xml"/>
  <Override PartName="/ppt/slideLayouts/slideLayout9.xml" ContentType="application/vnd.openxmlformats-officedocument.presentationml.slideLayout+xml"/>
  <Override PartName="/ppt/notesSlides/notesSlide126.xml" ContentType="application/vnd.openxmlformats-officedocument.presentationml.notesSlide+xml"/>
  <Override PartName="/ppt/notesSlides/notesSlide173.xml" ContentType="application/vnd.openxmlformats-officedocument.presentationml.notesSlide+xml"/>
  <Override PartName="/ppt/slides/slide57.xml" ContentType="application/vnd.openxmlformats-officedocument.presentationml.slide+xml"/>
  <Override PartName="/ppt/slides/slide105.xml" ContentType="application/vnd.openxmlformats-officedocument.presentationml.slide+xml"/>
  <Override PartName="/ppt/slides/slide141.xml" ContentType="application/vnd.openxmlformats-officedocument.presentationml.slide+xml"/>
  <Override PartName="/ppt/slides/slide152.xml" ContentType="application/vnd.openxmlformats-officedocument.presentationml.slide+xml"/>
  <Override PartName="/ppt/slides/slide23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62.xml" ContentType="application/vnd.openxmlformats-officedocument.presentationml.notesSlide+xml"/>
  <Override PartName="/ppt/slides/slide46.xml" ContentType="application/vnd.openxmlformats-officedocument.presentationml.slide+xml"/>
  <Override PartName="/ppt/slides/slide93.xml" ContentType="application/vnd.openxmlformats-officedocument.presentationml.slide+xml"/>
  <Override PartName="/ppt/slides/slide130.xml" ContentType="application/vnd.openxmlformats-officedocument.presentationml.slide+xml"/>
  <Override PartName="/ppt/slides/slide217.xml" ContentType="application/vnd.openxmlformats-officedocument.presentationml.slide+xml"/>
  <Override PartName="/ppt/slides/slide228.xml" ContentType="application/vnd.openxmlformats-officedocument.presentationml.slide+xml"/>
  <Override PartName="/ppt/notesSlides/notesSlide48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140.xml" ContentType="application/vnd.openxmlformats-officedocument.presentationml.notesSlide+xml"/>
  <Override PartName="/ppt/slides/slide24.xml" ContentType="application/vnd.openxmlformats-officedocument.presentationml.slide+xml"/>
  <Override PartName="/ppt/slides/slide35.xml" ContentType="application/vnd.openxmlformats-officedocument.presentationml.slide+xml"/>
  <Override PartName="/ppt/slides/slide71.xml" ContentType="application/vnd.openxmlformats-officedocument.presentationml.slide+xml"/>
  <Override PartName="/ppt/slides/slide82.xml" ContentType="application/vnd.openxmlformats-officedocument.presentationml.slide+xml"/>
  <Override PartName="/ppt/slides/slide206.xml" ContentType="application/vnd.openxmlformats-officedocument.presentationml.slide+xml"/>
  <Override PartName="/ppt/slides/slide253.xml" ContentType="application/vnd.openxmlformats-officedocument.presentationml.slide+xml"/>
  <Override PartName="/ppt/notesSlides/notesSlide37.xml" ContentType="application/vnd.openxmlformats-officedocument.presentationml.notesSlide+xml"/>
  <Override PartName="/ppt/notesSlides/notesSlide84.xml" ContentType="application/vnd.openxmlformats-officedocument.presentationml.notesSlide+xml"/>
  <Override PartName="/ppt/slides/slide13.xml" ContentType="application/vnd.openxmlformats-officedocument.presentationml.slide+xml"/>
  <Override PartName="/ppt/slides/slide60.xml" ContentType="application/vnd.openxmlformats-officedocument.presentationml.slide+xml"/>
  <Override PartName="/ppt/slides/slide24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73.xml" ContentType="application/vnd.openxmlformats-officedocument.presentationml.notesSlide+xml"/>
  <Override PartName="/ppt/slides/slide168.xml" ContentType="application/vnd.openxmlformats-officedocument.presentationml.slide+xml"/>
  <Override PartName="/ppt/slides/slide179.xml" ContentType="application/vnd.openxmlformats-officedocument.presentationml.slide+xml"/>
  <Override PartName="/ppt/slides/slide231.xml" ContentType="application/vnd.openxmlformats-officedocument.presentationml.slide+xml"/>
  <Override PartName="/ppt/slideLayouts/slideLayout12.xml" ContentType="application/vnd.openxmlformats-officedocument.presentationml.slideLayout+xml"/>
  <Override PartName="/ppt/notesSlides/notesSlide51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89.xml" ContentType="application/vnd.openxmlformats-officedocument.presentationml.notesSlide+xml"/>
  <Override PartName="/ppt/slides/slide157.xml" ContentType="application/vnd.openxmlformats-officedocument.presentationml.slide+xml"/>
  <Override PartName="/ppt/slides/slide220.xml" ContentType="application/vnd.openxmlformats-officedocument.presentationml.slide+xml"/>
  <Override PartName="/ppt/notesSlides/notesSlide40.xml" ContentType="application/vnd.openxmlformats-officedocument.presentationml.notesSlide+xml"/>
  <Override PartName="/ppt/notesSlides/notesSlide167.xml" ContentType="application/vnd.openxmlformats-officedocument.presentationml.notesSlide+xml"/>
  <Override PartName="/ppt/slides/slide98.xml" ContentType="application/vnd.openxmlformats-officedocument.presentationml.slide+xml"/>
  <Override PartName="/ppt/slides/slide146.xml" ContentType="application/vnd.openxmlformats-officedocument.presentationml.slide+xml"/>
  <Override PartName="/ppt/slides/slide193.xml" ContentType="application/vnd.openxmlformats-officedocument.presentationml.slide+xml"/>
  <Override PartName="/ppt/notesSlides/notesSlide6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56.xml" ContentType="application/vnd.openxmlformats-officedocument.presentationml.notesSlide+xml"/>
  <Override PartName="/ppt/slides/slide87.xml" ContentType="application/vnd.openxmlformats-officedocument.presentationml.slide+xml"/>
  <Override PartName="/ppt/slides/slide124.xml" ContentType="application/vnd.openxmlformats-officedocument.presentationml.slide+xml"/>
  <Override PartName="/ppt/slides/slide135.xml" ContentType="application/vnd.openxmlformats-officedocument.presentationml.slide+xml"/>
  <Override PartName="/ppt/slides/slide171.xml" ContentType="application/vnd.openxmlformats-officedocument.presentationml.slide+xml"/>
  <Override PartName="/ppt/slides/slide182.xml" ContentType="application/vnd.openxmlformats-officedocument.presentationml.slide+xml"/>
  <Override PartName="/ppt/notesSlides/notesSlide89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92.xml" ContentType="application/vnd.openxmlformats-officedocument.presentationml.notesSlide+xml"/>
  <Override PartName="/ppt/slides/slide29.xml" ContentType="application/vnd.openxmlformats-officedocument.presentationml.slide+xml"/>
  <Override PartName="/ppt/slides/slide76.xml" ContentType="application/vnd.openxmlformats-officedocument.presentationml.slide+xml"/>
  <Override PartName="/ppt/slides/slide113.xml" ContentType="application/vnd.openxmlformats-officedocument.presentationml.slide+xml"/>
  <Override PartName="/ppt/slides/slide160.xml" ContentType="application/vnd.openxmlformats-officedocument.presentationml.slide+xml"/>
  <Override PartName="/ppt/notesSlides/notesSlide78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81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s/slide102.xml" ContentType="application/vnd.openxmlformats-officedocument.presentationml.slide+xml"/>
  <Override PartName="/ppt/slides/slide236.xml" ContentType="application/vnd.openxmlformats-officedocument.presentationml.slide+xml"/>
  <Override PartName="/ppt/slides/slide247.xml" ContentType="application/vnd.openxmlformats-officedocument.presentationml.slide+xml"/>
  <Override PartName="/ppt/slideLayouts/slideLayout6.xml" ContentType="application/vnd.openxmlformats-officedocument.presentationml.slideLayout+xml"/>
  <Override PartName="/ppt/notesSlides/notesSlide67.xml" ContentType="application/vnd.openxmlformats-officedocument.presentationml.notesSlide+xml"/>
  <Override PartName="/ppt/notesSlides/notesSlide112.xml" ContentType="application/vnd.openxmlformats-officedocument.presentationml.notesSlide+xml"/>
  <Override PartName="/ppt/slides/slide43.xml" ContentType="application/vnd.openxmlformats-officedocument.presentationml.slide+xml"/>
  <Override PartName="/ppt/slides/slide90.xml" ContentType="application/vnd.openxmlformats-officedocument.presentationml.slide+xml"/>
  <Override PartName="/ppt/slides/slide225.xml" ContentType="application/vnd.openxmlformats-officedocument.presentationml.slide+xml"/>
  <Override PartName="/ppt/theme/theme1.xml" ContentType="application/vnd.openxmlformats-officedocument.theme+xml"/>
  <Override PartName="/ppt/notesSlides/notesSlide4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101.xml" ContentType="application/vnd.openxmlformats-officedocument.presentationml.notesSlide+xml"/>
  <Override PartName="/ppt/slides/slide32.xml" ContentType="application/vnd.openxmlformats-officedocument.presentationml.slide+xml"/>
  <Override PartName="/ppt/slides/slide214.xml" ContentType="application/vnd.openxmlformats-officedocument.presentationml.slide+xml"/>
  <Override PartName="/ppt/notesSlides/notesSlide34.xml" ContentType="application/vnd.openxmlformats-officedocument.presentationml.notesSlide+xml"/>
  <Override PartName="/ppt/notesSlides/notesSlide81.xml" ContentType="application/vnd.openxmlformats-officedocument.presentationml.notes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slides/slide187.xml" ContentType="application/vnd.openxmlformats-officedocument.presentationml.slide+xml"/>
  <Override PartName="/ppt/slides/slide198.xml" ContentType="application/vnd.openxmlformats-officedocument.presentationml.slide+xml"/>
  <Override PartName="/ppt/slides/slide203.xml" ContentType="application/vnd.openxmlformats-officedocument.presentationml.slide+xml"/>
  <Override PartName="/ppt/slides/slide250.xml" ContentType="application/vnd.openxmlformats-officedocument.presentationml.slide+xml"/>
  <Override PartName="/ppt/notesSlides/notesSlide23.xml" ContentType="application/vnd.openxmlformats-officedocument.presentationml.notesSlide+xml"/>
  <Override PartName="/ppt/notesSlides/notesSlide70.xml" ContentType="application/vnd.openxmlformats-officedocument.presentationml.notesSlide+xml"/>
  <Override PartName="/docProps/custom.xml" ContentType="application/vnd.openxmlformats-officedocument.custom-properties+xml"/>
  <Override PartName="/ppt/slides/slide129.xml" ContentType="application/vnd.openxmlformats-officedocument.presentationml.slide+xml"/>
  <Override PartName="/ppt/slides/slide176.xml" ContentType="application/vnd.openxmlformats-officedocument.presentationml.slide+xml"/>
  <Override PartName="/ppt/notesSlides/notesSlide12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86.xml" ContentType="application/vnd.openxmlformats-officedocument.presentationml.notesSlide+xml"/>
  <Override PartName="/ppt/slides/slide118.xml" ContentType="application/vnd.openxmlformats-officedocument.presentationml.slide+xml"/>
  <Override PartName="/ppt/slides/slide165.xml" ContentType="application/vnd.openxmlformats-officedocument.presentationml.slide+xml"/>
  <Override PartName="/ppt/notesSlides/notesSlide128.xml" ContentType="application/vnd.openxmlformats-officedocument.presentationml.notesSlide+xml"/>
  <Override PartName="/ppt/notesSlides/notesSlide175.xml" ContentType="application/vnd.openxmlformats-officedocument.presentationml.notes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107.xml" ContentType="application/vnd.openxmlformats-officedocument.presentationml.slide+xml"/>
  <Override PartName="/ppt/slides/slide143.xml" ContentType="application/vnd.openxmlformats-officedocument.presentationml.slide+xml"/>
  <Override PartName="/ppt/slides/slide154.xml" ContentType="application/vnd.openxmlformats-officedocument.presentationml.slide+xml"/>
  <Override PartName="/ppt/slides/slide190.xml" ContentType="application/vnd.openxmlformats-officedocument.presentationml.slide+xml"/>
  <Override PartName="/ppt/viewProps.xml" ContentType="application/vnd.openxmlformats-officedocument.presentationml.viewProps+xml"/>
  <Override PartName="/ppt/notesSlides/notesSlide10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64.xml" ContentType="application/vnd.openxmlformats-officedocument.presentationml.notesSlide+xml"/>
  <Override PartName="/ppt/slides/slide48.xml" ContentType="application/vnd.openxmlformats-officedocument.presentationml.slide+xml"/>
  <Override PartName="/ppt/slides/slide95.xml" ContentType="application/vnd.openxmlformats-officedocument.presentationml.slide+xml"/>
  <Override PartName="/ppt/slides/slide132.xml" ContentType="application/vnd.openxmlformats-officedocument.presentationml.slide+xml"/>
  <Override PartName="/ppt/notesSlides/notesSlide3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142.xml" ContentType="application/vnd.openxmlformats-officedocument.presentationml.notes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73.xml" ContentType="application/vnd.openxmlformats-officedocument.presentationml.slide+xml"/>
  <Override PartName="/ppt/slides/slide84.xml" ContentType="application/vnd.openxmlformats-officedocument.presentationml.slide+xml"/>
  <Override PartName="/ppt/slides/slide121.xml" ContentType="application/vnd.openxmlformats-officedocument.presentationml.slide+xml"/>
  <Override PartName="/ppt/slides/slide208.xml" ContentType="application/vnd.openxmlformats-officedocument.presentationml.slide+xml"/>
  <Override PartName="/ppt/slides/slide219.xml" ContentType="application/vnd.openxmlformats-officedocument.presentationml.slide+xml"/>
  <Override PartName="/ppt/presProps.xml" ContentType="application/vnd.openxmlformats-officedocument.presentationml.presProps+xml"/>
  <Override PartName="/ppt/notesSlides/notesSlide39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131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62.xml" ContentType="application/vnd.openxmlformats-officedocument.presentationml.slide+xml"/>
  <Override PartName="/ppt/slides/slide110.xml" ContentType="application/vnd.openxmlformats-officedocument.presentationml.slide+xml"/>
  <Override PartName="/ppt/slides/slide244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120.xml" ContentType="application/vnd.openxmlformats-officedocument.presentationml.notesSlide+xml"/>
  <Override PartName="/ppt/slides/slide51.xml" ContentType="application/vnd.openxmlformats-officedocument.presentationml.slide+xml"/>
  <Override PartName="/ppt/slides/slide233.xml" ContentType="application/vnd.openxmlformats-officedocument.presentationml.slide+xml"/>
  <Override PartName="/ppt/slideLayouts/slideLayout14.xml" ContentType="application/vnd.openxmlformats-officedocument.presentationml.slideLayout+xml"/>
  <Override PartName="/ppt/notesSlides/notesSlide53.xml" ContentType="application/vnd.openxmlformats-officedocument.presentationml.notesSlide+xml"/>
  <Override PartName="/ppt/slides/slide40.xml" ContentType="application/vnd.openxmlformats-officedocument.presentationml.slide+xml"/>
  <Override PartName="/ppt/slides/slide159.xml" ContentType="application/vnd.openxmlformats-officedocument.presentationml.slide+xml"/>
  <Override PartName="/ppt/slides/slide211.xml" ContentType="application/vnd.openxmlformats-officedocument.presentationml.slide+xml"/>
  <Override PartName="/ppt/slides/slide222.xml" ContentType="application/vnd.openxmlformats-officedocument.presentationml.slide+xml"/>
  <Override PartName="/ppt/notesSlides/notesSlide42.xml" ContentType="application/vnd.openxmlformats-officedocument.presentationml.notesSlide+xml"/>
  <Override PartName="/ppt/notesSlides/notesSlide169.xml" ContentType="application/vnd.openxmlformats-officedocument.presentationml.notesSlide+xml"/>
  <Override PartName="/ppt/slides/slide148.xml" ContentType="application/vnd.openxmlformats-officedocument.presentationml.slide+xml"/>
  <Override PartName="/ppt/slides/slide195.xml" ContentType="application/vnd.openxmlformats-officedocument.presentationml.slide+xml"/>
  <Override PartName="/ppt/slides/slide200.xml" ContentType="application/vnd.openxmlformats-officedocument.presentationml.slide+xml"/>
  <Override PartName="/ppt/notesSlides/notesSlide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158.xml" ContentType="application/vnd.openxmlformats-officedocument.presentationml.notesSlide+xml"/>
  <Override PartName="/ppt/slides/slide89.xml" ContentType="application/vnd.openxmlformats-officedocument.presentationml.slide+xml"/>
  <Override PartName="/ppt/slides/slide126.xml" ContentType="application/vnd.openxmlformats-officedocument.presentationml.slide+xml"/>
  <Override PartName="/ppt/slides/slide137.xml" ContentType="application/vnd.openxmlformats-officedocument.presentationml.slide+xml"/>
  <Override PartName="/ppt/slides/slide173.xml" ContentType="application/vnd.openxmlformats-officedocument.presentationml.slide+xml"/>
  <Override PartName="/ppt/slides/slide184.xml" ContentType="application/vnd.openxmlformats-officedocument.presentationml.slide+xml"/>
  <Override PartName="/ppt/notesSlides/notesSlide147.xml" ContentType="application/vnd.openxmlformats-officedocument.presentationml.notesSlide+xml"/>
  <Override PartName="/ppt/slides/slide78.xml" ContentType="application/vnd.openxmlformats-officedocument.presentationml.slide+xml"/>
  <Override PartName="/ppt/slides/slide115.xml" ContentType="application/vnd.openxmlformats-officedocument.presentationml.slide+xml"/>
  <Override PartName="/ppt/slides/slide162.xml" ContentType="application/vnd.openxmlformats-officedocument.presentationml.slide+xml"/>
  <Override PartName="/ppt/handoutMasters/handoutMaster1.xml" ContentType="application/vnd.openxmlformats-officedocument.presentationml.handoutMaster+xml"/>
  <Override PartName="/ppt/notesSlides/notesSlide12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83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s/slide104.xml" ContentType="application/vnd.openxmlformats-officedocument.presentationml.slide+xml"/>
  <Override PartName="/ppt/slides/slide151.xml" ContentType="application/vnd.openxmlformats-officedocument.presentationml.slide+xml"/>
  <Override PartName="/ppt/slides/slide238.xml" ContentType="application/vnd.openxmlformats-officedocument.presentationml.slide+xml"/>
  <Override PartName="/ppt/slides/slide24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69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6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5.xml" ContentType="application/vnd.openxmlformats-officedocument.presentationml.slide+xml"/>
  <Override PartName="/ppt/slides/slide92.xml" ContentType="application/vnd.openxmlformats-officedocument.presentationml.slide+xml"/>
  <Override PartName="/ppt/slides/slide140.xml" ContentType="application/vnd.openxmlformats-officedocument.presentationml.slide+xml"/>
  <Override PartName="/ppt/slides/slide227.xml" ContentType="application/vnd.openxmlformats-officedocument.presentationml.slide+xml"/>
  <Override PartName="/ppt/theme/theme3.xml" ContentType="application/vnd.openxmlformats-officedocument.theme+xml"/>
  <Override PartName="/ppt/notesSlides/notesSlide4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50.xml" ContentType="application/vnd.openxmlformats-officedocument.presentationml.notesSlide+xml"/>
  <Override PartName="/ppt/slides/slide34.xml" ContentType="application/vnd.openxmlformats-officedocument.presentationml.slide+xml"/>
  <Override PartName="/ppt/slides/slide81.xml" ContentType="application/vnd.openxmlformats-officedocument.presentationml.slide+xml"/>
  <Override PartName="/ppt/slides/slide216.xml" ContentType="application/vnd.openxmlformats-officedocument.presentationml.slide+xml"/>
  <Override PartName="/ppt/notesSlides/notesSlide36.xml" ContentType="application/vnd.openxmlformats-officedocument.presentationml.notesSlide+xml"/>
  <Override PartName="/ppt/notesSlides/notesSlide83.xml" ContentType="application/vnd.openxmlformats-officedocument.presentationml.notesSlide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70.xml" ContentType="application/vnd.openxmlformats-officedocument.presentationml.slide+xml"/>
  <Override PartName="/ppt/slides/slide189.xml" ContentType="application/vnd.openxmlformats-officedocument.presentationml.slide+xml"/>
  <Override PartName="/ppt/slides/slide205.xml" ContentType="application/vnd.openxmlformats-officedocument.presentationml.slide+xml"/>
  <Override PartName="/ppt/slides/slide241.xml" ContentType="application/vnd.openxmlformats-officedocument.presentationml.slide+xml"/>
  <Override PartName="/ppt/slides/slide252.xml" ContentType="application/vnd.openxmlformats-officedocument.presentationml.slide+xml"/>
  <Override PartName="/ppt/notesSlides/notesSlide25.xml" ContentType="application/vnd.openxmlformats-officedocument.presentationml.notesSlide+xml"/>
  <Override PartName="/ppt/notesSlides/notesSlide72.xml" ContentType="application/vnd.openxmlformats-officedocument.presentationml.notesSlide+xml"/>
  <Override PartName="/ppt/slides/slide12.xml" ContentType="application/vnd.openxmlformats-officedocument.presentationml.slide+xml"/>
  <Override PartName="/ppt/slides/slide178.xml" ContentType="application/vnd.openxmlformats-officedocument.presentationml.slide+xml"/>
  <Override PartName="/ppt/slides/slide230.xml" ContentType="application/vnd.openxmlformats-officedocument.presentationml.slide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188.xml" ContentType="application/vnd.openxmlformats-officedocument.presentationml.notesSlide+xml"/>
  <Override PartName="/ppt/slides/slide167.xml" ContentType="application/vnd.openxmlformats-officedocument.presentationml.slide+xml"/>
  <Override PartName="/ppt/notesSlides/notesSlide50.xml" ContentType="application/vnd.openxmlformats-officedocument.presentationml.notesSlide+xml"/>
  <Override PartName="/ppt/notesSlides/notesSlide177.xml" ContentType="application/vnd.openxmlformats-officedocument.presentationml.notesSlide+xml"/>
  <Override PartName="/ppt/slides/slide109.xml" ContentType="application/vnd.openxmlformats-officedocument.presentationml.slide+xml"/>
  <Override PartName="/ppt/slides/slide145.xml" ContentType="application/vnd.openxmlformats-officedocument.presentationml.slide+xml"/>
  <Override PartName="/ppt/slides/slide156.xml" ContentType="application/vnd.openxmlformats-officedocument.presentationml.slide+xml"/>
  <Override PartName="/ppt/slides/slide192.xml" ContentType="application/vnd.openxmlformats-officedocument.presentationml.slide+xml"/>
  <Override PartName="/ppt/notesSlides/notesSlide10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66.xml" ContentType="application/vnd.openxmlformats-officedocument.presentationml.notesSlide+xml"/>
  <Override PartName="/ppt/slides/slide97.xml" ContentType="application/vnd.openxmlformats-officedocument.presentationml.slide+xml"/>
  <Override PartName="/ppt/slides/slide134.xml" ContentType="application/vnd.openxmlformats-officedocument.presentationml.slide+xml"/>
  <Override PartName="/ppt/slides/slide181.xml" ContentType="application/vnd.openxmlformats-officedocument.presentationml.slide+xml"/>
  <Override PartName="/ppt/notesSlides/notesSlide5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91.xml" ContentType="application/vnd.openxmlformats-officedocument.presentationml.notes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75.xml" ContentType="application/vnd.openxmlformats-officedocument.presentationml.slide+xml"/>
  <Override PartName="/ppt/slides/slide86.xml" ContentType="application/vnd.openxmlformats-officedocument.presentationml.slide+xml"/>
  <Override PartName="/ppt/slides/slide123.xml" ContentType="application/vnd.openxmlformats-officedocument.presentationml.slide+xml"/>
  <Override PartName="/ppt/slides/slide170.xml" ContentType="application/vnd.openxmlformats-officedocument.presentationml.slide+xml"/>
  <Override PartName="/ppt/notesSlides/notesSlide88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80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64.xml" ContentType="application/vnd.openxmlformats-officedocument.presentationml.slide+xml"/>
  <Override PartName="/ppt/slides/slide101.xml" ContentType="application/vnd.openxmlformats-officedocument.presentationml.slide+xml"/>
  <Override PartName="/ppt/slides/slide112.xml" ContentType="application/vnd.openxmlformats-officedocument.presentationml.slide+xml"/>
  <Override PartName="/ppt/slides/slide246.xml" ContentType="application/vnd.openxmlformats-officedocument.presentationml.slide+xml"/>
  <Override PartName="/ppt/slideLayouts/slideLayout5.xml" ContentType="application/vnd.openxmlformats-officedocument.presentationml.slideLayout+xml"/>
  <Override PartName="/ppt/notesSlides/notesSlide19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122.xml" ContentType="application/vnd.openxmlformats-officedocument.presentationml.notesSlide+xml"/>
  <Override PartName="/ppt/slides/slide53.xml" ContentType="application/vnd.openxmlformats-officedocument.presentationml.slide+xml"/>
  <Override PartName="/ppt/slides/slide235.xml" ContentType="application/vnd.openxmlformats-officedocument.presentationml.slide+xml"/>
  <Default Extension="jpeg" ContentType="image/jpeg"/>
  <Override PartName="/ppt/notesSlides/notesSlide55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11.xml" ContentType="application/vnd.openxmlformats-officedocument.presentationml.notes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213.xml" ContentType="application/vnd.openxmlformats-officedocument.presentationml.slide+xml"/>
  <Override PartName="/ppt/slides/slide224.xml" ContentType="application/vnd.openxmlformats-officedocument.presentationml.slide+xml"/>
  <Override PartName="/ppt/notesSlides/notesSlide44.xml" ContentType="application/vnd.openxmlformats-officedocument.presentationml.notesSlide+xml"/>
  <Override PartName="/ppt/notesSlides/notesSlide91.xml" ContentType="application/vnd.openxmlformats-officedocument.presentationml.notesSlide+xml"/>
  <Override PartName="/ppt/slides/slide20.xml" ContentType="application/vnd.openxmlformats-officedocument.presentationml.slide+xml"/>
  <Override PartName="/ppt/slides/slide197.xml" ContentType="application/vnd.openxmlformats-officedocument.presentationml.slide+xml"/>
  <Override PartName="/ppt/slides/slide202.xml" ContentType="application/vnd.openxmlformats-officedocument.presentationml.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80.xml" ContentType="application/vnd.openxmlformats-officedocument.presentationml.notesSlide+xml"/>
  <Override PartName="/ppt/slides/slide139.xml" ContentType="application/vnd.openxmlformats-officedocument.presentationml.slide+xml"/>
  <Override PartName="/ppt/slides/slide186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149.xml" ContentType="application/vnd.openxmlformats-officedocument.presentationml.notesSlide+xml"/>
  <Override PartName="/ppt/slides/slide117.xml" ContentType="application/vnd.openxmlformats-officedocument.presentationml.slide+xml"/>
  <Override PartName="/ppt/slides/slide128.xml" ContentType="application/vnd.openxmlformats-officedocument.presentationml.slide+xml"/>
  <Override PartName="/ppt/slides/slide164.xml" ContentType="application/vnd.openxmlformats-officedocument.presentationml.slide+xml"/>
  <Override PartName="/ppt/slides/slide175.xml" ContentType="application/vnd.openxmlformats-officedocument.presentationml.slide+xml"/>
  <Override PartName="/ppt/notesSlides/notesSlide12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85.xml" ContentType="application/vnd.openxmlformats-officedocument.presentationml.notesSlide+xml"/>
  <Override PartName="/ppt/slides/slide8.xml" ContentType="application/vnd.openxmlformats-officedocument.presentationml.slide+xml"/>
  <Override PartName="/ppt/slides/slide69.xml" ContentType="application/vnd.openxmlformats-officedocument.presentationml.slide+xml"/>
  <Override PartName="/ppt/slides/slide106.xml" ContentType="application/vnd.openxmlformats-officedocument.presentationml.slide+xml"/>
  <Override PartName="/ppt/slides/slide153.xml" ContentType="application/vnd.openxmlformats-officedocument.presentationml.slide+xml"/>
  <Override PartName="/ppt/notesSlides/notesSlide116.xml" ContentType="application/vnd.openxmlformats-officedocument.presentationml.notesSlide+xml"/>
  <Override PartName="/ppt/notesSlides/notesSlide163.xml" ContentType="application/vnd.openxmlformats-officedocument.presentationml.notesSlide+xml"/>
  <Override PartName="/ppt/slides/slide58.xml" ContentType="application/vnd.openxmlformats-officedocument.presentationml.slide+xml"/>
  <Override PartName="/ppt/slides/slide229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52.xml" ContentType="application/vnd.openxmlformats-officedocument.presentationml.notesSlide+xml"/>
  <Override PartName="/ppt/slides/slide36.xml" ContentType="application/vnd.openxmlformats-officedocument.presentationml.slide+xml"/>
  <Override PartName="/ppt/slides/slide83.xml" ContentType="application/vnd.openxmlformats-officedocument.presentationml.slide+xml"/>
  <Override PartName="/ppt/slides/slide131.xml" ContentType="application/vnd.openxmlformats-officedocument.presentationml.slide+xml"/>
  <Override PartName="/ppt/notesSlides/notesSlide49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130.xml" ContentType="application/vnd.openxmlformats-officedocument.presentationml.notesSlide+xml"/>
  <Override PartName="/ppt/slides/slide207.xml" ContentType="application/vnd.openxmlformats-officedocument.presentationml.slide+xml"/>
  <Override PartName="/ppt/notesSlides/notesSlide27.xml" ContentType="application/vnd.openxmlformats-officedocument.presentationml.notesSlide+xml"/>
  <Override PartName="/ppt/notesSlides/notesSlide74.xml" ContentType="application/vnd.openxmlformats-officedocument.presentationml.notesSlide+xml"/>
  <Override PartName="/ppt/slides/slide14.xml" ContentType="application/vnd.openxmlformats-officedocument.presentationml.slide+xml"/>
  <Override PartName="/ppt/slides/slide61.xml" ContentType="application/vnd.openxmlformats-officedocument.presentationml.slide+xml"/>
  <Override PartName="/ppt/slides/slide2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s/slide169.xml" ContentType="application/vnd.openxmlformats-officedocument.presentationml.slide+xml"/>
  <Override PartName="/ppt/tableStyles.xml" ContentType="application/vnd.openxmlformats-officedocument.presentationml.tableStyles+xml"/>
  <Override PartName="/ppt/notesSlides/notesSlide52.xml" ContentType="application/vnd.openxmlformats-officedocument.presentationml.notesSlide+xml"/>
  <Override PartName="/ppt/slides/slide147.xml" ContentType="application/vnd.openxmlformats-officedocument.presentationml.slide+xml"/>
  <Override PartName="/ppt/slides/slide194.xml" ContentType="application/vnd.openxmlformats-officedocument.presentationml.slide+xml"/>
  <Override PartName="/ppt/slides/slide210.xml" ContentType="application/vnd.openxmlformats-officedocument.presentationml.slide+xml"/>
  <Override PartName="/ppt/notesSlides/notesSlide30.xml" ContentType="application/vnd.openxmlformats-officedocument.presentationml.notesSlide+xml"/>
  <Override PartName="/ppt/notesSlides/notesSlide168.xml" ContentType="application/vnd.openxmlformats-officedocument.presentationml.notesSlide+xml"/>
  <Override PartName="/ppt/slides/slide99.xml" ContentType="application/vnd.openxmlformats-officedocument.presentationml.slide+xml"/>
  <Override PartName="/ppt/notesSlides/notesSlide146.xml" ContentType="application/vnd.openxmlformats-officedocument.presentationml.notesSlide+xml"/>
  <Override PartName="/ppt/slides/slide77.xml" ContentType="application/vnd.openxmlformats-officedocument.presentationml.slide+xml"/>
  <Override PartName="/ppt/slides/slide125.xml" ContentType="application/vnd.openxmlformats-officedocument.presentationml.slide+xml"/>
  <Override PartName="/ppt/slides/slide172.xml" ContentType="application/vnd.openxmlformats-officedocument.presentationml.slide+xml"/>
  <Override PartName="/ppt/slides/slide5.xml" ContentType="application/vnd.openxmlformats-officedocument.presentationml.slide+xml"/>
  <Override PartName="/ppt/slides/slide103.xml" ContentType="application/vnd.openxmlformats-officedocument.presentationml.slide+xml"/>
  <Override PartName="/ppt/slides/slide150.xml" ContentType="application/vnd.openxmlformats-officedocument.presentationml.slide+xml"/>
  <Override PartName="/ppt/slides/slide24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68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71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102.xml" ContentType="application/vnd.openxmlformats-officedocument.presentationml.notesSlide+xml"/>
  <Override PartName="/ppt/slides/slide33.xml" ContentType="application/vnd.openxmlformats-officedocument.presentationml.slide+xml"/>
  <Override PartName="/ppt/slides/slide80.xml" ContentType="application/vnd.openxmlformats-officedocument.presentationml.slide+xml"/>
  <Override PartName="/ppt/slides/slide226.xml" ContentType="application/vnd.openxmlformats-officedocument.presentationml.slide+xml"/>
  <Override PartName="/ppt/notesSlides/notesSlide46.xml" ContentType="application/vnd.openxmlformats-officedocument.presentationml.notesSlide+xml"/>
  <Override PartName="/ppt/notesSlides/notesSlide93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204.xml" ContentType="application/vnd.openxmlformats-officedocument.presentationml.slide+xml"/>
  <Override PartName="/ppt/slides/slide251.xml" ContentType="application/vnd.openxmlformats-officedocument.presentationml.slide+xml"/>
  <Override PartName="/ppt/notesSlides/notesSlide24.xml" ContentType="application/vnd.openxmlformats-officedocument.presentationml.notesSlide+xml"/>
  <Override PartName="/ppt/notesSlides/notesSlide71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188.xml" ContentType="application/vnd.openxmlformats-officedocument.presentationml.slide+xml"/>
  <Override PartName="/ppt/slides/slide119.xml" ContentType="application/vnd.openxmlformats-officedocument.presentationml.slide+xml"/>
  <Override PartName="/ppt/slides/slide166.xml" ContentType="application/vnd.openxmlformats-officedocument.presentationml.slide+xml"/>
  <Override PartName="/ppt/slideLayouts/slideLayout10.xml" ContentType="application/vnd.openxmlformats-officedocument.presentationml.slideLayout+xml"/>
  <Override PartName="/ppt/notesSlides/notesSlide18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65.xml" ContentType="application/vnd.openxmlformats-officedocument.presentationml.notesSlide+xml"/>
  <Override PartName="/ppt/slides/slide49.xml" ContentType="application/vnd.openxmlformats-officedocument.presentationml.slide+xml"/>
  <Override PartName="/ppt/slides/slide96.xml" ContentType="application/vnd.openxmlformats-officedocument.presentationml.slide+xml"/>
  <Override PartName="/ppt/slides/slide144.xml" ContentType="application/vnd.openxmlformats-officedocument.presentationml.slide+xml"/>
  <Override PartName="/ppt/slides/slide19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1" r:id="rId1"/>
  </p:sldMasterIdLst>
  <p:notesMasterIdLst>
    <p:notesMasterId r:id="rId255"/>
  </p:notesMasterIdLst>
  <p:handoutMasterIdLst>
    <p:handoutMasterId r:id="rId256"/>
  </p:handoutMasterIdLst>
  <p:sldIdLst>
    <p:sldId id="256" r:id="rId2"/>
    <p:sldId id="261" r:id="rId3"/>
    <p:sldId id="262" r:id="rId4"/>
    <p:sldId id="263" r:id="rId5"/>
    <p:sldId id="264" r:id="rId6"/>
    <p:sldId id="265" r:id="rId7"/>
    <p:sldId id="266" r:id="rId8"/>
    <p:sldId id="267" r:id="rId9"/>
    <p:sldId id="536" r:id="rId10"/>
    <p:sldId id="268" r:id="rId11"/>
    <p:sldId id="269" r:id="rId12"/>
    <p:sldId id="270" r:id="rId13"/>
    <p:sldId id="271" r:id="rId14"/>
    <p:sldId id="273" r:id="rId15"/>
    <p:sldId id="274" r:id="rId16"/>
    <p:sldId id="276" r:id="rId17"/>
    <p:sldId id="277" r:id="rId18"/>
    <p:sldId id="278" r:id="rId19"/>
    <p:sldId id="279" r:id="rId20"/>
    <p:sldId id="280" r:id="rId21"/>
    <p:sldId id="281" r:id="rId22"/>
    <p:sldId id="282" r:id="rId23"/>
    <p:sldId id="283" r:id="rId24"/>
    <p:sldId id="284" r:id="rId25"/>
    <p:sldId id="285" r:id="rId26"/>
    <p:sldId id="286" r:id="rId27"/>
    <p:sldId id="287" r:id="rId28"/>
    <p:sldId id="288" r:id="rId29"/>
    <p:sldId id="289" r:id="rId30"/>
    <p:sldId id="290" r:id="rId31"/>
    <p:sldId id="291" r:id="rId32"/>
    <p:sldId id="292" r:id="rId33"/>
    <p:sldId id="293" r:id="rId34"/>
    <p:sldId id="296" r:id="rId35"/>
    <p:sldId id="297" r:id="rId36"/>
    <p:sldId id="298" r:id="rId37"/>
    <p:sldId id="299" r:id="rId38"/>
    <p:sldId id="300" r:id="rId39"/>
    <p:sldId id="301" r:id="rId40"/>
    <p:sldId id="302" r:id="rId41"/>
    <p:sldId id="303" r:id="rId42"/>
    <p:sldId id="304" r:id="rId43"/>
    <p:sldId id="305" r:id="rId44"/>
    <p:sldId id="306" r:id="rId45"/>
    <p:sldId id="307" r:id="rId46"/>
    <p:sldId id="308" r:id="rId47"/>
    <p:sldId id="313" r:id="rId48"/>
    <p:sldId id="314" r:id="rId49"/>
    <p:sldId id="315" r:id="rId50"/>
    <p:sldId id="316" r:id="rId51"/>
    <p:sldId id="317" r:id="rId52"/>
    <p:sldId id="318" r:id="rId53"/>
    <p:sldId id="319" r:id="rId54"/>
    <p:sldId id="320" r:id="rId55"/>
    <p:sldId id="321" r:id="rId56"/>
    <p:sldId id="322" r:id="rId57"/>
    <p:sldId id="323" r:id="rId58"/>
    <p:sldId id="324" r:id="rId59"/>
    <p:sldId id="325" r:id="rId60"/>
    <p:sldId id="326" r:id="rId61"/>
    <p:sldId id="327" r:id="rId62"/>
    <p:sldId id="328" r:id="rId63"/>
    <p:sldId id="329" r:id="rId64"/>
    <p:sldId id="330" r:id="rId65"/>
    <p:sldId id="331" r:id="rId66"/>
    <p:sldId id="332" r:id="rId67"/>
    <p:sldId id="538" r:id="rId68"/>
    <p:sldId id="333" r:id="rId69"/>
    <p:sldId id="334" r:id="rId70"/>
    <p:sldId id="335" r:id="rId71"/>
    <p:sldId id="336" r:id="rId72"/>
    <p:sldId id="337" r:id="rId73"/>
    <p:sldId id="338" r:id="rId74"/>
    <p:sldId id="339" r:id="rId75"/>
    <p:sldId id="340" r:id="rId76"/>
    <p:sldId id="341" r:id="rId77"/>
    <p:sldId id="342" r:id="rId78"/>
    <p:sldId id="343" r:id="rId79"/>
    <p:sldId id="348" r:id="rId80"/>
    <p:sldId id="347" r:id="rId81"/>
    <p:sldId id="346" r:id="rId82"/>
    <p:sldId id="345" r:id="rId83"/>
    <p:sldId id="344" r:id="rId84"/>
    <p:sldId id="349" r:id="rId85"/>
    <p:sldId id="350" r:id="rId86"/>
    <p:sldId id="352" r:id="rId87"/>
    <p:sldId id="351" r:id="rId88"/>
    <p:sldId id="353" r:id="rId89"/>
    <p:sldId id="354" r:id="rId90"/>
    <p:sldId id="357" r:id="rId91"/>
    <p:sldId id="355" r:id="rId92"/>
    <p:sldId id="359" r:id="rId93"/>
    <p:sldId id="360" r:id="rId94"/>
    <p:sldId id="361" r:id="rId95"/>
    <p:sldId id="362" r:id="rId96"/>
    <p:sldId id="363" r:id="rId97"/>
    <p:sldId id="364" r:id="rId98"/>
    <p:sldId id="365" r:id="rId99"/>
    <p:sldId id="366" r:id="rId100"/>
    <p:sldId id="367" r:id="rId101"/>
    <p:sldId id="373" r:id="rId102"/>
    <p:sldId id="368" r:id="rId103"/>
    <p:sldId id="369" r:id="rId104"/>
    <p:sldId id="376" r:id="rId105"/>
    <p:sldId id="382" r:id="rId106"/>
    <p:sldId id="377" r:id="rId107"/>
    <p:sldId id="381" r:id="rId108"/>
    <p:sldId id="378" r:id="rId109"/>
    <p:sldId id="383" r:id="rId110"/>
    <p:sldId id="384" r:id="rId111"/>
    <p:sldId id="385" r:id="rId112"/>
    <p:sldId id="386" r:id="rId113"/>
    <p:sldId id="387" r:id="rId114"/>
    <p:sldId id="388" r:id="rId115"/>
    <p:sldId id="389" r:id="rId116"/>
    <p:sldId id="394" r:id="rId117"/>
    <p:sldId id="395" r:id="rId118"/>
    <p:sldId id="397" r:id="rId119"/>
    <p:sldId id="398" r:id="rId120"/>
    <p:sldId id="396" r:id="rId121"/>
    <p:sldId id="399" r:id="rId122"/>
    <p:sldId id="400" r:id="rId123"/>
    <p:sldId id="401" r:id="rId124"/>
    <p:sldId id="402" r:id="rId125"/>
    <p:sldId id="403" r:id="rId126"/>
    <p:sldId id="404" r:id="rId127"/>
    <p:sldId id="406" r:id="rId128"/>
    <p:sldId id="405" r:id="rId129"/>
    <p:sldId id="407" r:id="rId130"/>
    <p:sldId id="409" r:id="rId131"/>
    <p:sldId id="408" r:id="rId132"/>
    <p:sldId id="410" r:id="rId133"/>
    <p:sldId id="411" r:id="rId134"/>
    <p:sldId id="412" r:id="rId135"/>
    <p:sldId id="413" r:id="rId136"/>
    <p:sldId id="414" r:id="rId137"/>
    <p:sldId id="416" r:id="rId138"/>
    <p:sldId id="420" r:id="rId139"/>
    <p:sldId id="419" r:id="rId140"/>
    <p:sldId id="418" r:id="rId141"/>
    <p:sldId id="417" r:id="rId142"/>
    <p:sldId id="421" r:id="rId143"/>
    <p:sldId id="422" r:id="rId144"/>
    <p:sldId id="423" r:id="rId145"/>
    <p:sldId id="539" r:id="rId146"/>
    <p:sldId id="424" r:id="rId147"/>
    <p:sldId id="429" r:id="rId148"/>
    <p:sldId id="425" r:id="rId149"/>
    <p:sldId id="415" r:id="rId150"/>
    <p:sldId id="430" r:id="rId151"/>
    <p:sldId id="432" r:id="rId152"/>
    <p:sldId id="433" r:id="rId153"/>
    <p:sldId id="438" r:id="rId154"/>
    <p:sldId id="434" r:id="rId155"/>
    <p:sldId id="437" r:id="rId156"/>
    <p:sldId id="436" r:id="rId157"/>
    <p:sldId id="439" r:id="rId158"/>
    <p:sldId id="443" r:id="rId159"/>
    <p:sldId id="442" r:id="rId160"/>
    <p:sldId id="441" r:id="rId161"/>
    <p:sldId id="444" r:id="rId162"/>
    <p:sldId id="440" r:id="rId163"/>
    <p:sldId id="445" r:id="rId164"/>
    <p:sldId id="446" r:id="rId165"/>
    <p:sldId id="447" r:id="rId166"/>
    <p:sldId id="448" r:id="rId167"/>
    <p:sldId id="449" r:id="rId168"/>
    <p:sldId id="450" r:id="rId169"/>
    <p:sldId id="451" r:id="rId170"/>
    <p:sldId id="452" r:id="rId171"/>
    <p:sldId id="542" r:id="rId172"/>
    <p:sldId id="454" r:id="rId173"/>
    <p:sldId id="455" r:id="rId174"/>
    <p:sldId id="457" r:id="rId175"/>
    <p:sldId id="458" r:id="rId176"/>
    <p:sldId id="460" r:id="rId177"/>
    <p:sldId id="459" r:id="rId178"/>
    <p:sldId id="461" r:id="rId179"/>
    <p:sldId id="462" r:id="rId180"/>
    <p:sldId id="463" r:id="rId181"/>
    <p:sldId id="540" r:id="rId182"/>
    <p:sldId id="465" r:id="rId183"/>
    <p:sldId id="466" r:id="rId184"/>
    <p:sldId id="456" r:id="rId185"/>
    <p:sldId id="467" r:id="rId186"/>
    <p:sldId id="468" r:id="rId187"/>
    <p:sldId id="469" r:id="rId188"/>
    <p:sldId id="470" r:id="rId189"/>
    <p:sldId id="471" r:id="rId190"/>
    <p:sldId id="472" r:id="rId191"/>
    <p:sldId id="543" r:id="rId192"/>
    <p:sldId id="544" r:id="rId193"/>
    <p:sldId id="545" r:id="rId194"/>
    <p:sldId id="546" r:id="rId195"/>
    <p:sldId id="547" r:id="rId196"/>
    <p:sldId id="548" r:id="rId197"/>
    <p:sldId id="549" r:id="rId198"/>
    <p:sldId id="550" r:id="rId199"/>
    <p:sldId id="551" r:id="rId200"/>
    <p:sldId id="552" r:id="rId201"/>
    <p:sldId id="553" r:id="rId202"/>
    <p:sldId id="554" r:id="rId203"/>
    <p:sldId id="555" r:id="rId204"/>
    <p:sldId id="556" r:id="rId205"/>
    <p:sldId id="557" r:id="rId206"/>
    <p:sldId id="558" r:id="rId207"/>
    <p:sldId id="559" r:id="rId208"/>
    <p:sldId id="560" r:id="rId209"/>
    <p:sldId id="561" r:id="rId210"/>
    <p:sldId id="562" r:id="rId211"/>
    <p:sldId id="563" r:id="rId212"/>
    <p:sldId id="564" r:id="rId213"/>
    <p:sldId id="565" r:id="rId214"/>
    <p:sldId id="566" r:id="rId215"/>
    <p:sldId id="567" r:id="rId216"/>
    <p:sldId id="568" r:id="rId217"/>
    <p:sldId id="569" r:id="rId218"/>
    <p:sldId id="570" r:id="rId219"/>
    <p:sldId id="571" r:id="rId220"/>
    <p:sldId id="572" r:id="rId221"/>
    <p:sldId id="573" r:id="rId222"/>
    <p:sldId id="574" r:id="rId223"/>
    <p:sldId id="575" r:id="rId224"/>
    <p:sldId id="576" r:id="rId225"/>
    <p:sldId id="577" r:id="rId226"/>
    <p:sldId id="578" r:id="rId227"/>
    <p:sldId id="579" r:id="rId228"/>
    <p:sldId id="580" r:id="rId229"/>
    <p:sldId id="581" r:id="rId230"/>
    <p:sldId id="582" r:id="rId231"/>
    <p:sldId id="583" r:id="rId232"/>
    <p:sldId id="584" r:id="rId233"/>
    <p:sldId id="585" r:id="rId234"/>
    <p:sldId id="586" r:id="rId235"/>
    <p:sldId id="587" r:id="rId236"/>
    <p:sldId id="588" r:id="rId237"/>
    <p:sldId id="589" r:id="rId238"/>
    <p:sldId id="590" r:id="rId239"/>
    <p:sldId id="591" r:id="rId240"/>
    <p:sldId id="592" r:id="rId241"/>
    <p:sldId id="593" r:id="rId242"/>
    <p:sldId id="594" r:id="rId243"/>
    <p:sldId id="595" r:id="rId244"/>
    <p:sldId id="596" r:id="rId245"/>
    <p:sldId id="597" r:id="rId246"/>
    <p:sldId id="598" r:id="rId247"/>
    <p:sldId id="599" r:id="rId248"/>
    <p:sldId id="600" r:id="rId249"/>
    <p:sldId id="601" r:id="rId250"/>
    <p:sldId id="602" r:id="rId251"/>
    <p:sldId id="603" r:id="rId252"/>
    <p:sldId id="604" r:id="rId253"/>
    <p:sldId id="605" r:id="rId25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17" autoAdjust="0"/>
    <p:restoredTop sz="94660"/>
  </p:normalViewPr>
  <p:slideViewPr>
    <p:cSldViewPr>
      <p:cViewPr varScale="1">
        <p:scale>
          <a:sx n="69" d="100"/>
          <a:sy n="69" d="100"/>
        </p:scale>
        <p:origin x="-1416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slide" Target="slides/slide190.xml"/><Relationship Id="rId205" Type="http://schemas.openxmlformats.org/officeDocument/2006/relationships/slide" Target="slides/slide204.xml"/><Relationship Id="rId226" Type="http://schemas.openxmlformats.org/officeDocument/2006/relationships/slide" Target="slides/slide225.xml"/><Relationship Id="rId247" Type="http://schemas.openxmlformats.org/officeDocument/2006/relationships/slide" Target="slides/slide246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16" Type="http://schemas.openxmlformats.org/officeDocument/2006/relationships/slide" Target="slides/slide215.xml"/><Relationship Id="rId237" Type="http://schemas.openxmlformats.org/officeDocument/2006/relationships/slide" Target="slides/slide236.xml"/><Relationship Id="rId258" Type="http://schemas.openxmlformats.org/officeDocument/2006/relationships/viewProps" Target="viewProps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slide" Target="slides/slide191.xml"/><Relationship Id="rId206" Type="http://schemas.openxmlformats.org/officeDocument/2006/relationships/slide" Target="slides/slide205.xml"/><Relationship Id="rId227" Type="http://schemas.openxmlformats.org/officeDocument/2006/relationships/slide" Target="slides/slide226.xml"/><Relationship Id="rId248" Type="http://schemas.openxmlformats.org/officeDocument/2006/relationships/slide" Target="slides/slide247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217" Type="http://schemas.openxmlformats.org/officeDocument/2006/relationships/slide" Target="slides/slide21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12" Type="http://schemas.openxmlformats.org/officeDocument/2006/relationships/slide" Target="slides/slide211.xml"/><Relationship Id="rId233" Type="http://schemas.openxmlformats.org/officeDocument/2006/relationships/slide" Target="slides/slide232.xml"/><Relationship Id="rId238" Type="http://schemas.openxmlformats.org/officeDocument/2006/relationships/slide" Target="slides/slide237.xml"/><Relationship Id="rId254" Type="http://schemas.openxmlformats.org/officeDocument/2006/relationships/slide" Target="slides/slide253.xml"/><Relationship Id="rId259" Type="http://schemas.openxmlformats.org/officeDocument/2006/relationships/theme" Target="theme/theme1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202" Type="http://schemas.openxmlformats.org/officeDocument/2006/relationships/slide" Target="slides/slide201.xml"/><Relationship Id="rId207" Type="http://schemas.openxmlformats.org/officeDocument/2006/relationships/slide" Target="slides/slide206.xml"/><Relationship Id="rId223" Type="http://schemas.openxmlformats.org/officeDocument/2006/relationships/slide" Target="slides/slide222.xml"/><Relationship Id="rId228" Type="http://schemas.openxmlformats.org/officeDocument/2006/relationships/slide" Target="slides/slide227.xml"/><Relationship Id="rId244" Type="http://schemas.openxmlformats.org/officeDocument/2006/relationships/slide" Target="slides/slide243.xml"/><Relationship Id="rId249" Type="http://schemas.openxmlformats.org/officeDocument/2006/relationships/slide" Target="slides/slide24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260" Type="http://schemas.openxmlformats.org/officeDocument/2006/relationships/tableStyles" Target="tableStyles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13" Type="http://schemas.openxmlformats.org/officeDocument/2006/relationships/slide" Target="slides/slide212.xml"/><Relationship Id="rId218" Type="http://schemas.openxmlformats.org/officeDocument/2006/relationships/slide" Target="slides/slide217.xml"/><Relationship Id="rId234" Type="http://schemas.openxmlformats.org/officeDocument/2006/relationships/slide" Target="slides/slide233.xml"/><Relationship Id="rId239" Type="http://schemas.openxmlformats.org/officeDocument/2006/relationships/slide" Target="slides/slide238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50" Type="http://schemas.openxmlformats.org/officeDocument/2006/relationships/slide" Target="slides/slide249.xml"/><Relationship Id="rId255" Type="http://schemas.openxmlformats.org/officeDocument/2006/relationships/notesMaster" Target="notesMasters/notesMaster1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199" Type="http://schemas.openxmlformats.org/officeDocument/2006/relationships/slide" Target="slides/slide198.xml"/><Relationship Id="rId203" Type="http://schemas.openxmlformats.org/officeDocument/2006/relationships/slide" Target="slides/slide202.xml"/><Relationship Id="rId208" Type="http://schemas.openxmlformats.org/officeDocument/2006/relationships/slide" Target="slides/slide207.xml"/><Relationship Id="rId229" Type="http://schemas.openxmlformats.org/officeDocument/2006/relationships/slide" Target="slides/slide228.xml"/><Relationship Id="rId19" Type="http://schemas.openxmlformats.org/officeDocument/2006/relationships/slide" Target="slides/slide18.xml"/><Relationship Id="rId224" Type="http://schemas.openxmlformats.org/officeDocument/2006/relationships/slide" Target="slides/slide223.xml"/><Relationship Id="rId240" Type="http://schemas.openxmlformats.org/officeDocument/2006/relationships/slide" Target="slides/slide239.xml"/><Relationship Id="rId245" Type="http://schemas.openxmlformats.org/officeDocument/2006/relationships/slide" Target="slides/slide244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189" Type="http://schemas.openxmlformats.org/officeDocument/2006/relationships/slide" Target="slides/slide188.xml"/><Relationship Id="rId219" Type="http://schemas.openxmlformats.org/officeDocument/2006/relationships/slide" Target="slides/slide218.xml"/><Relationship Id="rId3" Type="http://schemas.openxmlformats.org/officeDocument/2006/relationships/slide" Target="slides/slide2.xml"/><Relationship Id="rId214" Type="http://schemas.openxmlformats.org/officeDocument/2006/relationships/slide" Target="slides/slide213.xml"/><Relationship Id="rId230" Type="http://schemas.openxmlformats.org/officeDocument/2006/relationships/slide" Target="slides/slide229.xml"/><Relationship Id="rId235" Type="http://schemas.openxmlformats.org/officeDocument/2006/relationships/slide" Target="slides/slide234.xml"/><Relationship Id="rId251" Type="http://schemas.openxmlformats.org/officeDocument/2006/relationships/slide" Target="slides/slide250.xml"/><Relationship Id="rId256" Type="http://schemas.openxmlformats.org/officeDocument/2006/relationships/handoutMaster" Target="handoutMasters/handoutMaster1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95" Type="http://schemas.openxmlformats.org/officeDocument/2006/relationships/slide" Target="slides/slide194.xml"/><Relationship Id="rId209" Type="http://schemas.openxmlformats.org/officeDocument/2006/relationships/slide" Target="slides/slide208.xml"/><Relationship Id="rId190" Type="http://schemas.openxmlformats.org/officeDocument/2006/relationships/slide" Target="slides/slide189.xml"/><Relationship Id="rId204" Type="http://schemas.openxmlformats.org/officeDocument/2006/relationships/slide" Target="slides/slide203.xml"/><Relationship Id="rId220" Type="http://schemas.openxmlformats.org/officeDocument/2006/relationships/slide" Target="slides/slide219.xml"/><Relationship Id="rId225" Type="http://schemas.openxmlformats.org/officeDocument/2006/relationships/slide" Target="slides/slide224.xml"/><Relationship Id="rId241" Type="http://schemas.openxmlformats.org/officeDocument/2006/relationships/slide" Target="slides/slide240.xml"/><Relationship Id="rId246" Type="http://schemas.openxmlformats.org/officeDocument/2006/relationships/slide" Target="slides/slide245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10" Type="http://schemas.openxmlformats.org/officeDocument/2006/relationships/slide" Target="slides/slide209.xml"/><Relationship Id="rId215" Type="http://schemas.openxmlformats.org/officeDocument/2006/relationships/slide" Target="slides/slide214.xml"/><Relationship Id="rId236" Type="http://schemas.openxmlformats.org/officeDocument/2006/relationships/slide" Target="slides/slide235.xml"/><Relationship Id="rId257" Type="http://schemas.openxmlformats.org/officeDocument/2006/relationships/presProps" Target="presProps.xml"/><Relationship Id="rId26" Type="http://schemas.openxmlformats.org/officeDocument/2006/relationships/slide" Target="slides/slide25.xml"/><Relationship Id="rId231" Type="http://schemas.openxmlformats.org/officeDocument/2006/relationships/slide" Target="slides/slide230.xml"/><Relationship Id="rId252" Type="http://schemas.openxmlformats.org/officeDocument/2006/relationships/slide" Target="slides/slide251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16" Type="http://schemas.openxmlformats.org/officeDocument/2006/relationships/slide" Target="slides/slide15.xml"/><Relationship Id="rId221" Type="http://schemas.openxmlformats.org/officeDocument/2006/relationships/slide" Target="slides/slide220.xml"/><Relationship Id="rId242" Type="http://schemas.openxmlformats.org/officeDocument/2006/relationships/slide" Target="slides/slide241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11" Type="http://schemas.openxmlformats.org/officeDocument/2006/relationships/slide" Target="slides/slide210.xml"/><Relationship Id="rId232" Type="http://schemas.openxmlformats.org/officeDocument/2006/relationships/slide" Target="slides/slide231.xml"/><Relationship Id="rId253" Type="http://schemas.openxmlformats.org/officeDocument/2006/relationships/slide" Target="slides/slide252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Relationship Id="rId201" Type="http://schemas.openxmlformats.org/officeDocument/2006/relationships/slide" Target="slides/slide200.xml"/><Relationship Id="rId222" Type="http://schemas.openxmlformats.org/officeDocument/2006/relationships/slide" Target="slides/slide221.xml"/><Relationship Id="rId243" Type="http://schemas.openxmlformats.org/officeDocument/2006/relationships/slide" Target="slides/slide242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72A0F2D9-CCF4-49B0-A7CD-D4E312F9884C}" type="datetimeFigureOut">
              <a:rPr lang="tr-TR"/>
              <a:pPr/>
              <a:t>16.10.2011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7F7204B6-2B71-4999-8961-4588171309D6}" type="slidenum">
              <a:rPr lang="tr-TR"/>
              <a:pPr/>
              <a:t>‹#›</a:t>
            </a:fld>
            <a:endParaRPr 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FBADD8FE-1E13-4E76-8950-97046D63BDF3}" type="datetimeFigureOut">
              <a:rPr lang="tr-TR"/>
              <a:pPr/>
              <a:t>16.10.2011</a:t>
            </a:fld>
            <a:endParaRPr lang="tr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tr-TR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A5BC5205-C229-48A0-BCEF-4AEEAF172888}" type="slidenum">
              <a:rPr lang="tr-TR"/>
              <a:pPr/>
              <a:t>‹#›</a:t>
            </a:fld>
            <a:endParaRPr 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9.xml"/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1.xml"/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2.xml"/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3.xml"/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4.xml"/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5.xml"/><Relationship Id="rId1" Type="http://schemas.openxmlformats.org/officeDocument/2006/relationships/notesMaster" Target="../notesMasters/notesMaster1.xml"/></Relationships>
</file>

<file path=ppt/notesSlides/_rels/notesSlide1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6.xml"/><Relationship Id="rId1" Type="http://schemas.openxmlformats.org/officeDocument/2006/relationships/notesMaster" Target="../notesMasters/notesMaster1.xml"/></Relationships>
</file>

<file path=ppt/notesSlides/_rels/notesSlide1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7.xml"/><Relationship Id="rId1" Type="http://schemas.openxmlformats.org/officeDocument/2006/relationships/notesMaster" Target="../notesMasters/notesMaster1.xml"/></Relationships>
</file>

<file path=ppt/notesSlides/_rels/notesSlide1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8.xml"/><Relationship Id="rId1" Type="http://schemas.openxmlformats.org/officeDocument/2006/relationships/notesMaster" Target="../notesMasters/notesMaster1.xml"/></Relationships>
</file>

<file path=ppt/notesSlides/_rels/notesSlide1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9.xml"/><Relationship Id="rId1" Type="http://schemas.openxmlformats.org/officeDocument/2006/relationships/notesMaster" Target="../notesMasters/notesMaster1.xml"/></Relationships>
</file>

<file path=ppt/notesSlides/_rels/notesSlide1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0.xml"/><Relationship Id="rId1" Type="http://schemas.openxmlformats.org/officeDocument/2006/relationships/notesMaster" Target="../notesMasters/notesMaster1.xml"/></Relationships>
</file>

<file path=ppt/notesSlides/_rels/notesSlide1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1.xml"/><Relationship Id="rId1" Type="http://schemas.openxmlformats.org/officeDocument/2006/relationships/notesMaster" Target="../notesMasters/notesMaster1.xml"/></Relationships>
</file>

<file path=ppt/notesSlides/_rels/notesSlide1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2.xml"/><Relationship Id="rId1" Type="http://schemas.openxmlformats.org/officeDocument/2006/relationships/notesMaster" Target="../notesMasters/notesMaster1.xml"/></Relationships>
</file>

<file path=ppt/notesSlides/_rels/notesSlide1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3.xml"/><Relationship Id="rId1" Type="http://schemas.openxmlformats.org/officeDocument/2006/relationships/notesMaster" Target="../notesMasters/notesMaster1.xml"/></Relationships>
</file>

<file path=ppt/notesSlides/_rels/notesSlide1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4.xml"/><Relationship Id="rId1" Type="http://schemas.openxmlformats.org/officeDocument/2006/relationships/notesMaster" Target="../notesMasters/notesMaster1.xml"/></Relationships>
</file>

<file path=ppt/notesSlides/_rels/notesSlide1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5.xml"/><Relationship Id="rId1" Type="http://schemas.openxmlformats.org/officeDocument/2006/relationships/notesMaster" Target="../notesMasters/notesMaster1.xml"/></Relationships>
</file>

<file path=ppt/notesSlides/_rels/notesSlide1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6.xml"/><Relationship Id="rId1" Type="http://schemas.openxmlformats.org/officeDocument/2006/relationships/notesMaster" Target="../notesMasters/notesMaster1.xml"/></Relationships>
</file>

<file path=ppt/notesSlides/_rels/notesSlide1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7.xml"/><Relationship Id="rId1" Type="http://schemas.openxmlformats.org/officeDocument/2006/relationships/notesMaster" Target="../notesMasters/notesMaster1.xml"/></Relationships>
</file>

<file path=ppt/notesSlides/_rels/notesSlide1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8.xml"/><Relationship Id="rId1" Type="http://schemas.openxmlformats.org/officeDocument/2006/relationships/notesMaster" Target="../notesMasters/notesMaster1.xml"/></Relationships>
</file>

<file path=ppt/notesSlides/_rels/notesSlide1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9.xml"/><Relationship Id="rId1" Type="http://schemas.openxmlformats.org/officeDocument/2006/relationships/notesMaster" Target="../notesMasters/notesMaster1.xml"/></Relationships>
</file>

<file path=ppt/notesSlides/_rels/notesSlide1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0.xml"/><Relationship Id="rId1" Type="http://schemas.openxmlformats.org/officeDocument/2006/relationships/notesMaster" Target="../notesMasters/notesMaster1.xml"/></Relationships>
</file>

<file path=ppt/notesSlides/_rels/notesSlide1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1.xml"/><Relationship Id="rId1" Type="http://schemas.openxmlformats.org/officeDocument/2006/relationships/notesMaster" Target="../notesMasters/notesMaster1.xml"/></Relationships>
</file>

<file path=ppt/notesSlides/_rels/notesSlide1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2.xml"/><Relationship Id="rId1" Type="http://schemas.openxmlformats.org/officeDocument/2006/relationships/notesMaster" Target="../notesMasters/notesMaster1.xml"/></Relationships>
</file>

<file path=ppt/notesSlides/_rels/notesSlide1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3.xml"/><Relationship Id="rId1" Type="http://schemas.openxmlformats.org/officeDocument/2006/relationships/notesMaster" Target="../notesMasters/notesMaster1.xml"/></Relationships>
</file>

<file path=ppt/notesSlides/_rels/notesSlide1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4.xml"/><Relationship Id="rId1" Type="http://schemas.openxmlformats.org/officeDocument/2006/relationships/notesMaster" Target="../notesMasters/notesMaster1.xml"/></Relationships>
</file>

<file path=ppt/notesSlides/_rels/notesSlide1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5.xml"/><Relationship Id="rId1" Type="http://schemas.openxmlformats.org/officeDocument/2006/relationships/notesMaster" Target="../notesMasters/notesMaster1.xml"/></Relationships>
</file>

<file path=ppt/notesSlides/_rels/notesSlide1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6.xml"/><Relationship Id="rId1" Type="http://schemas.openxmlformats.org/officeDocument/2006/relationships/notesMaster" Target="../notesMasters/notesMaster1.xml"/></Relationships>
</file>

<file path=ppt/notesSlides/_rels/notesSlide1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7.xml"/><Relationship Id="rId1" Type="http://schemas.openxmlformats.org/officeDocument/2006/relationships/notesMaster" Target="../notesMasters/notesMaster1.xml"/></Relationships>
</file>

<file path=ppt/notesSlides/_rels/notesSlide1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8.xml"/><Relationship Id="rId1" Type="http://schemas.openxmlformats.org/officeDocument/2006/relationships/notesMaster" Target="../notesMasters/notesMaster1.xml"/></Relationships>
</file>

<file path=ppt/notesSlides/_rels/notesSlide1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9.xml"/><Relationship Id="rId1" Type="http://schemas.openxmlformats.org/officeDocument/2006/relationships/notesMaster" Target="../notesMasters/notesMaster1.xml"/></Relationships>
</file>

<file path=ppt/notesSlides/_rels/notesSlide1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0.xml"/><Relationship Id="rId1" Type="http://schemas.openxmlformats.org/officeDocument/2006/relationships/notesMaster" Target="../notesMasters/notesMaster1.xml"/></Relationships>
</file>

<file path=ppt/notesSlides/_rels/notesSlide1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1.xml"/><Relationship Id="rId1" Type="http://schemas.openxmlformats.org/officeDocument/2006/relationships/notesMaster" Target="../notesMasters/notesMaster1.xml"/></Relationships>
</file>

<file path=ppt/notesSlides/_rels/notesSlide1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2.xml"/><Relationship Id="rId1" Type="http://schemas.openxmlformats.org/officeDocument/2006/relationships/notesMaster" Target="../notesMasters/notesMaster1.xml"/></Relationships>
</file>

<file path=ppt/notesSlides/_rels/notesSlide1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3.xml"/><Relationship Id="rId1" Type="http://schemas.openxmlformats.org/officeDocument/2006/relationships/notesMaster" Target="../notesMasters/notesMaster1.xml"/></Relationships>
</file>

<file path=ppt/notesSlides/_rels/notesSlide1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4.xml"/><Relationship Id="rId1" Type="http://schemas.openxmlformats.org/officeDocument/2006/relationships/notesMaster" Target="../notesMasters/notesMaster1.xml"/></Relationships>
</file>

<file path=ppt/notesSlides/_rels/notesSlide1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5.xml"/><Relationship Id="rId1" Type="http://schemas.openxmlformats.org/officeDocument/2006/relationships/notesMaster" Target="../notesMasters/notesMaster1.xml"/></Relationships>
</file>

<file path=ppt/notesSlides/_rels/notesSlide1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6.xml"/><Relationship Id="rId1" Type="http://schemas.openxmlformats.org/officeDocument/2006/relationships/notesMaster" Target="../notesMasters/notesMaster1.xml"/></Relationships>
</file>

<file path=ppt/notesSlides/_rels/notesSlide1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7.xml"/><Relationship Id="rId1" Type="http://schemas.openxmlformats.org/officeDocument/2006/relationships/notesMaster" Target="../notesMasters/notesMaster1.xml"/></Relationships>
</file>

<file path=ppt/notesSlides/_rels/notesSlide1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8.xml"/><Relationship Id="rId1" Type="http://schemas.openxmlformats.org/officeDocument/2006/relationships/notesMaster" Target="../notesMasters/notesMaster1.xml"/></Relationships>
</file>

<file path=ppt/notesSlides/_rels/notesSlide1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9.xml"/><Relationship Id="rId1" Type="http://schemas.openxmlformats.org/officeDocument/2006/relationships/notesMaster" Target="../notesMasters/notesMaster1.xml"/></Relationships>
</file>

<file path=ppt/notesSlides/_rels/notesSlide1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0.xml"/><Relationship Id="rId1" Type="http://schemas.openxmlformats.org/officeDocument/2006/relationships/notesMaster" Target="../notesMasters/notesMaster1.xml"/></Relationships>
</file>

<file path=ppt/notesSlides/_rels/notesSlide1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1.xml"/><Relationship Id="rId1" Type="http://schemas.openxmlformats.org/officeDocument/2006/relationships/notesMaster" Target="../notesMasters/notesMaster1.xml"/></Relationships>
</file>

<file path=ppt/notesSlides/_rels/notesSlide1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2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521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tr-T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4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tr-T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726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2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829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3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931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3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033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136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238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341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4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443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545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48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5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750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5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057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6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160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6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365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6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467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6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569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672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7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774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7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877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7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979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8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081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184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8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286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8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389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9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491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9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593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6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9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798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0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901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0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003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0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105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0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208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310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1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413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515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1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617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20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2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822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2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925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2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1027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2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1129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3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1232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3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1334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3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1437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4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1949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5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2051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2153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5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2256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5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2358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2461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6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2563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6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2665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2768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7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2870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7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2973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7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075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177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8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280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8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382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8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485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8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587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8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689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2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9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894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9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997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9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099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0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201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0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304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406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0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509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1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611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1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713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16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1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918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2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021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2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123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2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225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2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328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3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430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3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533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3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635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3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737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0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4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942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4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6045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4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6147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tr-TR" smtClean="0"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4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6249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tr-TR" smtClean="0"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5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6352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tr-TR" smtClean="0"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5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6454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tr-TR" smtClean="0"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5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6557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tr-TR" smtClean="0"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5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6659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6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6761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6864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6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6966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6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7069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7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7171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7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7273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7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7376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7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7478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8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7581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8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7683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8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7785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7888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tr-TR" smtClean="0"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9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7990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tr-TR" smtClean="0"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9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8093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tr-TR" smtClean="0"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9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8195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9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8297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0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8400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0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8502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0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8605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0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8707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0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8809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8912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1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014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1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117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tr-TR" smtClean="0"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1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219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tr-TR" smtClean="0"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2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321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tr-TR" smtClean="0"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2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424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2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526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2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629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3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731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3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833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936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3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038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4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141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4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243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4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345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4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448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5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550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5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653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5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755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5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857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60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6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062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165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tr-TR" smtClean="0"/>
          </a:p>
        </p:txBody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6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267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tr-TR" smtClean="0"/>
          </a:p>
        </p:txBody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6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369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tr-TR" smtClean="0"/>
          </a:p>
        </p:txBody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7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472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tr-TR" smtClean="0"/>
          </a:p>
        </p:txBody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7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574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tr-TR" smtClean="0"/>
          </a:p>
        </p:txBody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7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677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tr-TR" smtClean="0"/>
          </a:p>
        </p:txBody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7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779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tr-TR" smtClean="0"/>
          </a:p>
        </p:txBody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8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881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tr-TR" smtClean="0"/>
          </a:p>
        </p:txBody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984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tr-TR" smtClean="0"/>
          </a:p>
        </p:txBody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8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2086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tr-TR" smtClean="0"/>
          </a:p>
        </p:txBody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8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2189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tr-TR" smtClean="0"/>
          </a:p>
        </p:txBody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9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2291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tr-TR" smtClean="0"/>
          </a:p>
        </p:txBody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9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2393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9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2496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9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2598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0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2701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0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2803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0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2905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008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110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1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213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tr-TR" smtClean="0"/>
          </a:p>
        </p:txBody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1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315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tr-TR" smtClean="0"/>
          </a:p>
        </p:txBody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1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417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tr-TR" smtClean="0"/>
          </a:p>
        </p:txBody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2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520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tr-TR" smtClean="0"/>
          </a:p>
        </p:txBody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2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622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tr-TR" smtClean="0"/>
          </a:p>
        </p:txBody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2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725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2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827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2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929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4032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3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4134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3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4237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3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4339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4441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4544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7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4477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4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4749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5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4851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tr-TR" smtClean="0"/>
          </a:p>
        </p:txBody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5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4953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tr-TR" smtClean="0"/>
          </a:p>
        </p:txBody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056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tr-TR" smtClean="0"/>
          </a:p>
        </p:txBody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5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158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tr-TR" smtClean="0"/>
          </a:p>
        </p:txBody>
      </p:sp>
    </p:spTree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6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261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tr-TR" smtClean="0"/>
          </a:p>
        </p:txBody>
      </p:sp>
    </p:spTree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6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363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tr-TR" smtClean="0"/>
          </a:p>
        </p:txBody>
      </p:sp>
    </p:spTree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6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465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tr-TR" smtClean="0"/>
          </a:p>
        </p:txBody>
      </p:sp>
    </p:spTree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6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568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tr-TR" smtClean="0"/>
          </a:p>
        </p:txBody>
      </p:sp>
    </p:spTree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7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670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tr-TR" smtClean="0"/>
          </a:p>
        </p:txBody>
      </p:sp>
    </p:spTree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7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773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tr-TR" smtClean="0"/>
          </a:p>
        </p:txBody>
      </p:sp>
    </p:spTree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7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875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7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977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6080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8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6182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8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6285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8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6387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8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6489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9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6592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5296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tr-TR" smtClean="0"/>
          </a:p>
        </p:txBody>
      </p:sp>
      <p:sp>
        <p:nvSpPr>
          <p:cNvPr id="552964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69D167EE-6E93-407B-BA1A-89C2E2AC80D2}" type="slidenum">
              <a:rPr lang="tr-TR" sz="1200"/>
              <a:pPr algn="r"/>
              <a:t>191</a:t>
            </a:fld>
            <a:endParaRPr lang="tr-TR" sz="1200"/>
          </a:p>
        </p:txBody>
      </p:sp>
    </p:spTree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474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7475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tr-T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6"/>
          <p:cNvGrpSpPr>
            <a:grpSpLocks/>
          </p:cNvGrpSpPr>
          <p:nvPr/>
        </p:nvGrpSpPr>
        <p:grpSpPr bwMode="auto">
          <a:xfrm>
            <a:off x="0" y="914400"/>
            <a:ext cx="8686800" cy="2514600"/>
            <a:chOff x="0" y="576"/>
            <a:chExt cx="5472" cy="1584"/>
          </a:xfrm>
        </p:grpSpPr>
        <p:sp>
          <p:nvSpPr>
            <p:cNvPr id="5" name="Oval 7"/>
            <p:cNvSpPr>
              <a:spLocks noChangeArrowheads="1"/>
            </p:cNvSpPr>
            <p:nvPr/>
          </p:nvSpPr>
          <p:spPr bwMode="auto">
            <a:xfrm>
              <a:off x="144" y="576"/>
              <a:ext cx="1584" cy="1584"/>
            </a:xfrm>
            <a:prstGeom prst="ellipse">
              <a:avLst/>
            </a:prstGeom>
            <a:noFill/>
            <a:ln w="127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tr-TR"/>
            </a:p>
          </p:txBody>
        </p:sp>
        <p:sp>
          <p:nvSpPr>
            <p:cNvPr id="6" name="Rectangle 8"/>
            <p:cNvSpPr>
              <a:spLocks noChangeArrowheads="1"/>
            </p:cNvSpPr>
            <p:nvPr/>
          </p:nvSpPr>
          <p:spPr bwMode="hidden">
            <a:xfrm>
              <a:off x="0" y="1056"/>
              <a:ext cx="2976" cy="72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tr-TR" sz="2400">
                <a:latin typeface="Times New Roman" pitchFamily="18" charset="0"/>
              </a:endParaRPr>
            </a:p>
          </p:txBody>
        </p:sp>
        <p:sp>
          <p:nvSpPr>
            <p:cNvPr id="7" name="Rectangle 9"/>
            <p:cNvSpPr>
              <a:spLocks noChangeArrowheads="1"/>
            </p:cNvSpPr>
            <p:nvPr/>
          </p:nvSpPr>
          <p:spPr bwMode="hidden">
            <a:xfrm>
              <a:off x="2496" y="1056"/>
              <a:ext cx="2976" cy="720"/>
            </a:xfrm>
            <a:prstGeom prst="rect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tr-TR" sz="2400">
                <a:latin typeface="Times New Roman" pitchFamily="18" charset="0"/>
              </a:endParaRPr>
            </a:p>
          </p:txBody>
        </p:sp>
        <p:sp>
          <p:nvSpPr>
            <p:cNvPr id="8" name="Freeform 10"/>
            <p:cNvSpPr>
              <a:spLocks noChangeArrowheads="1"/>
            </p:cNvSpPr>
            <p:nvPr/>
          </p:nvSpPr>
          <p:spPr bwMode="auto">
            <a:xfrm>
              <a:off x="384" y="960"/>
              <a:ext cx="144" cy="913"/>
            </a:xfrm>
            <a:custGeom>
              <a:avLst/>
              <a:gdLst/>
              <a:ahLst/>
              <a:cxnLst>
                <a:cxn ang="0">
                  <a:pos x="1000" y="1000"/>
                </a:cxn>
                <a:cxn ang="0">
                  <a:pos x="0" y="1000"/>
                </a:cxn>
                <a:cxn ang="0">
                  <a:pos x="0" y="0"/>
                </a:cxn>
                <a:cxn ang="0">
                  <a:pos x="1000" y="0"/>
                </a:cxn>
              </a:cxnLst>
              <a:rect l="0" t="0" r="r" b="b"/>
              <a:pathLst>
                <a:path w="1000" h="1000">
                  <a:moveTo>
                    <a:pt x="1000" y="1000"/>
                  </a:moveTo>
                  <a:lnTo>
                    <a:pt x="0" y="1000"/>
                  </a:lnTo>
                  <a:lnTo>
                    <a:pt x="0" y="0"/>
                  </a:lnTo>
                  <a:lnTo>
                    <a:pt x="1000" y="0"/>
                  </a:lnTo>
                </a:path>
              </a:pathLst>
            </a:custGeom>
            <a:noFill/>
            <a:ln w="76200" cmpd="sng">
              <a:solidFill>
                <a:schemeClr val="tx2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9" name="Freeform 11"/>
            <p:cNvSpPr>
              <a:spLocks noChangeArrowheads="1"/>
            </p:cNvSpPr>
            <p:nvPr/>
          </p:nvSpPr>
          <p:spPr bwMode="auto">
            <a:xfrm>
              <a:off x="4944" y="762"/>
              <a:ext cx="165" cy="86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00" y="0"/>
                </a:cxn>
                <a:cxn ang="0">
                  <a:pos x="1000" y="1000"/>
                </a:cxn>
                <a:cxn ang="0">
                  <a:pos x="0" y="1000"/>
                </a:cxn>
              </a:cxnLst>
              <a:rect l="0" t="0" r="r" b="b"/>
              <a:pathLst>
                <a:path w="1000" h="1000">
                  <a:moveTo>
                    <a:pt x="0" y="0"/>
                  </a:moveTo>
                  <a:lnTo>
                    <a:pt x="1000" y="0"/>
                  </a:lnTo>
                  <a:lnTo>
                    <a:pt x="1000" y="1000"/>
                  </a:lnTo>
                  <a:lnTo>
                    <a:pt x="0" y="1000"/>
                  </a:lnTo>
                </a:path>
              </a:pathLst>
            </a:custGeom>
            <a:noFill/>
            <a:ln w="76200" cap="flat" cmpd="sng">
              <a:solidFill>
                <a:schemeClr val="accent1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1229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2286000" y="3581400"/>
            <a:ext cx="5638800" cy="19050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2300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838200" y="1443038"/>
            <a:ext cx="7086600" cy="1600200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" name="Rectangle 3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B262BB58-BEE3-4479-906A-CF410F37F316}" type="datetime1">
              <a:rPr lang="en-US"/>
              <a:pPr/>
              <a:t>10/16/2011</a:t>
            </a:fld>
            <a:endParaRPr lang="en-US"/>
          </a:p>
        </p:txBody>
      </p:sp>
      <p:sp>
        <p:nvSpPr>
          <p:cNvPr id="11" name="Rectangle 4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2" name="Rectangle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54D4EC31-C19A-473A-B7A9-9BF848759D1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5E65018-983F-48C1-B838-089405B5A94D}" type="datetime1">
              <a:rPr lang="en-US"/>
              <a:pPr/>
              <a:t>10/16/2011</a:t>
            </a:fld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5E1C45B-9F7C-4344-B1B3-B1FEB1ACFD0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D916D5-CB11-44B6-9E48-F60BF59A3A15}" type="datetime1">
              <a:rPr lang="en-US"/>
              <a:pPr/>
              <a:t>10/16/2011</a:t>
            </a:fld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ADDD9C-F21A-4803-82AC-862311478A7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9325" y="1981200"/>
            <a:ext cx="3754438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56163" y="1981200"/>
            <a:ext cx="3754437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605251-B857-45B7-BA98-E99557361430}" type="datetime1">
              <a:rPr lang="en-US"/>
              <a:pPr/>
              <a:t>10/16/2011</a:t>
            </a:fld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D2CDD3F-313F-4CC5-A257-18ACE52726C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27FF8B-9B66-419D-B293-94ECCD30B329}" type="datetime1">
              <a:rPr lang="en-US"/>
              <a:pPr/>
              <a:t>10/16/2011</a:t>
            </a:fld>
            <a:endParaRPr lang="en-US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AFFC273-2EEA-4A66-B5E1-184C74D24D8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FD98340-0925-4D83-BFE5-2F7A9CAE55F9}" type="datetime1">
              <a:rPr lang="en-US"/>
              <a:pPr/>
              <a:t>10/16/2011</a:t>
            </a:fld>
            <a:endParaRPr 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F7A06C4-5C1F-42E7-B85C-1BFD71F9EC6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4DBFD14-D22B-42EB-B3F8-030C64979710}" type="datetime1">
              <a:rPr lang="en-US"/>
              <a:pPr/>
              <a:t>10/16/2011</a:t>
            </a:fld>
            <a:endParaRPr lang="en-US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4140B74-0CB0-4BF3-9604-65FFC0315DA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A633335-113E-4925-B9D8-C2FE67E82795}" type="datetime1">
              <a:rPr lang="en-US"/>
              <a:pPr/>
              <a:t>10/16/2011</a:t>
            </a:fld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4CF45DB-6255-4F89-B7F0-B4D4CB63BDE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 smtClean="0"/>
              <a:t>Click icon to add picture</a:t>
            </a:r>
            <a:endParaRPr lang="tr-TR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29A3309-2498-4070-B5C6-5A4DA524C74B}" type="datetime1">
              <a:rPr lang="en-US"/>
              <a:pPr/>
              <a:t>10/16/2011</a:t>
            </a:fld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1F52804-9090-4498-A46A-E19EA35A520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F5688F7-459D-407F-92EC-E455DF92D76B}" type="datetime1">
              <a:rPr lang="en-US"/>
              <a:pPr/>
              <a:t>10/16/2011</a:t>
            </a:fld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44B7DAF-AADF-423F-9D7B-A9CB5752CF2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91313" y="96838"/>
            <a:ext cx="1919287" cy="59991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31863" y="96838"/>
            <a:ext cx="5607050" cy="599916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94B18F3-823E-47EE-ADCF-C9D716C6F7EE}" type="datetime1">
              <a:rPr lang="en-US"/>
              <a:pPr/>
              <a:t>10/16/2011</a:t>
            </a:fld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28022E5-10F7-495C-BE5A-68E3E6404F4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863" y="96838"/>
            <a:ext cx="7158037" cy="141287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49325" y="1981200"/>
            <a:ext cx="3754438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856163" y="1981200"/>
            <a:ext cx="3754437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856163" y="4114800"/>
            <a:ext cx="3754437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9CCB96B-23C7-418A-859B-78876B25A707}" type="datetime1">
              <a:rPr lang="en-US"/>
              <a:pPr/>
              <a:t>10/16/2011</a:t>
            </a:fld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2FDE86A-33C1-459F-B364-DF78CDBA17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863" y="96838"/>
            <a:ext cx="7158037" cy="141287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49325" y="1981200"/>
            <a:ext cx="3754438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56163" y="1981200"/>
            <a:ext cx="3754437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331A49-B5E8-43F9-87FF-F82A115A7804}" type="datetime1">
              <a:rPr lang="en-US"/>
              <a:pPr/>
              <a:t>10/16/2011</a:t>
            </a:fld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3CCD146-8ED3-407F-8676-2DD657AA316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863" y="96838"/>
            <a:ext cx="7158037" cy="141287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9325" y="1981200"/>
            <a:ext cx="3754438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856163" y="1981200"/>
            <a:ext cx="3754437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856163" y="4114800"/>
            <a:ext cx="3754437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4D9B2BE-BC7E-4AD2-A79E-C493416689BF}" type="datetime1">
              <a:rPr lang="en-US"/>
              <a:pPr/>
              <a:t>10/16/2011</a:t>
            </a:fld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E6345E7-EF02-4D85-AEC3-B5EF1A90B3F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Başlık ve Tab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931863" y="96838"/>
            <a:ext cx="7158037" cy="1412875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Tablo Yer Tutucusu"/>
          <p:cNvSpPr>
            <a:spLocks noGrp="1"/>
          </p:cNvSpPr>
          <p:nvPr>
            <p:ph type="tbl" idx="1"/>
          </p:nvPr>
        </p:nvSpPr>
        <p:spPr>
          <a:xfrm>
            <a:off x="949325" y="1981200"/>
            <a:ext cx="7661275" cy="4114800"/>
          </a:xfrm>
        </p:spPr>
        <p:txBody>
          <a:bodyPr/>
          <a:lstStyle/>
          <a:p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>
          <a:xfrm>
            <a:off x="94615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F5635AC2-5FCA-4688-B424-9F0E89E4C595}" type="datetime1">
              <a:rPr lang="en-US"/>
              <a:pPr/>
              <a:t>10/16/2011</a:t>
            </a:fld>
            <a:endParaRPr lang="en-US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>
          <a:xfrm>
            <a:off x="33528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>
          <a:xfrm>
            <a:off x="67056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22740EA5-39E6-43DE-AA63-6C7AD055CB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ChangeArrowheads="1"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tr-TR" sz="2400">
              <a:latin typeface="Times New Roman" pitchFamily="18" charset="0"/>
            </a:endParaRPr>
          </a:p>
        </p:txBody>
      </p:sp>
      <p:sp>
        <p:nvSpPr>
          <p:cNvPr id="11267" name="Rectangle 3"/>
          <p:cNvSpPr>
            <a:spLocks noChangeArrowheads="1"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tr-TR" sz="2400">
              <a:latin typeface="Times New Roman" pitchFamily="18" charset="0"/>
            </a:endParaRP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931863" y="96838"/>
            <a:ext cx="7158037" cy="1412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9325" y="1981200"/>
            <a:ext cx="7661275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1270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4615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/>
            </a:lvl1pPr>
          </a:lstStyle>
          <a:p>
            <a:fld id="{A478E86A-EE67-4FFA-A9F5-99DCB7A7A11A}" type="datetime1">
              <a:rPr lang="en-US"/>
              <a:pPr/>
              <a:t>10/16/2011</a:t>
            </a:fld>
            <a:endParaRPr lang="en-US"/>
          </a:p>
        </p:txBody>
      </p:sp>
      <p:sp>
        <p:nvSpPr>
          <p:cNvPr id="11271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/>
            </a:lvl1pPr>
          </a:lstStyle>
          <a:p>
            <a:endParaRPr lang="en-US"/>
          </a:p>
        </p:txBody>
      </p:sp>
      <p:sp>
        <p:nvSpPr>
          <p:cNvPr id="1127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/>
            </a:lvl1pPr>
          </a:lstStyle>
          <a:p>
            <a:fld id="{7ED09AB2-0E3C-4608-942A-A4F6CAAECC33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1273" name="Freeform 9"/>
          <p:cNvSpPr>
            <a:spLocks noChangeArrowheads="1"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/>
            <a:ahLst/>
            <a:cxnLst>
              <a:cxn ang="0">
                <a:pos x="1000" y="1000"/>
              </a:cxn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>
                <a:moveTo>
                  <a:pt x="1000" y="1000"/>
                </a:moveTo>
                <a:lnTo>
                  <a:pt x="0" y="1000"/>
                </a:ln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76200" cmpd="sng">
            <a:solidFill>
              <a:schemeClr val="tx2"/>
            </a:solidFill>
            <a:miter lim="800000"/>
            <a:headEnd/>
            <a:tailEnd/>
          </a:ln>
        </p:spPr>
        <p:txBody>
          <a:bodyPr/>
          <a:lstStyle/>
          <a:p>
            <a:endParaRPr lang="tr-TR"/>
          </a:p>
        </p:txBody>
      </p:sp>
      <p:sp>
        <p:nvSpPr>
          <p:cNvPr id="11274" name="Freeform 10"/>
          <p:cNvSpPr>
            <a:spLocks noChangeArrowheads="1"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000" y="0"/>
              </a:cxn>
              <a:cxn ang="0">
                <a:pos x="1000" y="1000"/>
              </a:cxn>
              <a:cxn ang="0">
                <a:pos x="0" y="1000"/>
              </a:cxn>
            </a:cxnLst>
            <a:rect l="0" t="0" r="r" b="b"/>
            <a:pathLst>
              <a:path w="1000" h="1000">
                <a:moveTo>
                  <a:pt x="0" y="0"/>
                </a:moveTo>
                <a:lnTo>
                  <a:pt x="1000" y="0"/>
                </a:lnTo>
                <a:lnTo>
                  <a:pt x="1000" y="1000"/>
                </a:lnTo>
                <a:lnTo>
                  <a:pt x="0" y="1000"/>
                </a:lnTo>
              </a:path>
            </a:pathLst>
          </a:custGeom>
          <a:noFill/>
          <a:ln w="76200" cap="flat" cmpd="sng">
            <a:solidFill>
              <a:schemeClr val="accent1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47" r:id="rId2"/>
    <p:sldLayoutId id="2147483746" r:id="rId3"/>
    <p:sldLayoutId id="2147483745" r:id="rId4"/>
    <p:sldLayoutId id="2147483744" r:id="rId5"/>
    <p:sldLayoutId id="2147483743" r:id="rId6"/>
    <p:sldLayoutId id="2147483742" r:id="rId7"/>
    <p:sldLayoutId id="2147483741" r:id="rId8"/>
    <p:sldLayoutId id="2147483740" r:id="rId9"/>
    <p:sldLayoutId id="2147483739" r:id="rId10"/>
    <p:sldLayoutId id="2147483738" r:id="rId11"/>
    <p:sldLayoutId id="2147483737" r:id="rId12"/>
    <p:sldLayoutId id="2147483736" r:id="rId13"/>
    <p:sldLayoutId id="2147483735" r:id="rId14"/>
    <p:sldLayoutId id="2147483748" r:id="rId15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447675" indent="-44767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889000" indent="-439738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itchFamily="2" charset="2"/>
        <a:buChar char="¡"/>
        <a:defRPr sz="2800">
          <a:solidFill>
            <a:schemeClr val="tx1"/>
          </a:solidFill>
          <a:latin typeface="+mn-lt"/>
        </a:defRPr>
      </a:lvl2pPr>
      <a:lvl3pPr marL="1293813" indent="-4032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sz="2400">
          <a:solidFill>
            <a:schemeClr val="tx1"/>
          </a:solidFill>
          <a:latin typeface="+mn-lt"/>
        </a:defRPr>
      </a:lvl3pPr>
      <a:lvl4pPr marL="1681163" indent="-385763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Wingdings" pitchFamily="2" charset="2"/>
        <a:buChar char="¡"/>
        <a:defRPr sz="2000">
          <a:solidFill>
            <a:schemeClr val="tx1"/>
          </a:solidFill>
          <a:latin typeface="+mn-lt"/>
        </a:defRPr>
      </a:lvl4pPr>
      <a:lvl5pPr marL="2070100" indent="-3873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5pPr>
      <a:lvl6pPr marL="2527300" indent="-3873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84500" indent="-3873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41700" indent="-3873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98900" indent="-3873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3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3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3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1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4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12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12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9.xml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1.xml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2.xml"/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3.xml"/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4.xml"/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1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6.xml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137.xml"/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138.xml"/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39.xml"/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0.xml"/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1.xml"/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142.xml"/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143.xml"/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4.xml"/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5.xml"/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146.xml"/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14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5.png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8.xml"/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9.xml"/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0.xml"/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1.xml"/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2.xml"/><Relationship Id="rId1" Type="http://schemas.openxmlformats.org/officeDocument/2006/relationships/slideLayout" Target="../slideLayouts/slideLayout12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3.xml"/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154.xml"/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5.xml"/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156.xml"/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157.xml"/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158.xml"/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9.xml"/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0.xml"/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161.xml"/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2.xml"/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3.xml"/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4.xml"/><Relationship Id="rId1" Type="http://schemas.openxmlformats.org/officeDocument/2006/relationships/slideLayout" Target="../slideLayouts/slideLayout12.xml"/></Relationships>
</file>

<file path=ppt/slides/_rels/slide1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5.xml"/><Relationship Id="rId1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166.xml"/><Relationship Id="rId1" Type="http://schemas.openxmlformats.org/officeDocument/2006/relationships/slideLayout" Target="../slideLayouts/slideLayout2.xml"/></Relationships>
</file>

<file path=ppt/slides/_rels/slide1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7.xml"/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8.xml"/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169.xml"/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0.xml"/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171.xml"/><Relationship Id="rId1" Type="http://schemas.openxmlformats.org/officeDocument/2006/relationships/slideLayout" Target="../slideLayouts/slideLayout7.xml"/></Relationships>
</file>

<file path=ppt/slides/_rels/slide1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2.xml"/><Relationship Id="rId1" Type="http://schemas.openxmlformats.org/officeDocument/2006/relationships/slideLayout" Target="../slideLayouts/slideLayout2.xml"/></Relationships>
</file>

<file path=ppt/slides/_rels/slide1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17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5.png"/></Relationships>
</file>

<file path=ppt/slides/_rels/slide1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174.xml"/><Relationship Id="rId1" Type="http://schemas.openxmlformats.org/officeDocument/2006/relationships/slideLayout" Target="../slideLayouts/slideLayout2.xml"/></Relationships>
</file>

<file path=ppt/slides/_rels/slide1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175.xml"/><Relationship Id="rId1" Type="http://schemas.openxmlformats.org/officeDocument/2006/relationships/slideLayout" Target="../slideLayouts/slideLayout2.xml"/></Relationships>
</file>

<file path=ppt/slides/_rels/slide1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6.xml"/><Relationship Id="rId1" Type="http://schemas.openxmlformats.org/officeDocument/2006/relationships/slideLayout" Target="../slideLayouts/slideLayout2.xml"/></Relationships>
</file>

<file path=ppt/slides/_rels/slide1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7.xml"/><Relationship Id="rId1" Type="http://schemas.openxmlformats.org/officeDocument/2006/relationships/slideLayout" Target="../slideLayouts/slideLayout2.xml"/></Relationships>
</file>

<file path=ppt/slides/_rels/slide1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8.xml"/><Relationship Id="rId1" Type="http://schemas.openxmlformats.org/officeDocument/2006/relationships/slideLayout" Target="../slideLayouts/slideLayout2.xml"/></Relationships>
</file>

<file path=ppt/slides/_rels/slide1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9.xml"/><Relationship Id="rId1" Type="http://schemas.openxmlformats.org/officeDocument/2006/relationships/slideLayout" Target="../slideLayouts/slideLayout2.xml"/></Relationships>
</file>

<file path=ppt/slides/_rels/slide1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0.xml"/><Relationship Id="rId1" Type="http://schemas.openxmlformats.org/officeDocument/2006/relationships/slideLayout" Target="../slideLayouts/slideLayout2.xml"/></Relationships>
</file>

<file path=ppt/slides/_rels/slide1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1.xml"/><Relationship Id="rId1" Type="http://schemas.openxmlformats.org/officeDocument/2006/relationships/slideLayout" Target="../slideLayouts/slideLayout2.xml"/></Relationships>
</file>

<file path=ppt/slides/_rels/slide1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182.xml"/><Relationship Id="rId1" Type="http://schemas.openxmlformats.org/officeDocument/2006/relationships/slideLayout" Target="../slideLayouts/slideLayout2.xml"/></Relationships>
</file>

<file path=ppt/slides/_rels/slide1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3.xml"/><Relationship Id="rId1" Type="http://schemas.openxmlformats.org/officeDocument/2006/relationships/slideLayout" Target="../slideLayouts/slideLayout2.xml"/></Relationships>
</file>

<file path=ppt/slides/_rels/slide1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4.xml"/><Relationship Id="rId1" Type="http://schemas.openxmlformats.org/officeDocument/2006/relationships/slideLayout" Target="../slideLayouts/slideLayout2.xml"/></Relationships>
</file>

<file path=ppt/slides/_rels/slide1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5.xml"/><Relationship Id="rId1" Type="http://schemas.openxmlformats.org/officeDocument/2006/relationships/slideLayout" Target="../slideLayouts/slideLayout12.xml"/></Relationships>
</file>

<file path=ppt/slides/_rels/slide1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6.xml"/><Relationship Id="rId1" Type="http://schemas.openxmlformats.org/officeDocument/2006/relationships/slideLayout" Target="../slideLayouts/slideLayout2.xml"/></Relationships>
</file>

<file path=ppt/slides/_rels/slide1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187.xml"/><Relationship Id="rId1" Type="http://schemas.openxmlformats.org/officeDocument/2006/relationships/slideLayout" Target="../slideLayouts/slideLayout2.xml"/></Relationships>
</file>

<file path=ppt/slides/_rels/slide1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188.xml"/><Relationship Id="rId1" Type="http://schemas.openxmlformats.org/officeDocument/2006/relationships/slideLayout" Target="../slideLayouts/slideLayout2.xml"/></Relationships>
</file>

<file path=ppt/slides/_rels/slide1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18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2.png"/></Relationships>
</file>

<file path=ppt/slides/_rels/slide1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0.xml"/><Relationship Id="rId1" Type="http://schemas.openxmlformats.org/officeDocument/2006/relationships/slideLayout" Target="../slideLayouts/slideLayout2.xml"/></Relationships>
</file>

<file path=ppt/slides/_rels/slide1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19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4.wmf"/></Relationships>
</file>

<file path=ppt/slides/_rels/slide1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2.xml"/><Relationship Id="rId1" Type="http://schemas.openxmlformats.org/officeDocument/2006/relationships/slideLayout" Target="../slideLayouts/slideLayout15.xml"/></Relationships>
</file>

<file path=ppt/slides/_rels/slide1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wmf"/><Relationship Id="rId1" Type="http://schemas.openxmlformats.org/officeDocument/2006/relationships/slideLayout" Target="../slideLayouts/slideLayout13.xml"/></Relationships>
</file>

<file path=ppt/slides/_rels/slide1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wmf"/><Relationship Id="rId1" Type="http://schemas.openxmlformats.org/officeDocument/2006/relationships/slideLayout" Target="../slideLayouts/slideLayout13.xml"/></Relationships>
</file>

<file path=ppt/slides/_rels/slide1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13.xml"/></Relationships>
</file>

<file path=ppt/slides/_rels/slide2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wmf"/><Relationship Id="rId1" Type="http://schemas.openxmlformats.org/officeDocument/2006/relationships/slideLayout" Target="../slideLayouts/slideLayout12.xml"/></Relationships>
</file>

<file path=ppt/slides/_rels/slide2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wmf"/><Relationship Id="rId1" Type="http://schemas.openxmlformats.org/officeDocument/2006/relationships/slideLayout" Target="../slideLayouts/slideLayout13.xml"/></Relationships>
</file>

<file path=ppt/slides/_rels/slide2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13.xml"/></Relationships>
</file>

<file path=ppt/slides/_rels/slide2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13.xml"/></Relationships>
</file>

<file path=ppt/slides/_rels/slide2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13.xml"/></Relationships>
</file>

<file path=ppt/slides/_rels/slide2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wmf"/><Relationship Id="rId1" Type="http://schemas.openxmlformats.org/officeDocument/2006/relationships/slideLayout" Target="../slideLayouts/slideLayout13.xml"/></Relationships>
</file>

<file path=ppt/slides/_rels/slide2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wmf"/><Relationship Id="rId1" Type="http://schemas.openxmlformats.org/officeDocument/2006/relationships/slideLayout" Target="../slideLayouts/slideLayout13.xml"/></Relationships>
</file>

<file path=ppt/slides/_rels/slide2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wmf"/><Relationship Id="rId1" Type="http://schemas.openxmlformats.org/officeDocument/2006/relationships/slideLayout" Target="../slideLayouts/slideLayout13.xml"/></Relationships>
</file>

<file path=ppt/slides/_rels/slide2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13.xml"/></Relationships>
</file>

<file path=ppt/slides/_rels/slide2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wmf"/><Relationship Id="rId1" Type="http://schemas.openxmlformats.org/officeDocument/2006/relationships/slideLayout" Target="../slideLayouts/slideLayout13.xml"/></Relationships>
</file>

<file path=ppt/slides/_rels/slide2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9.wmf"/><Relationship Id="rId1" Type="http://schemas.openxmlformats.org/officeDocument/2006/relationships/slideLayout" Target="../slideLayouts/slideLayout12.xml"/></Relationships>
</file>

<file path=ppt/slides/_rels/slide2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wmf"/><Relationship Id="rId1" Type="http://schemas.openxmlformats.org/officeDocument/2006/relationships/slideLayout" Target="../slideLayouts/slideLayout13.xml"/></Relationships>
</file>

<file path=ppt/slides/_rels/slide2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wmf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12.xml"/></Relationships>
</file>

<file path=ppt/slides/_rels/slide2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wmf"/><Relationship Id="rId1" Type="http://schemas.openxmlformats.org/officeDocument/2006/relationships/slideLayout" Target="../slideLayouts/slideLayout13.xml"/></Relationships>
</file>

<file path=ppt/slides/_rels/slide2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12.xml"/></Relationships>
</file>

<file path=ppt/slides/_rels/slide2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wmf"/><Relationship Id="rId1" Type="http://schemas.openxmlformats.org/officeDocument/2006/relationships/slideLayout" Target="../slideLayouts/slideLayout13.xml"/></Relationships>
</file>

<file path=ppt/slides/_rels/slide2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wmf"/><Relationship Id="rId1" Type="http://schemas.openxmlformats.org/officeDocument/2006/relationships/slideLayout" Target="../slideLayouts/slideLayout13.xml"/></Relationships>
</file>

<file path=ppt/slides/_rels/slide2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GB" dirty="0" err="1" smtClean="0"/>
              <a:t>Elektriksel</a:t>
            </a:r>
            <a:r>
              <a:rPr lang="en-GB" smtClean="0"/>
              <a:t> Buyukluklerin Olculmesi</a:t>
            </a:r>
            <a:endParaRPr lang="tr-TR" smtClean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41CD65EB-0206-4167-8A82-06D62AE5AC91}" type="slidenum">
              <a:rPr lang="en-US"/>
              <a:pPr/>
              <a:t>2</a:t>
            </a:fld>
            <a:endParaRPr lang="en-US"/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r-TR" sz="3600" b="1" smtClean="0"/>
              <a:t>İÇİNDEKİLER</a:t>
            </a:r>
          </a:p>
        </p:txBody>
      </p:sp>
      <p:sp>
        <p:nvSpPr>
          <p:cNvPr id="4099" name="Slide Number Placeholder 12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F56C105F-4E35-4F4C-81E5-98CCEFCE8D11}" type="slidenum">
              <a:rPr lang="en-US" sz="1000"/>
              <a:pPr algn="r"/>
              <a:t>2</a:t>
            </a:fld>
            <a:endParaRPr lang="en-US" sz="1000"/>
          </a:p>
        </p:txBody>
      </p:sp>
      <p:sp>
        <p:nvSpPr>
          <p:cNvPr id="13" name="Content Placeholder 1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sz="1800" smtClean="0"/>
              <a:t>GİRİŞ</a:t>
            </a:r>
          </a:p>
          <a:p>
            <a:r>
              <a:rPr lang="tr-TR" sz="1800" smtClean="0"/>
              <a:t>ÖĞRENME FAALİYETİ-1</a:t>
            </a:r>
          </a:p>
          <a:p>
            <a:r>
              <a:rPr lang="tr-TR" sz="1800" smtClean="0"/>
              <a:t>1. ÖLÇÜ ALETLERİ</a:t>
            </a:r>
          </a:p>
          <a:p>
            <a:pPr lvl="1"/>
            <a:r>
              <a:rPr lang="tr-TR" sz="1600" smtClean="0"/>
              <a:t>1.1. Ölçmenin Önemi</a:t>
            </a:r>
          </a:p>
          <a:p>
            <a:pPr lvl="1"/>
            <a:r>
              <a:rPr lang="tr-TR" sz="1600" smtClean="0"/>
              <a:t>1.2. Elektriksel Ölçü Aletlerinin Tanıtılması</a:t>
            </a:r>
          </a:p>
          <a:p>
            <a:pPr lvl="2"/>
            <a:r>
              <a:rPr lang="tr-TR" sz="1400" smtClean="0"/>
              <a:t>1.2.1 Yapısına Göre Ölçü Aletleri</a:t>
            </a:r>
          </a:p>
          <a:p>
            <a:pPr lvl="2"/>
            <a:r>
              <a:rPr lang="tr-TR" sz="1400" smtClean="0"/>
              <a:t>1.2.2. Ölçtüğü Büyüklüğü Gösterme Şekline Göre</a:t>
            </a:r>
          </a:p>
          <a:p>
            <a:pPr lvl="2"/>
            <a:r>
              <a:rPr lang="tr-TR" sz="1400" smtClean="0"/>
              <a:t>1.2.3. Kullanım Yerlerine Göre Ölçü Aletleri</a:t>
            </a:r>
          </a:p>
          <a:p>
            <a:pPr lvl="1"/>
            <a:r>
              <a:rPr lang="tr-TR" sz="1600" smtClean="0"/>
              <a:t>1.3. Çeşitli Elektriksel Ölçü Aleti Tanımları</a:t>
            </a:r>
          </a:p>
          <a:p>
            <a:pPr lvl="1"/>
            <a:r>
              <a:rPr lang="fr-FR" sz="1600" smtClean="0"/>
              <a:t>1.4. Ölçü Aletlerine Ait Terimler</a:t>
            </a:r>
          </a:p>
          <a:p>
            <a:pPr lvl="2"/>
            <a:r>
              <a:rPr lang="tr-TR" sz="1400" smtClean="0"/>
              <a:t>1.4.1. Doğruluk Derecesi</a:t>
            </a:r>
          </a:p>
          <a:p>
            <a:pPr lvl="2"/>
            <a:r>
              <a:rPr lang="tr-TR" sz="1400" smtClean="0"/>
              <a:t>1.4.2. Duyarlılık</a:t>
            </a:r>
          </a:p>
          <a:p>
            <a:pPr lvl="2"/>
            <a:r>
              <a:rPr lang="tr-TR" sz="1400" smtClean="0"/>
              <a:t>1.4.3. Sabite</a:t>
            </a:r>
          </a:p>
          <a:p>
            <a:pPr lvl="2"/>
            <a:r>
              <a:rPr lang="tr-TR" sz="1400" smtClean="0"/>
              <a:t>1.4.4. Ölçme Sınırı</a:t>
            </a:r>
          </a:p>
          <a:p>
            <a:pPr lvl="2"/>
            <a:r>
              <a:rPr lang="tr-TR" sz="1400" smtClean="0"/>
              <a:t>1.4.5. Ölçme Alanı</a:t>
            </a:r>
          </a:p>
          <a:p>
            <a:pPr lvl="2"/>
            <a:r>
              <a:rPr lang="tr-TR" sz="1400" smtClean="0"/>
              <a:t>1.4.6. Ölçü Aletlerinin Enerji Sarfiyatı</a:t>
            </a:r>
          </a:p>
          <a:p>
            <a:pPr lvl="2"/>
            <a:r>
              <a:rPr lang="tr-TR" sz="1400" smtClean="0"/>
              <a:t>1.4.7. Ölçü Aleti Şeçimi ve Kullanımı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D4729A21-42C9-49F0-8B33-0E24A208E0DE}" type="slidenum">
              <a:rPr lang="en-US"/>
              <a:pPr/>
              <a:t>3</a:t>
            </a:fld>
            <a:endParaRPr lang="en-US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b="1" smtClean="0"/>
              <a:t>İÇİNDEKİLER</a:t>
            </a:r>
            <a:endParaRPr lang="en-US" b="1" smtClean="0"/>
          </a:p>
        </p:txBody>
      </p:sp>
      <p:sp>
        <p:nvSpPr>
          <p:cNvPr id="5123" name="Slide Number Placeholder 10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A93D23FC-6F06-4A4A-ACC4-4C7EEC63C41F}" type="slidenum">
              <a:rPr lang="en-US" sz="1000"/>
              <a:pPr algn="r"/>
              <a:t>3</a:t>
            </a:fld>
            <a:endParaRPr lang="en-US" sz="1000"/>
          </a:p>
        </p:txBody>
      </p:sp>
      <p:sp>
        <p:nvSpPr>
          <p:cNvPr id="13" name="Content Placeholder 1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tr-TR" sz="1800" smtClean="0"/>
              <a:t>1.5. Analog Ölçü Aletleri</a:t>
            </a:r>
          </a:p>
          <a:p>
            <a:pPr lvl="2"/>
            <a:r>
              <a:rPr lang="tr-TR" sz="1800" smtClean="0"/>
              <a:t>1.5.1. Analog Ölçü Aletlerinin Ortak Özellikleri</a:t>
            </a:r>
          </a:p>
          <a:p>
            <a:pPr lvl="2"/>
            <a:r>
              <a:rPr lang="tr-TR" sz="1800" smtClean="0"/>
              <a:t>1.5.2. Analog Ölçü Aletlerinin Mekanik Kısımları</a:t>
            </a:r>
          </a:p>
          <a:p>
            <a:pPr lvl="1"/>
            <a:r>
              <a:rPr lang="tr-TR" sz="1800" smtClean="0"/>
              <a:t>1.6. Dijital Ölçü Aletlerinin Genel Tanımı</a:t>
            </a:r>
          </a:p>
          <a:p>
            <a:r>
              <a:rPr lang="tr-TR" sz="1800" smtClean="0"/>
              <a:t>ÖLÇME VE DEĞERLENDİRME</a:t>
            </a:r>
            <a:endParaRPr lang="en-GB" sz="1800" smtClean="0"/>
          </a:p>
          <a:p>
            <a:r>
              <a:rPr lang="tr-TR" sz="1800" smtClean="0"/>
              <a:t>ÖĞRENME FAALİYETİ-2</a:t>
            </a:r>
          </a:p>
          <a:p>
            <a:r>
              <a:rPr lang="tr-TR" sz="1800" smtClean="0"/>
              <a:t>2. DİRENÇ ÖLÇME</a:t>
            </a:r>
          </a:p>
          <a:p>
            <a:pPr lvl="1"/>
            <a:r>
              <a:rPr lang="es-ES" sz="1800" smtClean="0"/>
              <a:t>2.1. Direnç ve İletken</a:t>
            </a:r>
          </a:p>
          <a:p>
            <a:pPr lvl="1"/>
            <a:r>
              <a:rPr lang="nn-NO" sz="1800" smtClean="0"/>
              <a:t>2.2. İletken Direncini Etkileyen Faktörler</a:t>
            </a:r>
          </a:p>
          <a:p>
            <a:pPr lvl="2"/>
            <a:r>
              <a:rPr lang="tr-TR" sz="1800" smtClean="0"/>
              <a:t>2.2.1. Direnç Değerinin İletkenin Boyu ile Değişimi</a:t>
            </a:r>
          </a:p>
          <a:p>
            <a:pPr lvl="2"/>
            <a:r>
              <a:rPr lang="tr-TR" sz="1800" smtClean="0"/>
              <a:t>2.2.2. Direnç Değerinin İletkenin Kesiti ile Değişimi</a:t>
            </a:r>
          </a:p>
          <a:p>
            <a:pPr lvl="2"/>
            <a:r>
              <a:rPr lang="tr-TR" sz="1800" smtClean="0"/>
              <a:t>2.2.3. Direnç Değerinin İletkenin Cinsi ile Değişimi</a:t>
            </a:r>
            <a:endParaRPr lang="en-GB" sz="1800" smtClean="0"/>
          </a:p>
          <a:p>
            <a:pPr lvl="2"/>
            <a:r>
              <a:rPr lang="tr-TR" sz="1800" smtClean="0"/>
              <a:t>2.2.4. Direncin Sıcaklıkla Değişimi</a:t>
            </a:r>
            <a:endParaRPr lang="tr-T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8266C01D-9DDB-42BC-BA0B-C96B09932585}" type="slidenum">
              <a:rPr lang="en-US"/>
              <a:pPr/>
              <a:t>4</a:t>
            </a:fld>
            <a:endParaRPr lang="en-US"/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b="1" smtClean="0"/>
              <a:t>İÇİNDEKİLER</a:t>
            </a:r>
            <a:endParaRPr lang="en-US" b="1" smtClean="0"/>
          </a:p>
        </p:txBody>
      </p:sp>
      <p:sp>
        <p:nvSpPr>
          <p:cNvPr id="6147" name="Slide Number Placeholder 14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1F7F3702-6440-4818-8E1C-56799411E534}" type="slidenum">
              <a:rPr lang="en-US" sz="1000"/>
              <a:pPr algn="r"/>
              <a:t>4</a:t>
            </a:fld>
            <a:endParaRPr lang="en-US" sz="1000"/>
          </a:p>
        </p:txBody>
      </p:sp>
      <p:sp>
        <p:nvSpPr>
          <p:cNvPr id="6148" name="Content Placeholder 15"/>
          <p:cNvSpPr>
            <a:spLocks noGrp="1"/>
          </p:cNvSpPr>
          <p:nvPr>
            <p:ph sz="half" idx="1"/>
          </p:nvPr>
        </p:nvSpPr>
        <p:spPr>
          <a:xfrm>
            <a:off x="949325" y="1981200"/>
            <a:ext cx="7623175" cy="4114800"/>
          </a:xfrm>
        </p:spPr>
        <p:txBody>
          <a:bodyPr/>
          <a:lstStyle/>
          <a:p>
            <a:pPr lvl="2"/>
            <a:r>
              <a:rPr lang="tr-TR" smtClean="0"/>
              <a:t>2.3.1. Ohmmetre ile Direnç Ölçümü</a:t>
            </a:r>
          </a:p>
          <a:p>
            <a:pPr lvl="2"/>
            <a:r>
              <a:rPr lang="tr-TR" smtClean="0"/>
              <a:t>2.3.2. Analog Ohmmetre ile Ölçme</a:t>
            </a:r>
          </a:p>
          <a:p>
            <a:pPr lvl="2"/>
            <a:r>
              <a:rPr lang="tr-TR" smtClean="0"/>
              <a:t>2.3.3. Dijital Ohmmetre ile Ölçme</a:t>
            </a:r>
          </a:p>
          <a:p>
            <a:r>
              <a:rPr lang="tr-TR" sz="2000" smtClean="0"/>
              <a:t>UYGULAMA FAALİYETİ</a:t>
            </a:r>
          </a:p>
          <a:p>
            <a:r>
              <a:rPr lang="tr-TR" sz="2000" smtClean="0"/>
              <a:t>ÖLÇME VE DEĞERLENDİRME</a:t>
            </a:r>
          </a:p>
          <a:p>
            <a:r>
              <a:rPr lang="tr-TR" sz="2000" smtClean="0"/>
              <a:t>ÖĞRENME FAALİYETİ-3</a:t>
            </a:r>
          </a:p>
          <a:p>
            <a:r>
              <a:rPr lang="tr-TR" sz="2000" smtClean="0"/>
              <a:t>3. ENDÜKTANS ÖLÇME</a:t>
            </a:r>
          </a:p>
          <a:p>
            <a:pPr lvl="1"/>
            <a:r>
              <a:rPr lang="tr-TR" sz="2000" smtClean="0"/>
              <a:t>3.1. Bobinin Endüktansı </a:t>
            </a:r>
          </a:p>
          <a:p>
            <a:pPr lvl="1"/>
            <a:r>
              <a:rPr lang="tr-TR" sz="2000" smtClean="0"/>
              <a:t>3.2. Endüktansı Etkileyen Faktörler </a:t>
            </a:r>
            <a:endParaRPr lang="en-GB" sz="2000" smtClean="0"/>
          </a:p>
          <a:p>
            <a:pPr lvl="1"/>
            <a:r>
              <a:rPr lang="tr-TR" sz="2000" smtClean="0"/>
              <a:t>3.3. Endüktans Değerinin Ölçülmesi</a:t>
            </a:r>
          </a:p>
          <a:p>
            <a:pPr lvl="2"/>
            <a:r>
              <a:rPr lang="tr-TR" smtClean="0"/>
              <a:t>3.3.1. Lcrmetre ile Endüktans Değerinin Ölçülmesi</a:t>
            </a:r>
          </a:p>
          <a:p>
            <a:r>
              <a:rPr lang="tr-TR" sz="2000" smtClean="0"/>
              <a:t>UYGULAMA FAALİYETİ</a:t>
            </a:r>
          </a:p>
          <a:p>
            <a:r>
              <a:rPr lang="tr-TR" sz="2000" smtClean="0"/>
              <a:t>ÖLÇME VE DEĞERLENDİRME</a:t>
            </a:r>
          </a:p>
          <a:p>
            <a:pPr lvl="1"/>
            <a:endParaRPr lang="tr-TR" sz="2000" smtClean="0"/>
          </a:p>
          <a:p>
            <a:endParaRPr lang="tr-T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6F2CE38E-9CBA-4C66-95F1-7664DC323CD5}" type="slidenum">
              <a:rPr lang="en-US"/>
              <a:pPr/>
              <a:t>5</a:t>
            </a:fld>
            <a:endParaRPr lang="en-US"/>
          </a:p>
        </p:txBody>
      </p:sp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b="1" smtClean="0"/>
              <a:t>İÇİNDEKİLER</a:t>
            </a:r>
            <a:endParaRPr lang="en-US" b="1" smtClean="0"/>
          </a:p>
        </p:txBody>
      </p:sp>
      <p:sp>
        <p:nvSpPr>
          <p:cNvPr id="7171" name="Slide Number Placeholder 12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138296A8-20A2-42A7-B06E-75AB5D24D2F7}" type="slidenum">
              <a:rPr lang="en-US" sz="1000"/>
              <a:pPr algn="r"/>
              <a:t>5</a:t>
            </a:fld>
            <a:endParaRPr lang="en-US" sz="1000"/>
          </a:p>
        </p:txBody>
      </p:sp>
      <p:sp>
        <p:nvSpPr>
          <p:cNvPr id="13" name="Content Placeholder 1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sz="2000" smtClean="0"/>
              <a:t>ÖĞRENME FAALİYETİ-4</a:t>
            </a:r>
          </a:p>
          <a:p>
            <a:r>
              <a:rPr lang="tr-TR" sz="2000" smtClean="0"/>
              <a:t>4. KAPASİTE ÖLÇME</a:t>
            </a:r>
          </a:p>
          <a:p>
            <a:pPr lvl="1"/>
            <a:r>
              <a:rPr lang="tr-TR" sz="2000" smtClean="0"/>
              <a:t>4.1. Kondansatör Kapasitesi</a:t>
            </a:r>
          </a:p>
          <a:p>
            <a:pPr lvl="1"/>
            <a:r>
              <a:rPr lang="tr-TR" sz="2000" smtClean="0"/>
              <a:t>4.2. Kapasiteyi Etkileyen Faktörler</a:t>
            </a:r>
          </a:p>
          <a:p>
            <a:pPr lvl="1"/>
            <a:r>
              <a:rPr lang="tr-TR" sz="2000" smtClean="0"/>
              <a:t>4.3. Kapasitesinin Ölçülmesi</a:t>
            </a:r>
          </a:p>
          <a:p>
            <a:pPr lvl="2"/>
            <a:r>
              <a:rPr lang="tr-TR" sz="2000" smtClean="0"/>
              <a:t>4.3.1. LCR Metre ile Kapasite Ölçümü</a:t>
            </a:r>
          </a:p>
          <a:p>
            <a:r>
              <a:rPr lang="tr-TR" sz="2000" smtClean="0"/>
              <a:t>UYGULAMA FAALİYETİ</a:t>
            </a:r>
          </a:p>
          <a:p>
            <a:r>
              <a:rPr lang="tr-TR" sz="2000" smtClean="0"/>
              <a:t>ÖLÇME VE DEĞERLENDİRME</a:t>
            </a:r>
          </a:p>
          <a:p>
            <a:r>
              <a:rPr lang="tr-TR" sz="2000" smtClean="0"/>
              <a:t>ÖĞRENME FAALİYETİ 5</a:t>
            </a:r>
          </a:p>
          <a:p>
            <a:r>
              <a:rPr lang="tr-TR" sz="2000" smtClean="0"/>
              <a:t>5. AKIM ÖLÇME</a:t>
            </a:r>
          </a:p>
          <a:p>
            <a:pPr lvl="1"/>
            <a:r>
              <a:rPr lang="tr-TR" sz="2000" smtClean="0"/>
              <a:t>5.1. Elektrik Akımı ve Tanımı</a:t>
            </a:r>
          </a:p>
          <a:p>
            <a:endParaRPr lang="tr-T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D616B9D5-4E30-4E21-9BFA-07A1A94D98D2}" type="slidenum">
              <a:rPr lang="en-US"/>
              <a:pPr/>
              <a:t>6</a:t>
            </a:fld>
            <a:endParaRPr lang="en-US"/>
          </a:p>
        </p:txBody>
      </p:sp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b="1" smtClean="0"/>
              <a:t>İÇİNDEKİLER</a:t>
            </a:r>
            <a:endParaRPr lang="en-US" b="1" smtClean="0"/>
          </a:p>
        </p:txBody>
      </p:sp>
      <p:sp>
        <p:nvSpPr>
          <p:cNvPr id="8195" name="Slide Number Placeholder 13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5281BCCB-B3F0-417D-BDD1-1F7F8AAE3E67}" type="slidenum">
              <a:rPr lang="en-US" sz="1000"/>
              <a:pPr algn="r"/>
              <a:t>6</a:t>
            </a:fld>
            <a:endParaRPr lang="en-US" sz="1000"/>
          </a:p>
        </p:txBody>
      </p:sp>
      <p:sp>
        <p:nvSpPr>
          <p:cNvPr id="15" name="Content Placeholder 1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tr-TR" sz="2000" smtClean="0"/>
              <a:t>5.2. Doğru ve Alternatif Akım</a:t>
            </a:r>
          </a:p>
          <a:p>
            <a:pPr lvl="2"/>
            <a:r>
              <a:rPr lang="tr-TR" sz="2000" smtClean="0"/>
              <a:t>5.2.1. Doğru Akım</a:t>
            </a:r>
          </a:p>
          <a:p>
            <a:pPr lvl="2"/>
            <a:r>
              <a:rPr lang="tr-TR" sz="2000" smtClean="0"/>
              <a:t>5.2.2. Alternatif Akım</a:t>
            </a:r>
          </a:p>
          <a:p>
            <a:pPr lvl="1"/>
            <a:r>
              <a:rPr lang="es-ES" sz="2000" smtClean="0"/>
              <a:t>5.3. Ampermetre Yapısı ve Çeşitleri</a:t>
            </a:r>
          </a:p>
          <a:p>
            <a:pPr lvl="1"/>
            <a:r>
              <a:rPr lang="tr-TR" sz="2000" smtClean="0"/>
              <a:t>5.4. Ampermetreyi Devreye Bağlama ve Akım Ölçme</a:t>
            </a:r>
          </a:p>
          <a:p>
            <a:pPr lvl="1"/>
            <a:r>
              <a:rPr lang="tr-TR" sz="2000" smtClean="0"/>
              <a:t>5.5. Akım Trafosu Kullanarak Akım Ölçme</a:t>
            </a:r>
          </a:p>
          <a:p>
            <a:pPr lvl="2"/>
            <a:r>
              <a:rPr lang="tr-TR" sz="2000" smtClean="0"/>
              <a:t>5.5.1. Akım Transformatörleri</a:t>
            </a:r>
          </a:p>
          <a:p>
            <a:pPr lvl="2"/>
            <a:r>
              <a:rPr lang="tr-TR" sz="2000" smtClean="0"/>
              <a:t>5.6. Pens Ampermetreler</a:t>
            </a:r>
          </a:p>
          <a:p>
            <a:r>
              <a:rPr lang="tr-TR" sz="2000" smtClean="0"/>
              <a:t>UYGULAMA FAALİYETİ</a:t>
            </a:r>
          </a:p>
          <a:p>
            <a:r>
              <a:rPr lang="tr-TR" sz="2000" smtClean="0"/>
              <a:t>ÖLÇME VE DEĞERLENDİRME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7C4CF8F3-AE1B-4894-9455-12F322EAD6D3}" type="slidenum">
              <a:rPr lang="en-US"/>
              <a:pPr/>
              <a:t>7</a:t>
            </a:fld>
            <a:endParaRPr lang="en-US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b="1" smtClean="0"/>
              <a:t>İÇİNDEKİLER</a:t>
            </a:r>
            <a:endParaRPr lang="en-US" b="1" smtClean="0"/>
          </a:p>
        </p:txBody>
      </p:sp>
      <p:sp>
        <p:nvSpPr>
          <p:cNvPr id="9219" name="Slide Number Placeholder 12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D6179CDD-BF38-43C9-A61F-E97671376BEA}" type="slidenum">
              <a:rPr lang="en-US" sz="1000"/>
              <a:pPr algn="r"/>
              <a:t>7</a:t>
            </a:fld>
            <a:endParaRPr lang="en-US" sz="1000"/>
          </a:p>
        </p:txBody>
      </p:sp>
      <p:sp>
        <p:nvSpPr>
          <p:cNvPr id="9220" name="Content Placeholder 1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sz="2000" smtClean="0"/>
              <a:t>ÖĞRENME FAALİYETİ-6</a:t>
            </a:r>
          </a:p>
          <a:p>
            <a:r>
              <a:rPr lang="tr-TR" sz="2000" smtClean="0"/>
              <a:t>6. GERİLİM ÖLÇME</a:t>
            </a:r>
          </a:p>
          <a:p>
            <a:pPr lvl="1"/>
            <a:r>
              <a:rPr lang="tr-TR" sz="1600" smtClean="0"/>
              <a:t>6.1. Gerilimin Tanımı</a:t>
            </a:r>
          </a:p>
          <a:p>
            <a:pPr lvl="1"/>
            <a:r>
              <a:rPr lang="tr-TR" sz="1600" smtClean="0"/>
              <a:t>6.2. Voltmetrenin Yapısı ve Tanımı</a:t>
            </a:r>
          </a:p>
          <a:p>
            <a:pPr lvl="1"/>
            <a:r>
              <a:rPr lang="tr-TR" sz="1600" smtClean="0"/>
              <a:t>6.3. Voltmetreyi Devreye Bağlamak ve Gerilim Ölçmek</a:t>
            </a:r>
          </a:p>
          <a:p>
            <a:r>
              <a:rPr lang="tr-TR" sz="2000" smtClean="0"/>
              <a:t>UYGULAMA FAALİYETİ</a:t>
            </a:r>
          </a:p>
          <a:p>
            <a:r>
              <a:rPr lang="tr-TR" sz="2000" smtClean="0"/>
              <a:t>ÖLÇME VE DEĞERLENDİRME</a:t>
            </a:r>
          </a:p>
          <a:p>
            <a:r>
              <a:rPr lang="tr-TR" sz="2000" smtClean="0"/>
              <a:t>ÖĞRENME FAALİYETİ-7</a:t>
            </a:r>
          </a:p>
          <a:p>
            <a:r>
              <a:rPr lang="tr-TR" sz="2000" smtClean="0"/>
              <a:t>7. AVOMETRELER</a:t>
            </a:r>
          </a:p>
          <a:p>
            <a:pPr lvl="1"/>
            <a:r>
              <a:rPr lang="fi-FI" sz="1600" smtClean="0"/>
              <a:t>7.1. Ölçme İlkesi ve Kullanma Tekniği</a:t>
            </a:r>
          </a:p>
          <a:p>
            <a:pPr lvl="1"/>
            <a:r>
              <a:rPr lang="nb-NO" sz="1600" smtClean="0"/>
              <a:t>7.2. Analog Avometre ile Ölçüm Yapmak</a:t>
            </a:r>
          </a:p>
          <a:p>
            <a:pPr lvl="1"/>
            <a:r>
              <a:rPr lang="tr-TR" sz="1600" smtClean="0"/>
              <a:t>7.3. Dijital Avometre ile Ölçüm Yapmak</a:t>
            </a:r>
          </a:p>
          <a:p>
            <a:r>
              <a:rPr lang="tr-TR" sz="2000" smtClean="0"/>
              <a:t>UYGULAMA FAALİYETİ</a:t>
            </a:r>
          </a:p>
          <a:p>
            <a:r>
              <a:rPr lang="tr-TR" sz="2000" smtClean="0"/>
              <a:t>ÖLÇME VE DEĞERLENDİRME</a:t>
            </a:r>
          </a:p>
          <a:p>
            <a:endParaRPr lang="tr-T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03E9CB5C-AEB0-400D-A53F-9CF5729F0C7E}" type="slidenum">
              <a:rPr lang="en-US"/>
              <a:pPr/>
              <a:t>8</a:t>
            </a:fld>
            <a:endParaRPr lang="en-US"/>
          </a:p>
        </p:txBody>
      </p:sp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b="1" smtClean="0"/>
              <a:t>İÇİNDEKİLER</a:t>
            </a:r>
            <a:endParaRPr lang="en-US" b="1" smtClean="0"/>
          </a:p>
        </p:txBody>
      </p:sp>
      <p:sp>
        <p:nvSpPr>
          <p:cNvPr id="10243" name="Slide Number Placeholder 15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4B976C6B-F577-472F-9488-3356997B542D}" type="slidenum">
              <a:rPr lang="en-US" sz="1000"/>
              <a:pPr algn="r"/>
              <a:t>8</a:t>
            </a:fld>
            <a:endParaRPr lang="en-US" sz="1000"/>
          </a:p>
        </p:txBody>
      </p:sp>
      <p:sp>
        <p:nvSpPr>
          <p:cNvPr id="10244" name="Content Placeholder 1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sz="2000" smtClean="0"/>
              <a:t>8. FREKANS ÖLÇME</a:t>
            </a:r>
          </a:p>
          <a:p>
            <a:pPr lvl="1"/>
            <a:r>
              <a:rPr lang="tr-TR" sz="2000" smtClean="0"/>
              <a:t>8.1. Frekansın Tanımı</a:t>
            </a:r>
          </a:p>
          <a:p>
            <a:pPr lvl="1"/>
            <a:r>
              <a:rPr lang="tr-TR" sz="2000" smtClean="0"/>
              <a:t>8.2. Frekans Metrenin Yapısı ve Çeşitleri</a:t>
            </a:r>
          </a:p>
          <a:p>
            <a:r>
              <a:rPr lang="tr-TR" sz="2000" smtClean="0"/>
              <a:t>UYGULAMA FAALİYETİ</a:t>
            </a:r>
          </a:p>
          <a:p>
            <a:r>
              <a:rPr lang="tr-TR" sz="2000" smtClean="0"/>
              <a:t>ÖLÇME VE DEĞERLENDİRME</a:t>
            </a:r>
          </a:p>
          <a:p>
            <a:r>
              <a:rPr lang="tr-TR" sz="2000" smtClean="0"/>
              <a:t>ÖĞRENME FAALİYETİ-9</a:t>
            </a:r>
          </a:p>
          <a:p>
            <a:r>
              <a:rPr lang="es-ES" sz="2000" smtClean="0"/>
              <a:t>9. İŞ VE GÜÇ ÖLÇME</a:t>
            </a:r>
          </a:p>
          <a:p>
            <a:pPr lvl="1"/>
            <a:r>
              <a:rPr lang="tr-TR" sz="2000" smtClean="0"/>
              <a:t>9.1. Güç Ölçme</a:t>
            </a:r>
          </a:p>
          <a:p>
            <a:pPr lvl="2"/>
            <a:r>
              <a:rPr lang="tr-TR" sz="2000" smtClean="0"/>
              <a:t>9.1.1. Ampermetre ve Voltmetre Yardımı ile Güç Ölçmek</a:t>
            </a:r>
          </a:p>
          <a:p>
            <a:pPr lvl="2"/>
            <a:r>
              <a:rPr lang="tr-TR" sz="2000" smtClean="0"/>
              <a:t>9.1.2. Wattmetrelerin Yapısı ve Çeşitleri</a:t>
            </a:r>
          </a:p>
          <a:p>
            <a:endParaRPr lang="tr-T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89892C28-4FEA-46DE-BA00-C08CE2A1DEA8}" type="slidenum">
              <a:rPr lang="en-US"/>
              <a:pPr/>
              <a:t>9</a:t>
            </a:fld>
            <a:endParaRPr lang="en-US"/>
          </a:p>
        </p:txBody>
      </p:sp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b="1" smtClean="0"/>
              <a:t>İÇİNDEKİLER</a:t>
            </a:r>
            <a:endParaRPr lang="en-US" b="1" smtClean="0"/>
          </a:p>
        </p:txBody>
      </p:sp>
      <p:sp>
        <p:nvSpPr>
          <p:cNvPr id="11267" name="Slide Number Placeholder 15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A7E2DD71-72BC-41DF-A32A-339FE014027B}" type="slidenum">
              <a:rPr lang="en-US" sz="1000"/>
              <a:pPr algn="r"/>
              <a:t>9</a:t>
            </a:fld>
            <a:endParaRPr lang="en-US" sz="1000"/>
          </a:p>
        </p:txBody>
      </p:sp>
      <p:sp>
        <p:nvSpPr>
          <p:cNvPr id="11268" name="Content Placeholder 16"/>
          <p:cNvSpPr>
            <a:spLocks noGrp="1"/>
          </p:cNvSpPr>
          <p:nvPr>
            <p:ph idx="1"/>
          </p:nvPr>
        </p:nvSpPr>
        <p:spPr>
          <a:xfrm>
            <a:off x="928688" y="1785938"/>
            <a:ext cx="7661275" cy="4114800"/>
          </a:xfrm>
        </p:spPr>
        <p:txBody>
          <a:bodyPr/>
          <a:lstStyle/>
          <a:p>
            <a:pPr lvl="1"/>
            <a:r>
              <a:rPr lang="tr-TR" sz="1800" smtClean="0"/>
              <a:t>9.2. İş Ölçmek</a:t>
            </a:r>
          </a:p>
          <a:p>
            <a:pPr lvl="2"/>
            <a:r>
              <a:rPr lang="tr-TR" sz="1600" smtClean="0"/>
              <a:t>9.2.1. Sayaçların Yapısı ve Çeşitleri</a:t>
            </a:r>
            <a:endParaRPr lang="en-GB" sz="1600" smtClean="0"/>
          </a:p>
          <a:p>
            <a:r>
              <a:rPr lang="tr-TR" sz="1800" smtClean="0"/>
              <a:t>UYGULAMA FAALİYETİ</a:t>
            </a:r>
          </a:p>
          <a:p>
            <a:r>
              <a:rPr lang="tr-TR" sz="1800" smtClean="0"/>
              <a:t>ÖLÇME DEĞERLENDİRME</a:t>
            </a:r>
          </a:p>
          <a:p>
            <a:r>
              <a:rPr lang="tr-TR" sz="1800" smtClean="0"/>
              <a:t>ÖĞRENME FAALİYETİ-10</a:t>
            </a:r>
          </a:p>
          <a:p>
            <a:r>
              <a:rPr lang="tr-TR" sz="1800" smtClean="0"/>
              <a:t>10. OSİLASKOP</a:t>
            </a:r>
          </a:p>
          <a:p>
            <a:pPr lvl="1"/>
            <a:r>
              <a:rPr lang="tr-TR" sz="1600" smtClean="0"/>
              <a:t>10.1. Osilaskobun Tanıtılması</a:t>
            </a:r>
          </a:p>
          <a:p>
            <a:pPr lvl="1"/>
            <a:r>
              <a:rPr lang="tr-TR" sz="1600" smtClean="0"/>
              <a:t>10.2. Osilaskop ile Aşağıdaki Değerler Ölçülebilir</a:t>
            </a:r>
          </a:p>
          <a:p>
            <a:pPr lvl="1"/>
            <a:r>
              <a:rPr lang="tr-TR" sz="1600" smtClean="0"/>
              <a:t>10.3. Osilaskop ile Ölçüm Yapmak</a:t>
            </a:r>
          </a:p>
          <a:p>
            <a:pPr lvl="1"/>
            <a:r>
              <a:rPr lang="tr-TR" sz="1600" smtClean="0"/>
              <a:t>10.4. Gerilim Ölçmek</a:t>
            </a:r>
          </a:p>
          <a:p>
            <a:pPr lvl="1"/>
            <a:r>
              <a:rPr lang="tr-TR" sz="1600" smtClean="0"/>
              <a:t>10.5. Frekans Ölçmek</a:t>
            </a:r>
          </a:p>
          <a:p>
            <a:r>
              <a:rPr lang="tr-TR" sz="1800" smtClean="0"/>
              <a:t>UYGULAMA FAALİYETİ</a:t>
            </a:r>
          </a:p>
          <a:p>
            <a:r>
              <a:rPr lang="tr-TR" sz="1800" smtClean="0"/>
              <a:t>ÖLÇME DEĞERLENDİRME</a:t>
            </a:r>
          </a:p>
          <a:p>
            <a:r>
              <a:rPr lang="tr-TR" sz="1800" smtClean="0"/>
              <a:t>CEVAP ANAHTARLARI</a:t>
            </a:r>
          </a:p>
          <a:p>
            <a:r>
              <a:rPr lang="tr-TR" sz="1800" smtClean="0"/>
              <a:t>MODÜL DEĞERLENDİRME</a:t>
            </a:r>
          </a:p>
          <a:p>
            <a:r>
              <a:rPr lang="tr-TR" sz="1800" smtClean="0"/>
              <a:t>KAYNAKLAR</a:t>
            </a:r>
          </a:p>
          <a:p>
            <a:endParaRPr lang="tr-T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AC1F10FC-4CDA-4B24-ADB9-84E12D233795}" type="slidenum">
              <a:rPr lang="en-US"/>
              <a:pPr/>
              <a:t>10</a:t>
            </a:fld>
            <a:endParaRPr lang="en-US"/>
          </a:p>
        </p:txBody>
      </p:sp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/>
              <a:t>A</a:t>
            </a:r>
            <a:r>
              <a:rPr lang="tr-TR" b="1" smtClean="0"/>
              <a:t>ÇIKLAMALAR</a:t>
            </a:r>
            <a:endParaRPr lang="en-US" b="1" smtClean="0"/>
          </a:p>
        </p:txBody>
      </p:sp>
      <p:sp>
        <p:nvSpPr>
          <p:cNvPr id="12299" name="Slide Number Placeholder 11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391801B3-DF3A-4D05-890A-F8D88EF3618E}" type="slidenum">
              <a:rPr lang="en-US" sz="1000"/>
              <a:pPr algn="r"/>
              <a:t>10</a:t>
            </a:fld>
            <a:endParaRPr lang="en-US" sz="1000"/>
          </a:p>
        </p:txBody>
      </p:sp>
      <p:sp>
        <p:nvSpPr>
          <p:cNvPr id="12300" name="Content Placeholder 1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sz="2000" b="1" smtClean="0"/>
              <a:t>KOD </a:t>
            </a:r>
            <a:r>
              <a:rPr lang="en-GB" sz="2000" b="1" smtClean="0"/>
              <a:t>                             </a:t>
            </a:r>
            <a:r>
              <a:rPr lang="tr-TR" sz="2000" smtClean="0"/>
              <a:t>522ELK009</a:t>
            </a:r>
            <a:r>
              <a:rPr lang="en-GB" sz="2000" smtClean="0"/>
              <a:t>, </a:t>
            </a:r>
            <a:r>
              <a:rPr lang="tr-TR" sz="2000" smtClean="0"/>
              <a:t>523ELT009</a:t>
            </a:r>
          </a:p>
          <a:p>
            <a:r>
              <a:rPr lang="tr-TR" sz="2000" b="1" smtClean="0"/>
              <a:t>ALAN </a:t>
            </a:r>
            <a:r>
              <a:rPr lang="en-GB" sz="2000" b="1" smtClean="0"/>
              <a:t>                           </a:t>
            </a:r>
            <a:r>
              <a:rPr lang="tr-TR" sz="2000" smtClean="0"/>
              <a:t>Elektrik Elektronik Teknolojisi</a:t>
            </a:r>
          </a:p>
          <a:p>
            <a:r>
              <a:rPr lang="tr-TR" sz="2000" b="1" smtClean="0"/>
              <a:t>DAL/MESLEK </a:t>
            </a:r>
            <a:r>
              <a:rPr lang="en-GB" sz="2000" b="1" smtClean="0"/>
              <a:t>             </a:t>
            </a:r>
            <a:r>
              <a:rPr lang="tr-TR" sz="2000" smtClean="0"/>
              <a:t>Alan Ortak</a:t>
            </a:r>
          </a:p>
          <a:p>
            <a:r>
              <a:rPr lang="tr-TR" sz="2000" b="1" smtClean="0"/>
              <a:t>MODÜLÜN ADI </a:t>
            </a:r>
            <a:r>
              <a:rPr lang="en-GB" sz="2000" b="1" smtClean="0"/>
              <a:t>           </a:t>
            </a:r>
            <a:r>
              <a:rPr lang="tr-TR" sz="2000" smtClean="0"/>
              <a:t>Elektriksel Büyüklüklerin Ölçülmesi</a:t>
            </a:r>
          </a:p>
          <a:p>
            <a:r>
              <a:rPr lang="tr-TR" sz="2000" b="1" smtClean="0"/>
              <a:t>MODÜLÜN TANIMI</a:t>
            </a:r>
            <a:r>
              <a:rPr lang="en-GB" sz="2000" b="1" smtClean="0"/>
              <a:t>      </a:t>
            </a:r>
            <a:r>
              <a:rPr lang="tr-TR" sz="2000" smtClean="0"/>
              <a:t>Elektriksel büyüklüklerin doğru ve güvenli bir şekilde</a:t>
            </a:r>
            <a:r>
              <a:rPr lang="en-GB" sz="2000" smtClean="0"/>
              <a:t> </a:t>
            </a:r>
            <a:r>
              <a:rPr lang="tr-TR" sz="2000" smtClean="0"/>
              <a:t>ölçülmesine yönelik bilgi ve becerilerin kazandırıldığı bir</a:t>
            </a:r>
            <a:r>
              <a:rPr lang="en-GB" sz="2000" smtClean="0"/>
              <a:t> </a:t>
            </a:r>
            <a:r>
              <a:rPr lang="tr-TR" sz="2000" smtClean="0"/>
              <a:t>öğrenme materyalidir.</a:t>
            </a:r>
          </a:p>
          <a:p>
            <a:r>
              <a:rPr lang="tr-TR" sz="2000" b="1" smtClean="0"/>
              <a:t>SÜRE </a:t>
            </a:r>
            <a:r>
              <a:rPr lang="en-GB" sz="2000" b="1" smtClean="0"/>
              <a:t>           </a:t>
            </a:r>
            <a:r>
              <a:rPr lang="tr-TR" sz="2000" smtClean="0"/>
              <a:t>40/32 Saat</a:t>
            </a:r>
          </a:p>
          <a:p>
            <a:r>
              <a:rPr lang="tr-TR" sz="2000" b="1" smtClean="0"/>
              <a:t>ÖN KOŞUL </a:t>
            </a:r>
            <a:r>
              <a:rPr lang="en-GB" sz="2000" b="1" smtClean="0"/>
              <a:t>  </a:t>
            </a:r>
            <a:r>
              <a:rPr lang="tr-TR" sz="2000" smtClean="0"/>
              <a:t>Elektriğin Temel Esasları ve Fiziksel Büyüklerin Ölçülmesi</a:t>
            </a:r>
            <a:r>
              <a:rPr lang="en-GB" sz="2000" smtClean="0"/>
              <a:t> </a:t>
            </a:r>
            <a:r>
              <a:rPr lang="tr-TR" sz="2000" smtClean="0"/>
              <a:t>modüllerini tamamlamış olmak</a:t>
            </a:r>
          </a:p>
          <a:p>
            <a:r>
              <a:rPr lang="tr-TR" sz="2000" b="1" smtClean="0"/>
              <a:t>YETERLİK</a:t>
            </a:r>
            <a:r>
              <a:rPr lang="en-GB" sz="2000" b="1" smtClean="0"/>
              <a:t>    </a:t>
            </a:r>
            <a:r>
              <a:rPr lang="tr-TR" sz="2000" smtClean="0"/>
              <a:t>Elektriksel büyüklüklerin ölçülebilmesi için doğru ölçü aleti</a:t>
            </a:r>
            <a:r>
              <a:rPr lang="en-GB" sz="2000" smtClean="0"/>
              <a:t> </a:t>
            </a:r>
            <a:r>
              <a:rPr lang="tr-TR" sz="2000" smtClean="0"/>
              <a:t>seçimi yaparak devreye bağlamak ve ölçü aletlerinin</a:t>
            </a:r>
            <a:r>
              <a:rPr lang="en-GB" sz="2000" smtClean="0"/>
              <a:t> </a:t>
            </a:r>
            <a:r>
              <a:rPr lang="tr-TR" sz="2000" smtClean="0"/>
              <a:t>ekranındaki değeri hatasız okumak.</a:t>
            </a:r>
          </a:p>
          <a:p>
            <a:endParaRPr lang="tr-T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4D18F6A5-72B8-4074-8388-37E2316BA95B}" type="slidenum">
              <a:rPr lang="en-US"/>
              <a:pPr/>
              <a:t>11</a:t>
            </a:fld>
            <a:endParaRPr lang="en-US"/>
          </a:p>
        </p:txBody>
      </p:sp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/>
              <a:t>A</a:t>
            </a:r>
            <a:r>
              <a:rPr lang="tr-TR" b="1" smtClean="0"/>
              <a:t>ÇIKLAMALAR</a:t>
            </a:r>
            <a:endParaRPr lang="en-US" b="1" smtClean="0"/>
          </a:p>
        </p:txBody>
      </p:sp>
      <p:sp>
        <p:nvSpPr>
          <p:cNvPr id="13315" name="Slide Number Placeholder 5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80181DD4-7FBD-4109-8C81-F794BA5ADFEC}" type="slidenum">
              <a:rPr lang="en-US" sz="1000"/>
              <a:pPr algn="r"/>
              <a:t>11</a:t>
            </a:fld>
            <a:endParaRPr lang="en-US" sz="1000"/>
          </a:p>
        </p:txBody>
      </p:sp>
      <p:sp>
        <p:nvSpPr>
          <p:cNvPr id="1331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sz="2000" b="1" smtClean="0"/>
              <a:t>MODÜLÜN AMACI</a:t>
            </a:r>
          </a:p>
          <a:p>
            <a:r>
              <a:rPr lang="tr-TR" sz="2000" b="1" smtClean="0"/>
              <a:t>Genel Amaç</a:t>
            </a:r>
          </a:p>
          <a:p>
            <a:pPr lvl="1"/>
            <a:r>
              <a:rPr lang="tr-TR" sz="2000" smtClean="0"/>
              <a:t>Gerekli ölçü aletleri ve araç gereçler ile donatılmış laboratuar</a:t>
            </a:r>
            <a:r>
              <a:rPr lang="en-GB" sz="2000" smtClean="0"/>
              <a:t> </a:t>
            </a:r>
            <a:r>
              <a:rPr lang="tr-TR" sz="2000" smtClean="0"/>
              <a:t>ortamında ölçmenin önemi, ölçü aletlerinin ortak özelliklerini</a:t>
            </a:r>
            <a:r>
              <a:rPr lang="en-GB" sz="2000" smtClean="0"/>
              <a:t> </a:t>
            </a:r>
            <a:r>
              <a:rPr lang="tr-TR" sz="2000" smtClean="0"/>
              <a:t>kavrayarak, elektriksel büyüklükleri doğru ve güvenli bir</a:t>
            </a:r>
            <a:r>
              <a:rPr lang="en-GB" sz="2000" smtClean="0"/>
              <a:t> </a:t>
            </a:r>
            <a:r>
              <a:rPr lang="tr-TR" sz="2000" smtClean="0"/>
              <a:t>şekilde farklı ölçü aletleri kullanarak ölçebileceksiniz.</a:t>
            </a:r>
          </a:p>
          <a:p>
            <a:endParaRPr lang="tr-T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6BEAF601-AFA1-46CB-B75C-36A428413020}" type="slidenum">
              <a:rPr lang="en-US"/>
              <a:pPr/>
              <a:t>12</a:t>
            </a:fld>
            <a:endParaRPr lang="en-US" dirty="0"/>
          </a:p>
        </p:txBody>
      </p:sp>
      <p:sp>
        <p:nvSpPr>
          <p:cNvPr id="14338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A</a:t>
            </a:r>
            <a:r>
              <a:rPr lang="tr-TR" b="1" dirty="0" smtClean="0"/>
              <a:t>ÇIKLAMALAR</a:t>
            </a:r>
            <a:endParaRPr lang="en-US" b="1" dirty="0" smtClean="0"/>
          </a:p>
        </p:txBody>
      </p:sp>
      <p:sp>
        <p:nvSpPr>
          <p:cNvPr id="14339" name="Slide Number Placeholder 3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EBB2DEA6-2D0D-4B4A-BAC2-795FD91EE2B3}" type="slidenum">
              <a:rPr lang="en-US" sz="1000"/>
              <a:pPr algn="r"/>
              <a:t>12</a:t>
            </a:fld>
            <a:endParaRPr lang="en-US" sz="1000" dirty="0"/>
          </a:p>
        </p:txBody>
      </p:sp>
      <p:sp>
        <p:nvSpPr>
          <p:cNvPr id="14340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sz="2000" b="1" dirty="0" smtClean="0"/>
              <a:t>Amaçlar</a:t>
            </a:r>
            <a:endParaRPr lang="en-GB" sz="2000" b="1" dirty="0" smtClean="0"/>
          </a:p>
          <a:p>
            <a:pPr lvl="1"/>
            <a:r>
              <a:rPr lang="tr-TR" sz="2000" dirty="0" smtClean="0"/>
              <a:t>Elektriksel büyüklüklerin hatasız ve güvenli bir şekilde</a:t>
            </a:r>
            <a:r>
              <a:rPr lang="en-GB" sz="2000" dirty="0" smtClean="0"/>
              <a:t> </a:t>
            </a:r>
            <a:r>
              <a:rPr lang="tr-TR" sz="2000" dirty="0" smtClean="0"/>
              <a:t>ölçümünü sağlayacak özeliklere sahip ölçü aletini</a:t>
            </a:r>
            <a:r>
              <a:rPr lang="en-GB" sz="2000" dirty="0" smtClean="0"/>
              <a:t> </a:t>
            </a:r>
            <a:r>
              <a:rPr lang="tr-TR" sz="2000" dirty="0" smtClean="0"/>
              <a:t>seçebileceksiniz.</a:t>
            </a:r>
          </a:p>
          <a:p>
            <a:pPr lvl="1"/>
            <a:r>
              <a:rPr lang="tr-TR" sz="2000" dirty="0" smtClean="0"/>
              <a:t>Direnç değerinin bağlı olduğu faktörleri kavrayarak</a:t>
            </a:r>
            <a:r>
              <a:rPr lang="en-GB" sz="2000" dirty="0" smtClean="0"/>
              <a:t> </a:t>
            </a:r>
            <a:r>
              <a:rPr lang="tr-TR" sz="2000" dirty="0" smtClean="0"/>
              <a:t>direnç ölçümünü </a:t>
            </a:r>
            <a:r>
              <a:rPr lang="tr-TR" sz="2000" dirty="0" err="1" smtClean="0"/>
              <a:t>ohmmetre</a:t>
            </a:r>
            <a:r>
              <a:rPr lang="tr-TR" sz="2000" dirty="0" smtClean="0"/>
              <a:t> ile hatasız yapabileceksiniz</a:t>
            </a:r>
          </a:p>
          <a:p>
            <a:pPr lvl="1"/>
            <a:r>
              <a:rPr lang="tr-TR" sz="2000" dirty="0" err="1" smtClean="0"/>
              <a:t>Endüktans</a:t>
            </a:r>
            <a:r>
              <a:rPr lang="tr-TR" sz="2000" dirty="0" smtClean="0"/>
              <a:t> değerinin bağlı olduğu faktörleri kavrayarak</a:t>
            </a:r>
            <a:r>
              <a:rPr lang="en-GB" sz="2000" dirty="0" smtClean="0"/>
              <a:t> </a:t>
            </a:r>
            <a:r>
              <a:rPr lang="tr-TR" sz="2000" dirty="0" err="1" smtClean="0"/>
              <a:t>endüktans</a:t>
            </a:r>
            <a:r>
              <a:rPr lang="tr-TR" sz="2000" dirty="0" smtClean="0"/>
              <a:t> ölçümünü </a:t>
            </a:r>
            <a:r>
              <a:rPr lang="tr-TR" sz="2000" dirty="0" err="1" smtClean="0"/>
              <a:t>Lcrmetre</a:t>
            </a:r>
            <a:r>
              <a:rPr lang="tr-TR" sz="2000" dirty="0" smtClean="0"/>
              <a:t> ile hatasız olarak</a:t>
            </a:r>
            <a:r>
              <a:rPr lang="en-GB" sz="2000" dirty="0" smtClean="0"/>
              <a:t> </a:t>
            </a:r>
            <a:r>
              <a:rPr lang="tr-TR" sz="2000" dirty="0" smtClean="0"/>
              <a:t>yapabileceksiniz.</a:t>
            </a:r>
          </a:p>
          <a:p>
            <a:pPr lvl="1"/>
            <a:r>
              <a:rPr lang="tr-TR" sz="2000" dirty="0" smtClean="0"/>
              <a:t>Kapasite değerinin bağlı olduğu faktörleri kavrayarak</a:t>
            </a:r>
            <a:r>
              <a:rPr lang="en-GB" sz="2000" dirty="0" smtClean="0"/>
              <a:t> </a:t>
            </a:r>
            <a:r>
              <a:rPr lang="tr-TR" sz="2000" dirty="0" smtClean="0"/>
              <a:t>kapasite ölçümünü </a:t>
            </a:r>
            <a:r>
              <a:rPr lang="tr-TR" sz="2000" dirty="0" err="1" smtClean="0"/>
              <a:t>Lcrmetre</a:t>
            </a:r>
            <a:r>
              <a:rPr lang="tr-TR" sz="2000" dirty="0" smtClean="0"/>
              <a:t> ile hatasız olarak</a:t>
            </a:r>
            <a:r>
              <a:rPr lang="en-GB" sz="2000" dirty="0" smtClean="0"/>
              <a:t> </a:t>
            </a:r>
            <a:r>
              <a:rPr lang="tr-TR" sz="2000" dirty="0" smtClean="0"/>
              <a:t>yapabileceksiniz.</a:t>
            </a:r>
          </a:p>
          <a:p>
            <a:pPr lvl="1"/>
            <a:r>
              <a:rPr lang="tr-TR" sz="2000" dirty="0" smtClean="0"/>
              <a:t>Değişik değerlerdeki akımı, uygun ampermetre ile</a:t>
            </a:r>
            <a:r>
              <a:rPr lang="en-GB" sz="2000" dirty="0" smtClean="0"/>
              <a:t> </a:t>
            </a:r>
            <a:r>
              <a:rPr lang="tr-TR" sz="2000" dirty="0" smtClean="0"/>
              <a:t>gerekli bağlantıyı yaparak hatasız ölçebileceksiniz.</a:t>
            </a:r>
          </a:p>
          <a:p>
            <a:pPr lvl="1">
              <a:buFont typeface="Wingdings" pitchFamily="2" charset="2"/>
              <a:buNone/>
            </a:pPr>
            <a:endParaRPr lang="tr-TR" sz="2000" dirty="0" smtClean="0"/>
          </a:p>
          <a:p>
            <a:endParaRPr lang="tr-TR" sz="16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63209B18-E95D-497C-9F0F-EC7F5701B322}" type="slidenum">
              <a:rPr lang="en-US"/>
              <a:pPr/>
              <a:t>13</a:t>
            </a:fld>
            <a:endParaRPr lang="en-US"/>
          </a:p>
        </p:txBody>
      </p:sp>
      <p:sp>
        <p:nvSpPr>
          <p:cNvPr id="15362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/>
              <a:t>A</a:t>
            </a:r>
            <a:r>
              <a:rPr lang="tr-TR" b="1" smtClean="0"/>
              <a:t>ÇIKLAMALAR</a:t>
            </a:r>
            <a:endParaRPr lang="en-US" b="1" smtClean="0"/>
          </a:p>
        </p:txBody>
      </p:sp>
      <p:sp>
        <p:nvSpPr>
          <p:cNvPr id="15363" name="Slide Number Placeholder 5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F1B01484-F6A1-4855-860D-447CE0D65B3D}" type="slidenum">
              <a:rPr lang="en-US" sz="1000"/>
              <a:pPr algn="r"/>
              <a:t>13</a:t>
            </a:fld>
            <a:endParaRPr lang="en-US" sz="1000"/>
          </a:p>
        </p:txBody>
      </p:sp>
      <p:sp>
        <p:nvSpPr>
          <p:cNvPr id="15364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tr-TR" sz="2000" smtClean="0"/>
              <a:t>Değişik değerlerdeki gerilimi, uygun voltmetre ile</a:t>
            </a:r>
            <a:r>
              <a:rPr lang="en-GB" sz="2000" smtClean="0"/>
              <a:t> </a:t>
            </a:r>
            <a:r>
              <a:rPr lang="tr-TR" sz="2000" smtClean="0"/>
              <a:t>gerekli bağlantıyı yaparak hatasız ölçebileceksiniz.</a:t>
            </a:r>
          </a:p>
          <a:p>
            <a:pPr lvl="1"/>
            <a:r>
              <a:rPr lang="tr-TR" sz="2000" smtClean="0"/>
              <a:t>Değişik tipteki multimetrelerin (Avometre) gerekli</a:t>
            </a:r>
            <a:r>
              <a:rPr lang="en-GB" sz="2000" smtClean="0"/>
              <a:t> </a:t>
            </a:r>
            <a:r>
              <a:rPr lang="tr-TR" sz="2000" smtClean="0"/>
              <a:t>bölüm ve kademe ayarlarını yaparak akım, gerilim,</a:t>
            </a:r>
            <a:r>
              <a:rPr lang="en-GB" sz="2000" smtClean="0"/>
              <a:t> </a:t>
            </a:r>
            <a:r>
              <a:rPr lang="tr-TR" sz="2000" smtClean="0"/>
              <a:t>direnç, endüktans ve kapasite değerlerini tekniğe uygun</a:t>
            </a:r>
            <a:r>
              <a:rPr lang="en-GB" sz="2000" smtClean="0"/>
              <a:t> </a:t>
            </a:r>
            <a:r>
              <a:rPr lang="tr-TR" sz="2000" smtClean="0"/>
              <a:t>ve hatasız ölçebileceksiniz.</a:t>
            </a:r>
          </a:p>
          <a:p>
            <a:pPr lvl="1"/>
            <a:r>
              <a:rPr lang="tr-TR" sz="2000" smtClean="0"/>
              <a:t>Gerekli bağlantıyı yaparak frekans ölçümlerini hatasız</a:t>
            </a:r>
            <a:r>
              <a:rPr lang="en-GB" sz="2000" smtClean="0"/>
              <a:t> </a:t>
            </a:r>
            <a:r>
              <a:rPr lang="tr-TR" sz="2000" smtClean="0"/>
              <a:t>yapabileceksiniz</a:t>
            </a:r>
            <a:endParaRPr lang="en-GB" sz="2000" smtClean="0"/>
          </a:p>
          <a:p>
            <a:pPr lvl="1"/>
            <a:r>
              <a:rPr lang="tr-TR" sz="2000" smtClean="0"/>
              <a:t>Farklı metotlara göre gerekli bağlantıyı yaparak iş ve</a:t>
            </a:r>
            <a:r>
              <a:rPr lang="en-GB" sz="2000" smtClean="0"/>
              <a:t> </a:t>
            </a:r>
            <a:r>
              <a:rPr lang="tr-TR" sz="2000" smtClean="0"/>
              <a:t>güç ölçümlerini, hatasız yapabileceksiniz.</a:t>
            </a:r>
          </a:p>
          <a:p>
            <a:pPr lvl="1"/>
            <a:r>
              <a:rPr lang="tr-TR" sz="2000" smtClean="0"/>
              <a:t>Osilaskop ile gerekli ayarlamaları yaparak gerilim ve</a:t>
            </a:r>
            <a:r>
              <a:rPr lang="en-GB" sz="2000" smtClean="0"/>
              <a:t> </a:t>
            </a:r>
            <a:r>
              <a:rPr lang="tr-TR" sz="2000" smtClean="0"/>
              <a:t>frekans ölçümlerini, hatasız yapabileceksiniz.</a:t>
            </a:r>
          </a:p>
          <a:p>
            <a:pPr lvl="1"/>
            <a:endParaRPr lang="tr-T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ED3417DD-D298-4855-BF17-31B3CBBEE78B}" type="slidenum">
              <a:rPr lang="en-US"/>
              <a:pPr/>
              <a:t>14</a:t>
            </a:fld>
            <a:endParaRPr lang="en-US"/>
          </a:p>
        </p:txBody>
      </p:sp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b="1" smtClean="0"/>
              <a:t>GİRİŞ</a:t>
            </a:r>
            <a:endParaRPr lang="en-US" b="1" smtClean="0"/>
          </a:p>
        </p:txBody>
      </p:sp>
      <p:sp>
        <p:nvSpPr>
          <p:cNvPr id="18435" name="Slide Number Placeholder 5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ACB3F8AC-8F34-43AF-A6A6-E76F92DA4902}" type="slidenum">
              <a:rPr lang="en-US" sz="1000"/>
              <a:pPr algn="r"/>
              <a:t>14</a:t>
            </a:fld>
            <a:endParaRPr lang="en-US" sz="1000"/>
          </a:p>
        </p:txBody>
      </p:sp>
      <p:sp>
        <p:nvSpPr>
          <p:cNvPr id="1843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sz="1800" smtClean="0"/>
              <a:t>Elektrik-elektronik alanında elektriksel büyüklüklerin ölçülmesi son derece önemli bir</a:t>
            </a:r>
            <a:r>
              <a:rPr lang="en-GB" sz="1800" smtClean="0"/>
              <a:t> </a:t>
            </a:r>
            <a:r>
              <a:rPr lang="tr-TR" sz="1800" smtClean="0"/>
              <a:t>yer tutmaktadır. Günümüzde elektrik enerjisi diğer enerji kaynaklarına göre taşıdığı</a:t>
            </a:r>
            <a:r>
              <a:rPr lang="en-GB" sz="1800" smtClean="0"/>
              <a:t> </a:t>
            </a:r>
            <a:r>
              <a:rPr lang="tr-TR" sz="1800" smtClean="0"/>
              <a:t>üstünlükler dolayısı ile son derece yaygın olarak kullanılmaktadır. </a:t>
            </a:r>
            <a:endParaRPr lang="en-GB" sz="1800" smtClean="0"/>
          </a:p>
          <a:p>
            <a:r>
              <a:rPr lang="tr-TR" sz="1800" smtClean="0"/>
              <a:t>Endüstride ve konutlarda</a:t>
            </a:r>
            <a:r>
              <a:rPr lang="en-GB" sz="1800" smtClean="0"/>
              <a:t> </a:t>
            </a:r>
            <a:r>
              <a:rPr lang="tr-TR" sz="1800" smtClean="0"/>
              <a:t>birçok araç gereç, makine ve teçhizat elektrik enerjisi ile çalıştırılmaktadır. Özellikle sanayi</a:t>
            </a:r>
            <a:r>
              <a:rPr lang="en-GB" sz="1800" smtClean="0"/>
              <a:t> </a:t>
            </a:r>
            <a:r>
              <a:rPr lang="tr-TR" sz="1800" smtClean="0"/>
              <a:t>alanlarında elektrik enerjisinin verimli bir şekilde kullanılması, çalışan cihazların çalışma</a:t>
            </a:r>
            <a:r>
              <a:rPr lang="en-GB" sz="1800" smtClean="0"/>
              <a:t> </a:t>
            </a:r>
            <a:r>
              <a:rPr lang="tr-TR" sz="1800" smtClean="0"/>
              <a:t>şekli ve çalışma devamlılığı kadar çalışma güvenliği ve çıkabilecek muhtemel arızaların</a:t>
            </a:r>
            <a:r>
              <a:rPr lang="en-GB" sz="1800" smtClean="0"/>
              <a:t> </a:t>
            </a:r>
            <a:r>
              <a:rPr lang="tr-TR" sz="1800" smtClean="0"/>
              <a:t>önlenmesi üzerinde titizlikle durulan bir konudur. </a:t>
            </a:r>
            <a:endParaRPr lang="en-GB" sz="1800" smtClean="0"/>
          </a:p>
          <a:p>
            <a:r>
              <a:rPr lang="tr-TR" sz="1800" smtClean="0"/>
              <a:t>Bunun içinde çalışan elektrikli cihazların</a:t>
            </a:r>
            <a:r>
              <a:rPr lang="en-GB" sz="1800" smtClean="0"/>
              <a:t> </a:t>
            </a:r>
            <a:r>
              <a:rPr lang="tr-TR" sz="1800" smtClean="0"/>
              <a:t>uygun elektriksel parametrelerde çalıştırılması gerekmektedir. Bu durum elektrik enerjisine</a:t>
            </a:r>
            <a:r>
              <a:rPr lang="en-GB" sz="1800" smtClean="0"/>
              <a:t> </a:t>
            </a:r>
            <a:r>
              <a:rPr lang="tr-TR" sz="1800" smtClean="0"/>
              <a:t>ait büyüklüklerin hatasız, doğru ve tekniğine uygun ölçümünü gerektirmektedir..</a:t>
            </a:r>
          </a:p>
          <a:p>
            <a:endParaRPr lang="tr-T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835F97BC-9B68-469A-9C4E-4430BC63D32F}" type="slidenum">
              <a:rPr lang="en-US"/>
              <a:pPr/>
              <a:t>15</a:t>
            </a:fld>
            <a:endParaRPr lang="en-US"/>
          </a:p>
        </p:txBody>
      </p:sp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b="1" smtClean="0"/>
              <a:t>GİRİŞ</a:t>
            </a:r>
            <a:endParaRPr lang="en-US" b="1" smtClean="0"/>
          </a:p>
        </p:txBody>
      </p:sp>
      <p:sp>
        <p:nvSpPr>
          <p:cNvPr id="19459" name="Slide Number Placeholder 5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D6FBBDB1-C73A-4278-9EAE-E44181D7FD08}" type="slidenum">
              <a:rPr lang="en-US" sz="1000"/>
              <a:pPr algn="r"/>
              <a:t>15</a:t>
            </a:fld>
            <a:endParaRPr lang="en-US" sz="1000"/>
          </a:p>
        </p:txBody>
      </p:sp>
      <p:sp>
        <p:nvSpPr>
          <p:cNvPr id="19460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sz="1600" dirty="0" smtClean="0"/>
              <a:t>Elektriksel</a:t>
            </a:r>
            <a:r>
              <a:rPr lang="en-GB" sz="1600" dirty="0" smtClean="0"/>
              <a:t> </a:t>
            </a:r>
            <a:r>
              <a:rPr lang="tr-TR" sz="1600" dirty="0" smtClean="0"/>
              <a:t>büyüklüklerin ölçülmesi ve doğru olarak değerlendirilmesi endüstriyel uygulamalarda</a:t>
            </a:r>
            <a:r>
              <a:rPr lang="en-GB" sz="1600" dirty="0" smtClean="0"/>
              <a:t> </a:t>
            </a:r>
            <a:r>
              <a:rPr lang="tr-TR" sz="1600" dirty="0" smtClean="0"/>
              <a:t>sistemlerin doğru ve güvenli olarak çalışma kontrolünü, hata analizi yapmayı, meydana</a:t>
            </a:r>
            <a:r>
              <a:rPr lang="en-GB" sz="1600" dirty="0" smtClean="0"/>
              <a:t> </a:t>
            </a:r>
            <a:r>
              <a:rPr lang="tr-TR" sz="1600" dirty="0" smtClean="0"/>
              <a:t>gelebilecek muhtemel arızalara karşı önlem almayı, oluşmuş arızalarda ise arıza sebebinin</a:t>
            </a:r>
            <a:r>
              <a:rPr lang="en-GB" sz="1600" dirty="0" smtClean="0"/>
              <a:t> </a:t>
            </a:r>
            <a:r>
              <a:rPr lang="tr-TR" sz="1600" dirty="0" smtClean="0"/>
              <a:t>bulunması ve tekrarının önlenmesini sağlamaktadır. Bu yüzden elektrik-elektronik alanında</a:t>
            </a:r>
            <a:r>
              <a:rPr lang="en-GB" sz="1600" dirty="0" smtClean="0"/>
              <a:t> </a:t>
            </a:r>
            <a:r>
              <a:rPr lang="tr-TR" sz="1600" dirty="0" smtClean="0"/>
              <a:t>çalışan her seviyedeki teknik elemanın nitelikli ölçme, ölçü aletlerini kullanma ve elektriksel</a:t>
            </a:r>
            <a:r>
              <a:rPr lang="en-GB" sz="1600" dirty="0" smtClean="0"/>
              <a:t> </a:t>
            </a:r>
            <a:r>
              <a:rPr lang="tr-TR" sz="1600" dirty="0" smtClean="0"/>
              <a:t>ölçümleri hatasız yaparak, ölçüm sonuçlarını değerlendirebilmelidir. Aynı zamanda her türlü</a:t>
            </a:r>
            <a:r>
              <a:rPr lang="en-GB" sz="1600" dirty="0" smtClean="0"/>
              <a:t> </a:t>
            </a:r>
            <a:r>
              <a:rPr lang="tr-TR" sz="1600" dirty="0" smtClean="0"/>
              <a:t>elektriksel büyüklük için uygun ölçü aletini uygun özelliklerde seçebilmelidir. Ayrıca her</a:t>
            </a:r>
            <a:r>
              <a:rPr lang="en-GB" sz="1600" dirty="0" smtClean="0"/>
              <a:t> </a:t>
            </a:r>
            <a:r>
              <a:rPr lang="tr-TR" sz="1600" dirty="0" smtClean="0"/>
              <a:t>türlü ölçü aletinin bağlantısını yapma ve ölçülen değeri doğru olarak okuma bilgi ve</a:t>
            </a:r>
            <a:r>
              <a:rPr lang="en-GB" sz="1600" dirty="0" smtClean="0"/>
              <a:t> </a:t>
            </a:r>
            <a:r>
              <a:rPr lang="tr-TR" sz="1600" dirty="0" smtClean="0"/>
              <a:t>becerisine sahip olmalıdır</a:t>
            </a:r>
            <a:endParaRPr lang="en-GB" sz="1600" dirty="0" smtClean="0"/>
          </a:p>
          <a:p>
            <a:endParaRPr lang="tr-TR" sz="1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09A09EC1-256F-476E-A7C4-B0D94CF3E2D1}" type="slidenum">
              <a:rPr lang="en-US"/>
              <a:pPr/>
              <a:t>16</a:t>
            </a:fld>
            <a:endParaRPr lang="en-US"/>
          </a:p>
        </p:txBody>
      </p:sp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smtClean="0"/>
              <a:t>1. ÖLÇÜ ALETLERİ</a:t>
            </a:r>
            <a:endParaRPr lang="en-US" sz="3600" smtClean="0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49325" y="1981200"/>
            <a:ext cx="7408863" cy="4114800"/>
          </a:xfrm>
        </p:spPr>
        <p:txBody>
          <a:bodyPr/>
          <a:lstStyle/>
          <a:p>
            <a:r>
              <a:rPr lang="en-US" sz="2000" b="1" smtClean="0"/>
              <a:t>1.1. Ölçmenin Önemi</a:t>
            </a:r>
            <a:endParaRPr lang="en-US" sz="2000" smtClean="0"/>
          </a:p>
          <a:p>
            <a:pPr lvl="1"/>
            <a:r>
              <a:rPr lang="tr-TR" sz="2000" smtClean="0"/>
              <a:t>Ölçme, bugün gündelik hayatımızda çokça kullandığımız bir işlem olup uzunluğu</a:t>
            </a:r>
            <a:r>
              <a:rPr lang="en-GB" sz="2000" smtClean="0"/>
              <a:t> </a:t>
            </a:r>
            <a:r>
              <a:rPr lang="tr-TR" sz="2000" smtClean="0"/>
              <a:t>metre, ağırlığı kilogram, sıcaklığı santigrat ve sıvı hacimlerini litre ile ölçmekteyiz. Herhangi</a:t>
            </a:r>
            <a:r>
              <a:rPr lang="en-GB" sz="2000" smtClean="0"/>
              <a:t> </a:t>
            </a:r>
            <a:r>
              <a:rPr lang="tr-TR" sz="2000" smtClean="0"/>
              <a:t>bir uzunluk miktarı ölçülürken dünyada herkes tarafından kabul edilen 1 metrelik uzunluğun</a:t>
            </a:r>
            <a:r>
              <a:rPr lang="en-GB" sz="2000" smtClean="0"/>
              <a:t> </a:t>
            </a:r>
            <a:r>
              <a:rPr lang="tr-TR" sz="2000" smtClean="0"/>
              <a:t>ölçülecek uzunluk içerisinde ne kadar bulunduğunun karşılaştırılması yapılır. </a:t>
            </a:r>
            <a:endParaRPr lang="en-GB" sz="2000" smtClean="0"/>
          </a:p>
          <a:p>
            <a:pPr lvl="1"/>
            <a:r>
              <a:rPr lang="tr-TR" sz="2000" smtClean="0"/>
              <a:t>Diğer tüm</a:t>
            </a:r>
            <a:r>
              <a:rPr lang="en-GB" sz="2000" smtClean="0"/>
              <a:t> </a:t>
            </a:r>
            <a:r>
              <a:rPr lang="tr-TR" sz="2000" smtClean="0"/>
              <a:t>ölçme işlemlerinde mantık aynıdır. Günlük hayatta ölçüm yapmak ve herhangi bir</a:t>
            </a:r>
            <a:r>
              <a:rPr lang="en-GB" sz="2000" smtClean="0"/>
              <a:t> </a:t>
            </a:r>
            <a:r>
              <a:rPr lang="tr-TR" sz="2000" smtClean="0"/>
              <a:t>büyüklüğü, o büyüklüğün birimi ile karşılaştırmak işlemi ile farkında olarak veya olmadan</a:t>
            </a:r>
            <a:r>
              <a:rPr lang="en-GB" sz="2000" smtClean="0"/>
              <a:t> </a:t>
            </a:r>
            <a:r>
              <a:rPr lang="tr-TR" sz="2000" smtClean="0"/>
              <a:t>çoğu kez karşılaşıp ölçme yapmadan birçok işlemlerimizi sonuçlandıramamaktayız.</a:t>
            </a:r>
          </a:p>
        </p:txBody>
      </p:sp>
      <p:sp>
        <p:nvSpPr>
          <p:cNvPr id="21508" name="Slide Number Placeholder 5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5A4BE15A-2D2F-4C0A-BA58-9FC3FCC2AD13}" type="slidenum">
              <a:rPr lang="en-US" sz="1000"/>
              <a:pPr algn="r"/>
              <a:t>16</a:t>
            </a:fld>
            <a:endParaRPr lang="en-US"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3418AB6D-46B8-4D1A-B096-DE76A960C807}" type="slidenum">
              <a:rPr lang="en-US"/>
              <a:pPr/>
              <a:t>17</a:t>
            </a:fld>
            <a:endParaRPr lang="en-US"/>
          </a:p>
        </p:txBody>
      </p:sp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smtClean="0"/>
              <a:t>1. ÖLÇÜ ALETLERİ</a:t>
            </a:r>
          </a:p>
        </p:txBody>
      </p:sp>
      <p:sp>
        <p:nvSpPr>
          <p:cNvPr id="22531" name="Slide Number Placeholder 5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29B36E2D-2EFA-45F3-B419-D92D4224982F}" type="slidenum">
              <a:rPr lang="en-US" sz="1000"/>
              <a:pPr algn="r"/>
              <a:t>17</a:t>
            </a:fld>
            <a:endParaRPr lang="en-US" sz="1000"/>
          </a:p>
        </p:txBody>
      </p:sp>
      <p:sp>
        <p:nvSpPr>
          <p:cNvPr id="22532" name="Content Placeholder 7"/>
          <p:cNvSpPr>
            <a:spLocks noGrp="1"/>
          </p:cNvSpPr>
          <p:nvPr>
            <p:ph sz="half" idx="1"/>
          </p:nvPr>
        </p:nvSpPr>
        <p:spPr>
          <a:xfrm>
            <a:off x="949325" y="1981200"/>
            <a:ext cx="7551738" cy="4114800"/>
          </a:xfrm>
        </p:spPr>
        <p:txBody>
          <a:bodyPr/>
          <a:lstStyle/>
          <a:p>
            <a:pPr lvl="1"/>
            <a:r>
              <a:rPr lang="tr-TR" sz="1800" smtClean="0"/>
              <a:t>Alacağımız ürünü standart birimi ile karşılaştırıp miktarını ve fiyatını tespit etme ihtiyacı,</a:t>
            </a:r>
            <a:r>
              <a:rPr lang="en-GB" sz="1800" smtClean="0"/>
              <a:t> </a:t>
            </a:r>
            <a:r>
              <a:rPr lang="tr-TR" sz="1800" smtClean="0"/>
              <a:t>ölçme işlemini zorunlu kılan bir faktördür. Elektriksel büyüklüklerinin ölçülmesi, yani kendi</a:t>
            </a:r>
            <a:r>
              <a:rPr lang="en-GB" sz="1800" smtClean="0"/>
              <a:t> </a:t>
            </a:r>
            <a:r>
              <a:rPr lang="tr-TR" sz="1800" smtClean="0"/>
              <a:t>birimi ile karşılaştırmasını da zorunlu kılan faktörler mevcuttur. Bunlar: Harcanan elektrik</a:t>
            </a:r>
            <a:r>
              <a:rPr lang="en-GB" sz="1800" smtClean="0"/>
              <a:t> </a:t>
            </a:r>
            <a:r>
              <a:rPr lang="tr-TR" sz="1800" smtClean="0"/>
              <a:t>enerjisini ölçmek, alıcının çalışma standartlarına uygun elektriksel büyüklükler ile çalışıp</a:t>
            </a:r>
            <a:r>
              <a:rPr lang="en-GB" sz="1800" smtClean="0"/>
              <a:t> </a:t>
            </a:r>
            <a:r>
              <a:rPr lang="tr-TR" sz="1800" smtClean="0"/>
              <a:t>çalışmadığını kontrol ederek sürekli ve kesintisiz çalışmayı sağlamak, ölçülen elektriksel</a:t>
            </a:r>
            <a:r>
              <a:rPr lang="en-GB" sz="1800" smtClean="0"/>
              <a:t> </a:t>
            </a:r>
            <a:r>
              <a:rPr lang="tr-TR" sz="1800" smtClean="0"/>
              <a:t>büyüklüğün değerine göre istenmeyen durumlar için önlem almak, elektrik ve elektronik</a:t>
            </a:r>
            <a:r>
              <a:rPr lang="en-GB" sz="1800" smtClean="0"/>
              <a:t> </a:t>
            </a:r>
            <a:r>
              <a:rPr lang="tr-TR" sz="1800" smtClean="0"/>
              <a:t>elemanlarının sağlamlık kontrolünü yapmak, devre veya devrelerde arıza tespiti yapmak ve</a:t>
            </a:r>
            <a:r>
              <a:rPr lang="en-GB" sz="1800" smtClean="0"/>
              <a:t> </a:t>
            </a:r>
            <a:r>
              <a:rPr lang="tr-TR" sz="1800" smtClean="0"/>
              <a:t>enerji olup olmadığını kontrol etmek bu zorunluluğu meydana getiren faktörlerden</a:t>
            </a:r>
            <a:r>
              <a:rPr lang="en-GB" sz="1800" smtClean="0"/>
              <a:t> </a:t>
            </a:r>
            <a:r>
              <a:rPr lang="tr-TR" sz="1800" smtClean="0"/>
              <a:t>bazılarıdır.</a:t>
            </a:r>
          </a:p>
          <a:p>
            <a:pPr lvl="1"/>
            <a:r>
              <a:rPr lang="tr-TR" sz="1800" smtClean="0"/>
              <a:t>Fiziksel büyüklüklerin ölçülmesinde, her büyüklük için bir ölçü birimi kullanıldığı</a:t>
            </a:r>
            <a:r>
              <a:rPr lang="en-GB" sz="1800" smtClean="0"/>
              <a:t> </a:t>
            </a:r>
            <a:r>
              <a:rPr lang="tr-TR" sz="1800" smtClean="0"/>
              <a:t>gibi, elektriksel büyüklüklerin ölçülmesinde de elektriksel birimler kullanılır.</a:t>
            </a:r>
          </a:p>
          <a:p>
            <a:endParaRPr lang="tr-TR" sz="1800" smtClean="0"/>
          </a:p>
          <a:p>
            <a:endParaRPr lang="tr-T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D503C758-0A9C-4655-AB7F-06DE122CB2E3}" type="slidenum">
              <a:rPr lang="en-US"/>
              <a:pPr/>
              <a:t>18</a:t>
            </a:fld>
            <a:endParaRPr lang="en-US"/>
          </a:p>
        </p:txBody>
      </p:sp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smtClean="0"/>
              <a:t>1. ÖLÇÜ ALETLERİ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49325" y="1981200"/>
            <a:ext cx="7583488" cy="4114800"/>
          </a:xfrm>
        </p:spPr>
        <p:txBody>
          <a:bodyPr/>
          <a:lstStyle/>
          <a:p>
            <a:r>
              <a:rPr lang="en-US" sz="2400" b="1" smtClean="0"/>
              <a:t>1.2. Elektriksel Ölçü Aletlerinin Tanıtılması</a:t>
            </a:r>
            <a:endParaRPr lang="en-US" sz="2400" smtClean="0"/>
          </a:p>
          <a:p>
            <a:endParaRPr lang="en-US" sz="2000" smtClean="0"/>
          </a:p>
        </p:txBody>
      </p:sp>
      <p:pic>
        <p:nvPicPr>
          <p:cNvPr id="23556" name="Picture 4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900113" y="2565400"/>
            <a:ext cx="7058025" cy="3497263"/>
          </a:xfrm>
        </p:spPr>
      </p:pic>
      <p:sp>
        <p:nvSpPr>
          <p:cNvPr id="23557" name="Slide Number Placeholder 4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7D9789CF-F648-4F71-B55F-DC0C9DF01F55}" type="slidenum">
              <a:rPr lang="en-US" sz="1000"/>
              <a:pPr algn="r"/>
              <a:t>18</a:t>
            </a:fld>
            <a:endParaRPr lang="en-US"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428901DC-FCC3-4073-A8B1-CB737CC07147}" type="slidenum">
              <a:rPr lang="en-US"/>
              <a:pPr/>
              <a:t>19</a:t>
            </a:fld>
            <a:endParaRPr lang="en-US"/>
          </a:p>
        </p:txBody>
      </p:sp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smtClean="0"/>
              <a:t>1. ÖLÇÜ ALETLERİ</a:t>
            </a:r>
          </a:p>
        </p:txBody>
      </p:sp>
      <p:sp>
        <p:nvSpPr>
          <p:cNvPr id="24579" name="Slide Number Placeholder 4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3A642E58-3C30-46CC-A887-50142955DAC1}" type="slidenum">
              <a:rPr lang="en-US" sz="1000"/>
              <a:pPr algn="r"/>
              <a:t>19</a:t>
            </a:fld>
            <a:endParaRPr lang="en-US" sz="1000"/>
          </a:p>
        </p:txBody>
      </p:sp>
      <p:sp>
        <p:nvSpPr>
          <p:cNvPr id="24580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sz="2000" smtClean="0"/>
              <a:t>Elektriksel büyüklüklerin ölçülmesinde kullanılan ölçü aletleri çok çeşitli tip ve</a:t>
            </a:r>
            <a:r>
              <a:rPr lang="en-GB" sz="2000" smtClean="0"/>
              <a:t> </a:t>
            </a:r>
            <a:r>
              <a:rPr lang="tr-TR" sz="2000" smtClean="0"/>
              <a:t>modellerde olmasına karşılık, (Resim 1.2) bazı ortak özellikleri yönü ile aynı çatı altında</a:t>
            </a:r>
            <a:r>
              <a:rPr lang="en-GB" sz="2000" smtClean="0"/>
              <a:t> </a:t>
            </a:r>
            <a:r>
              <a:rPr lang="tr-TR" sz="2000" smtClean="0"/>
              <a:t>gruplandırılabilirler. </a:t>
            </a:r>
            <a:endParaRPr lang="en-GB" sz="2000" smtClean="0"/>
          </a:p>
          <a:p>
            <a:r>
              <a:rPr lang="tr-TR" sz="2000" smtClean="0"/>
              <a:t>Bu gruplandırmalar, ölçtüğü büyüklüğün doğruluk derecesine göre, ölçü</a:t>
            </a:r>
            <a:r>
              <a:rPr lang="en-GB" sz="2000" smtClean="0"/>
              <a:t> </a:t>
            </a:r>
            <a:r>
              <a:rPr lang="tr-TR" sz="2000" smtClean="0"/>
              <a:t>aletlerinin gösterme şekline göre ve kullanma yerine göre yapılmaktadır.</a:t>
            </a:r>
          </a:p>
          <a:p>
            <a:endParaRPr lang="tr-T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F92ADC9A-D887-4F21-B219-E24437D60EB6}" type="slidenum">
              <a:rPr lang="en-US"/>
              <a:pPr/>
              <a:t>20</a:t>
            </a:fld>
            <a:endParaRPr lang="en-US"/>
          </a:p>
        </p:txBody>
      </p:sp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smtClean="0"/>
              <a:t>1. ÖLÇÜ ALETLERİ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49325" y="1981200"/>
            <a:ext cx="7510463" cy="4114800"/>
          </a:xfrm>
        </p:spPr>
        <p:txBody>
          <a:bodyPr/>
          <a:lstStyle/>
          <a:p>
            <a:r>
              <a:rPr lang="en-US" sz="2000" b="1" smtClean="0"/>
              <a:t>1.2.1 Yapısına Göre Ölçü Aletleri</a:t>
            </a:r>
          </a:p>
          <a:p>
            <a:pPr lvl="1"/>
            <a:r>
              <a:rPr lang="tr-TR" sz="1800" smtClean="0"/>
              <a:t>Yapısına göre elektriksel ölçü aletleri, kendi aralarında ikiye ayrılır. Bunlar analog</a:t>
            </a:r>
            <a:r>
              <a:rPr lang="en-GB" sz="1800" smtClean="0"/>
              <a:t> </a:t>
            </a:r>
            <a:r>
              <a:rPr lang="tr-TR" sz="1800" smtClean="0"/>
              <a:t>ölçü aletleri ve dijital ölçü aletleridir. Şimdi bunları sırası ile inceleyelim.</a:t>
            </a:r>
          </a:p>
          <a:p>
            <a:pPr lvl="1"/>
            <a:endParaRPr lang="en-US" sz="1600" smtClean="0"/>
          </a:p>
          <a:p>
            <a:pPr lvl="1"/>
            <a:r>
              <a:rPr lang="tr-TR" sz="2000" b="1" smtClean="0"/>
              <a:t>Analog Ölçü Aletleri</a:t>
            </a:r>
          </a:p>
          <a:p>
            <a:pPr lvl="2"/>
            <a:r>
              <a:rPr lang="tr-TR" sz="1800" smtClean="0"/>
              <a:t>Ölçtüğü değeri skala taksimatı üzerinden ibre ile gösteren ölçü aletleridir. Analog ölçü</a:t>
            </a:r>
            <a:r>
              <a:rPr lang="en-GB" sz="1800" smtClean="0"/>
              <a:t> </a:t>
            </a:r>
            <a:r>
              <a:rPr lang="tr-TR" sz="1800" smtClean="0"/>
              <a:t>aletleri çok değişik yapı ve skala taksimatlarına sahip olarak imal edilirler. Bu ölçü</a:t>
            </a:r>
            <a:r>
              <a:rPr lang="en-GB" sz="1800" smtClean="0"/>
              <a:t> </a:t>
            </a:r>
            <a:r>
              <a:rPr lang="tr-TR" sz="1800" smtClean="0"/>
              <a:t>aletlerinde değer okumak daha zor gibi görünse de analog ölçü aletleri daha hassas ölçümlere</a:t>
            </a:r>
            <a:r>
              <a:rPr lang="en-GB" sz="1800" smtClean="0"/>
              <a:t> </a:t>
            </a:r>
            <a:r>
              <a:rPr lang="tr-TR" sz="1800" smtClean="0"/>
              <a:t>olanak sağlarlar. Resim 1.3’te bazı analog ölçü aletleri görülmektedir. Analog ölçü</a:t>
            </a:r>
            <a:r>
              <a:rPr lang="en-GB" sz="1800" smtClean="0"/>
              <a:t> </a:t>
            </a:r>
            <a:r>
              <a:rPr lang="tr-TR" sz="1800" smtClean="0"/>
              <a:t>aletlerinin yapısı ve kullanım şekli ilerideki konularda ayrıntılı olarak işlenecektir.</a:t>
            </a:r>
          </a:p>
          <a:p>
            <a:pPr lvl="1"/>
            <a:endParaRPr lang="en-US" sz="1800" smtClean="0"/>
          </a:p>
        </p:txBody>
      </p:sp>
      <p:sp>
        <p:nvSpPr>
          <p:cNvPr id="25604" name="Slide Number Placeholder 4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AAB69A35-DF3E-412D-9275-37004E000882}" type="slidenum">
              <a:rPr lang="en-US" sz="1000"/>
              <a:pPr algn="r"/>
              <a:t>20</a:t>
            </a:fld>
            <a:endParaRPr lang="en-US"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6411F5B3-D416-49ED-972F-C3C3FF5DBB98}" type="slidenum">
              <a:rPr lang="en-US"/>
              <a:pPr/>
              <a:t>21</a:t>
            </a:fld>
            <a:endParaRPr lang="en-US"/>
          </a:p>
        </p:txBody>
      </p:sp>
      <p:sp>
        <p:nvSpPr>
          <p:cNvPr id="26626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smtClean="0"/>
              <a:t>1. ÖLÇÜ ALETLERİ</a:t>
            </a:r>
          </a:p>
        </p:txBody>
      </p:sp>
      <p:pic>
        <p:nvPicPr>
          <p:cNvPr id="26627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900113" y="1773238"/>
            <a:ext cx="7632700" cy="4010025"/>
          </a:xfrm>
        </p:spPr>
      </p:pic>
      <p:sp>
        <p:nvSpPr>
          <p:cNvPr id="26628" name="Slide Number Placeholder 3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36C43D79-19C4-41E8-B9ED-241A37441435}" type="slidenum">
              <a:rPr lang="en-US" sz="1000"/>
              <a:pPr algn="r"/>
              <a:t>21</a:t>
            </a:fld>
            <a:endParaRPr lang="en-US"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5BB32091-F14C-44DA-BC19-C44780B078F3}" type="slidenum">
              <a:rPr lang="en-US"/>
              <a:pPr/>
              <a:t>22</a:t>
            </a:fld>
            <a:endParaRPr lang="en-US"/>
          </a:p>
        </p:txBody>
      </p:sp>
      <p:sp>
        <p:nvSpPr>
          <p:cNvPr id="27650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smtClean="0"/>
              <a:t>1. ÖLÇÜ ALETLERİ</a:t>
            </a:r>
          </a:p>
        </p:txBody>
      </p:sp>
      <p:pic>
        <p:nvPicPr>
          <p:cNvPr id="27651" name="Picture 7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1954213" y="3643313"/>
            <a:ext cx="5689600" cy="2986087"/>
          </a:xfrm>
        </p:spPr>
      </p:pic>
      <p:sp>
        <p:nvSpPr>
          <p:cNvPr id="27652" name="Slide Number Placeholder 4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145AFC63-E2EF-4374-A3EB-2DE14BBB6910}" type="slidenum">
              <a:rPr lang="en-US" sz="1000"/>
              <a:pPr algn="r"/>
              <a:t>22</a:t>
            </a:fld>
            <a:endParaRPr lang="en-US" sz="1000"/>
          </a:p>
        </p:txBody>
      </p:sp>
      <p:sp>
        <p:nvSpPr>
          <p:cNvPr id="27653" name="Content Placeholder 5"/>
          <p:cNvSpPr>
            <a:spLocks noGrp="1"/>
          </p:cNvSpPr>
          <p:nvPr>
            <p:ph sz="half" idx="1"/>
          </p:nvPr>
        </p:nvSpPr>
        <p:spPr>
          <a:xfrm>
            <a:off x="949325" y="1981200"/>
            <a:ext cx="7551738" cy="4114800"/>
          </a:xfrm>
        </p:spPr>
        <p:txBody>
          <a:bodyPr/>
          <a:lstStyle/>
          <a:p>
            <a:r>
              <a:rPr lang="tr-TR" sz="1800" b="1" smtClean="0"/>
              <a:t>Dijital Ölçü Aletleri</a:t>
            </a:r>
          </a:p>
          <a:p>
            <a:pPr lvl="1"/>
            <a:r>
              <a:rPr lang="tr-TR" sz="1400" smtClean="0"/>
              <a:t>Ölçtüğü değeri dijital bir gösterge de sayılarla gösteren ölçü aletleridir. Bu ölçü</a:t>
            </a:r>
            <a:r>
              <a:rPr lang="en-GB" sz="1400" smtClean="0"/>
              <a:t> </a:t>
            </a:r>
            <a:r>
              <a:rPr lang="tr-TR" sz="1400" smtClean="0"/>
              <a:t>aletlerinin kullanımı kolay olup özellikleri analog ölçü aletlerine göre daha fazladır.</a:t>
            </a:r>
          </a:p>
          <a:p>
            <a:pPr lvl="1"/>
            <a:r>
              <a:rPr lang="tr-TR" sz="1400" smtClean="0"/>
              <a:t>Günümüzde dijital ölçü aletleri ile ayarlanan değer aşıldığında sinyal alma, ölçülen</a:t>
            </a:r>
            <a:r>
              <a:rPr lang="en-GB" sz="1400" smtClean="0"/>
              <a:t> </a:t>
            </a:r>
            <a:r>
              <a:rPr lang="tr-TR" sz="1400" smtClean="0"/>
              <a:t>değerlerin bilgisayar ortamına taşınması ve kullanılması gibi ilave işlemler yapılabilmekte</a:t>
            </a:r>
            <a:r>
              <a:rPr lang="en-GB" sz="1400" smtClean="0"/>
              <a:t> </a:t>
            </a:r>
            <a:r>
              <a:rPr lang="tr-TR" sz="1400" smtClean="0"/>
              <a:t>olup yeni özellik ve nitelikler ilave edilerek geliştirilen ölçü aletleridir.( Resim 1.4)</a:t>
            </a:r>
          </a:p>
          <a:p>
            <a:endParaRPr lang="tr-T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3749D9C0-0156-4A0A-AF97-287AEF7C0125}" type="slidenum">
              <a:rPr lang="en-US"/>
              <a:pPr/>
              <a:t>23</a:t>
            </a:fld>
            <a:endParaRPr lang="en-US"/>
          </a:p>
        </p:txBody>
      </p:sp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smtClean="0"/>
              <a:t>1. ÖLÇÜ ALETLERİ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49325" y="1981200"/>
            <a:ext cx="7694613" cy="4662488"/>
          </a:xfrm>
        </p:spPr>
        <p:txBody>
          <a:bodyPr/>
          <a:lstStyle/>
          <a:p>
            <a:r>
              <a:rPr lang="en-US" sz="2000" b="1" smtClean="0"/>
              <a:t>1.2.2. Ölçtüğü Büyüklüğü Gösterme Şekline Göre</a:t>
            </a:r>
            <a:endParaRPr lang="en-US" sz="2000" smtClean="0"/>
          </a:p>
          <a:p>
            <a:pPr lvl="1"/>
            <a:r>
              <a:rPr lang="tr-TR" sz="1800" smtClean="0"/>
              <a:t>Ölçtüğü büyüklüğü kişiye çeşitli şekillerde yansıtan ölçü aletleri kendi aralarında üçe</a:t>
            </a:r>
          </a:p>
          <a:p>
            <a:pPr lvl="1"/>
            <a:r>
              <a:rPr lang="tr-TR" sz="1800" smtClean="0"/>
              <a:t>ayrılır. Bunlar; gösteren ölçü aletleri, kaydedici ölçü aletleri, toplayıcı ölçü aletleridir.</a:t>
            </a:r>
          </a:p>
          <a:p>
            <a:pPr lvl="1"/>
            <a:r>
              <a:rPr lang="tr-TR" sz="1800" b="1" smtClean="0"/>
              <a:t>Gösteren Ölçü Aletleri</a:t>
            </a:r>
          </a:p>
          <a:p>
            <a:pPr lvl="2"/>
            <a:r>
              <a:rPr lang="tr-TR" sz="1800" smtClean="0"/>
              <a:t>Bu ölçü aletleri ölçtükleri elektriksel büyüklüğün o andaki değeri skalasından veya</a:t>
            </a:r>
            <a:r>
              <a:rPr lang="en-GB" sz="1800" smtClean="0"/>
              <a:t> </a:t>
            </a:r>
            <a:r>
              <a:rPr lang="tr-TR" sz="1800" smtClean="0"/>
              <a:t>göstergesinden gösteren, başka bir ölçüme geçildiğinde eski değeri kaybedip yeni ölçüm</a:t>
            </a:r>
            <a:r>
              <a:rPr lang="en-GB" sz="1800" smtClean="0"/>
              <a:t> </a:t>
            </a:r>
            <a:r>
              <a:rPr lang="tr-TR" sz="1800" smtClean="0"/>
              <a:t>değerini gösteren ölçü aletleridir (Resim 1.5). </a:t>
            </a:r>
            <a:endParaRPr lang="en-GB" sz="1800" smtClean="0"/>
          </a:p>
          <a:p>
            <a:pPr lvl="2"/>
            <a:r>
              <a:rPr lang="tr-TR" sz="1800" smtClean="0"/>
              <a:t>Bu ölçü aletlerinin ölçtükleri değerleri geriye</a:t>
            </a:r>
            <a:r>
              <a:rPr lang="en-GB" sz="1800" smtClean="0"/>
              <a:t> </a:t>
            </a:r>
            <a:r>
              <a:rPr lang="tr-TR" sz="1800" smtClean="0"/>
              <a:t>dönük kendi belleğine kaydetme özelliği yoktur, ancak son zamanda gösteren ölçü</a:t>
            </a:r>
            <a:r>
              <a:rPr lang="en-GB" sz="1800" smtClean="0"/>
              <a:t> </a:t>
            </a:r>
            <a:r>
              <a:rPr lang="tr-TR" sz="1800" smtClean="0"/>
              <a:t>aletlerinde ölçü aletleri ile bilgisayar arasında yapılan bağlantı ve bilgisayara yüklenen</a:t>
            </a:r>
            <a:r>
              <a:rPr lang="en-GB" sz="1800" smtClean="0"/>
              <a:t> </a:t>
            </a:r>
            <a:r>
              <a:rPr lang="tr-TR" sz="1800" smtClean="0"/>
              <a:t>yazılım ile bu ölçü aletlerinin istenen gün, saat ve dakikada kaydettikleri değerler bilgisayar</a:t>
            </a:r>
            <a:r>
              <a:rPr lang="en-GB" sz="1800" smtClean="0"/>
              <a:t> </a:t>
            </a:r>
            <a:r>
              <a:rPr lang="tr-TR" sz="1800" smtClean="0"/>
              <a:t>ortamında görüntülenebilmektedir.</a:t>
            </a:r>
          </a:p>
          <a:p>
            <a:endParaRPr lang="en-US" sz="2800" smtClean="0"/>
          </a:p>
        </p:txBody>
      </p:sp>
      <p:sp>
        <p:nvSpPr>
          <p:cNvPr id="28676" name="Slide Number Placeholder 4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389DBB2C-E4C3-4CF2-95B1-E91C56AAB86C}" type="slidenum">
              <a:rPr lang="en-US" sz="1000"/>
              <a:pPr algn="r"/>
              <a:t>23</a:t>
            </a:fld>
            <a:endParaRPr lang="en-US"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C2C71A27-D4B8-4CDC-8028-F7237C0CEA78}" type="slidenum">
              <a:rPr lang="en-US"/>
              <a:pPr/>
              <a:t>24</a:t>
            </a:fld>
            <a:endParaRPr lang="en-US"/>
          </a:p>
        </p:txBody>
      </p:sp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smtClean="0"/>
              <a:t>1. ÖLÇÜ ALETLERİ</a:t>
            </a:r>
          </a:p>
        </p:txBody>
      </p:sp>
      <p:pic>
        <p:nvPicPr>
          <p:cNvPr id="29699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1042988" y="1844675"/>
            <a:ext cx="7345362" cy="4208463"/>
          </a:xfrm>
        </p:spPr>
      </p:pic>
      <p:sp>
        <p:nvSpPr>
          <p:cNvPr id="29700" name="Slide Number Placeholder 3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0904943A-E77C-4C74-9801-0A6EC3A325FD}" type="slidenum">
              <a:rPr lang="en-US" sz="1000"/>
              <a:pPr algn="r"/>
              <a:t>24</a:t>
            </a:fld>
            <a:endParaRPr lang="en-US"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0E349055-7968-4F11-A634-CBE8C0D3D491}" type="slidenum">
              <a:rPr lang="en-US"/>
              <a:pPr/>
              <a:t>25</a:t>
            </a:fld>
            <a:endParaRPr lang="en-US"/>
          </a:p>
        </p:txBody>
      </p:sp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smtClean="0"/>
              <a:t>1. ÖLÇÜ ALETLERİ</a:t>
            </a:r>
          </a:p>
        </p:txBody>
      </p:sp>
      <p:sp>
        <p:nvSpPr>
          <p:cNvPr id="30723" name="Slide Number Placeholder 3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FF113DAC-23E2-4FBF-A030-2E34CD4E0BCB}" type="slidenum">
              <a:rPr lang="en-US" sz="1000"/>
              <a:pPr algn="r"/>
              <a:t>25</a:t>
            </a:fld>
            <a:endParaRPr lang="en-US" sz="1000"/>
          </a:p>
        </p:txBody>
      </p:sp>
      <p:sp>
        <p:nvSpPr>
          <p:cNvPr id="30724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sz="1800" b="1" smtClean="0"/>
              <a:t>Kaydedicili Ölçü Aletleri</a:t>
            </a:r>
          </a:p>
          <a:p>
            <a:pPr lvl="1"/>
            <a:r>
              <a:rPr lang="tr-TR" sz="1800" smtClean="0"/>
              <a:t>Kaydedici ölçü aletleri, ölçülen büyüklüğün değerini zamana bağlı olarak grafik</a:t>
            </a:r>
            <a:r>
              <a:rPr lang="en-GB" sz="1800" smtClean="0"/>
              <a:t> </a:t>
            </a:r>
            <a:r>
              <a:rPr lang="tr-TR" sz="1800" smtClean="0"/>
              <a:t>kağıdı üzerine çizerek kayıt ederler (Resim 1.6). </a:t>
            </a:r>
            <a:endParaRPr lang="en-GB" sz="1800" smtClean="0"/>
          </a:p>
          <a:p>
            <a:pPr lvl="1"/>
            <a:r>
              <a:rPr lang="tr-TR" sz="1800" smtClean="0"/>
              <a:t>Bu ölçü aletlerinde geriye dönük ölçülen</a:t>
            </a:r>
            <a:r>
              <a:rPr lang="en-GB" sz="1800" smtClean="0"/>
              <a:t> </a:t>
            </a:r>
            <a:r>
              <a:rPr lang="tr-TR" sz="1800" smtClean="0"/>
              <a:t>değerlerin okunması ve incelenmesi mümkündür. Bu tip ölçü aletleri genellikle elektrik</a:t>
            </a:r>
            <a:r>
              <a:rPr lang="en-GB" sz="1800" smtClean="0"/>
              <a:t> </a:t>
            </a:r>
            <a:r>
              <a:rPr lang="tr-TR" sz="1800" smtClean="0"/>
              <a:t>santrallerinde üretilen enerjinin takibi için kullanılır.</a:t>
            </a:r>
          </a:p>
          <a:p>
            <a:endParaRPr lang="tr-TR" smtClean="0"/>
          </a:p>
        </p:txBody>
      </p:sp>
      <p:pic>
        <p:nvPicPr>
          <p:cNvPr id="30725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72188" y="4143375"/>
            <a:ext cx="1389062" cy="2328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26" name="Rectangle 8"/>
          <p:cNvSpPr>
            <a:spLocks noChangeArrowheads="1"/>
          </p:cNvSpPr>
          <p:nvPr/>
        </p:nvSpPr>
        <p:spPr bwMode="auto">
          <a:xfrm>
            <a:off x="1500188" y="5000625"/>
            <a:ext cx="4572000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tr-TR" b="1"/>
              <a:t>Resim 1.6: Kaydedicili ölçü aletlerine örnekler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81963136-7AA1-4DEC-AB91-3A4147E8FAA4}" type="slidenum">
              <a:rPr lang="en-US"/>
              <a:pPr/>
              <a:t>26</a:t>
            </a:fld>
            <a:endParaRPr lang="en-US"/>
          </a:p>
        </p:txBody>
      </p:sp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smtClean="0"/>
              <a:t>1. ÖLÇÜ ALETLERİ</a:t>
            </a:r>
          </a:p>
        </p:txBody>
      </p:sp>
      <p:sp>
        <p:nvSpPr>
          <p:cNvPr id="31747" name="Slide Number Placeholder 3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DE8C1519-3951-49F9-BB06-6BCFB3B44CC5}" type="slidenum">
              <a:rPr lang="en-US" sz="1000"/>
              <a:pPr algn="r"/>
              <a:t>26</a:t>
            </a:fld>
            <a:endParaRPr lang="en-US" sz="1000"/>
          </a:p>
        </p:txBody>
      </p:sp>
      <p:sp>
        <p:nvSpPr>
          <p:cNvPr id="31748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sz="2000" b="1" smtClean="0"/>
              <a:t>Toplayıcı Ölçü Aletleri</a:t>
            </a:r>
          </a:p>
          <a:p>
            <a:pPr lvl="1"/>
            <a:r>
              <a:rPr lang="tr-TR" sz="2000" smtClean="0"/>
              <a:t>Toplayıcı ölçü aletleri, ölçtükleri elektriksel büyüklük değerini zamana bağlı olarak</a:t>
            </a:r>
            <a:r>
              <a:rPr lang="en-GB" sz="2000" smtClean="0"/>
              <a:t> </a:t>
            </a:r>
            <a:r>
              <a:rPr lang="tr-TR" sz="2000" smtClean="0"/>
              <a:t>toplarlar (Resim 1.7). </a:t>
            </a:r>
            <a:endParaRPr lang="en-GB" sz="2000" smtClean="0"/>
          </a:p>
          <a:p>
            <a:pPr lvl="1"/>
            <a:r>
              <a:rPr lang="tr-TR" sz="2000" smtClean="0"/>
              <a:t>Bu ölçü aletlerinin ekranında okunan değer, ölçüme başladığı andan</a:t>
            </a:r>
            <a:r>
              <a:rPr lang="en-GB" sz="2000" smtClean="0"/>
              <a:t> i</a:t>
            </a:r>
            <a:r>
              <a:rPr lang="tr-TR" sz="2000" smtClean="0"/>
              <a:t>tibaren ölçtüğü değerdir. Yani ölçtüğü değeri bir önceki değerin üstüne ilave ederek ölçüm</a:t>
            </a:r>
            <a:r>
              <a:rPr lang="en-GB" sz="2000" smtClean="0"/>
              <a:t> </a:t>
            </a:r>
            <a:r>
              <a:rPr lang="tr-TR" sz="2000" smtClean="0"/>
              <a:t>yaparlar. Enerji kesildiğinde ölçülen değer sıfırlanmaz. </a:t>
            </a:r>
            <a:endParaRPr lang="en-GB" sz="2000" smtClean="0"/>
          </a:p>
          <a:p>
            <a:pPr lvl="1"/>
            <a:r>
              <a:rPr lang="tr-TR" sz="2000" smtClean="0"/>
              <a:t>Elektrik sayaçları bu tip ölçü</a:t>
            </a:r>
            <a:r>
              <a:rPr lang="en-GB" sz="2000" smtClean="0"/>
              <a:t> </a:t>
            </a:r>
            <a:r>
              <a:rPr lang="tr-TR" sz="2000" smtClean="0"/>
              <a:t>aletlerine verilebilecek en iyi örneklerden biridir.</a:t>
            </a:r>
          </a:p>
          <a:p>
            <a:endParaRPr lang="tr-T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B55E38D2-6A5E-4DF9-9718-C9BCE50BB32F}" type="slidenum">
              <a:rPr lang="en-US"/>
              <a:pPr/>
              <a:t>27</a:t>
            </a:fld>
            <a:endParaRPr lang="en-US"/>
          </a:p>
        </p:txBody>
      </p:sp>
      <p:sp>
        <p:nvSpPr>
          <p:cNvPr id="32770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smtClean="0"/>
              <a:t>1. ÖLÇÜ ALETLERİ</a:t>
            </a:r>
          </a:p>
        </p:txBody>
      </p:sp>
      <p:pic>
        <p:nvPicPr>
          <p:cNvPr id="32771" name="Picture 8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755650" y="1700213"/>
            <a:ext cx="6840538" cy="4992687"/>
          </a:xfrm>
        </p:spPr>
      </p:pic>
      <p:sp>
        <p:nvSpPr>
          <p:cNvPr id="32772" name="Slide Number Placeholder 3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EFC2C117-55FF-4A54-BA19-D04283705712}" type="slidenum">
              <a:rPr lang="en-US" sz="1000"/>
              <a:pPr algn="r"/>
              <a:t>27</a:t>
            </a:fld>
            <a:endParaRPr lang="en-US"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53997072-B1E8-4A37-A18E-87B206F6EC04}" type="slidenum">
              <a:rPr lang="en-US"/>
              <a:pPr/>
              <a:t>28</a:t>
            </a:fld>
            <a:endParaRPr lang="en-US"/>
          </a:p>
        </p:txBody>
      </p:sp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smtClean="0"/>
              <a:t>1. ÖLÇÜ ALETLERİ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49325" y="1981200"/>
            <a:ext cx="7510463" cy="4114800"/>
          </a:xfrm>
        </p:spPr>
        <p:txBody>
          <a:bodyPr/>
          <a:lstStyle/>
          <a:p>
            <a:r>
              <a:rPr lang="en-US" sz="2000" b="1" smtClean="0"/>
              <a:t>1.2.3. Kullanım Yerlerine Göre Ölçü Aletleri</a:t>
            </a:r>
          </a:p>
          <a:p>
            <a:pPr lvl="1"/>
            <a:r>
              <a:rPr lang="tr-TR" sz="2000" smtClean="0"/>
              <a:t>Kulanım şekline göre ölçü aletleri taşınabilir ve pano tipi olmak üzere ikiye ayrılır.</a:t>
            </a:r>
          </a:p>
          <a:p>
            <a:pPr lvl="1"/>
            <a:r>
              <a:rPr lang="tr-TR" sz="2000" smtClean="0"/>
              <a:t>Şimdi bunları sırası ile açıklayalım.</a:t>
            </a:r>
          </a:p>
          <a:p>
            <a:pPr lvl="1"/>
            <a:r>
              <a:rPr lang="tr-TR" sz="2000" b="1" smtClean="0"/>
              <a:t>Taşınabilir Ölçü Aletleri</a:t>
            </a:r>
          </a:p>
          <a:p>
            <a:pPr lvl="1"/>
            <a:r>
              <a:rPr lang="tr-TR" sz="2000" smtClean="0"/>
              <a:t>Bu tür ölçü aletleri çoğunlukla atölye, işletme ve laboratuvar ortamlarında pratik</a:t>
            </a:r>
            <a:r>
              <a:rPr lang="en-GB" sz="2000" smtClean="0"/>
              <a:t> </a:t>
            </a:r>
            <a:r>
              <a:rPr lang="tr-TR" sz="2000" smtClean="0"/>
              <a:t>ölçüm yapmak amacı ile kullanılan sabit bir yere monte edilmeyen ölçü aletleridir (Resim</a:t>
            </a:r>
            <a:r>
              <a:rPr lang="en-GB" sz="2000" smtClean="0"/>
              <a:t> </a:t>
            </a:r>
            <a:r>
              <a:rPr lang="tr-TR" sz="2000" smtClean="0"/>
              <a:t>1.8). Bu tip ölçü aletleri kendine ait bir kapalı kap içerisine alınmış taşınmaya uygun ölçü</a:t>
            </a:r>
            <a:r>
              <a:rPr lang="en-GB" sz="2000" smtClean="0"/>
              <a:t> </a:t>
            </a:r>
            <a:r>
              <a:rPr lang="tr-TR" sz="2000" smtClean="0"/>
              <a:t>aletleridir. Ancak çarpma ve darbelere karşı hassas olduklarından kullanımında gerekli özen</a:t>
            </a:r>
            <a:r>
              <a:rPr lang="en-GB" sz="2000" smtClean="0"/>
              <a:t> </a:t>
            </a:r>
            <a:r>
              <a:rPr lang="tr-TR" sz="2000" smtClean="0"/>
              <a:t>gösterilmelidir.</a:t>
            </a:r>
          </a:p>
          <a:p>
            <a:endParaRPr lang="en-US" sz="2200" smtClean="0"/>
          </a:p>
          <a:p>
            <a:endParaRPr lang="en-US" sz="2000" smtClean="0"/>
          </a:p>
          <a:p>
            <a:endParaRPr lang="en-US" sz="2000" smtClean="0"/>
          </a:p>
        </p:txBody>
      </p:sp>
      <p:sp>
        <p:nvSpPr>
          <p:cNvPr id="33796" name="Slide Number Placeholder 4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40EE393D-6AB2-45C0-AEF4-02D44B85EC22}" type="slidenum">
              <a:rPr lang="en-US" sz="1000"/>
              <a:pPr algn="r"/>
              <a:t>28</a:t>
            </a:fld>
            <a:endParaRPr lang="en-US"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9C0B383E-BDF4-491D-9D36-B19A56904DC4}" type="slidenum">
              <a:rPr lang="en-US"/>
              <a:pPr/>
              <a:t>29</a:t>
            </a:fld>
            <a:endParaRPr lang="en-US"/>
          </a:p>
        </p:txBody>
      </p:sp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smtClean="0"/>
              <a:t>1. ÖLÇÜ ALETLERİ</a:t>
            </a:r>
          </a:p>
        </p:txBody>
      </p:sp>
      <p:pic>
        <p:nvPicPr>
          <p:cNvPr id="34819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468313" y="1844675"/>
            <a:ext cx="8064500" cy="3446463"/>
          </a:xfrm>
        </p:spPr>
      </p:pic>
      <p:sp>
        <p:nvSpPr>
          <p:cNvPr id="34820" name="Slide Number Placeholder 3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1A22596F-C91C-404F-B303-B116FC549556}" type="slidenum">
              <a:rPr lang="en-US" sz="1000"/>
              <a:pPr algn="r"/>
              <a:t>29</a:t>
            </a:fld>
            <a:endParaRPr lang="en-US"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D23AEC31-5307-4DAB-9CBA-305F14DEDC7A}" type="slidenum">
              <a:rPr lang="en-US"/>
              <a:pPr/>
              <a:t>30</a:t>
            </a:fld>
            <a:endParaRPr lang="en-US"/>
          </a:p>
        </p:txBody>
      </p:sp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smtClean="0"/>
              <a:t>1. ÖLÇÜ ALETLERİ</a:t>
            </a:r>
          </a:p>
        </p:txBody>
      </p:sp>
      <p:pic>
        <p:nvPicPr>
          <p:cNvPr id="35843" name="Picture 8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2357438" y="4572000"/>
            <a:ext cx="4535487" cy="2089150"/>
          </a:xfrm>
        </p:spPr>
      </p:pic>
      <p:sp>
        <p:nvSpPr>
          <p:cNvPr id="35844" name="Slide Number Placeholder 5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3DA2A777-18F2-47B2-980C-18AD7EA3FA7A}" type="slidenum">
              <a:rPr lang="en-US" sz="1000"/>
              <a:pPr algn="r"/>
              <a:t>30</a:t>
            </a:fld>
            <a:endParaRPr lang="en-US" sz="1000"/>
          </a:p>
        </p:txBody>
      </p:sp>
      <p:sp>
        <p:nvSpPr>
          <p:cNvPr id="35845" name="Content Placeholder 7"/>
          <p:cNvSpPr>
            <a:spLocks noGrp="1"/>
          </p:cNvSpPr>
          <p:nvPr>
            <p:ph sz="half" idx="1"/>
          </p:nvPr>
        </p:nvSpPr>
        <p:spPr>
          <a:xfrm>
            <a:off x="949325" y="1981200"/>
            <a:ext cx="7694613" cy="4114800"/>
          </a:xfrm>
        </p:spPr>
        <p:txBody>
          <a:bodyPr/>
          <a:lstStyle/>
          <a:p>
            <a:r>
              <a:rPr lang="tr-TR" sz="1600" b="1" smtClean="0"/>
              <a:t>Pano Tipi Ölçü Aletleri</a:t>
            </a:r>
          </a:p>
          <a:p>
            <a:pPr lvl="1"/>
            <a:r>
              <a:rPr lang="tr-TR" sz="1600" smtClean="0"/>
              <a:t>Bu tür ölçü aletleri sanayide, fabrikalarda ve atölyelerde, elektriki büyüklüklerin sık</a:t>
            </a:r>
            <a:r>
              <a:rPr lang="en-GB" sz="1600" smtClean="0"/>
              <a:t> </a:t>
            </a:r>
            <a:r>
              <a:rPr lang="tr-TR" sz="1600" smtClean="0"/>
              <a:t>sık kontrol edilmesi istenen yerlerde kullanılır. Pano veya tablo üzerine özel montaj</a:t>
            </a:r>
            <a:r>
              <a:rPr lang="en-GB" sz="1600" smtClean="0"/>
              <a:t> </a:t>
            </a:r>
            <a:r>
              <a:rPr lang="tr-TR" sz="1600" smtClean="0"/>
              <a:t>malzemeleri kullanılarak sabitlenen bu ölçü aletleri dik çalışacak şekilde tasarlanır (Resim</a:t>
            </a:r>
            <a:r>
              <a:rPr lang="en-GB" sz="1600" smtClean="0"/>
              <a:t> </a:t>
            </a:r>
            <a:r>
              <a:rPr lang="tr-TR" sz="1600" smtClean="0"/>
              <a:t>1.9). Günlük ölçümlerde ve deney masalarında kullanım için uygun değildir. Pano tipi ölçü</a:t>
            </a:r>
            <a:r>
              <a:rPr lang="en-GB" sz="1600" smtClean="0"/>
              <a:t> </a:t>
            </a:r>
            <a:r>
              <a:rPr lang="tr-TR" sz="1600" smtClean="0"/>
              <a:t>aletleri sipariş edilirken gösterme şekli ne olursa olsun 3 ayrı ölçüde imal edilirler. Bu</a:t>
            </a:r>
            <a:r>
              <a:rPr lang="en-GB" sz="1600" smtClean="0"/>
              <a:t> </a:t>
            </a:r>
            <a:r>
              <a:rPr lang="tr-TR" sz="1600" smtClean="0"/>
              <a:t>ölçüler 72x72, 96x96, 144x144 mm şeklindir. Bu boyutlar arasında teknik olarak bir farklılık</a:t>
            </a:r>
            <a:r>
              <a:rPr lang="en-GB" sz="1600" smtClean="0"/>
              <a:t> </a:t>
            </a:r>
            <a:r>
              <a:rPr lang="tr-TR" sz="1600" smtClean="0"/>
              <a:t>olamayıp görünüş ve okuma kolaylığı dikkat alınarak seçim yapılır.</a:t>
            </a:r>
          </a:p>
          <a:p>
            <a:endParaRPr lang="tr-T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E4D6E61E-1914-494F-B2C5-00AF92E3DBD7}" type="slidenum">
              <a:rPr lang="en-US"/>
              <a:pPr/>
              <a:t>31</a:t>
            </a:fld>
            <a:endParaRPr lang="en-US"/>
          </a:p>
        </p:txBody>
      </p:sp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smtClean="0"/>
              <a:t>1. ÖLÇÜ ALETLERİ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49325" y="1981200"/>
            <a:ext cx="7367588" cy="4114800"/>
          </a:xfrm>
        </p:spPr>
        <p:txBody>
          <a:bodyPr/>
          <a:lstStyle/>
          <a:p>
            <a:r>
              <a:rPr lang="en-US" sz="2000" b="1" smtClean="0"/>
              <a:t>1.3. Çeşitli Elektriksel Ölçü Aleti Tanımları</a:t>
            </a:r>
            <a:endParaRPr lang="en-US" sz="2000" smtClean="0"/>
          </a:p>
          <a:p>
            <a:pPr lvl="1"/>
            <a:r>
              <a:rPr lang="tr-TR" sz="1600" smtClean="0"/>
              <a:t>Elektrik elektronik alanında en çok kullanılan ölçü aletleri aşağıda belirtilmiştir. Bu</a:t>
            </a:r>
            <a:r>
              <a:rPr lang="en-GB" sz="1600" smtClean="0"/>
              <a:t> </a:t>
            </a:r>
            <a:r>
              <a:rPr lang="tr-TR" sz="1600" smtClean="0"/>
              <a:t>ölçü aletlerinin tamamının dijital ve analog modelleri mevcuttur. Bu ölçü aletleri ve ölçtüğü</a:t>
            </a:r>
            <a:r>
              <a:rPr lang="en-GB" sz="1600" smtClean="0"/>
              <a:t> </a:t>
            </a:r>
            <a:r>
              <a:rPr lang="tr-TR" sz="1600" smtClean="0"/>
              <a:t>büyüklüklere kısaca değinelim;</a:t>
            </a:r>
          </a:p>
          <a:p>
            <a:pPr lvl="1"/>
            <a:r>
              <a:rPr lang="tr-TR" sz="1600" smtClean="0"/>
              <a:t> </a:t>
            </a:r>
            <a:r>
              <a:rPr lang="tr-TR" sz="1600" b="1" smtClean="0"/>
              <a:t>Ampermetre: </a:t>
            </a:r>
            <a:r>
              <a:rPr lang="tr-TR" sz="1600" smtClean="0"/>
              <a:t>Doğru veya alternatif akım devrelerinde alıcının çektiği akımı ölçen</a:t>
            </a:r>
            <a:r>
              <a:rPr lang="en-GB" sz="1600" smtClean="0"/>
              <a:t> </a:t>
            </a:r>
            <a:r>
              <a:rPr lang="tr-TR" sz="1600" smtClean="0"/>
              <a:t>ölçü aleti olup devreye seri bağlanır. Ampermetreler (A) harfi ile belirtilir.</a:t>
            </a:r>
            <a:endParaRPr lang="en-GB" sz="1600" smtClean="0"/>
          </a:p>
          <a:p>
            <a:pPr lvl="1"/>
            <a:endParaRPr lang="tr-TR" sz="1600" smtClean="0"/>
          </a:p>
          <a:p>
            <a:pPr lvl="1"/>
            <a:r>
              <a:rPr lang="tr-TR" sz="1600" smtClean="0"/>
              <a:t> </a:t>
            </a:r>
            <a:r>
              <a:rPr lang="tr-TR" sz="1600" b="1" smtClean="0"/>
              <a:t>Voltmetre: </a:t>
            </a:r>
            <a:r>
              <a:rPr lang="tr-TR" sz="1600" smtClean="0"/>
              <a:t>Doğru ve alternatif akım devresinin ya da devreye bağlı bir alıcının</a:t>
            </a:r>
            <a:r>
              <a:rPr lang="en-GB" sz="1600" smtClean="0"/>
              <a:t> </a:t>
            </a:r>
            <a:r>
              <a:rPr lang="tr-TR" sz="1600" smtClean="0"/>
              <a:t>uçlarındaki gerilim değerini ölçmeye yarayan ölçü aleti olup devreye paralel bağlanır.</a:t>
            </a:r>
            <a:r>
              <a:rPr lang="en-GB" sz="1600" smtClean="0"/>
              <a:t> </a:t>
            </a:r>
            <a:r>
              <a:rPr lang="tr-TR" sz="1600" smtClean="0"/>
              <a:t>Voltmetreler (V) harfi ile belirtilir.</a:t>
            </a:r>
            <a:endParaRPr lang="en-GB" sz="1600" smtClean="0"/>
          </a:p>
          <a:p>
            <a:pPr lvl="1"/>
            <a:endParaRPr lang="tr-TR" sz="1600" smtClean="0"/>
          </a:p>
          <a:p>
            <a:pPr lvl="1"/>
            <a:r>
              <a:rPr lang="tr-TR" sz="1600" smtClean="0"/>
              <a:t> </a:t>
            </a:r>
            <a:r>
              <a:rPr lang="tr-TR" sz="1600" b="1" smtClean="0"/>
              <a:t>Lcrmetre: </a:t>
            </a:r>
            <a:r>
              <a:rPr lang="tr-TR" sz="1600" smtClean="0"/>
              <a:t>Elektrik devrelerinde değişik amaçlar için kullanılan ve alıcı olarak görev</a:t>
            </a:r>
            <a:r>
              <a:rPr lang="en-GB" sz="1600" smtClean="0"/>
              <a:t> </a:t>
            </a:r>
            <a:r>
              <a:rPr lang="tr-TR" sz="1600" smtClean="0"/>
              <a:t>yapan direnç, bobin ve kondansatörün; direnç, endüktans ve kapasite değerlerini ölçen</a:t>
            </a:r>
            <a:r>
              <a:rPr lang="en-GB" sz="1600" smtClean="0"/>
              <a:t> </a:t>
            </a:r>
            <a:r>
              <a:rPr lang="tr-TR" sz="1600" smtClean="0"/>
              <a:t>ölçü aletleridir. Lcrmetre ile doğru ölçüm yapabilmek için uygun kademe seçimi</a:t>
            </a:r>
            <a:r>
              <a:rPr lang="en-GB" sz="1600" smtClean="0"/>
              <a:t> </a:t>
            </a:r>
            <a:r>
              <a:rPr lang="tr-TR" sz="1600" smtClean="0"/>
              <a:t>yapılmalıdır.</a:t>
            </a:r>
          </a:p>
          <a:p>
            <a:pPr lvl="1"/>
            <a:endParaRPr lang="en-US" sz="1600" smtClean="0"/>
          </a:p>
        </p:txBody>
      </p:sp>
      <p:sp>
        <p:nvSpPr>
          <p:cNvPr id="36868" name="Slide Number Placeholder 4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CFA7C66A-84F9-4A05-9131-B404C536A2F1}" type="slidenum">
              <a:rPr lang="en-US" sz="1000"/>
              <a:pPr algn="r"/>
              <a:t>31</a:t>
            </a:fld>
            <a:endParaRPr lang="en-US" sz="1000"/>
          </a:p>
        </p:txBody>
      </p:sp>
      <p:pic>
        <p:nvPicPr>
          <p:cNvPr id="36869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5750" y="3000375"/>
            <a:ext cx="1114425" cy="1019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6870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85750" y="4214813"/>
            <a:ext cx="1057275" cy="1028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6871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57188" y="5357813"/>
            <a:ext cx="1047750" cy="1095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B036B5DF-F8DC-4784-B521-42EAD53EE000}" type="slidenum">
              <a:rPr lang="en-US"/>
              <a:pPr/>
              <a:t>32</a:t>
            </a:fld>
            <a:endParaRPr lang="en-US"/>
          </a:p>
        </p:txBody>
      </p:sp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smtClean="0"/>
              <a:t>1. ÖLÇÜ ALETLERİ</a:t>
            </a:r>
          </a:p>
        </p:txBody>
      </p:sp>
      <p:sp>
        <p:nvSpPr>
          <p:cNvPr id="37891" name="Slide Number Placeholder 3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6DEEB9D6-12CA-4E99-8AC8-CBDBA9B17B47}" type="slidenum">
              <a:rPr lang="en-US" sz="1000"/>
              <a:pPr algn="r"/>
              <a:t>32</a:t>
            </a:fld>
            <a:endParaRPr lang="en-US" sz="1000"/>
          </a:p>
        </p:txBody>
      </p:sp>
      <p:sp>
        <p:nvSpPr>
          <p:cNvPr id="37892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tr-TR" sz="2000" b="1" smtClean="0"/>
              <a:t>Wattmetre: </a:t>
            </a:r>
            <a:r>
              <a:rPr lang="tr-TR" sz="2000" smtClean="0"/>
              <a:t>Doğru ve alternatif akım devrelerinde alıcıların çektikleri elektriksel gücü</a:t>
            </a:r>
            <a:r>
              <a:rPr lang="en-GB" sz="2000" smtClean="0"/>
              <a:t> </a:t>
            </a:r>
            <a:r>
              <a:rPr lang="tr-TR" sz="2000" smtClean="0"/>
              <a:t>ölçen aletleridir. Wattmetreler akım ve gerilim bobinlerine sahip olup akım bobini</a:t>
            </a:r>
            <a:r>
              <a:rPr lang="en-GB" sz="2000" smtClean="0"/>
              <a:t> </a:t>
            </a:r>
            <a:r>
              <a:rPr lang="tr-TR" sz="2000" smtClean="0"/>
              <a:t>devreye seri, gerilim bobini devreye paralel bağlanır.Güç hesaplamalarda (P) harfi ile</a:t>
            </a:r>
            <a:r>
              <a:rPr lang="en-GB" sz="2000" smtClean="0"/>
              <a:t> </a:t>
            </a:r>
            <a:r>
              <a:rPr lang="tr-TR" sz="2000" smtClean="0"/>
              <a:t>ifade edilir.</a:t>
            </a:r>
          </a:p>
          <a:p>
            <a:pPr lvl="1"/>
            <a:r>
              <a:rPr lang="tr-TR" sz="2000" b="1" smtClean="0"/>
              <a:t>Frekansmetre: </a:t>
            </a:r>
            <a:r>
              <a:rPr lang="tr-TR" sz="2000" smtClean="0"/>
              <a:t>Alternatif akım devrelerinde elektrik enerjisinin frekansını ölçen</a:t>
            </a:r>
            <a:r>
              <a:rPr lang="en-GB" sz="2000" smtClean="0"/>
              <a:t> </a:t>
            </a:r>
            <a:r>
              <a:rPr lang="tr-TR" sz="2000" smtClean="0"/>
              <a:t>aletlerdir. Frekansmetreler devreye paralel bağlanır ve (Hz) şeklinde ifade edilir.</a:t>
            </a:r>
          </a:p>
          <a:p>
            <a:pPr lvl="1"/>
            <a:r>
              <a:rPr lang="tr-TR" sz="2000" smtClean="0"/>
              <a:t> </a:t>
            </a:r>
            <a:r>
              <a:rPr lang="tr-TR" sz="2000" b="1" smtClean="0"/>
              <a:t>Multimetre: </a:t>
            </a:r>
            <a:r>
              <a:rPr lang="tr-TR" sz="2000" smtClean="0"/>
              <a:t>Elektrik veya elektronik devrelerinde akım, gerilim, direnç, frekans</a:t>
            </a:r>
            <a:r>
              <a:rPr lang="en-GB" sz="2000" smtClean="0"/>
              <a:t> </a:t>
            </a:r>
            <a:r>
              <a:rPr lang="tr-TR" sz="2000" smtClean="0"/>
              <a:t>endüktans ve kapasite ölçümü yapar. Bunların yanı sıra elektronik elemanların</a:t>
            </a:r>
            <a:r>
              <a:rPr lang="en-GB" sz="2000" smtClean="0"/>
              <a:t> </a:t>
            </a:r>
            <a:r>
              <a:rPr lang="tr-TR" sz="2000" smtClean="0"/>
              <a:t>sağlamlık kontrolü ve uç tespiti işlemleri yapabilen tümleşik ölçü aletleridir.</a:t>
            </a:r>
          </a:p>
          <a:p>
            <a:endParaRPr lang="tr-TR" sz="2000" smtClean="0"/>
          </a:p>
        </p:txBody>
      </p:sp>
      <p:pic>
        <p:nvPicPr>
          <p:cNvPr id="37893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4313" y="2000250"/>
            <a:ext cx="1057275" cy="90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7894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14313" y="3357563"/>
            <a:ext cx="1057275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7895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85750" y="4786313"/>
            <a:ext cx="1057275" cy="1114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7EF0ACAD-B9FD-4C11-90A7-31F879699606}" type="slidenum">
              <a:rPr lang="en-US"/>
              <a:pPr/>
              <a:t>33</a:t>
            </a:fld>
            <a:endParaRPr lang="en-US"/>
          </a:p>
        </p:txBody>
      </p:sp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smtClean="0"/>
              <a:t>1. ÖLÇÜ ALETLERİ</a:t>
            </a:r>
          </a:p>
        </p:txBody>
      </p:sp>
      <p:sp>
        <p:nvSpPr>
          <p:cNvPr id="38915" name="Slide Number Placeholder 3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542200F3-3EE6-4FEA-8AEE-AB36A2A145C0}" type="slidenum">
              <a:rPr lang="en-US" sz="1000"/>
              <a:pPr algn="r"/>
              <a:t>33</a:t>
            </a:fld>
            <a:endParaRPr lang="en-US" sz="1000"/>
          </a:p>
        </p:txBody>
      </p:sp>
      <p:sp>
        <p:nvSpPr>
          <p:cNvPr id="38916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tr-TR" sz="2000" b="1" smtClean="0"/>
              <a:t>Osilaskop: </a:t>
            </a:r>
            <a:r>
              <a:rPr lang="tr-TR" sz="2000" smtClean="0"/>
              <a:t>Elektrik ve elektronik devrelerinde akım ve gerilimin değeri, frekans ve</a:t>
            </a:r>
            <a:r>
              <a:rPr lang="en-GB" sz="2000" smtClean="0"/>
              <a:t> </a:t>
            </a:r>
            <a:r>
              <a:rPr lang="tr-TR" sz="2000" smtClean="0"/>
              <a:t>faz farkı ölçümlerini dijital veya analog ekranda grafiksel olarak gösteren aletlerdir.</a:t>
            </a:r>
          </a:p>
          <a:p>
            <a:pPr lvl="1"/>
            <a:r>
              <a:rPr lang="tr-TR" sz="2000" b="1" smtClean="0"/>
              <a:t>Elektrik Sayacı: </a:t>
            </a:r>
            <a:r>
              <a:rPr lang="tr-TR" sz="2000" smtClean="0"/>
              <a:t>Elektrik devrelerinde alıcıların harcadığı elektrik enerjisini, yani</a:t>
            </a:r>
            <a:r>
              <a:rPr lang="en-GB" sz="2000" smtClean="0"/>
              <a:t> </a:t>
            </a:r>
            <a:r>
              <a:rPr lang="tr-TR" sz="2000" smtClean="0"/>
              <a:t>harcanan güç ile zaman çarpımını ölçen ölçü aletleridir. sayaçlarda akım ve gerilim</a:t>
            </a:r>
            <a:r>
              <a:rPr lang="en-GB" sz="2000" smtClean="0"/>
              <a:t> </a:t>
            </a:r>
            <a:r>
              <a:rPr lang="tr-TR" sz="2000" smtClean="0"/>
              <a:t>bobini olmak üzere iki bobin bulunur. Akım bobini devreye seri, gerilim bobine</a:t>
            </a:r>
            <a:r>
              <a:rPr lang="en-GB" sz="2000" smtClean="0"/>
              <a:t> </a:t>
            </a:r>
            <a:r>
              <a:rPr lang="tr-TR" sz="2000" smtClean="0"/>
              <a:t>devreye paralel bağlanır.</a:t>
            </a:r>
          </a:p>
          <a:p>
            <a:endParaRPr lang="tr-TR" sz="2000" smtClean="0"/>
          </a:p>
        </p:txBody>
      </p:sp>
      <p:pic>
        <p:nvPicPr>
          <p:cNvPr id="38917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4313" y="2071688"/>
            <a:ext cx="1057275" cy="981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8918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57188" y="3429000"/>
            <a:ext cx="1019175" cy="1038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8705E6B2-01B4-4B3C-BA36-3B49D2526993}" type="slidenum">
              <a:rPr lang="en-US"/>
              <a:pPr/>
              <a:t>34</a:t>
            </a:fld>
            <a:endParaRPr lang="en-US"/>
          </a:p>
        </p:txBody>
      </p:sp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smtClean="0"/>
              <a:t>1. ÖLÇÜ ALETLERİ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28688" y="1714500"/>
            <a:ext cx="7510462" cy="4114800"/>
          </a:xfrm>
        </p:spPr>
        <p:txBody>
          <a:bodyPr/>
          <a:lstStyle/>
          <a:p>
            <a:r>
              <a:rPr lang="en-US" sz="1800" b="1" smtClean="0"/>
              <a:t>1.4. Ölçü Aletlerine Ait Terimler</a:t>
            </a:r>
            <a:endParaRPr lang="tr-TR" sz="1800" b="1" smtClean="0"/>
          </a:p>
          <a:p>
            <a:pPr lvl="1"/>
            <a:r>
              <a:rPr lang="en-US" sz="1800" b="1" smtClean="0"/>
              <a:t>1.4.1. Doğruluk Derecesi</a:t>
            </a:r>
            <a:endParaRPr lang="en-US" sz="1800" smtClean="0"/>
          </a:p>
          <a:p>
            <a:pPr lvl="2"/>
            <a:r>
              <a:rPr lang="tr-TR" sz="1600" smtClean="0"/>
              <a:t>Ölçü aletlerinin hiçbiri yüzde yüz doğru ölçüm</a:t>
            </a:r>
            <a:r>
              <a:rPr lang="en-GB" sz="1600" smtClean="0"/>
              <a:t> </a:t>
            </a:r>
            <a:r>
              <a:rPr lang="tr-TR" sz="1600" smtClean="0"/>
              <a:t>yapamaz. Her ölçü aletinin mutlaka belirli bir hata payı</a:t>
            </a:r>
            <a:r>
              <a:rPr lang="en-GB" sz="1600" smtClean="0"/>
              <a:t> </a:t>
            </a:r>
            <a:r>
              <a:rPr lang="tr-TR" sz="1600" smtClean="0"/>
              <a:t>vardır. Bir ölçü aletinin yapacağı en büyük hata, imalatçı</a:t>
            </a:r>
            <a:r>
              <a:rPr lang="en-GB" sz="1600" smtClean="0"/>
              <a:t> </a:t>
            </a:r>
            <a:r>
              <a:rPr lang="tr-TR" sz="1600" smtClean="0"/>
              <a:t>firma tarafından ölçü aletinin üzerine yazılarak belirtilir.</a:t>
            </a:r>
          </a:p>
          <a:p>
            <a:pPr lvl="2"/>
            <a:r>
              <a:rPr lang="tr-TR" sz="1600" smtClean="0"/>
              <a:t>Belirtilen bu hata miktarının ölçü aletinin ölçme sınırının</a:t>
            </a:r>
            <a:r>
              <a:rPr lang="en-GB" sz="1600" smtClean="0"/>
              <a:t> </a:t>
            </a:r>
            <a:r>
              <a:rPr lang="tr-TR" sz="1600" smtClean="0"/>
              <a:t>aşılmadığı sürece geçerli olduğu unutulmamalıdır. Ayrıca</a:t>
            </a:r>
            <a:r>
              <a:rPr lang="en-GB" sz="1600" smtClean="0"/>
              <a:t> </a:t>
            </a:r>
            <a:r>
              <a:rPr lang="tr-TR" sz="1600" smtClean="0"/>
              <a:t>aletin kullanım frekansı, güç katsayısı, ölçülen akımın dalga</a:t>
            </a:r>
            <a:r>
              <a:rPr lang="en-GB" sz="1600" smtClean="0"/>
              <a:t> </a:t>
            </a:r>
            <a:r>
              <a:rPr lang="tr-TR" sz="1600" smtClean="0"/>
              <a:t>şekli, ölçüm yapılacak ortamdaki sıcaklık miktarı, ölçü</a:t>
            </a:r>
            <a:r>
              <a:rPr lang="en-GB" sz="1600" smtClean="0"/>
              <a:t> </a:t>
            </a:r>
            <a:r>
              <a:rPr lang="tr-TR" sz="1600" smtClean="0"/>
              <a:t>aletinin kullanım şekline uygun kullanılmaması (yatay veya</a:t>
            </a:r>
            <a:r>
              <a:rPr lang="en-GB" sz="1600" smtClean="0"/>
              <a:t> </a:t>
            </a:r>
            <a:r>
              <a:rPr lang="tr-TR" sz="1600" smtClean="0"/>
              <a:t>dikey) aletlerin ölçme hatasını artıran faktörlerdir. </a:t>
            </a:r>
            <a:endParaRPr lang="en-GB" sz="1600" smtClean="0"/>
          </a:p>
          <a:p>
            <a:pPr lvl="2"/>
            <a:r>
              <a:rPr lang="tr-TR" sz="1600" smtClean="0"/>
              <a:t>Ölçme hatasının az veya çok olması, ölçü</a:t>
            </a:r>
            <a:r>
              <a:rPr lang="en-GB" sz="1600" smtClean="0"/>
              <a:t> </a:t>
            </a:r>
            <a:r>
              <a:rPr lang="tr-TR" sz="1600" smtClean="0"/>
              <a:t>aletinin doğruluk derecesini gösterir. Ölçü aletleri doğruluk derecesine göre 0,1-0,2-0,5-1-</a:t>
            </a:r>
            <a:r>
              <a:rPr lang="en-GB" sz="1600" smtClean="0"/>
              <a:t> </a:t>
            </a:r>
            <a:r>
              <a:rPr lang="tr-TR" sz="1600" smtClean="0"/>
              <a:t>1,5-2,5 olmak üzere altı sınıfa ayrılır. 0,1 ve 0,2 sınıfına dahil olan ölçü aletlerinin hata</a:t>
            </a:r>
            <a:r>
              <a:rPr lang="en-GB" sz="1600" smtClean="0"/>
              <a:t> </a:t>
            </a:r>
            <a:r>
              <a:rPr lang="tr-TR" sz="1600" smtClean="0"/>
              <a:t>yüzdesi az olup yaptıkları ölçümlerin doğruluğu yüksektir. 1,5 ve 2,5 sınıfına dahil olan ölçü</a:t>
            </a:r>
            <a:r>
              <a:rPr lang="en-GB" sz="1600" smtClean="0"/>
              <a:t> </a:t>
            </a:r>
            <a:r>
              <a:rPr lang="tr-TR" sz="1600" smtClean="0"/>
              <a:t>aletlerinde ise hata yüzdesi fazla olup yaptıkları ölçümlerin doğruluğu, yani gerçek değerle</a:t>
            </a:r>
            <a:r>
              <a:rPr lang="en-GB" sz="1600" smtClean="0"/>
              <a:t> </a:t>
            </a:r>
            <a:r>
              <a:rPr lang="tr-TR" sz="1600" smtClean="0"/>
              <a:t>ölçülen değer arasındaki fark daha fazladır.</a:t>
            </a:r>
          </a:p>
          <a:p>
            <a:pPr lvl="2"/>
            <a:endParaRPr lang="en-US" sz="1600" smtClean="0"/>
          </a:p>
        </p:txBody>
      </p:sp>
      <p:sp>
        <p:nvSpPr>
          <p:cNvPr id="39940" name="Slide Number Placeholder 4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530509A3-0532-4767-9684-F8FF692A9DD4}" type="slidenum">
              <a:rPr lang="en-US" sz="1000"/>
              <a:pPr algn="r"/>
              <a:t>34</a:t>
            </a:fld>
            <a:endParaRPr lang="en-US"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ADA98D04-9FFD-407E-BCEB-FA9F48DA27B9}" type="slidenum">
              <a:rPr lang="en-US"/>
              <a:pPr/>
              <a:t>35</a:t>
            </a:fld>
            <a:endParaRPr lang="en-US"/>
          </a:p>
        </p:txBody>
      </p:sp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smtClean="0"/>
              <a:t>1. ÖLÇÜ ALETLERİ</a:t>
            </a:r>
          </a:p>
        </p:txBody>
      </p:sp>
      <p:sp>
        <p:nvSpPr>
          <p:cNvPr id="40963" name="Slide Number Placeholder 3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0077E5AE-1D70-4B07-A0ED-2FC027BCE689}" type="slidenum">
              <a:rPr lang="en-US" sz="1000"/>
              <a:pPr algn="r"/>
              <a:t>35</a:t>
            </a:fld>
            <a:endParaRPr lang="en-US" sz="1000"/>
          </a:p>
        </p:txBody>
      </p:sp>
      <p:sp>
        <p:nvSpPr>
          <p:cNvPr id="40964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sz="2000" smtClean="0"/>
              <a:t>0,5 sınıfı bir voltmetrenin son skala taksimatı 1000 volttur. Bu ölçü aletinin</a:t>
            </a:r>
            <a:r>
              <a:rPr lang="en-GB" sz="2000" smtClean="0"/>
              <a:t> </a:t>
            </a:r>
            <a:r>
              <a:rPr lang="tr-TR" sz="2000" smtClean="0"/>
              <a:t>yapabileceği en büyük ölçüm hatasını bulacak olursak:</a:t>
            </a:r>
          </a:p>
          <a:p>
            <a:r>
              <a:rPr lang="tr-TR" sz="2000" smtClean="0"/>
              <a:t>%0,5x1000=0,005x1000=5 volt</a:t>
            </a:r>
          </a:p>
          <a:p>
            <a:r>
              <a:rPr lang="tr-TR" sz="2000" smtClean="0"/>
              <a:t>yani 0,5 sınıfı, bu ölçü aletinin 1000 volt değerinden 5 volta kadar fazla ya da 5 volta kadar</a:t>
            </a:r>
            <a:r>
              <a:rPr lang="en-GB" sz="2000" smtClean="0"/>
              <a:t> </a:t>
            </a:r>
            <a:r>
              <a:rPr lang="tr-TR" sz="2000" smtClean="0"/>
              <a:t>az bir değer gösterebileceğini ifade eder.</a:t>
            </a:r>
          </a:p>
        </p:txBody>
      </p:sp>
      <p:pic>
        <p:nvPicPr>
          <p:cNvPr id="4096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15000" y="4286250"/>
            <a:ext cx="1785938" cy="1785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05B94AE6-544C-43C3-81EF-EE0A18E217D3}" type="slidenum">
              <a:rPr lang="en-US"/>
              <a:pPr/>
              <a:t>36</a:t>
            </a:fld>
            <a:endParaRPr lang="en-US"/>
          </a:p>
        </p:txBody>
      </p:sp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smtClean="0"/>
              <a:t>1. ÖLÇÜ ALETLERİ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49325" y="1628775"/>
            <a:ext cx="7337425" cy="4467225"/>
          </a:xfrm>
        </p:spPr>
        <p:txBody>
          <a:bodyPr/>
          <a:lstStyle/>
          <a:p>
            <a:endParaRPr lang="en-US" sz="2000" b="1" smtClean="0"/>
          </a:p>
          <a:p>
            <a:endParaRPr lang="en-US" sz="2000" b="1" smtClean="0"/>
          </a:p>
          <a:p>
            <a:endParaRPr lang="en-US" sz="2000" b="1" smtClean="0"/>
          </a:p>
          <a:p>
            <a:r>
              <a:rPr lang="en-US" sz="2000" b="1" smtClean="0"/>
              <a:t>1.4.2. Duyarlılık</a:t>
            </a:r>
          </a:p>
          <a:p>
            <a:pPr lvl="1"/>
            <a:r>
              <a:rPr lang="tr-TR" sz="1800" smtClean="0"/>
              <a:t>Ölçü aletinde ölçülen büyüklüğün çok küçük değişimlerinin</a:t>
            </a:r>
            <a:r>
              <a:rPr lang="en-GB" sz="1800" smtClean="0"/>
              <a:t> </a:t>
            </a:r>
            <a:r>
              <a:rPr lang="tr-TR" sz="1800" smtClean="0"/>
              <a:t>skala veya göstergede ifade edilebilmesidir. Bütün ölçü aletlerinin</a:t>
            </a:r>
            <a:r>
              <a:rPr lang="en-GB" sz="1800" smtClean="0"/>
              <a:t> </a:t>
            </a:r>
            <a:r>
              <a:rPr lang="tr-TR" sz="1800" smtClean="0"/>
              <a:t>kadran taksimatları eşit aralıklı değildir. </a:t>
            </a:r>
            <a:endParaRPr lang="en-GB" sz="1800" smtClean="0"/>
          </a:p>
          <a:p>
            <a:pPr lvl="1"/>
            <a:r>
              <a:rPr lang="tr-TR" sz="1800" smtClean="0"/>
              <a:t>Kadran taksimatları eşit</a:t>
            </a:r>
            <a:r>
              <a:rPr lang="en-GB" sz="1800" smtClean="0"/>
              <a:t> </a:t>
            </a:r>
            <a:r>
              <a:rPr lang="tr-TR" sz="1800" smtClean="0"/>
              <a:t>aralıklı olan ölçü aletlerinde duyarlılık aynıdır. Yani herhangi bir</a:t>
            </a:r>
            <a:r>
              <a:rPr lang="en-GB" sz="1800" smtClean="0"/>
              <a:t>  </a:t>
            </a:r>
            <a:r>
              <a:rPr lang="tr-TR" sz="1800" smtClean="0"/>
              <a:t>ölçüm değerinde ibre skala taksimatının başında da sonunda da aynı</a:t>
            </a:r>
            <a:r>
              <a:rPr lang="en-GB" sz="1800" smtClean="0"/>
              <a:t> </a:t>
            </a:r>
            <a:r>
              <a:rPr lang="tr-TR" sz="1800" smtClean="0"/>
              <a:t>oranda sapar. </a:t>
            </a:r>
            <a:endParaRPr lang="en-GB" sz="1800" smtClean="0"/>
          </a:p>
          <a:p>
            <a:pPr lvl="1"/>
            <a:r>
              <a:rPr lang="tr-TR" sz="1800" smtClean="0"/>
              <a:t>Dijital ölçü aletlerinde duyarlılık, 380,1 volt yerine</a:t>
            </a:r>
            <a:r>
              <a:rPr lang="en-GB" sz="1800" smtClean="0"/>
              <a:t> </a:t>
            </a:r>
            <a:r>
              <a:rPr lang="tr-TR" sz="1800" smtClean="0"/>
              <a:t>380,18 volt olarak ifade eden ölçü aleti daha hassastır. Çünkü daha</a:t>
            </a:r>
            <a:r>
              <a:rPr lang="en-GB" sz="1800" smtClean="0"/>
              <a:t> </a:t>
            </a:r>
            <a:r>
              <a:rPr lang="tr-TR" sz="1800" smtClean="0"/>
              <a:t>küçük büyüklük değişimlerini ifade edebilmektedir.</a:t>
            </a:r>
          </a:p>
          <a:p>
            <a:endParaRPr lang="en-US" sz="2000" smtClean="0"/>
          </a:p>
          <a:p>
            <a:endParaRPr lang="en-US" sz="2800" smtClean="0"/>
          </a:p>
        </p:txBody>
      </p:sp>
      <p:sp>
        <p:nvSpPr>
          <p:cNvPr id="41988" name="Slide Number Placeholder 4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C4041FFB-22E8-4DE4-9019-6ED22ECF53A5}" type="slidenum">
              <a:rPr lang="en-US" sz="1000"/>
              <a:pPr algn="r"/>
              <a:t>36</a:t>
            </a:fld>
            <a:endParaRPr lang="en-US" sz="1000"/>
          </a:p>
        </p:txBody>
      </p:sp>
      <p:pic>
        <p:nvPicPr>
          <p:cNvPr id="41989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84888" y="1557338"/>
            <a:ext cx="1285875" cy="1222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989E5679-11AA-4642-995C-B54233DF8B71}" type="slidenum">
              <a:rPr lang="en-US"/>
              <a:pPr/>
              <a:t>37</a:t>
            </a:fld>
            <a:endParaRPr lang="en-US"/>
          </a:p>
        </p:txBody>
      </p:sp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smtClean="0"/>
              <a:t>1. ÖLÇÜ ALETLERİ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49325" y="1981200"/>
            <a:ext cx="7623175" cy="4114800"/>
          </a:xfrm>
        </p:spPr>
        <p:txBody>
          <a:bodyPr/>
          <a:lstStyle/>
          <a:p>
            <a:r>
              <a:rPr lang="en-US" sz="2000" b="1" smtClean="0"/>
              <a:t>1.4.3. Sabite</a:t>
            </a:r>
          </a:p>
          <a:p>
            <a:pPr lvl="1"/>
            <a:r>
              <a:rPr lang="tr-TR" sz="2000" smtClean="0"/>
              <a:t>Sabite, ölçme sınırı değerinin skala taksimatındaki bölüntü sayısına oranıdır. Skala</a:t>
            </a:r>
            <a:r>
              <a:rPr lang="en-GB" sz="2000" smtClean="0"/>
              <a:t> </a:t>
            </a:r>
            <a:r>
              <a:rPr lang="tr-TR" sz="2000" smtClean="0"/>
              <a:t>taksimatı eşit aralıklı (lineer) olan ölçü aletlerinde bu oran sabit olup skala taksimatı eşit</a:t>
            </a:r>
            <a:r>
              <a:rPr lang="en-GB" sz="2000" smtClean="0"/>
              <a:t> </a:t>
            </a:r>
            <a:r>
              <a:rPr lang="tr-TR" sz="2000" smtClean="0"/>
              <a:t>aralıklı olmayan (logaritmik) ölçü aletlerinde bu oran sabit değildir.</a:t>
            </a:r>
            <a:endParaRPr lang="en-GB" sz="2000" smtClean="0"/>
          </a:p>
          <a:p>
            <a:pPr lvl="1"/>
            <a:r>
              <a:rPr lang="tr-TR" sz="2000" b="1" smtClean="0"/>
              <a:t>Sabite:</a:t>
            </a:r>
            <a:r>
              <a:rPr lang="en-GB" sz="2000" b="1" smtClean="0"/>
              <a:t> </a:t>
            </a:r>
          </a:p>
          <a:p>
            <a:pPr lvl="1"/>
            <a:r>
              <a:rPr lang="tr-TR" sz="2000" smtClean="0"/>
              <a:t>K= Aletin ölçme sınırı/ Alet skalasındaki bölüntü sayısı olarak ifade edilir.</a:t>
            </a:r>
          </a:p>
          <a:p>
            <a:pPr lvl="1"/>
            <a:endParaRPr lang="tr-TR" sz="2000" smtClean="0"/>
          </a:p>
          <a:p>
            <a:endParaRPr lang="en-US" sz="1800" smtClean="0"/>
          </a:p>
          <a:p>
            <a:endParaRPr lang="en-US" sz="1800" smtClean="0"/>
          </a:p>
        </p:txBody>
      </p:sp>
      <p:sp>
        <p:nvSpPr>
          <p:cNvPr id="43012" name="Slide Number Placeholder 5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F0886880-B30E-47C1-AC20-10E97103A9C1}" type="slidenum">
              <a:rPr lang="en-US" sz="1000"/>
              <a:pPr algn="r"/>
              <a:t>37</a:t>
            </a:fld>
            <a:endParaRPr lang="en-US"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AC84B4A8-E3AB-48D9-8E45-DFE82ADEF88F}" type="slidenum">
              <a:rPr lang="en-US"/>
              <a:pPr/>
              <a:t>38</a:t>
            </a:fld>
            <a:endParaRPr lang="en-US"/>
          </a:p>
        </p:txBody>
      </p:sp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smtClean="0"/>
              <a:t>1. ÖLÇÜ ALETLERİ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49325" y="1981200"/>
            <a:ext cx="7623175" cy="4114800"/>
          </a:xfrm>
        </p:spPr>
        <p:txBody>
          <a:bodyPr/>
          <a:lstStyle/>
          <a:p>
            <a:r>
              <a:rPr lang="en-US" sz="1800" b="1" smtClean="0"/>
              <a:t>1.4.4. Ölçme Sınırı</a:t>
            </a:r>
          </a:p>
          <a:p>
            <a:pPr lvl="1"/>
            <a:r>
              <a:rPr lang="tr-TR" sz="1800" smtClean="0"/>
              <a:t>Bir ölçü aletinin skala taksimatında gösterdiği en son değere, yani ölçebileceği en</a:t>
            </a:r>
            <a:r>
              <a:rPr lang="en-GB" sz="1800" smtClean="0"/>
              <a:t> </a:t>
            </a:r>
            <a:r>
              <a:rPr lang="tr-TR" sz="1800" smtClean="0"/>
              <a:t>büyük değere ölçme sınırı denir.</a:t>
            </a:r>
          </a:p>
          <a:p>
            <a:pPr>
              <a:buFontTx/>
              <a:buNone/>
            </a:pPr>
            <a:endParaRPr lang="en-US" sz="1800" smtClean="0"/>
          </a:p>
          <a:p>
            <a:r>
              <a:rPr lang="en-US" sz="1800" b="1" smtClean="0"/>
              <a:t>1.4.5. Ölçme Alanı</a:t>
            </a:r>
          </a:p>
          <a:p>
            <a:pPr lvl="1"/>
            <a:r>
              <a:rPr lang="tr-TR" sz="1800" smtClean="0"/>
              <a:t>Bir ölçü aletinin skalasında gösterdiği en küçük değer ile en büyük değer arasında</a:t>
            </a:r>
            <a:r>
              <a:rPr lang="en-GB" sz="1800" smtClean="0"/>
              <a:t> </a:t>
            </a:r>
            <a:r>
              <a:rPr lang="tr-TR" sz="1800" smtClean="0"/>
              <a:t>kalan kısım ölçü aletinin ölçme alanını verir. </a:t>
            </a:r>
            <a:endParaRPr lang="en-GB" sz="1800" smtClean="0"/>
          </a:p>
          <a:p>
            <a:pPr lvl="1"/>
            <a:r>
              <a:rPr lang="tr-TR" sz="1800" smtClean="0"/>
              <a:t>Örneğin, bir ampermetrenin skala</a:t>
            </a:r>
            <a:r>
              <a:rPr lang="en-GB" sz="1800" smtClean="0"/>
              <a:t> </a:t>
            </a:r>
            <a:r>
              <a:rPr lang="tr-TR" sz="1800" smtClean="0"/>
              <a:t>taksimatındaki en küçük değer sıfır, en büyük değer 5 A ise bu ampermetrenin ölçme alanı</a:t>
            </a:r>
            <a:r>
              <a:rPr lang="en-GB" sz="1800" smtClean="0"/>
              <a:t> </a:t>
            </a:r>
            <a:r>
              <a:rPr lang="tr-TR" sz="1800" smtClean="0"/>
              <a:t>(0 - 5 A) olarak ifade edilir. Bir voltmetrenin skala taksimatındaki en küçük değer -10 mV en</a:t>
            </a:r>
            <a:r>
              <a:rPr lang="en-GB" sz="1800" smtClean="0"/>
              <a:t> </a:t>
            </a:r>
            <a:r>
              <a:rPr lang="tr-TR" sz="1800" smtClean="0"/>
              <a:t>büyük değer +10 mV ise bu voltmetrenin ölçme alanı (-10 + 10 mV ) olarak ifade edilir.</a:t>
            </a:r>
          </a:p>
          <a:p>
            <a:pPr lvl="1"/>
            <a:endParaRPr lang="en-US" sz="1800" smtClean="0"/>
          </a:p>
          <a:p>
            <a:endParaRPr lang="en-US" sz="1800" smtClean="0"/>
          </a:p>
        </p:txBody>
      </p:sp>
      <p:sp>
        <p:nvSpPr>
          <p:cNvPr id="44036" name="Slide Number Placeholder 5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57F1EC3B-A77C-410A-B02C-B957322B4EB7}" type="slidenum">
              <a:rPr lang="en-US" sz="1000"/>
              <a:pPr algn="r"/>
              <a:t>38</a:t>
            </a:fld>
            <a:endParaRPr lang="en-US" sz="10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93818BA3-6DB0-4825-A167-C58F6EC4EF6F}" type="slidenum">
              <a:rPr lang="en-US"/>
              <a:pPr/>
              <a:t>39</a:t>
            </a:fld>
            <a:endParaRPr lang="en-US"/>
          </a:p>
        </p:txBody>
      </p:sp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smtClean="0"/>
              <a:t>1. ÖLÇÜ ALETLERİ</a:t>
            </a:r>
          </a:p>
        </p:txBody>
      </p:sp>
      <p:sp>
        <p:nvSpPr>
          <p:cNvPr id="45059" name="Slide Number Placeholder 4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465E1020-1312-494C-B1B4-0728E2D4E5C9}" type="slidenum">
              <a:rPr lang="en-US" sz="1000"/>
              <a:pPr algn="r"/>
              <a:t>39</a:t>
            </a:fld>
            <a:endParaRPr lang="en-US" sz="1000"/>
          </a:p>
        </p:txBody>
      </p:sp>
      <p:sp>
        <p:nvSpPr>
          <p:cNvPr id="45060" name="Text Placeholder 6"/>
          <p:cNvSpPr>
            <a:spLocks noGrp="1"/>
          </p:cNvSpPr>
          <p:nvPr>
            <p:ph type="body" sz="half" idx="1"/>
          </p:nvPr>
        </p:nvSpPr>
        <p:spPr>
          <a:xfrm>
            <a:off x="949325" y="1981200"/>
            <a:ext cx="7694613" cy="4114800"/>
          </a:xfrm>
        </p:spPr>
        <p:txBody>
          <a:bodyPr/>
          <a:lstStyle/>
          <a:p>
            <a:r>
              <a:rPr lang="tr-TR" sz="2000" b="1" smtClean="0"/>
              <a:t>1.4.6. Ölçü Aletlerinin Enerji Sarfiyatı</a:t>
            </a:r>
          </a:p>
          <a:p>
            <a:pPr lvl="1"/>
            <a:r>
              <a:rPr lang="tr-TR" sz="2000" smtClean="0"/>
              <a:t>Ölçü aletinin ölçme sınırına kadar sapma yapması</a:t>
            </a:r>
            <a:r>
              <a:rPr lang="en-GB" sz="2000" smtClean="0"/>
              <a:t> </a:t>
            </a:r>
            <a:r>
              <a:rPr lang="tr-TR" sz="2000" smtClean="0"/>
              <a:t>durumunda kendisi için harcadığı enerji miktarıdır. Bu enerji</a:t>
            </a:r>
            <a:r>
              <a:rPr lang="en-GB" sz="2000" smtClean="0"/>
              <a:t> </a:t>
            </a:r>
            <a:r>
              <a:rPr lang="tr-TR" sz="2000" smtClean="0"/>
              <a:t>miktarı analog ölçü aletinin az ya da çok sapmasına göre</a:t>
            </a:r>
            <a:r>
              <a:rPr lang="en-GB" sz="2000" smtClean="0"/>
              <a:t> </a:t>
            </a:r>
            <a:r>
              <a:rPr lang="tr-TR" sz="2000" smtClean="0"/>
              <a:t>değişir. </a:t>
            </a:r>
            <a:endParaRPr lang="en-GB" sz="2000" smtClean="0"/>
          </a:p>
          <a:p>
            <a:pPr lvl="1"/>
            <a:r>
              <a:rPr lang="tr-TR" sz="2000" smtClean="0"/>
              <a:t>Analog ölçü aletleri ölçüm için bağlantı yapılan</a:t>
            </a:r>
            <a:r>
              <a:rPr lang="en-GB" sz="2000" smtClean="0"/>
              <a:t> </a:t>
            </a:r>
            <a:r>
              <a:rPr lang="tr-TR" sz="2000" smtClean="0"/>
              <a:t>noktadan enerji sağlarken dijital ölçü aletleri güç sarfiyatını</a:t>
            </a:r>
            <a:r>
              <a:rPr lang="en-GB" sz="2000" smtClean="0"/>
              <a:t> </a:t>
            </a:r>
            <a:r>
              <a:rPr lang="tr-TR" sz="2000" smtClean="0"/>
              <a:t>kendi içerisinde bulunan pilden sağlarlar, şebekeden beslenen</a:t>
            </a:r>
            <a:r>
              <a:rPr lang="en-GB" sz="2000" smtClean="0"/>
              <a:t> </a:t>
            </a:r>
            <a:r>
              <a:rPr lang="tr-TR" sz="2000" smtClean="0"/>
              <a:t>dijital ölçü aletlerinde (pano tipi) ise sarfiyat ölçülen değere</a:t>
            </a:r>
            <a:r>
              <a:rPr lang="en-GB" sz="2000" smtClean="0"/>
              <a:t> </a:t>
            </a:r>
            <a:r>
              <a:rPr lang="tr-TR" sz="2000" smtClean="0"/>
              <a:t>göre değişmez, sabittir</a:t>
            </a:r>
            <a:r>
              <a:rPr lang="tr-TR" sz="2000" b="1" smtClean="0"/>
              <a:t>.</a:t>
            </a:r>
          </a:p>
          <a:p>
            <a:endParaRPr lang="tr-TR" smtClean="0"/>
          </a:p>
        </p:txBody>
      </p:sp>
      <p:pic>
        <p:nvPicPr>
          <p:cNvPr id="45061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00625" y="4929188"/>
            <a:ext cx="1643063" cy="1643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1BA6D5E6-4D57-4185-AD99-C43263BBA65B}" type="slidenum">
              <a:rPr lang="en-US"/>
              <a:pPr/>
              <a:t>40</a:t>
            </a:fld>
            <a:endParaRPr lang="en-US"/>
          </a:p>
        </p:txBody>
      </p:sp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smtClean="0"/>
              <a:t>1. ÖLÇÜ ALETLERİ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49325" y="1981200"/>
            <a:ext cx="7510463" cy="4114800"/>
          </a:xfrm>
        </p:spPr>
        <p:txBody>
          <a:bodyPr/>
          <a:lstStyle/>
          <a:p>
            <a:r>
              <a:rPr lang="en-US" sz="2000" b="1" smtClean="0"/>
              <a:t>1.4.7. Ölçü Aleti Şeçimi ve Kullanımı</a:t>
            </a:r>
            <a:endParaRPr lang="en-US" sz="2000" smtClean="0"/>
          </a:p>
          <a:p>
            <a:pPr lvl="1"/>
            <a:r>
              <a:rPr lang="tr-TR" sz="2000" smtClean="0"/>
              <a:t>Elektriksel büyüklüklerin ölçülmesinde kullanılacak ölçü aletlerinin özelliklerinin</a:t>
            </a:r>
            <a:r>
              <a:rPr lang="en-GB" sz="2000" smtClean="0"/>
              <a:t> </a:t>
            </a:r>
            <a:r>
              <a:rPr lang="tr-TR" sz="2000" smtClean="0"/>
              <a:t>yapılacak ölçüme uygun seçilmesi gerekir. Bu hem yapılacak ölçüm sonucunun doğru tespiti</a:t>
            </a:r>
            <a:r>
              <a:rPr lang="en-GB" sz="2000" smtClean="0"/>
              <a:t> </a:t>
            </a:r>
            <a:r>
              <a:rPr lang="tr-TR" sz="2000" smtClean="0"/>
              <a:t>hem de ölçü aletinin ve ölçüm yapanın güvenliği açısından önem taşımaktadır. Bu yüzden</a:t>
            </a:r>
            <a:r>
              <a:rPr lang="en-GB" sz="2000" smtClean="0"/>
              <a:t> </a:t>
            </a:r>
            <a:r>
              <a:rPr lang="tr-TR" sz="2000" smtClean="0"/>
              <a:t>bir elektriksel büyüklüğün ölçümü yapılmadan önce doğru ve uygun ölçü aleti seçilmelidir.</a:t>
            </a:r>
          </a:p>
          <a:p>
            <a:pPr lvl="1"/>
            <a:r>
              <a:rPr lang="tr-TR" sz="2000" smtClean="0"/>
              <a:t>Seçim yapılırken aşağıda belirtilen özellikler ve ölçülecek büyüklük ve ölçü aleti için uygun</a:t>
            </a:r>
            <a:r>
              <a:rPr lang="en-GB" sz="2000" smtClean="0"/>
              <a:t> </a:t>
            </a:r>
            <a:r>
              <a:rPr lang="tr-TR" sz="2000" smtClean="0"/>
              <a:t>olmalıdır.</a:t>
            </a:r>
          </a:p>
          <a:p>
            <a:endParaRPr lang="en-US" sz="2800" smtClean="0"/>
          </a:p>
        </p:txBody>
      </p:sp>
      <p:sp>
        <p:nvSpPr>
          <p:cNvPr id="46084" name="Slide Number Placeholder 4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6FF6A835-73FB-46A6-8759-7A762193F5D2}" type="slidenum">
              <a:rPr lang="en-US" sz="1000"/>
              <a:pPr algn="r"/>
              <a:t>40</a:t>
            </a:fld>
            <a:endParaRPr lang="en-US" sz="10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58B37617-B06D-4D25-8A1B-3CC27D045851}" type="slidenum">
              <a:rPr lang="en-US"/>
              <a:pPr/>
              <a:t>41</a:t>
            </a:fld>
            <a:endParaRPr lang="en-US"/>
          </a:p>
        </p:txBody>
      </p:sp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smtClean="0"/>
              <a:t>1. ÖLÇÜ ALETLERİ</a:t>
            </a:r>
          </a:p>
        </p:txBody>
      </p:sp>
      <p:sp>
        <p:nvSpPr>
          <p:cNvPr id="47107" name="Slide Number Placeholder 4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1FC59C3D-9A5D-4DC9-B6DF-0C214AC2C695}" type="slidenum">
              <a:rPr lang="en-US" sz="1000"/>
              <a:pPr algn="r"/>
              <a:t>41</a:t>
            </a:fld>
            <a:endParaRPr lang="en-US" sz="1000"/>
          </a:p>
        </p:txBody>
      </p:sp>
      <p:sp>
        <p:nvSpPr>
          <p:cNvPr id="47108" name="Content Placeholder 6"/>
          <p:cNvSpPr>
            <a:spLocks noGrp="1"/>
          </p:cNvSpPr>
          <p:nvPr>
            <p:ph sz="half" idx="1"/>
          </p:nvPr>
        </p:nvSpPr>
        <p:spPr>
          <a:xfrm>
            <a:off x="949325" y="1981200"/>
            <a:ext cx="7337425" cy="4114800"/>
          </a:xfrm>
        </p:spPr>
        <p:txBody>
          <a:bodyPr/>
          <a:lstStyle/>
          <a:p>
            <a:r>
              <a:rPr lang="tr-TR" sz="1800" smtClean="0"/>
              <a:t>Ölçü aleti, ölçüm yapılacak elektrik enerjisi çeşidine uygun olmalıdır. (AC-DC) Ölçü</a:t>
            </a:r>
            <a:r>
              <a:rPr lang="en-GB" sz="1800" smtClean="0"/>
              <a:t> </a:t>
            </a:r>
            <a:r>
              <a:rPr lang="tr-TR" sz="1800" smtClean="0"/>
              <a:t>aleti hem AC hem DC’ de ölçüm yapabiliyorsa mutlaka doğru kısım seçilmelidir.</a:t>
            </a:r>
          </a:p>
          <a:p>
            <a:r>
              <a:rPr lang="tr-TR" sz="1800" smtClean="0"/>
              <a:t> Ölçü aletinin ölçme sınırı ve ölçme alanı ölçülecek büyüklüğe uygun olmalıdır. Hiçbir</a:t>
            </a:r>
            <a:r>
              <a:rPr lang="en-GB" sz="1800" smtClean="0"/>
              <a:t> </a:t>
            </a:r>
            <a:r>
              <a:rPr lang="tr-TR" sz="1800" smtClean="0"/>
              <a:t>koşul altında ölçü aleti ile ölçme sınırını aşan ölçüm yapılmamalıdır. Bu hem ölçü</a:t>
            </a:r>
            <a:r>
              <a:rPr lang="en-GB" sz="1800" smtClean="0"/>
              <a:t> </a:t>
            </a:r>
            <a:r>
              <a:rPr lang="tr-TR" sz="1800" smtClean="0"/>
              <a:t>aleti hem de ölçüm yapan için sakıncalar oluşturabilir.</a:t>
            </a:r>
          </a:p>
          <a:p>
            <a:r>
              <a:rPr lang="tr-TR" sz="1800" smtClean="0"/>
              <a:t> Ölçüme başlamadan önce, ölçü aleti kademe seçimi gerektiriyorsa mutlaka</a:t>
            </a:r>
            <a:r>
              <a:rPr lang="en-GB" sz="1800" smtClean="0"/>
              <a:t> </a:t>
            </a:r>
            <a:r>
              <a:rPr lang="tr-TR" sz="1800" smtClean="0"/>
              <a:t>yapılmalıdır. Aksi takdirde kademe seçiminin yanlış yapılmasından kaynaklanan</a:t>
            </a:r>
            <a:r>
              <a:rPr lang="en-GB" sz="1800" smtClean="0"/>
              <a:t> </a:t>
            </a:r>
            <a:r>
              <a:rPr lang="tr-TR" sz="1800" smtClean="0"/>
              <a:t>arızalar ile karşılaşılabilir.</a:t>
            </a:r>
          </a:p>
          <a:p>
            <a:r>
              <a:rPr lang="tr-TR" sz="1800" smtClean="0"/>
              <a:t>Ölçü aletinin hassasiyeti yapılacak ölçüme uygun olmalıdır. Örneğin; bir transistörün</a:t>
            </a:r>
            <a:r>
              <a:rPr lang="en-GB" sz="1800" smtClean="0"/>
              <a:t> </a:t>
            </a:r>
            <a:r>
              <a:rPr lang="tr-TR" sz="1800" smtClean="0"/>
              <a:t>çekeceği akım ölçülürken kullanılan ampermetre ile bir elektrik motorunun çektiği</a:t>
            </a:r>
            <a:r>
              <a:rPr lang="en-GB" sz="1800" smtClean="0"/>
              <a:t> </a:t>
            </a:r>
            <a:r>
              <a:rPr lang="tr-TR" sz="1800" smtClean="0"/>
              <a:t>akım ölçülürken kullanılacak ölçü aletinin sahip olması gereken hassasiyet farklıdır.</a:t>
            </a:r>
          </a:p>
          <a:p>
            <a:endParaRPr lang="tr-TR" smtClean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F4137EAB-D749-4180-AA68-ACCE89E1E338}" type="slidenum">
              <a:rPr lang="en-US"/>
              <a:pPr/>
              <a:t>42</a:t>
            </a:fld>
            <a:endParaRPr lang="en-US"/>
          </a:p>
        </p:txBody>
      </p:sp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smtClean="0"/>
              <a:t>1. ÖLÇÜ ALETLERİ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49325" y="1981200"/>
            <a:ext cx="7367588" cy="4114800"/>
          </a:xfrm>
        </p:spPr>
        <p:txBody>
          <a:bodyPr/>
          <a:lstStyle/>
          <a:p>
            <a:r>
              <a:rPr lang="en-US" sz="2000" b="1" smtClean="0"/>
              <a:t>1.5. Analog Ölçü Aletleri</a:t>
            </a:r>
          </a:p>
          <a:p>
            <a:pPr lvl="1"/>
            <a:r>
              <a:rPr lang="tr-TR" sz="2000" smtClean="0"/>
              <a:t>Analog ölçü aletlerinin tanımından daha önce bahsetmiştik, şimdi bu ölçü aletlerinin</a:t>
            </a:r>
            <a:r>
              <a:rPr lang="en-GB" sz="2000" smtClean="0"/>
              <a:t> </a:t>
            </a:r>
            <a:r>
              <a:rPr lang="tr-TR" sz="2000" smtClean="0"/>
              <a:t>ortak özelliklerine ve yapılarına değinelim.</a:t>
            </a:r>
            <a:endParaRPr lang="tr-TR" sz="2000" b="1" smtClean="0"/>
          </a:p>
          <a:p>
            <a:pPr lvl="1"/>
            <a:r>
              <a:rPr lang="en-US" sz="2000" b="1" smtClean="0"/>
              <a:t>1.5.1. Analog Ölçü Aletlerinin Ortak Özellikleri</a:t>
            </a:r>
          </a:p>
          <a:p>
            <a:pPr lvl="2"/>
            <a:r>
              <a:rPr lang="tr-TR" sz="2000" smtClean="0"/>
              <a:t>Analog ölçü aletlerinin çok çeşitli yapı ve çalışma prensibine sahip olanları</a:t>
            </a:r>
            <a:r>
              <a:rPr lang="en-GB" sz="2000" smtClean="0"/>
              <a:t> </a:t>
            </a:r>
            <a:r>
              <a:rPr lang="tr-TR" sz="2000" smtClean="0"/>
              <a:t>bulunmakla birlikte bunların hepsinde de ortak olan özellikler bulunmaktadır.</a:t>
            </a:r>
          </a:p>
          <a:p>
            <a:pPr lvl="2"/>
            <a:endParaRPr lang="en-US" sz="1600" smtClean="0"/>
          </a:p>
          <a:p>
            <a:endParaRPr lang="en-US" sz="2000" smtClean="0"/>
          </a:p>
          <a:p>
            <a:endParaRPr lang="en-US" sz="2000" smtClean="0"/>
          </a:p>
        </p:txBody>
      </p:sp>
      <p:sp>
        <p:nvSpPr>
          <p:cNvPr id="48132" name="Slide Number Placeholder 5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AC9B5823-14E3-4878-B31F-CD6EE4E18DDA}" type="slidenum">
              <a:rPr lang="en-US" sz="1000"/>
              <a:pPr algn="r"/>
              <a:t>42</a:t>
            </a:fld>
            <a:endParaRPr lang="en-US"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A3513434-2AC9-46ED-ADF0-0B3ECA1D7D54}" type="slidenum">
              <a:rPr lang="en-US"/>
              <a:pPr/>
              <a:t>43</a:t>
            </a:fld>
            <a:endParaRPr lang="en-US"/>
          </a:p>
        </p:txBody>
      </p:sp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smtClean="0"/>
              <a:t>1. ÖLÇÜ ALETLERİ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49325" y="1981200"/>
            <a:ext cx="7510463" cy="4114800"/>
          </a:xfrm>
        </p:spPr>
        <p:txBody>
          <a:bodyPr/>
          <a:lstStyle/>
          <a:p>
            <a:r>
              <a:rPr lang="en-US" sz="1800" b="1" smtClean="0"/>
              <a:t>1.5.1.1. Çalıştırma (Saptırma) Kuvveti</a:t>
            </a:r>
            <a:endParaRPr lang="en-US" sz="1800" smtClean="0"/>
          </a:p>
          <a:p>
            <a:pPr lvl="1"/>
            <a:r>
              <a:rPr lang="tr-TR" sz="1800" smtClean="0"/>
              <a:t>Ölçü aleti devreye bağlandığında aletin ibresi bulunduğu yerden ileriye doğru sapar.</a:t>
            </a:r>
          </a:p>
          <a:p>
            <a:pPr lvl="1"/>
            <a:r>
              <a:rPr lang="tr-TR" sz="1800" smtClean="0"/>
              <a:t>Sapmayı gerçekleştiren bu kuvvete çalıştırma kuvveti denir.Saptırma kuvvetini elektrik</a:t>
            </a:r>
            <a:r>
              <a:rPr lang="en-GB" sz="1800" b="1" smtClean="0"/>
              <a:t> </a:t>
            </a:r>
            <a:r>
              <a:rPr lang="tr-TR" sz="1800" smtClean="0"/>
              <a:t>akımı meydana getirir. Saptırma kuvveti, ölçü aletinin ibresini skala taksimatı üzerinde</a:t>
            </a:r>
            <a:r>
              <a:rPr lang="en-GB" sz="1800" smtClean="0"/>
              <a:t> </a:t>
            </a:r>
            <a:r>
              <a:rPr lang="tr-TR" sz="1800" smtClean="0"/>
              <a:t>hareket ettiren kuvvettir. </a:t>
            </a:r>
            <a:endParaRPr lang="en-GB" sz="1800" smtClean="0"/>
          </a:p>
          <a:p>
            <a:pPr lvl="1"/>
            <a:r>
              <a:rPr lang="tr-TR" sz="1800" smtClean="0"/>
              <a:t>Çalıştırma kuvveti, ölçü aletinin hareketli kısmında meydana gelen</a:t>
            </a:r>
            <a:r>
              <a:rPr lang="en-GB" sz="1800" smtClean="0"/>
              <a:t> </a:t>
            </a:r>
            <a:r>
              <a:rPr lang="tr-TR" sz="1800" smtClean="0"/>
              <a:t>sürtünme kuvvetini yenip ölçüm miktarına göre skalada gerekli sapmayı gerçekleştirecek</a:t>
            </a:r>
            <a:r>
              <a:rPr lang="en-GB" sz="1800" smtClean="0"/>
              <a:t> </a:t>
            </a:r>
            <a:r>
              <a:rPr lang="tr-TR" sz="1800" smtClean="0"/>
              <a:t>kadar olmalıdır. Bu yüzden ölçü aletinin hareketli mekanizmasındaki sürtünme kuvveti çok</a:t>
            </a:r>
            <a:r>
              <a:rPr lang="en-GB" sz="1800" smtClean="0"/>
              <a:t> </a:t>
            </a:r>
            <a:r>
              <a:rPr lang="tr-TR" sz="1800" smtClean="0"/>
              <a:t>az olmalıdır. Saptırma kuvveti, aletin hareketli kısmının ağırlığı ile doğru orantılıdır. Ölçü</a:t>
            </a:r>
            <a:r>
              <a:rPr lang="en-GB" sz="1800" smtClean="0"/>
              <a:t> </a:t>
            </a:r>
            <a:r>
              <a:rPr lang="tr-TR" sz="1800" smtClean="0"/>
              <a:t>aleti ne kadar küçük ise çalıştırma kuvvetini meydana getirecek akım miktarı o kadar azalır.</a:t>
            </a:r>
          </a:p>
          <a:p>
            <a:pPr lvl="1"/>
            <a:r>
              <a:rPr lang="tr-TR" sz="1800" smtClean="0"/>
              <a:t>Bu sayede aletin ölçüm yaparken harcadığı enerji de o kadar küçülmüş olur.</a:t>
            </a:r>
          </a:p>
          <a:p>
            <a:pPr lvl="1"/>
            <a:endParaRPr lang="en-US" sz="1800" smtClean="0"/>
          </a:p>
        </p:txBody>
      </p:sp>
      <p:sp>
        <p:nvSpPr>
          <p:cNvPr id="49156" name="Slide Number Placeholder 4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AAB2BB7C-6652-4416-9440-5A405D740CCE}" type="slidenum">
              <a:rPr lang="en-US" sz="1000"/>
              <a:pPr algn="r"/>
              <a:t>43</a:t>
            </a:fld>
            <a:endParaRPr lang="en-US"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60DF0674-9B58-4AA7-8A58-D71451137110}" type="slidenum">
              <a:rPr lang="en-US"/>
              <a:pPr/>
              <a:t>44</a:t>
            </a:fld>
            <a:endParaRPr lang="en-US"/>
          </a:p>
        </p:txBody>
      </p:sp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smtClean="0"/>
              <a:t>1. ÖLÇÜ ALETLERİ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49325" y="1981200"/>
            <a:ext cx="7510463" cy="4114800"/>
          </a:xfrm>
        </p:spPr>
        <p:txBody>
          <a:bodyPr/>
          <a:lstStyle/>
          <a:p>
            <a:r>
              <a:rPr lang="en-US" sz="1800" b="1" smtClean="0"/>
              <a:t>1.5.1.2. Kontrol Kuvveti</a:t>
            </a:r>
            <a:endParaRPr lang="en-US" sz="1800" smtClean="0"/>
          </a:p>
          <a:p>
            <a:pPr lvl="1"/>
            <a:r>
              <a:rPr lang="tr-TR" sz="1800" smtClean="0"/>
              <a:t>Çalıştırma kuvvetine karşı koyan başka bir kuvvet bulunmazsa herhangi bir değer</a:t>
            </a:r>
            <a:r>
              <a:rPr lang="en-GB" sz="1800" smtClean="0"/>
              <a:t> </a:t>
            </a:r>
            <a:r>
              <a:rPr lang="tr-TR" sz="1800" smtClean="0"/>
              <a:t>ölçüldüğünde meydana gelecek çalıştırma kuvveti sürtünmeyi yendikten sonra ibrenin sona</a:t>
            </a:r>
            <a:r>
              <a:rPr lang="en-GB" sz="1800" smtClean="0"/>
              <a:t> </a:t>
            </a:r>
            <a:r>
              <a:rPr lang="tr-TR" sz="1800" smtClean="0"/>
              <a:t>kadar sapmasına neden olur. </a:t>
            </a:r>
            <a:endParaRPr lang="en-GB" sz="1800" smtClean="0"/>
          </a:p>
          <a:p>
            <a:pPr lvl="1"/>
            <a:r>
              <a:rPr lang="tr-TR" sz="1800" smtClean="0"/>
              <a:t>Bu sebepten dolayı ölçü aletlerinde kontrol kuvveti ile</a:t>
            </a:r>
            <a:r>
              <a:rPr lang="en-GB" sz="1800" smtClean="0"/>
              <a:t> </a:t>
            </a:r>
            <a:r>
              <a:rPr lang="tr-TR" sz="1800" smtClean="0"/>
              <a:t>çalıştırma kuvveti sınırlandırılır. Çalıştırma ve kontrol kuvvetinin birbirine eşit olduğu anda</a:t>
            </a:r>
            <a:r>
              <a:rPr lang="en-GB" sz="1800" smtClean="0"/>
              <a:t> </a:t>
            </a:r>
            <a:r>
              <a:rPr lang="tr-TR" sz="1800" smtClean="0"/>
              <a:t>ibre, ölçülen değerin ifade edildiği noktada durmuş olur.</a:t>
            </a:r>
          </a:p>
          <a:p>
            <a:pPr lvl="1"/>
            <a:r>
              <a:rPr lang="tr-TR" sz="1800" smtClean="0"/>
              <a:t>Ölçü aletlerinde kontrol kuvveti iki şekilde sağlanır.</a:t>
            </a:r>
          </a:p>
          <a:p>
            <a:endParaRPr lang="en-US" sz="2800" smtClean="0"/>
          </a:p>
        </p:txBody>
      </p:sp>
      <p:sp>
        <p:nvSpPr>
          <p:cNvPr id="50180" name="Slide Number Placeholder 4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ECA08B21-A9D5-4CBD-A89A-0713DC3B467D}" type="slidenum">
              <a:rPr lang="en-US" sz="1000"/>
              <a:pPr algn="r"/>
              <a:t>44</a:t>
            </a:fld>
            <a:endParaRPr lang="en-US" sz="1000"/>
          </a:p>
        </p:txBody>
      </p:sp>
      <p:pic>
        <p:nvPicPr>
          <p:cNvPr id="50181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0" y="5143500"/>
            <a:ext cx="3433763" cy="1285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0182" name="Rectangle 7"/>
          <p:cNvSpPr>
            <a:spLocks noChangeArrowheads="1"/>
          </p:cNvSpPr>
          <p:nvPr/>
        </p:nvSpPr>
        <p:spPr bwMode="auto">
          <a:xfrm>
            <a:off x="5643563" y="5362575"/>
            <a:ext cx="3000375" cy="92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tr-TR" b="1"/>
              <a:t>Şekil 1.1: Kontrol yayı ve karşı ağırlıkla kontrol kuvveti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0B1D83D4-6386-4002-95F6-16D22CE794EA}" type="slidenum">
              <a:rPr lang="en-US"/>
              <a:pPr/>
              <a:t>45</a:t>
            </a:fld>
            <a:endParaRPr lang="en-US"/>
          </a:p>
        </p:txBody>
      </p:sp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smtClean="0"/>
              <a:t>1. ÖLÇÜ ALETLERİ</a:t>
            </a:r>
          </a:p>
        </p:txBody>
      </p:sp>
      <p:sp>
        <p:nvSpPr>
          <p:cNvPr id="51203" name="Slide Number Placeholder 3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103294DC-3135-4DCC-82BA-056B1800F844}" type="slidenum">
              <a:rPr lang="en-US" sz="1000"/>
              <a:pPr algn="r"/>
              <a:t>45</a:t>
            </a:fld>
            <a:endParaRPr lang="en-US" sz="1000"/>
          </a:p>
        </p:txBody>
      </p:sp>
      <p:sp>
        <p:nvSpPr>
          <p:cNvPr id="51204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sz="1800" b="1" smtClean="0"/>
              <a:t>Yay ile Kontrol Kuvveti: </a:t>
            </a:r>
            <a:r>
              <a:rPr lang="tr-TR" sz="1600" smtClean="0"/>
              <a:t>Genel olarak spiral şeklinde sarılmış yaylar kullanılır</a:t>
            </a:r>
            <a:r>
              <a:rPr lang="tr-TR" sz="1600" b="1" smtClean="0"/>
              <a:t>.</a:t>
            </a:r>
            <a:r>
              <a:rPr lang="en-GB" sz="1600" b="1" smtClean="0"/>
              <a:t> </a:t>
            </a:r>
            <a:r>
              <a:rPr lang="tr-TR" sz="1600" smtClean="0"/>
              <a:t>Spiral yayın bir ucu hareketli kısma; bir ucu ise sabit kısma tutturulur. Çalıştırma</a:t>
            </a:r>
            <a:r>
              <a:rPr lang="en-GB" sz="1600" smtClean="0"/>
              <a:t> </a:t>
            </a:r>
            <a:r>
              <a:rPr lang="tr-TR" sz="1600" smtClean="0"/>
              <a:t>kuvvetinin etkisi ile hareketli kısım dönünce yay kurulur ve yayın sıkışması ile</a:t>
            </a:r>
            <a:r>
              <a:rPr lang="en-GB" sz="1600" smtClean="0"/>
              <a:t> </a:t>
            </a:r>
            <a:r>
              <a:rPr lang="tr-TR" sz="1600" smtClean="0"/>
              <a:t>meydana gelen kuvvet ibreyi frenler, aynı zamanda yayda meydana gelen bu kuvvet</a:t>
            </a:r>
            <a:r>
              <a:rPr lang="en-GB" sz="1600" smtClean="0"/>
              <a:t> </a:t>
            </a:r>
            <a:r>
              <a:rPr lang="tr-TR" sz="1600" smtClean="0"/>
              <a:t>ölçme işlemi tamamlandığında ibrenin sıfıra dönmesini sağlar. Kontrol yayları ibrenin</a:t>
            </a:r>
            <a:r>
              <a:rPr lang="en-GB" sz="1600" smtClean="0"/>
              <a:t> </a:t>
            </a:r>
            <a:r>
              <a:rPr lang="tr-TR" sz="1600" smtClean="0"/>
              <a:t>dönme yönüne ters olacak şekilde monte edilirler</a:t>
            </a:r>
            <a:r>
              <a:rPr lang="tr-TR" sz="1800" smtClean="0"/>
              <a:t>.</a:t>
            </a:r>
          </a:p>
          <a:p>
            <a:r>
              <a:rPr lang="tr-TR" sz="1800" b="1" smtClean="0"/>
              <a:t>Karşı Ağırlık ile Kontrol Kuvveti: </a:t>
            </a:r>
            <a:r>
              <a:rPr lang="tr-TR" sz="1600" smtClean="0"/>
              <a:t>Ölçü aletlerinin bazılarında kontrol kuvveti</a:t>
            </a:r>
            <a:r>
              <a:rPr lang="en-GB" sz="1600" smtClean="0"/>
              <a:t> </a:t>
            </a:r>
            <a:r>
              <a:rPr lang="tr-TR" sz="1600" smtClean="0"/>
              <a:t>küçük ağırlıklar ile sağlanır. Bu ağırlıklar genellikle ibrenin arka kısmına doğru ve</a:t>
            </a:r>
            <a:r>
              <a:rPr lang="en-GB" sz="1600" smtClean="0"/>
              <a:t> </a:t>
            </a:r>
            <a:r>
              <a:rPr lang="tr-TR" sz="1600" smtClean="0"/>
              <a:t>birbirine dik gelecek şekilde yerleştirilir. İbre sıfır konumunda iken ağırlıkların hiçbir</a:t>
            </a:r>
            <a:r>
              <a:rPr lang="en-GB" sz="1600" smtClean="0"/>
              <a:t> </a:t>
            </a:r>
            <a:r>
              <a:rPr lang="tr-TR" sz="1600" smtClean="0"/>
              <a:t>etkisi yoktur, çalıştırma kuvveti ile ibre saptığında denge noktası değişen ağırlıklar</a:t>
            </a:r>
            <a:r>
              <a:rPr lang="en-GB" sz="1600" smtClean="0"/>
              <a:t> </a:t>
            </a:r>
            <a:r>
              <a:rPr lang="tr-TR" sz="1600" smtClean="0"/>
              <a:t>kontrol kuvveti görevi yaparlar. Bu teknikte kontrol kuvveti sapma açısı ile doğru</a:t>
            </a:r>
            <a:r>
              <a:rPr lang="en-GB" sz="1600" smtClean="0"/>
              <a:t> </a:t>
            </a:r>
            <a:r>
              <a:rPr lang="tr-TR" sz="1600" smtClean="0"/>
              <a:t>orantılı olduğundan sapma az iken kontrol kuvveti az, sapma çok iken kontrol kuvveti</a:t>
            </a:r>
            <a:r>
              <a:rPr lang="en-GB" sz="1600" smtClean="0"/>
              <a:t> </a:t>
            </a:r>
            <a:r>
              <a:rPr lang="tr-TR" sz="1600" smtClean="0"/>
              <a:t>çoktur. Bu yüzden logaritmik skala taksimatına sahip ölçü aletlerinde daha çok</a:t>
            </a:r>
            <a:r>
              <a:rPr lang="en-GB" sz="1600" smtClean="0"/>
              <a:t> </a:t>
            </a:r>
            <a:r>
              <a:rPr lang="tr-TR" sz="1600" smtClean="0"/>
              <a:t>kullanılır. Bu ağırlıklar vidalı yapılarak kalibrasyon için ağırlıkların açılarının</a:t>
            </a:r>
            <a:r>
              <a:rPr lang="en-GB" sz="1600" smtClean="0"/>
              <a:t> </a:t>
            </a:r>
            <a:r>
              <a:rPr lang="tr-TR" sz="1600" smtClean="0"/>
              <a:t>ayarlanması ve ölçü aletlerinde meydana gelen ölçme hatalarının azaltılması sağlanır.</a:t>
            </a:r>
          </a:p>
          <a:p>
            <a:endParaRPr lang="tr-TR" sz="18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237B06B8-3EFA-40BE-91EA-3AD1D6DB3B29}" type="slidenum">
              <a:rPr lang="en-US"/>
              <a:pPr/>
              <a:t>46</a:t>
            </a:fld>
            <a:endParaRPr lang="en-US"/>
          </a:p>
        </p:txBody>
      </p:sp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smtClean="0"/>
              <a:t>1. ÖLÇÜ ALETLERİ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49325" y="1981200"/>
            <a:ext cx="7583488" cy="4114800"/>
          </a:xfrm>
        </p:spPr>
        <p:txBody>
          <a:bodyPr/>
          <a:lstStyle/>
          <a:p>
            <a:r>
              <a:rPr lang="en-US" sz="1800" b="1" smtClean="0"/>
              <a:t>1.5.1.3. Amortisör Kuvveti</a:t>
            </a:r>
          </a:p>
          <a:p>
            <a:pPr lvl="1"/>
            <a:r>
              <a:rPr lang="tr-TR" sz="1800" smtClean="0"/>
              <a:t>Herhangi bir elektriksel büyüklük ölçüldüğünde ölçü aletinin ibresi meydana gelen</a:t>
            </a:r>
            <a:r>
              <a:rPr lang="en-GB" sz="1800" smtClean="0"/>
              <a:t> </a:t>
            </a:r>
            <a:r>
              <a:rPr lang="tr-TR" sz="1800" smtClean="0"/>
              <a:t>çalıştırma kuvveti etkisi ile sapar. Bu esnada meydana gelen kontrol kuvveti bu sapmayı</a:t>
            </a:r>
            <a:r>
              <a:rPr lang="en-GB" sz="1800" smtClean="0"/>
              <a:t> </a:t>
            </a:r>
            <a:r>
              <a:rPr lang="tr-TR" sz="1800" smtClean="0"/>
              <a:t>engellemek için devreye girdiğinden, ibre bir süre bu iki kuvvet arasında gidip gelir. Bu</a:t>
            </a:r>
            <a:r>
              <a:rPr lang="en-GB" sz="1800" smtClean="0"/>
              <a:t> </a:t>
            </a:r>
            <a:r>
              <a:rPr lang="tr-TR" sz="1800" smtClean="0"/>
              <a:t>durum ibrenin salınım yaparak ölçme süresinin uzamasına ve zaman kaybına neden olur.</a:t>
            </a:r>
            <a:r>
              <a:rPr lang="en-GB" sz="1800" smtClean="0"/>
              <a:t> </a:t>
            </a:r>
            <a:r>
              <a:rPr lang="tr-TR" sz="1800" smtClean="0"/>
              <a:t>Bunun önüne geçmek için ölçü aletlerinde ibreyi frenleyen ve salınım yapmasını önleyen</a:t>
            </a:r>
            <a:r>
              <a:rPr lang="en-GB" sz="1800" smtClean="0"/>
              <a:t> </a:t>
            </a:r>
            <a:r>
              <a:rPr lang="tr-TR" sz="1800" smtClean="0"/>
              <a:t>amortisör kuvvetleri oluşturulur. </a:t>
            </a:r>
            <a:endParaRPr lang="en-GB" sz="1800" smtClean="0"/>
          </a:p>
          <a:p>
            <a:pPr lvl="1"/>
            <a:r>
              <a:rPr lang="tr-TR" sz="1800" smtClean="0"/>
              <a:t>Amortisör kuvveti ibre hareket ederken kendini gösterip</a:t>
            </a:r>
            <a:r>
              <a:rPr lang="en-GB" sz="1800" smtClean="0"/>
              <a:t> </a:t>
            </a:r>
            <a:r>
              <a:rPr lang="tr-TR" sz="1800" smtClean="0"/>
              <a:t>hareket bittiğinde etkisi ortadan kalkan bir kuvvet olup değişik şekillerde oluşturulur.</a:t>
            </a:r>
          </a:p>
          <a:p>
            <a:pPr lvl="2"/>
            <a:r>
              <a:rPr lang="tr-TR" sz="1800" smtClean="0"/>
              <a:t> Havalı amortisör</a:t>
            </a:r>
          </a:p>
          <a:p>
            <a:pPr lvl="2"/>
            <a:r>
              <a:rPr lang="tr-TR" sz="1800" smtClean="0"/>
              <a:t> Sıvılı amortisör</a:t>
            </a:r>
          </a:p>
          <a:p>
            <a:pPr lvl="2"/>
            <a:r>
              <a:rPr lang="tr-TR" sz="1800" smtClean="0"/>
              <a:t> Elektromanyetik amortisör</a:t>
            </a:r>
          </a:p>
          <a:p>
            <a:endParaRPr lang="en-US" sz="1800" smtClean="0"/>
          </a:p>
          <a:p>
            <a:endParaRPr lang="en-US" sz="1400" smtClean="0"/>
          </a:p>
        </p:txBody>
      </p:sp>
      <p:sp>
        <p:nvSpPr>
          <p:cNvPr id="52228" name="Slide Number Placeholder 4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2FEEEB6B-0D76-4F36-AC95-BA8FEC8B2999}" type="slidenum">
              <a:rPr lang="en-US" sz="1000"/>
              <a:pPr algn="r"/>
              <a:t>46</a:t>
            </a:fld>
            <a:endParaRPr lang="en-US" sz="100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797178E8-7F68-48A2-8688-A06AD78BC64F}" type="slidenum">
              <a:rPr lang="en-US"/>
              <a:pPr/>
              <a:t>47</a:t>
            </a:fld>
            <a:endParaRPr lang="en-US"/>
          </a:p>
        </p:txBody>
      </p:sp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smtClean="0"/>
              <a:t>1. ÖLÇÜ ALETLERİ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49325" y="1981200"/>
            <a:ext cx="7510463" cy="4114800"/>
          </a:xfrm>
        </p:spPr>
        <p:txBody>
          <a:bodyPr/>
          <a:lstStyle/>
          <a:p>
            <a:pPr lvl="1"/>
            <a:r>
              <a:rPr lang="en-US" sz="1800" b="1" smtClean="0"/>
              <a:t>1.5.1.4. Atalet Momenti</a:t>
            </a:r>
          </a:p>
          <a:p>
            <a:pPr lvl="2"/>
            <a:r>
              <a:rPr lang="tr-TR" sz="1800" smtClean="0"/>
              <a:t>Ölçü aleti ölçüm yapılacak noktaya bağlandığı anda, ölçülen büyüklüğün etkisi ile</a:t>
            </a:r>
            <a:r>
              <a:rPr lang="en-GB" sz="1800" smtClean="0"/>
              <a:t> </a:t>
            </a:r>
            <a:r>
              <a:rPr lang="tr-TR" sz="1800" smtClean="0"/>
              <a:t>ölçü aletinin hareketli kısmı ani bir hareketlenme kazanır ve çoğu zaman ibre göstermesi</a:t>
            </a:r>
            <a:r>
              <a:rPr lang="en-GB" sz="1800" smtClean="0"/>
              <a:t> </a:t>
            </a:r>
            <a:r>
              <a:rPr lang="tr-TR" sz="1800" smtClean="0"/>
              <a:t>gereken değerden ileriye doğru sapar. İşte bu ilk anda meydana gelen momente atalet</a:t>
            </a:r>
            <a:r>
              <a:rPr lang="en-GB" sz="1800" smtClean="0"/>
              <a:t> </a:t>
            </a:r>
            <a:r>
              <a:rPr lang="tr-TR" sz="1800" smtClean="0"/>
              <a:t>momenti denir. Atalet momenti, daha sonra amortisör ve kontrol kuvveti tarafından</a:t>
            </a:r>
            <a:r>
              <a:rPr lang="en-GB" sz="1800" smtClean="0"/>
              <a:t> </a:t>
            </a:r>
            <a:r>
              <a:rPr lang="tr-TR" sz="1800" smtClean="0"/>
              <a:t>dengelenir ve ibre, göstermesi gereken değerde kalır. İbrenin dengelendiği ve göstermesi</a:t>
            </a:r>
            <a:r>
              <a:rPr lang="en-GB" sz="1800" smtClean="0"/>
              <a:t> </a:t>
            </a:r>
            <a:r>
              <a:rPr lang="tr-TR" sz="1800" smtClean="0"/>
              <a:t>gereken değerde kaldığı bu kuvvet değeri de çalıştırma kuvveti olarak nitelendirilir.</a:t>
            </a:r>
            <a:endParaRPr lang="en-GB" sz="1800" smtClean="0"/>
          </a:p>
          <a:p>
            <a:pPr lvl="2"/>
            <a:endParaRPr lang="tr-TR" sz="1800" b="1" smtClean="0"/>
          </a:p>
          <a:p>
            <a:r>
              <a:rPr lang="en-US" sz="1800" b="1" smtClean="0"/>
              <a:t>1.5.2. Analog Ölçü Aletlerinin Mekanik Kısımları</a:t>
            </a:r>
            <a:endParaRPr lang="en-US" sz="1800" smtClean="0"/>
          </a:p>
          <a:p>
            <a:r>
              <a:rPr lang="tr-TR" sz="1800" smtClean="0"/>
              <a:t>Analog ölçü aletlerinin mekanik kısımları genel olarak; daimi mıknatıslılar skala</a:t>
            </a:r>
            <a:r>
              <a:rPr lang="en-GB" sz="1800" smtClean="0"/>
              <a:t> </a:t>
            </a:r>
            <a:r>
              <a:rPr lang="tr-TR" sz="1800" smtClean="0"/>
              <a:t>taksimatı ve ibreler, sıfır ayar vidası ve ibrelerden oluşmaktadır.</a:t>
            </a:r>
          </a:p>
          <a:p>
            <a:pPr lvl="1"/>
            <a:endParaRPr lang="en-US" sz="1000" smtClean="0"/>
          </a:p>
        </p:txBody>
      </p:sp>
      <p:sp>
        <p:nvSpPr>
          <p:cNvPr id="57348" name="Slide Number Placeholder 5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D0855DFC-B95E-4A6F-A890-A73F660A9CF1}" type="slidenum">
              <a:rPr lang="en-US" sz="1000"/>
              <a:pPr algn="r"/>
              <a:t>47</a:t>
            </a:fld>
            <a:endParaRPr lang="en-US"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32030622-4859-4365-B032-4E7B40B4F345}" type="slidenum">
              <a:rPr lang="en-US"/>
              <a:pPr/>
              <a:t>48</a:t>
            </a:fld>
            <a:endParaRPr lang="en-US"/>
          </a:p>
        </p:txBody>
      </p:sp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smtClean="0"/>
              <a:t>1. ÖLÇÜ ALETLERİ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49325" y="1981200"/>
            <a:ext cx="7439025" cy="4114800"/>
          </a:xfrm>
        </p:spPr>
        <p:txBody>
          <a:bodyPr/>
          <a:lstStyle/>
          <a:p>
            <a:r>
              <a:rPr lang="en-US" sz="1800" b="1" smtClean="0"/>
              <a:t>1.5.2.1. Daimi Mıknatıslar</a:t>
            </a:r>
          </a:p>
          <a:p>
            <a:pPr lvl="1"/>
            <a:r>
              <a:rPr lang="tr-TR" sz="1800" smtClean="0"/>
              <a:t>Elektrik ölçü aletlerinde kullanılan mıknatıslar çok yer kaplamakta ve ağırlık</a:t>
            </a:r>
            <a:r>
              <a:rPr lang="en-GB" sz="1800" smtClean="0"/>
              <a:t> </a:t>
            </a:r>
            <a:r>
              <a:rPr lang="tr-TR" sz="1800" smtClean="0"/>
              <a:t>yapmaktadır. Bu nedenle ölçü aletlerinde kullanılacak mıknatısların küçük ebatta ve hafif</a:t>
            </a:r>
            <a:r>
              <a:rPr lang="en-GB" sz="1800" smtClean="0"/>
              <a:t> </a:t>
            </a:r>
            <a:r>
              <a:rPr lang="tr-TR" sz="1800" smtClean="0"/>
              <a:t>olması ölçü aletlerinin ağırlığının azalmasına sebep olmaktadır. Daimi mıknatıs yapımında</a:t>
            </a:r>
            <a:r>
              <a:rPr lang="en-GB" sz="1800" smtClean="0"/>
              <a:t> </a:t>
            </a:r>
            <a:r>
              <a:rPr lang="tr-TR" sz="1800" smtClean="0"/>
              <a:t>genellikle volframlı çelikler, kobaltlı çelikler ve alüminyum nikelli çelikler kullanılır.</a:t>
            </a:r>
          </a:p>
          <a:p>
            <a:pPr lvl="1"/>
            <a:r>
              <a:rPr lang="tr-TR" sz="1800" smtClean="0"/>
              <a:t>Alüminyum nikelli çelikten yapılan daimi mıknatıslar daha kuvvetli bir manyetik alan</a:t>
            </a:r>
            <a:r>
              <a:rPr lang="en-GB" sz="1800" smtClean="0"/>
              <a:t> </a:t>
            </a:r>
            <a:r>
              <a:rPr lang="tr-TR" sz="1800" smtClean="0"/>
              <a:t>oluşturur.</a:t>
            </a:r>
          </a:p>
          <a:p>
            <a:pPr lvl="1"/>
            <a:endParaRPr lang="en-US" sz="1000" smtClean="0"/>
          </a:p>
          <a:p>
            <a:endParaRPr lang="en-US" sz="1400" smtClean="0"/>
          </a:p>
        </p:txBody>
      </p:sp>
      <p:sp>
        <p:nvSpPr>
          <p:cNvPr id="58372" name="Slide Number Placeholder 4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E9EADE54-4B75-4955-8A1F-DB23F97481B9}" type="slidenum">
              <a:rPr lang="en-US" sz="1000"/>
              <a:pPr algn="r"/>
              <a:t>48</a:t>
            </a:fld>
            <a:endParaRPr lang="en-US"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B878C159-382D-4876-A103-901DB8E2F291}" type="slidenum">
              <a:rPr lang="en-US"/>
              <a:pPr/>
              <a:t>49</a:t>
            </a:fld>
            <a:endParaRPr lang="en-US"/>
          </a:p>
        </p:txBody>
      </p:sp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smtClean="0"/>
              <a:t>1. ÖLÇÜ ALETLERİ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49325" y="1981200"/>
            <a:ext cx="7551738" cy="4114800"/>
          </a:xfrm>
        </p:spPr>
        <p:txBody>
          <a:bodyPr/>
          <a:lstStyle/>
          <a:p>
            <a:r>
              <a:rPr lang="en-US" sz="1800" b="1" smtClean="0"/>
              <a:t>1.5.2.2. Skala Taksimatı ve İbreler</a:t>
            </a:r>
            <a:endParaRPr lang="en-US" sz="1800" smtClean="0"/>
          </a:p>
          <a:p>
            <a:endParaRPr lang="en-US" sz="2800" smtClean="0"/>
          </a:p>
        </p:txBody>
      </p:sp>
      <p:pic>
        <p:nvPicPr>
          <p:cNvPr id="59396" name="Picture 4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1231900" y="2286000"/>
            <a:ext cx="6697663" cy="4187825"/>
          </a:xfrm>
        </p:spPr>
      </p:pic>
      <p:sp>
        <p:nvSpPr>
          <p:cNvPr id="59397" name="Slide Number Placeholder 4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017F506D-3769-4FBF-B908-13753E791511}" type="slidenum">
              <a:rPr lang="en-US" sz="1000"/>
              <a:pPr algn="r"/>
              <a:t>49</a:t>
            </a:fld>
            <a:endParaRPr lang="en-US"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3467A882-5C7A-41D5-8D2E-4A092C77B9CF}" type="slidenum">
              <a:rPr lang="en-US"/>
              <a:pPr/>
              <a:t>50</a:t>
            </a:fld>
            <a:endParaRPr lang="en-US"/>
          </a:p>
        </p:txBody>
      </p:sp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smtClean="0"/>
              <a:t>1. ÖLÇÜ ALETLERİ</a:t>
            </a:r>
          </a:p>
        </p:txBody>
      </p:sp>
      <p:sp>
        <p:nvSpPr>
          <p:cNvPr id="60419" name="Slide Number Placeholder 3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41159009-23EC-4F3B-99FA-5BFB071E5AA4}" type="slidenum">
              <a:rPr lang="en-US" sz="1000"/>
              <a:pPr algn="r"/>
              <a:t>50</a:t>
            </a:fld>
            <a:endParaRPr lang="en-US" sz="1000"/>
          </a:p>
        </p:txBody>
      </p:sp>
      <p:sp>
        <p:nvSpPr>
          <p:cNvPr id="60420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sz="2000" smtClean="0"/>
              <a:t>Analog ölçü aletlerinde, ölçülen büyüklüğü bir ibre ve kadran taksimatı belirler.</a:t>
            </a:r>
          </a:p>
          <a:p>
            <a:r>
              <a:rPr lang="tr-TR" sz="2000" smtClean="0"/>
              <a:t>Ölçülen büyüklüğün miktarı kadar sapma yapan ibre, skala üzerinde bir yerde durur. İbrenin</a:t>
            </a:r>
            <a:r>
              <a:rPr lang="en-GB" sz="2000" smtClean="0"/>
              <a:t> </a:t>
            </a:r>
            <a:r>
              <a:rPr lang="tr-TR" sz="2000" smtClean="0"/>
              <a:t>kendisinin ya da ucundaki ince kısmının skaladaki değerle tam çakıştığı yer o andaki ölçülen</a:t>
            </a:r>
            <a:r>
              <a:rPr lang="en-GB" sz="2000" smtClean="0"/>
              <a:t> </a:t>
            </a:r>
            <a:r>
              <a:rPr lang="tr-TR" sz="2000" smtClean="0"/>
              <a:t>büyüklüğün değeridir. Skala levhaları genellikle alüminyum, sac, çinko veya presbant</a:t>
            </a:r>
          </a:p>
          <a:p>
            <a:r>
              <a:rPr lang="tr-TR" sz="2000" smtClean="0"/>
              <a:t>kağıttan yapılırlar ve üzeri beyaz boya ile boyanarak okunacak değerler siyah yazı veya</a:t>
            </a:r>
            <a:r>
              <a:rPr lang="en-GB" sz="2000" smtClean="0"/>
              <a:t> </a:t>
            </a:r>
            <a:r>
              <a:rPr lang="tr-TR" sz="2000" smtClean="0"/>
              <a:t>işaretler ile taksimatlandırılır.</a:t>
            </a:r>
          </a:p>
          <a:p>
            <a:r>
              <a:rPr lang="tr-TR" sz="2000" smtClean="0"/>
              <a:t>Okuma hatasını azaltmak amacı ile ibre ve skala taksimat çizgilerinin mümkün olduğu</a:t>
            </a:r>
            <a:r>
              <a:rPr lang="en-GB" sz="2000" smtClean="0"/>
              <a:t> </a:t>
            </a:r>
            <a:r>
              <a:rPr lang="tr-TR" sz="2000" smtClean="0"/>
              <a:t>kadar ince (0,08 mm) olması gerekir. Taksimat çizgilerinin altına şerit halinde bir ayna</a:t>
            </a:r>
            <a:r>
              <a:rPr lang="en-GB" sz="2000" smtClean="0"/>
              <a:t> </a:t>
            </a:r>
            <a:r>
              <a:rPr lang="tr-TR" sz="2000" smtClean="0"/>
              <a:t>yerleştirilir. Bu ayna ibrenin kendisi ile görüntüsünün üst üste getirilerek ibreye tam karşıdan</a:t>
            </a:r>
            <a:r>
              <a:rPr lang="en-GB" sz="2000" smtClean="0"/>
              <a:t> </a:t>
            </a:r>
            <a:r>
              <a:rPr lang="tr-TR" sz="2000" smtClean="0"/>
              <a:t>bakılmasını ve okuma hatasının azaltılmasını sağlar.</a:t>
            </a:r>
          </a:p>
          <a:p>
            <a:endParaRPr lang="tr-T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588B3718-E7C4-4107-84B1-9CEE07E56A71}" type="slidenum">
              <a:rPr lang="en-US"/>
              <a:pPr/>
              <a:t>51</a:t>
            </a:fld>
            <a:endParaRPr lang="en-US"/>
          </a:p>
        </p:txBody>
      </p:sp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smtClean="0"/>
              <a:t>1. ÖLÇÜ ALETLERİ</a:t>
            </a:r>
          </a:p>
        </p:txBody>
      </p:sp>
      <p:sp>
        <p:nvSpPr>
          <p:cNvPr id="61443" name="Slide Number Placeholder 3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8FC7B6D2-25AD-4D46-98CC-AF23A8562E94}" type="slidenum">
              <a:rPr lang="en-US" sz="1000"/>
              <a:pPr algn="r"/>
              <a:t>51</a:t>
            </a:fld>
            <a:endParaRPr lang="en-US" sz="1000"/>
          </a:p>
        </p:txBody>
      </p:sp>
      <p:sp>
        <p:nvSpPr>
          <p:cNvPr id="61444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sz="2000" smtClean="0"/>
              <a:t>Analog ölçü aletlerinin birçoğunda tek bir skala olmasına karşılık birden fazla kademe</a:t>
            </a:r>
            <a:r>
              <a:rPr lang="en-GB" sz="2000" smtClean="0"/>
              <a:t> </a:t>
            </a:r>
            <a:r>
              <a:rPr lang="tr-TR" sz="2000" smtClean="0"/>
              <a:t>kullanılarak aynı büyüklüğün farklı değerlerinin veya farklı farklı büyüklüklerin ölçülmesi</a:t>
            </a:r>
            <a:r>
              <a:rPr lang="en-GB" sz="2000" smtClean="0"/>
              <a:t> </a:t>
            </a:r>
            <a:r>
              <a:rPr lang="tr-TR" sz="2000" smtClean="0"/>
              <a:t>sağlanır. Her skala taksimatının ölçtüğü değerler üzerine, büyüklüklerin cinsi de yanına</a:t>
            </a:r>
            <a:r>
              <a:rPr lang="en-GB" sz="2000" smtClean="0"/>
              <a:t> </a:t>
            </a:r>
            <a:r>
              <a:rPr lang="tr-TR" sz="2000" smtClean="0"/>
              <a:t>yazılmıştır. Analog ölçü aletlerinde ibrenin gösterdiği değer kademe anahtarının bulunduğu</a:t>
            </a:r>
            <a:r>
              <a:rPr lang="en-GB" sz="2000" smtClean="0"/>
              <a:t> </a:t>
            </a:r>
            <a:r>
              <a:rPr lang="tr-TR" sz="2000" smtClean="0"/>
              <a:t>konuma göre değişik çarpanlar ile çarpılır.</a:t>
            </a:r>
          </a:p>
          <a:p>
            <a:r>
              <a:rPr lang="tr-TR" sz="2000" smtClean="0"/>
              <a:t>Analog ölçü aletlerinin skala taksimatında genellikle aşağıda belirtilen bilgilere yer</a:t>
            </a:r>
            <a:r>
              <a:rPr lang="en-GB" sz="2000" smtClean="0"/>
              <a:t> </a:t>
            </a:r>
            <a:r>
              <a:rPr lang="tr-TR" sz="2000" smtClean="0"/>
              <a:t>verilir:</a:t>
            </a:r>
          </a:p>
          <a:p>
            <a:pPr lvl="1"/>
            <a:r>
              <a:rPr lang="tr-TR" sz="2000" smtClean="0"/>
              <a:t>Ölçü aletini yapan firmanın adı ve firmanın amblemi</a:t>
            </a:r>
          </a:p>
          <a:p>
            <a:pPr lvl="1"/>
            <a:r>
              <a:rPr lang="tr-TR" sz="2000" smtClean="0"/>
              <a:t> Elektrik akımının hangi cinsinde kullanılacağı (AC-DC)</a:t>
            </a:r>
          </a:p>
          <a:p>
            <a:pPr lvl="1"/>
            <a:endParaRPr lang="tr-TR" sz="2000" smtClean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5338E81C-7595-497B-9C01-43FE41AC6E39}" type="slidenum">
              <a:rPr lang="en-US"/>
              <a:pPr/>
              <a:t>52</a:t>
            </a:fld>
            <a:endParaRPr lang="en-US"/>
          </a:p>
        </p:txBody>
      </p:sp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smtClean="0"/>
              <a:t>1. ÖLÇÜ ALETLERİ</a:t>
            </a:r>
          </a:p>
        </p:txBody>
      </p:sp>
      <p:sp>
        <p:nvSpPr>
          <p:cNvPr id="62467" name="Slide Number Placeholder 3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525B0459-1BA2-4B2C-ADBD-0611DD9424E4}" type="slidenum">
              <a:rPr lang="en-US" sz="1000"/>
              <a:pPr algn="r"/>
              <a:t>52</a:t>
            </a:fld>
            <a:endParaRPr lang="en-US" sz="1000"/>
          </a:p>
        </p:txBody>
      </p:sp>
      <p:sp>
        <p:nvSpPr>
          <p:cNvPr id="62468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sz="2000" smtClean="0"/>
              <a:t>Aletin ölçüm yapılırken bulunması gereken duruş şekli</a:t>
            </a:r>
          </a:p>
          <a:p>
            <a:r>
              <a:rPr lang="tr-TR" sz="2000" smtClean="0"/>
              <a:t> Aletin duyarlılığı</a:t>
            </a:r>
          </a:p>
          <a:p>
            <a:r>
              <a:rPr lang="tr-TR" sz="2000" smtClean="0"/>
              <a:t> Ölçü aletinin yalıtkanlık kontrolünün kaç volt ile yapıldığı</a:t>
            </a:r>
          </a:p>
          <a:p>
            <a:r>
              <a:rPr lang="tr-TR" sz="2000" smtClean="0"/>
              <a:t> Ölçü aletinin sembolü</a:t>
            </a:r>
          </a:p>
          <a:p>
            <a:r>
              <a:rPr lang="tr-TR" sz="2000" smtClean="0"/>
              <a:t> Ölçme hatası</a:t>
            </a:r>
          </a:p>
          <a:p>
            <a:r>
              <a:rPr lang="tr-TR" sz="2000" smtClean="0"/>
              <a:t>Üretim ve seri numarası</a:t>
            </a:r>
          </a:p>
          <a:p>
            <a:r>
              <a:rPr lang="tr-TR" sz="2000" smtClean="0"/>
              <a:t> Kullanım frekansı</a:t>
            </a:r>
          </a:p>
          <a:p>
            <a:endParaRPr lang="tr-T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38AE5841-4FCD-4035-AAD8-1E9E86271079}" type="slidenum">
              <a:rPr lang="en-US"/>
              <a:pPr/>
              <a:t>53</a:t>
            </a:fld>
            <a:endParaRPr lang="en-US"/>
          </a:p>
        </p:txBody>
      </p:sp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smtClean="0"/>
              <a:t>1. ÖLÇÜ ALETLERİ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49325" y="1981200"/>
            <a:ext cx="7654925" cy="4114800"/>
          </a:xfrm>
        </p:spPr>
        <p:txBody>
          <a:bodyPr/>
          <a:lstStyle/>
          <a:p>
            <a:r>
              <a:rPr lang="en-US" sz="1800" b="1" smtClean="0"/>
              <a:t>1.5.2.3. Sıfır Ayar Vidası ve Kalibrasyon</a:t>
            </a:r>
          </a:p>
          <a:p>
            <a:pPr lvl="1"/>
            <a:r>
              <a:rPr lang="tr-TR" sz="1600" smtClean="0"/>
              <a:t>Analog ölçü aletlerinin, uzun zaman kullanılmasından ve ani yüklenmesinden dolayı</a:t>
            </a:r>
            <a:r>
              <a:rPr lang="en-GB" sz="1600" smtClean="0"/>
              <a:t> </a:t>
            </a:r>
            <a:r>
              <a:rPr lang="tr-TR" sz="1600" smtClean="0"/>
              <a:t>kontrol yayı özelliğini az da olsa kaybeder. Aletin sarsılması ve eğikliği de sıfır ayarını</a:t>
            </a:r>
            <a:r>
              <a:rPr lang="en-GB" sz="1600" smtClean="0"/>
              <a:t> </a:t>
            </a:r>
            <a:r>
              <a:rPr lang="tr-TR" sz="1600" smtClean="0"/>
              <a:t>bozabilir. </a:t>
            </a:r>
            <a:endParaRPr lang="en-GB" sz="1600" smtClean="0"/>
          </a:p>
          <a:p>
            <a:pPr lvl="1"/>
            <a:r>
              <a:rPr lang="tr-TR" sz="1600" smtClean="0"/>
              <a:t>Böyle durumlarda, ölçme sonunda gösterge tam sıfır noktasına gelmez. Bunun için</a:t>
            </a:r>
            <a:r>
              <a:rPr lang="en-GB" sz="1600" smtClean="0"/>
              <a:t> </a:t>
            </a:r>
            <a:r>
              <a:rPr lang="tr-TR" sz="1600" smtClean="0"/>
              <a:t>ölçü aletine sıfır ayar vidası ilave edilmiştir.</a:t>
            </a:r>
          </a:p>
          <a:p>
            <a:endParaRPr lang="en-US" sz="1800" smtClean="0"/>
          </a:p>
          <a:p>
            <a:endParaRPr lang="en-US" sz="1400" smtClean="0"/>
          </a:p>
        </p:txBody>
      </p:sp>
      <p:pic>
        <p:nvPicPr>
          <p:cNvPr id="63492" name="Picture 6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2214563" y="3714750"/>
            <a:ext cx="2714625" cy="2647950"/>
          </a:xfrm>
        </p:spPr>
      </p:pic>
      <p:sp>
        <p:nvSpPr>
          <p:cNvPr id="63493" name="Slide Number Placeholder 5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2891DE42-CA41-4E94-A953-B0CA7CEBE4B3}" type="slidenum">
              <a:rPr lang="en-US" sz="1000"/>
              <a:pPr algn="r"/>
              <a:t>53</a:t>
            </a:fld>
            <a:endParaRPr lang="en-US"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9830B1EB-24E4-4045-8594-6B9AE372B8D9}" type="slidenum">
              <a:rPr lang="en-US"/>
              <a:pPr/>
              <a:t>54</a:t>
            </a:fld>
            <a:endParaRPr lang="en-US"/>
          </a:p>
        </p:txBody>
      </p:sp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smtClean="0"/>
              <a:t>1. ÖLÇÜ ALETLERİ</a:t>
            </a:r>
          </a:p>
        </p:txBody>
      </p:sp>
      <p:sp>
        <p:nvSpPr>
          <p:cNvPr id="64515" name="Slide Number Placeholder 3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AFF4B3B9-06F3-4DDE-9671-E1AF92D81429}" type="slidenum">
              <a:rPr lang="en-US" sz="1000"/>
              <a:pPr algn="r"/>
              <a:t>54</a:t>
            </a:fld>
            <a:endParaRPr lang="en-US" sz="1000"/>
          </a:p>
        </p:txBody>
      </p:sp>
      <p:sp>
        <p:nvSpPr>
          <p:cNvPr id="64516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sz="2000" smtClean="0"/>
              <a:t>Sıfır ayar vidası, ölçü aletinin dış muhafazasının ön cephesi üzerine konmuş olup</a:t>
            </a:r>
            <a:r>
              <a:rPr lang="en-GB" sz="2000" smtClean="0"/>
              <a:t> </a:t>
            </a:r>
            <a:r>
              <a:rPr lang="tr-TR" sz="2000" smtClean="0"/>
              <a:t>genellikle skala taksimatın hemen altındadır. A ayar vidasının alt ucunda ise eksantrik B</a:t>
            </a:r>
            <a:r>
              <a:rPr lang="en-GB" sz="2000" smtClean="0"/>
              <a:t> </a:t>
            </a:r>
            <a:r>
              <a:rPr lang="tr-TR" sz="2000" smtClean="0"/>
              <a:t>pimi mevcuttur. Bu pim, C ayar manivelasının kanallı kısmına geçirilmiş olduğundan A ayar</a:t>
            </a:r>
            <a:r>
              <a:rPr lang="en-GB" sz="2000" smtClean="0"/>
              <a:t> </a:t>
            </a:r>
            <a:r>
              <a:rPr lang="tr-TR" sz="2000" smtClean="0"/>
              <a:t>vidasını bir tornavida ile sağa sola çevirmekle gösterge sıfır noktasına getirilir. C ayar</a:t>
            </a:r>
            <a:r>
              <a:rPr lang="en-GB" sz="2000" smtClean="0"/>
              <a:t> </a:t>
            </a:r>
            <a:r>
              <a:rPr lang="tr-TR" sz="2000" smtClean="0"/>
              <a:t>manivelası döndüğü yerden izole edilmiştir. </a:t>
            </a:r>
            <a:endParaRPr lang="en-GB" sz="2000" smtClean="0"/>
          </a:p>
          <a:p>
            <a:r>
              <a:rPr lang="tr-TR" sz="2000" smtClean="0"/>
              <a:t>Ayar vidası ile yapılmış iyi bir ayar, mevcut</a:t>
            </a:r>
            <a:r>
              <a:rPr lang="en-GB" sz="2000" smtClean="0"/>
              <a:t> </a:t>
            </a:r>
            <a:r>
              <a:rPr lang="tr-TR" sz="2000" smtClean="0"/>
              <a:t>gösterge bölümleri toplamının %6-12 arasında olmalıdır. Analog ölçü aletlerinin sıfır ayarı;</a:t>
            </a:r>
            <a:r>
              <a:rPr lang="en-GB" sz="2000" smtClean="0"/>
              <a:t> </a:t>
            </a:r>
            <a:r>
              <a:rPr lang="tr-TR" sz="2000" smtClean="0"/>
              <a:t>ölçmeye geçmeden önce mutlaka kontrol edilmeli, gerekiyorsa düzeltilmelidir. Şayet aletin</a:t>
            </a:r>
            <a:r>
              <a:rPr lang="en-GB" sz="2000" smtClean="0"/>
              <a:t> </a:t>
            </a:r>
            <a:r>
              <a:rPr lang="tr-TR" sz="2000" smtClean="0"/>
              <a:t>sıfır ayarı, hareketli sistemin dengesizliğinden dolayı bozulmuşsa bu hatayı, sıfır ayar vidası</a:t>
            </a:r>
            <a:r>
              <a:rPr lang="en-GB" sz="2000" smtClean="0"/>
              <a:t> </a:t>
            </a:r>
            <a:r>
              <a:rPr lang="tr-TR" sz="2000" smtClean="0"/>
              <a:t>düzeltmez</a:t>
            </a:r>
          </a:p>
          <a:p>
            <a:endParaRPr lang="tr-TR" smtClean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11C3F079-0D72-4B1B-AABE-97430497EC76}" type="slidenum">
              <a:rPr lang="en-US"/>
              <a:pPr/>
              <a:t>55</a:t>
            </a:fld>
            <a:endParaRPr lang="en-US"/>
          </a:p>
        </p:txBody>
      </p:sp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smtClean="0"/>
              <a:t>1. ÖLÇÜ ALETLERİ</a:t>
            </a:r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49325" y="1981200"/>
            <a:ext cx="7439025" cy="4114800"/>
          </a:xfrm>
        </p:spPr>
        <p:txBody>
          <a:bodyPr/>
          <a:lstStyle/>
          <a:p>
            <a:r>
              <a:rPr lang="en-US" sz="2000" b="1" smtClean="0"/>
              <a:t>1.6. Dijital Ölçü Aletlerinin Genel Tanımı</a:t>
            </a:r>
          </a:p>
          <a:p>
            <a:pPr lvl="1"/>
            <a:r>
              <a:rPr lang="tr-TR" sz="1800" smtClean="0"/>
              <a:t>Analog ölçü aletleri ile yapılan ölçümde ibre sapmasıyla ibrenin skala taksimatı</a:t>
            </a:r>
            <a:r>
              <a:rPr lang="en-GB" sz="1800" smtClean="0"/>
              <a:t> </a:t>
            </a:r>
            <a:r>
              <a:rPr lang="tr-TR" sz="1800" smtClean="0"/>
              <a:t>üzerinde gösterdiği değer ölçülen değerdir. </a:t>
            </a:r>
            <a:endParaRPr lang="en-GB" sz="1800" smtClean="0"/>
          </a:p>
          <a:p>
            <a:pPr lvl="1"/>
            <a:r>
              <a:rPr lang="tr-TR" sz="1800" smtClean="0"/>
              <a:t>Ölçülen değerin okunması sırasında okuma</a:t>
            </a:r>
            <a:r>
              <a:rPr lang="en-GB" sz="1800" smtClean="0"/>
              <a:t> </a:t>
            </a:r>
            <a:r>
              <a:rPr lang="tr-TR" sz="1800" smtClean="0"/>
              <a:t>tekniğini yeterince bilmemekten kaynaklanan okuma hatası yapılabilir. </a:t>
            </a:r>
            <a:endParaRPr lang="en-GB" sz="1800" smtClean="0"/>
          </a:p>
          <a:p>
            <a:pPr lvl="1"/>
            <a:r>
              <a:rPr lang="tr-TR" sz="1800" smtClean="0"/>
              <a:t>Ancak, günümüzde</a:t>
            </a:r>
            <a:r>
              <a:rPr lang="en-GB" sz="1800" smtClean="0"/>
              <a:t> </a:t>
            </a:r>
            <a:r>
              <a:rPr lang="tr-TR" sz="1800" smtClean="0"/>
              <a:t>üretilen dijital ölçü aletleri ile yapılan ölçümlerde daha kolay sonuç alınabilmekte ve okuma</a:t>
            </a:r>
            <a:r>
              <a:rPr lang="en-GB" sz="1800" smtClean="0"/>
              <a:t> </a:t>
            </a:r>
            <a:r>
              <a:rPr lang="tr-TR" sz="1800" smtClean="0"/>
              <a:t>hatasından kaynaklanan hatalar söz konusu olmamaktadır. Dijital ölçü aletleri, ölçtüğü</a:t>
            </a:r>
            <a:r>
              <a:rPr lang="en-GB" sz="1800" smtClean="0"/>
              <a:t> </a:t>
            </a:r>
            <a:r>
              <a:rPr lang="tr-TR" sz="1800" smtClean="0"/>
              <a:t>değeri ayrıntılı olarak ast ve üst katlarını belirterek sayısal olarak ölçebilmektedir. </a:t>
            </a:r>
            <a:endParaRPr lang="en-GB" sz="1800" smtClean="0"/>
          </a:p>
          <a:p>
            <a:pPr lvl="1"/>
            <a:r>
              <a:rPr lang="tr-TR" sz="1800" smtClean="0"/>
              <a:t>Dijital</a:t>
            </a:r>
            <a:r>
              <a:rPr lang="en-GB" sz="1800" smtClean="0"/>
              <a:t> </a:t>
            </a:r>
            <a:r>
              <a:rPr lang="tr-TR" sz="1800" smtClean="0"/>
              <a:t>ölçü aletleri aynen analog ölçü aletlerinde olduğu gibi tek büyüklüğü ölçmek için</a:t>
            </a:r>
            <a:r>
              <a:rPr lang="en-GB" sz="1800" smtClean="0"/>
              <a:t> </a:t>
            </a:r>
            <a:r>
              <a:rPr lang="tr-TR" sz="1800" smtClean="0"/>
              <a:t>ampermetre, voltmetre, wattmetre vb. şeklinde yapılmaktadır. </a:t>
            </a:r>
            <a:endParaRPr lang="en-GB" sz="1800" smtClean="0"/>
          </a:p>
          <a:p>
            <a:pPr lvl="1"/>
            <a:r>
              <a:rPr lang="tr-TR" sz="1800" smtClean="0"/>
              <a:t>Aynı zamanda birden fazla</a:t>
            </a:r>
            <a:r>
              <a:rPr lang="en-GB" sz="1800" smtClean="0"/>
              <a:t> </a:t>
            </a:r>
            <a:r>
              <a:rPr lang="tr-TR" sz="1800" smtClean="0"/>
              <a:t>büyüklüğü ölçmek ve değişik test işlemlerini yapmak için de dijital multimetreler</a:t>
            </a:r>
            <a:r>
              <a:rPr lang="en-GB" sz="1800" smtClean="0"/>
              <a:t> </a:t>
            </a:r>
            <a:r>
              <a:rPr lang="tr-TR" sz="1800" smtClean="0"/>
              <a:t>yapılmaktadır</a:t>
            </a:r>
            <a:endParaRPr lang="en-US" sz="1800" smtClean="0"/>
          </a:p>
        </p:txBody>
      </p:sp>
      <p:sp>
        <p:nvSpPr>
          <p:cNvPr id="65540" name="Slide Number Placeholder 4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464D7892-C43C-4775-8496-A52F8583311F}" type="slidenum">
              <a:rPr lang="en-US" sz="1000"/>
              <a:pPr algn="r"/>
              <a:t>55</a:t>
            </a:fld>
            <a:endParaRPr lang="en-US" sz="100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7686293C-A4B3-4A2A-9674-FC3FFD899A25}" type="slidenum">
              <a:rPr lang="en-US"/>
              <a:pPr/>
              <a:t>56</a:t>
            </a:fld>
            <a:endParaRPr lang="en-US"/>
          </a:p>
        </p:txBody>
      </p:sp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smtClean="0"/>
              <a:t>1. ÖLÇÜ ALETLERİ</a:t>
            </a:r>
          </a:p>
        </p:txBody>
      </p:sp>
      <p:sp>
        <p:nvSpPr>
          <p:cNvPr id="66563" name="Slide Number Placeholder 3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286301EF-DF88-4EE6-A695-41BF1502F31F}" type="slidenum">
              <a:rPr lang="en-US" sz="1000"/>
              <a:pPr algn="r"/>
              <a:t>56</a:t>
            </a:fld>
            <a:endParaRPr lang="en-US" sz="1000"/>
          </a:p>
        </p:txBody>
      </p:sp>
      <p:sp>
        <p:nvSpPr>
          <p:cNvPr id="66564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sz="1800" smtClean="0"/>
              <a:t>Dijital multimetreler ile akım, gerilim, direnç ve endüktans ölçümlerinin yanı</a:t>
            </a:r>
            <a:r>
              <a:rPr lang="en-GB" sz="1800" smtClean="0"/>
              <a:t> </a:t>
            </a:r>
            <a:r>
              <a:rPr lang="tr-TR" sz="1800" smtClean="0"/>
              <a:t>sıra frekans, diyot kontrol, sıcaklık, transistör </a:t>
            </a:r>
            <a:r>
              <a:rPr lang="el-GR" sz="1800" smtClean="0"/>
              <a:t>α </a:t>
            </a:r>
            <a:r>
              <a:rPr lang="tr-TR" sz="1800" smtClean="0"/>
              <a:t>ya da </a:t>
            </a:r>
            <a:r>
              <a:rPr lang="el-GR" sz="1800" smtClean="0"/>
              <a:t>β </a:t>
            </a:r>
            <a:r>
              <a:rPr lang="tr-TR" sz="1800" smtClean="0"/>
              <a:t>akım kazancı vb. değerler de ölçen</a:t>
            </a:r>
            <a:r>
              <a:rPr lang="en-GB" sz="1800" smtClean="0"/>
              <a:t> </a:t>
            </a:r>
            <a:r>
              <a:rPr lang="tr-TR" sz="1800" smtClean="0"/>
              <a:t>dijital ölçü aletleri üretilmektedir. </a:t>
            </a:r>
            <a:endParaRPr lang="en-GB" sz="1800" smtClean="0"/>
          </a:p>
          <a:p>
            <a:r>
              <a:rPr lang="tr-TR" sz="1800" smtClean="0"/>
              <a:t>Bu yüzden bu ölçü aletlerine, çok sayıda büyüklük</a:t>
            </a:r>
            <a:r>
              <a:rPr lang="en-GB" sz="1800" smtClean="0"/>
              <a:t> </a:t>
            </a:r>
            <a:r>
              <a:rPr lang="tr-TR" sz="1800" smtClean="0"/>
              <a:t>ölçtüğünden </a:t>
            </a:r>
            <a:r>
              <a:rPr lang="tr-TR" sz="1800" b="1" smtClean="0"/>
              <a:t>multimetre denmektedir. </a:t>
            </a:r>
            <a:r>
              <a:rPr lang="tr-TR" sz="1800" smtClean="0"/>
              <a:t>Günümüzde dijital multimetrelerde ölçülecek</a:t>
            </a:r>
            <a:r>
              <a:rPr lang="en-GB" sz="1800" smtClean="0"/>
              <a:t> </a:t>
            </a:r>
            <a:r>
              <a:rPr lang="tr-TR" sz="1800" smtClean="0"/>
              <a:t>büyüklüğe uygun kademe seçme şartı ortadan kalkmıştır. </a:t>
            </a:r>
            <a:endParaRPr lang="en-GB" sz="1800" smtClean="0"/>
          </a:p>
          <a:p>
            <a:r>
              <a:rPr lang="tr-TR" sz="1800" smtClean="0"/>
              <a:t>Bu multimetreler ile akım</a:t>
            </a:r>
            <a:r>
              <a:rPr lang="en-GB" sz="1800" smtClean="0"/>
              <a:t> </a:t>
            </a:r>
            <a:r>
              <a:rPr lang="tr-TR" sz="1800" smtClean="0"/>
              <a:t>ölçülecekse kademe anahtarı akım bölümüne getirildiğinde multimetre mikro amper</a:t>
            </a:r>
            <a:r>
              <a:rPr lang="en-GB" sz="1800" smtClean="0"/>
              <a:t> </a:t>
            </a:r>
            <a:r>
              <a:rPr lang="tr-TR" sz="1800" smtClean="0"/>
              <a:t>seviyesinden amper seviyesine kadar olan akım değerlerinin hepsini kademe seçimi</a:t>
            </a:r>
            <a:r>
              <a:rPr lang="en-GB" sz="1800" smtClean="0"/>
              <a:t> </a:t>
            </a:r>
            <a:r>
              <a:rPr lang="tr-TR" sz="1800" smtClean="0"/>
              <a:t>yapmadan ölçebilmektedir.</a:t>
            </a:r>
          </a:p>
          <a:p>
            <a:endParaRPr lang="tr-TR" smtClean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82926C9D-2AA5-4D45-A282-8ECCE7E0189C}" type="slidenum">
              <a:rPr lang="en-US"/>
              <a:pPr/>
              <a:t>57</a:t>
            </a:fld>
            <a:endParaRPr lang="en-US"/>
          </a:p>
        </p:txBody>
      </p:sp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smtClean="0"/>
              <a:t>1. ÖLÇÜ ALETLERİ</a:t>
            </a:r>
          </a:p>
        </p:txBody>
      </p:sp>
      <p:sp>
        <p:nvSpPr>
          <p:cNvPr id="67587" name="Slide Number Placeholder 3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18073807-02E7-41AD-BF9F-E52924A76BC5}" type="slidenum">
              <a:rPr lang="en-US" sz="1000"/>
              <a:pPr algn="r"/>
              <a:t>57</a:t>
            </a:fld>
            <a:endParaRPr lang="en-US" sz="1000"/>
          </a:p>
        </p:txBody>
      </p:sp>
      <p:sp>
        <p:nvSpPr>
          <p:cNvPr id="67588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sz="1800" smtClean="0"/>
              <a:t>Analog ve dijital ölçü aletlerinin birbirlerine göre bazı avantaj ve dezavantajları vardır.</a:t>
            </a:r>
          </a:p>
          <a:p>
            <a:r>
              <a:rPr lang="tr-TR" sz="1800" smtClean="0"/>
              <a:t>Analog ölçü aletleri ölçtüğü değeri hemen gösterirken dijital ölçü aletlerinde bu süre biraz</a:t>
            </a:r>
            <a:r>
              <a:rPr lang="en-GB" sz="1800" smtClean="0"/>
              <a:t> </a:t>
            </a:r>
            <a:r>
              <a:rPr lang="tr-TR" sz="1800" smtClean="0"/>
              <a:t>uzamaktadır. Analog ölçü aletlerinde özellikle küçük değerlerde kademe küçültülerek daha</a:t>
            </a:r>
            <a:r>
              <a:rPr lang="en-GB" sz="1800" smtClean="0"/>
              <a:t> </a:t>
            </a:r>
            <a:r>
              <a:rPr lang="tr-TR" sz="1800" smtClean="0"/>
              <a:t>hassas ölçüm yapılabilirken dijital ölçü aletlerinde hassasiyet değişmez, yani analog ölçü</a:t>
            </a:r>
            <a:r>
              <a:rPr lang="en-GB" sz="1800" smtClean="0"/>
              <a:t> </a:t>
            </a:r>
            <a:r>
              <a:rPr lang="tr-TR" sz="1800" smtClean="0"/>
              <a:t>aletleri ile daha hassas ölçümler yapılabilir. </a:t>
            </a:r>
            <a:endParaRPr lang="en-GB" sz="1800" smtClean="0"/>
          </a:p>
          <a:p>
            <a:r>
              <a:rPr lang="tr-TR" sz="1800" smtClean="0"/>
              <a:t>Analog ölçü aletlerinin yapısı basit, tamiri</a:t>
            </a:r>
            <a:r>
              <a:rPr lang="en-GB" sz="1800" smtClean="0"/>
              <a:t> </a:t>
            </a:r>
            <a:r>
              <a:rPr lang="tr-TR" sz="1800" smtClean="0"/>
              <a:t>kolayken dijital ölçü aletlerinin yapısı daha karmaşıktır. Buna karşılık analog ölçü aletlerinde</a:t>
            </a:r>
            <a:r>
              <a:rPr lang="en-GB" sz="1800" smtClean="0"/>
              <a:t> </a:t>
            </a:r>
            <a:r>
              <a:rPr lang="tr-TR" sz="1800" smtClean="0"/>
              <a:t>ibrenin gösterdiği değer ile kademe anahtarının konumuna göre hesaplama gerekebilir.</a:t>
            </a:r>
          </a:p>
          <a:p>
            <a:r>
              <a:rPr lang="tr-TR" sz="1800" smtClean="0"/>
              <a:t>Dijital ölçü aletlerinde okuma hatası yapmak mümkün değildir. Çünkü, ölçüm değeri direkt</a:t>
            </a:r>
            <a:r>
              <a:rPr lang="en-GB" sz="1800" smtClean="0"/>
              <a:t> </a:t>
            </a:r>
            <a:r>
              <a:rPr lang="tr-TR" sz="1800" smtClean="0"/>
              <a:t>olarak okunan değerdir. Manyetik alandan etkilenmez. Ölçme hataları analoglara göre daha</a:t>
            </a:r>
            <a:r>
              <a:rPr lang="en-GB" sz="1800" smtClean="0"/>
              <a:t> </a:t>
            </a:r>
            <a:r>
              <a:rPr lang="tr-TR" sz="1800" smtClean="0"/>
              <a:t>azdır.</a:t>
            </a:r>
          </a:p>
          <a:p>
            <a:r>
              <a:rPr lang="tr-TR" sz="1800" smtClean="0"/>
              <a:t>Analog ölçü aletlerinin skalası üzerinde bulunabilecek semboller ve anlamları</a:t>
            </a:r>
            <a:r>
              <a:rPr lang="en-GB" sz="1800" smtClean="0"/>
              <a:t> </a:t>
            </a:r>
            <a:r>
              <a:rPr lang="tr-TR" sz="1800" smtClean="0"/>
              <a:t>aşağıdaki tabloda verilmiştir.(Tablo 1.1).</a:t>
            </a:r>
          </a:p>
          <a:p>
            <a:endParaRPr lang="tr-T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5966DA03-02B3-4B28-816F-7B1D0179267C}" type="slidenum">
              <a:rPr lang="en-US"/>
              <a:pPr/>
              <a:t>58</a:t>
            </a:fld>
            <a:endParaRPr lang="en-US"/>
          </a:p>
        </p:txBody>
      </p:sp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smtClean="0"/>
              <a:t>1. ÖLÇÜ ALETLERİ</a:t>
            </a:r>
          </a:p>
        </p:txBody>
      </p:sp>
      <p:pic>
        <p:nvPicPr>
          <p:cNvPr id="68611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827088" y="1773238"/>
            <a:ext cx="7327900" cy="4114800"/>
          </a:xfrm>
        </p:spPr>
      </p:pic>
      <p:sp>
        <p:nvSpPr>
          <p:cNvPr id="68612" name="Slide Number Placeholder 3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309AEC6A-5D90-4622-A636-754E0899023A}" type="slidenum">
              <a:rPr lang="en-US" sz="1000"/>
              <a:pPr algn="r"/>
              <a:t>58</a:t>
            </a:fld>
            <a:endParaRPr lang="en-US" sz="100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1428E347-3113-47F2-9219-4996E2F8D200}" type="slidenum">
              <a:rPr lang="en-US"/>
              <a:pPr/>
              <a:t>59</a:t>
            </a:fld>
            <a:endParaRPr lang="en-US"/>
          </a:p>
        </p:txBody>
      </p:sp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smtClean="0"/>
              <a:t>1. ÖLÇÜ ALETLERİ</a:t>
            </a:r>
          </a:p>
        </p:txBody>
      </p:sp>
      <p:pic>
        <p:nvPicPr>
          <p:cNvPr id="69635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755650" y="2060575"/>
            <a:ext cx="7639050" cy="3352800"/>
          </a:xfrm>
        </p:spPr>
      </p:pic>
      <p:sp>
        <p:nvSpPr>
          <p:cNvPr id="69636" name="Slide Number Placeholder 3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70FDE3D7-31D1-43B1-97BC-AD58A6783A4F}" type="slidenum">
              <a:rPr lang="en-US" sz="1000"/>
              <a:pPr algn="r"/>
              <a:t>59</a:t>
            </a:fld>
            <a:endParaRPr lang="en-US" sz="100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B8002B05-B18A-4FC1-BBD4-E22474D87E13}" type="slidenum">
              <a:rPr lang="en-US"/>
              <a:pPr/>
              <a:t>60</a:t>
            </a:fld>
            <a:endParaRPr lang="en-US"/>
          </a:p>
        </p:txBody>
      </p:sp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smtClean="0"/>
              <a:t>1. ÖLÇÜ ALETLERİ</a:t>
            </a:r>
          </a:p>
        </p:txBody>
      </p:sp>
      <p:pic>
        <p:nvPicPr>
          <p:cNvPr id="70659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755650" y="2060575"/>
            <a:ext cx="7661275" cy="3713163"/>
          </a:xfrm>
        </p:spPr>
      </p:pic>
      <p:sp>
        <p:nvSpPr>
          <p:cNvPr id="70660" name="Slide Number Placeholder 3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16B7B4ED-7DF5-40E5-91CE-092944811CDE}" type="slidenum">
              <a:rPr lang="en-US" sz="1000"/>
              <a:pPr algn="r"/>
              <a:t>60</a:t>
            </a:fld>
            <a:endParaRPr lang="en-US"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F1CD0273-61B3-42E2-BC51-80872A6DD653}" type="slidenum">
              <a:rPr lang="en-US"/>
              <a:pPr/>
              <a:t>61</a:t>
            </a:fld>
            <a:endParaRPr lang="en-US"/>
          </a:p>
        </p:txBody>
      </p:sp>
      <p:sp>
        <p:nvSpPr>
          <p:cNvPr id="71682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smtClean="0"/>
              <a:t>1. ÖLÇÜ ALETLERİ</a:t>
            </a:r>
          </a:p>
        </p:txBody>
      </p:sp>
      <p:pic>
        <p:nvPicPr>
          <p:cNvPr id="71683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755650" y="1844675"/>
            <a:ext cx="6481763" cy="4114800"/>
          </a:xfrm>
        </p:spPr>
      </p:pic>
      <p:sp>
        <p:nvSpPr>
          <p:cNvPr id="71684" name="Slide Number Placeholder 3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CF5CD17A-9B9F-40C7-8AB9-B4FDC6BADE5B}" type="slidenum">
              <a:rPr lang="en-US" sz="1000"/>
              <a:pPr algn="r"/>
              <a:t>61</a:t>
            </a:fld>
            <a:endParaRPr lang="en-US" sz="100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D2104259-F424-406C-AA58-5BA9514CE421}" type="slidenum">
              <a:rPr lang="en-US"/>
              <a:pPr/>
              <a:t>62</a:t>
            </a:fld>
            <a:endParaRPr lang="en-US"/>
          </a:p>
        </p:txBody>
      </p:sp>
      <p:sp>
        <p:nvSpPr>
          <p:cNvPr id="72706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smtClean="0"/>
              <a:t>1. ÖLÇÜ ALETLERİ</a:t>
            </a:r>
          </a:p>
        </p:txBody>
      </p:sp>
      <p:pic>
        <p:nvPicPr>
          <p:cNvPr id="72707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755650" y="1989138"/>
            <a:ext cx="7661275" cy="3582987"/>
          </a:xfrm>
        </p:spPr>
      </p:pic>
      <p:sp>
        <p:nvSpPr>
          <p:cNvPr id="72708" name="Slide Number Placeholder 3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986DAEAA-C4F4-45D2-93EF-45107730366F}" type="slidenum">
              <a:rPr lang="en-US" sz="1000"/>
              <a:pPr algn="r"/>
              <a:t>62</a:t>
            </a:fld>
            <a:endParaRPr lang="en-US" sz="100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F99244A1-4337-4A2E-A6E8-FB6056966217}" type="slidenum">
              <a:rPr lang="en-US"/>
              <a:pPr/>
              <a:t>63</a:t>
            </a:fld>
            <a:endParaRPr lang="en-US"/>
          </a:p>
        </p:txBody>
      </p:sp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smtClean="0"/>
              <a:t>1. ÖLÇÜ ALETLERİ</a:t>
            </a:r>
          </a:p>
        </p:txBody>
      </p:sp>
      <p:pic>
        <p:nvPicPr>
          <p:cNvPr id="73731" name="Picture 9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755650" y="2276475"/>
            <a:ext cx="7661275" cy="2051050"/>
          </a:xfrm>
        </p:spPr>
      </p:pic>
      <p:sp>
        <p:nvSpPr>
          <p:cNvPr id="73732" name="Slide Number Placeholder 3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38CF2BCD-F1C9-407C-A168-31956976E3B7}" type="slidenum">
              <a:rPr lang="en-US" sz="1000"/>
              <a:pPr algn="r"/>
              <a:t>63</a:t>
            </a:fld>
            <a:endParaRPr lang="en-US"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0C4145A8-1372-4D8A-AAEB-9A838422D1EC}" type="slidenum">
              <a:rPr lang="en-US"/>
              <a:pPr/>
              <a:t>64</a:t>
            </a:fld>
            <a:endParaRPr lang="en-US"/>
          </a:p>
        </p:txBody>
      </p:sp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smtClean="0"/>
              <a:t>ÖLÇME VE DEĞERLENDİRME</a:t>
            </a:r>
            <a:endParaRPr lang="en-US" sz="3600" smtClean="0"/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49325" y="1981200"/>
            <a:ext cx="7480300" cy="41148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sz="1800" b="1" smtClean="0"/>
              <a:t>ÖLÇME SORULARI</a:t>
            </a:r>
            <a:endParaRPr lang="en-US" sz="1800" smtClean="0"/>
          </a:p>
          <a:p>
            <a:r>
              <a:rPr lang="tr-TR" sz="2000" smtClean="0"/>
              <a:t>Aşağıda verilen soruları doğru ya da yanlış olarak cevaplayınız.</a:t>
            </a:r>
          </a:p>
          <a:p>
            <a:r>
              <a:rPr lang="tr-TR" sz="2000" smtClean="0"/>
              <a:t>1. Ölçme herhangi bir büyüklüğü kendi cinsinden bir birimle mukayese etmektir.</a:t>
            </a:r>
          </a:p>
          <a:p>
            <a:r>
              <a:rPr lang="tr-TR" sz="2000" smtClean="0"/>
              <a:t>2. Pano tipi ölçü aletlerinin tamamı dijital ölçü aletleridir.</a:t>
            </a:r>
          </a:p>
          <a:p>
            <a:r>
              <a:rPr lang="tr-TR" sz="2000" smtClean="0"/>
              <a:t>3. Ölçtüğü değeri LCD ekrandan gösteren ölçü aletlerine dijital ölçü aletleri denir.</a:t>
            </a:r>
          </a:p>
          <a:p>
            <a:r>
              <a:rPr lang="tr-TR" sz="2000" smtClean="0"/>
              <a:t>4. Doğruluk derecesi 0,1 yerine 0,5 olan ölçü aletleri ile daha hatasız ölçmeler yapılır.</a:t>
            </a:r>
          </a:p>
          <a:p>
            <a:r>
              <a:rPr lang="tr-TR" sz="2000" smtClean="0"/>
              <a:t>5. Kaydedici ölçü aletleri daha çok enerji üretim merkezlerinde kullanılır.</a:t>
            </a:r>
          </a:p>
          <a:p>
            <a:r>
              <a:rPr lang="tr-TR" sz="2000" smtClean="0"/>
              <a:t>6. Sayaçlar, toplayan ölçü aletlerine bir örnek olarak gösterilebilir.</a:t>
            </a:r>
          </a:p>
          <a:p>
            <a:endParaRPr lang="en-US" sz="2800" smtClean="0"/>
          </a:p>
        </p:txBody>
      </p:sp>
      <p:sp>
        <p:nvSpPr>
          <p:cNvPr id="74756" name="Slide Number Placeholder 4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C33B2294-FCE0-4392-81EB-FF6D3EEC5C1A}" type="slidenum">
              <a:rPr lang="en-US" sz="1000"/>
              <a:pPr algn="r"/>
              <a:t>64</a:t>
            </a:fld>
            <a:endParaRPr lang="en-US" sz="100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A33F6FAA-B191-4FF0-8068-1E6670F9B09B}" type="slidenum">
              <a:rPr lang="en-US"/>
              <a:pPr/>
              <a:t>65</a:t>
            </a:fld>
            <a:endParaRPr lang="en-US"/>
          </a:p>
        </p:txBody>
      </p:sp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smtClean="0"/>
              <a:t>ÖLÇME VE DEĞERLENDİRME</a:t>
            </a:r>
          </a:p>
        </p:txBody>
      </p:sp>
      <p:sp>
        <p:nvSpPr>
          <p:cNvPr id="75779" name="Slide Number Placeholder 4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A9CAC351-656E-4E26-85FD-411E5361080C}" type="slidenum">
              <a:rPr lang="en-US" sz="1000"/>
              <a:pPr algn="r"/>
              <a:t>65</a:t>
            </a:fld>
            <a:endParaRPr lang="en-US" sz="1000"/>
          </a:p>
        </p:txBody>
      </p:sp>
      <p:sp>
        <p:nvSpPr>
          <p:cNvPr id="75780" name="Content Placeholder 5"/>
          <p:cNvSpPr>
            <a:spLocks noGrp="1"/>
          </p:cNvSpPr>
          <p:nvPr>
            <p:ph sz="half" idx="1"/>
          </p:nvPr>
        </p:nvSpPr>
        <p:spPr>
          <a:xfrm>
            <a:off x="949325" y="1981200"/>
            <a:ext cx="7551738" cy="4114800"/>
          </a:xfrm>
        </p:spPr>
        <p:txBody>
          <a:bodyPr/>
          <a:lstStyle/>
          <a:p>
            <a:r>
              <a:rPr lang="tr-TR" sz="2000" dirty="0" smtClean="0"/>
              <a:t>7. Taşınabilir ölçü aletleri darbelerden kesinlikle etkilenmez.</a:t>
            </a:r>
          </a:p>
          <a:p>
            <a:r>
              <a:rPr lang="tr-TR" sz="2000" dirty="0" smtClean="0"/>
              <a:t>8. Ölçtüğü değeri skala taksimatı ve ibre ile gösteren ölçü aletlerine </a:t>
            </a:r>
            <a:r>
              <a:rPr lang="tr-TR" sz="2000" dirty="0" err="1" smtClean="0"/>
              <a:t>analog</a:t>
            </a:r>
            <a:r>
              <a:rPr lang="tr-TR" sz="2000" dirty="0" smtClean="0"/>
              <a:t> ölçü aletleri</a:t>
            </a:r>
            <a:r>
              <a:rPr lang="en-GB" sz="2000" dirty="0" smtClean="0"/>
              <a:t> </a:t>
            </a:r>
            <a:r>
              <a:rPr lang="tr-TR" sz="2000" dirty="0" smtClean="0"/>
              <a:t>denir.</a:t>
            </a:r>
          </a:p>
          <a:p>
            <a:r>
              <a:rPr lang="tr-TR" sz="2000" dirty="0" smtClean="0"/>
              <a:t>9. Devre akımı, ampermetre ile ölçülür.</a:t>
            </a:r>
          </a:p>
          <a:p>
            <a:r>
              <a:rPr lang="tr-TR" sz="2000" dirty="0" smtClean="0"/>
              <a:t>10. Voltmetre “W” harfi ile gösterilir.</a:t>
            </a:r>
          </a:p>
          <a:p>
            <a:r>
              <a:rPr lang="tr-TR" sz="2000" dirty="0" smtClean="0"/>
              <a:t>11. </a:t>
            </a:r>
            <a:r>
              <a:rPr lang="tr-TR" sz="2000" dirty="0" err="1" smtClean="0"/>
              <a:t>Lcrmetre</a:t>
            </a:r>
            <a:r>
              <a:rPr lang="tr-TR" sz="2000" dirty="0" smtClean="0"/>
              <a:t> ile direnç, </a:t>
            </a:r>
            <a:r>
              <a:rPr lang="tr-TR" sz="2000" dirty="0" err="1" smtClean="0"/>
              <a:t>endüktans</a:t>
            </a:r>
            <a:r>
              <a:rPr lang="tr-TR" sz="2000" dirty="0" smtClean="0"/>
              <a:t> ve kapasite ölçümleri yapılır.</a:t>
            </a:r>
          </a:p>
          <a:p>
            <a:r>
              <a:rPr lang="tr-TR" sz="2000" dirty="0" smtClean="0"/>
              <a:t>12. </a:t>
            </a:r>
            <a:r>
              <a:rPr lang="tr-TR" sz="2000" dirty="0" err="1" smtClean="0"/>
              <a:t>Wattmetrelerin</a:t>
            </a:r>
            <a:r>
              <a:rPr lang="tr-TR" sz="2000" dirty="0" smtClean="0"/>
              <a:t> hem AC hem de DC’ de güç ölçen tipleri mevcuttur.</a:t>
            </a:r>
          </a:p>
          <a:p>
            <a:r>
              <a:rPr lang="tr-TR" sz="2000" dirty="0" smtClean="0"/>
              <a:t>13. Frekans metreler  AC devrelerde kullanılır.</a:t>
            </a:r>
          </a:p>
          <a:p>
            <a:r>
              <a:rPr lang="tr-TR" sz="2000" dirty="0" smtClean="0"/>
              <a:t>14. </a:t>
            </a:r>
            <a:r>
              <a:rPr lang="tr-TR" sz="2000" dirty="0" err="1" smtClean="0"/>
              <a:t>Osilaskoplar</a:t>
            </a:r>
            <a:r>
              <a:rPr lang="tr-TR" sz="2000" dirty="0" smtClean="0"/>
              <a:t> ölçülen değeri rakamsal olarak gösteren ölçü aletleridir.</a:t>
            </a:r>
          </a:p>
          <a:p>
            <a:r>
              <a:rPr lang="tr-TR" sz="2000" dirty="0" smtClean="0"/>
              <a:t>15. </a:t>
            </a:r>
            <a:r>
              <a:rPr lang="tr-TR" sz="2000" dirty="0" err="1" smtClean="0"/>
              <a:t>Analog</a:t>
            </a:r>
            <a:r>
              <a:rPr lang="tr-TR" sz="2000" dirty="0" smtClean="0"/>
              <a:t> ölçü aletleri ile dijital ölçü aletlerinden daha hassas ölçümler yapılabilir.</a:t>
            </a:r>
          </a:p>
          <a:p>
            <a:endParaRPr lang="tr-TR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5FF23505-3105-4607-A3D4-DF8B7ACE78CB}" type="slidenum">
              <a:rPr lang="en-US"/>
              <a:pPr/>
              <a:t>66</a:t>
            </a:fld>
            <a:endParaRPr lang="en-US"/>
          </a:p>
        </p:txBody>
      </p:sp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smtClean="0"/>
              <a:t>ÖLÇME VE DEĞERLENDİRME</a:t>
            </a:r>
          </a:p>
        </p:txBody>
      </p:sp>
      <p:sp>
        <p:nvSpPr>
          <p:cNvPr id="7680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49325" y="1981200"/>
            <a:ext cx="7480300" cy="4114800"/>
          </a:xfrm>
        </p:spPr>
        <p:txBody>
          <a:bodyPr/>
          <a:lstStyle/>
          <a:p>
            <a:r>
              <a:rPr lang="tr-TR" sz="2000" smtClean="0"/>
              <a:t>16. Ölçü aletleri ile ölçme sınırını aşan ölçmeler yapılabilir.</a:t>
            </a:r>
          </a:p>
          <a:p>
            <a:r>
              <a:rPr lang="tr-TR" sz="2000" smtClean="0"/>
              <a:t>17. Analog ölçü aletlerinde ibrenin ince olması okuma hatasını azaltır.</a:t>
            </a:r>
          </a:p>
          <a:p>
            <a:r>
              <a:rPr lang="tr-TR" sz="2000" smtClean="0"/>
              <a:t>18. Analog ölçü aletlerinde sıfır ayarı yapmadan ölçüme başlanabilir.</a:t>
            </a:r>
          </a:p>
          <a:p>
            <a:r>
              <a:rPr lang="tr-TR" sz="2000" smtClean="0"/>
              <a:t>19. Dijital ölçü aletlerinin tüm çeşitleri ölçme için gerekli enerjiyi iç kısma ilave edilen</a:t>
            </a:r>
            <a:r>
              <a:rPr lang="en-GB" sz="2000" smtClean="0"/>
              <a:t> </a:t>
            </a:r>
            <a:r>
              <a:rPr lang="tr-TR" sz="2000" smtClean="0"/>
              <a:t>pillerden sağlar.</a:t>
            </a:r>
          </a:p>
          <a:p>
            <a:r>
              <a:rPr lang="tr-TR" sz="2000" smtClean="0"/>
              <a:t>20. Ölçü aletlerinin özellikleri ve kullanımı ile ilgili bazı şartlar sembol olarak skalasında</a:t>
            </a:r>
            <a:r>
              <a:rPr lang="en-GB" sz="2000" smtClean="0"/>
              <a:t> </a:t>
            </a:r>
            <a:r>
              <a:rPr lang="tr-TR" sz="2000" smtClean="0"/>
              <a:t>belirtilir</a:t>
            </a:r>
            <a:r>
              <a:rPr lang="tr-TR" sz="2800" smtClean="0"/>
              <a:t>.</a:t>
            </a:r>
          </a:p>
          <a:p>
            <a:endParaRPr lang="en-US" sz="2800" smtClean="0"/>
          </a:p>
        </p:txBody>
      </p:sp>
      <p:sp>
        <p:nvSpPr>
          <p:cNvPr id="76804" name="Slide Number Placeholder 4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275AA78C-A918-46D2-B5F3-B936C406518F}" type="slidenum">
              <a:rPr lang="en-US" sz="1000"/>
              <a:pPr algn="r"/>
              <a:t>66</a:t>
            </a:fld>
            <a:endParaRPr lang="en-US" sz="100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917C9474-94EC-4F68-AA21-1B32199F43B0}" type="slidenum">
              <a:rPr lang="en-US"/>
              <a:pPr/>
              <a:t>67</a:t>
            </a:fld>
            <a:endParaRPr lang="en-US"/>
          </a:p>
        </p:txBody>
      </p:sp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smtClean="0"/>
              <a:t>ÖLÇME VE DEĞERLENDİRME</a:t>
            </a:r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49325" y="1981200"/>
            <a:ext cx="7480300" cy="4114800"/>
          </a:xfrm>
        </p:spPr>
        <p:txBody>
          <a:bodyPr/>
          <a:lstStyle/>
          <a:p>
            <a:r>
              <a:rPr lang="tr-TR" sz="2000" b="1" smtClean="0"/>
              <a:t>DEĞERLENDİRME</a:t>
            </a:r>
          </a:p>
          <a:p>
            <a:r>
              <a:rPr lang="tr-TR" sz="2000" smtClean="0"/>
              <a:t>Cevaplarınızı cevap anahtarı ile kontrol ediniz. Doğru ve yanlış cevaplarınızı</a:t>
            </a:r>
            <a:r>
              <a:rPr lang="en-GB" sz="2000" smtClean="0"/>
              <a:t> </a:t>
            </a:r>
            <a:r>
              <a:rPr lang="tr-TR" sz="2000" smtClean="0"/>
              <a:t>belirleyerek kendinizi değerlendiriniz. Cevaplarınız yanlış ise öğrenme faaliyetinin ilgili</a:t>
            </a:r>
            <a:r>
              <a:rPr lang="en-GB" sz="2000" smtClean="0"/>
              <a:t> </a:t>
            </a:r>
            <a:r>
              <a:rPr lang="tr-TR" sz="2000" smtClean="0"/>
              <a:t>bölümüne dönerek konuyu tekrar ediniz.</a:t>
            </a:r>
          </a:p>
          <a:p>
            <a:endParaRPr lang="en-US" sz="2800" smtClean="0"/>
          </a:p>
        </p:txBody>
      </p:sp>
      <p:sp>
        <p:nvSpPr>
          <p:cNvPr id="77828" name="Slide Number Placeholder 4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7E373AF8-AEFD-4042-9DE5-1B799639A57E}" type="slidenum">
              <a:rPr lang="en-US" sz="1000"/>
              <a:pPr algn="r"/>
              <a:t>67</a:t>
            </a:fld>
            <a:endParaRPr lang="en-US" sz="100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B2F4D8B0-DE87-4C4B-8CAD-74A489DD6C06}" type="slidenum">
              <a:rPr lang="en-US"/>
              <a:pPr/>
              <a:t>68</a:t>
            </a:fld>
            <a:endParaRPr lang="en-US"/>
          </a:p>
        </p:txBody>
      </p:sp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smtClean="0"/>
              <a:t>ÖĞRENME FAALİYETİ-2</a:t>
            </a:r>
            <a:endParaRPr lang="en-US" sz="3600" smtClean="0"/>
          </a:p>
        </p:txBody>
      </p:sp>
      <p:sp>
        <p:nvSpPr>
          <p:cNvPr id="7885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49325" y="1981200"/>
            <a:ext cx="7480300" cy="4114800"/>
          </a:xfrm>
        </p:spPr>
        <p:txBody>
          <a:bodyPr/>
          <a:lstStyle/>
          <a:p>
            <a:r>
              <a:rPr lang="en-US" sz="2000" b="1" smtClean="0"/>
              <a:t>AMAÇ</a:t>
            </a:r>
            <a:endParaRPr lang="tr-TR" sz="2000" b="1" smtClean="0"/>
          </a:p>
          <a:p>
            <a:pPr lvl="1"/>
            <a:r>
              <a:rPr lang="tr-TR" sz="1800" smtClean="0"/>
              <a:t>Direnç değerinin bağlı olduğu faktörleri kavrayarak, direnç ölçümünü ohmmetre ile</a:t>
            </a:r>
            <a:r>
              <a:rPr lang="en-GB" sz="1800" smtClean="0"/>
              <a:t> </a:t>
            </a:r>
            <a:r>
              <a:rPr lang="tr-TR" sz="1800" smtClean="0"/>
              <a:t>hatasız ve tekniğine uygun olarak yapabileceksiniz.</a:t>
            </a:r>
            <a:endParaRPr lang="en-GB" sz="1800" smtClean="0"/>
          </a:p>
          <a:p>
            <a:pPr lvl="1"/>
            <a:endParaRPr lang="tr-TR" sz="1800" smtClean="0"/>
          </a:p>
          <a:p>
            <a:r>
              <a:rPr lang="en-US" sz="2000" b="1" smtClean="0"/>
              <a:t>ARAŞTIRMA</a:t>
            </a:r>
            <a:endParaRPr lang="en-US" sz="2000" smtClean="0"/>
          </a:p>
          <a:p>
            <a:pPr lvl="1"/>
            <a:r>
              <a:rPr lang="tr-TR" sz="2000" smtClean="0"/>
              <a:t>İletken direncinin önemini ve süper iletkenlik konusunu araştırıp rapor haline getirerek</a:t>
            </a:r>
            <a:r>
              <a:rPr lang="en-GB" sz="2000" smtClean="0"/>
              <a:t> </a:t>
            </a:r>
            <a:r>
              <a:rPr lang="tr-TR" sz="2000" smtClean="0"/>
              <a:t>sonuçları arkadaşlarınızla tartışıp değerlendiriniz</a:t>
            </a:r>
          </a:p>
          <a:p>
            <a:endParaRPr lang="en-US" sz="2000" smtClean="0"/>
          </a:p>
          <a:p>
            <a:endParaRPr lang="en-US" sz="1800" smtClean="0"/>
          </a:p>
        </p:txBody>
      </p:sp>
      <p:sp>
        <p:nvSpPr>
          <p:cNvPr id="78852" name="Slide Number Placeholder 5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FB6E17C7-705A-4D0C-BAD9-7DD7E821437D}" type="slidenum">
              <a:rPr lang="en-US" sz="1000"/>
              <a:pPr algn="r"/>
              <a:t>68</a:t>
            </a:fld>
            <a:endParaRPr lang="en-US"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4960F81F-DAC5-4DDA-98A7-C3C4E7B3C826}" type="slidenum">
              <a:rPr lang="en-US"/>
              <a:pPr/>
              <a:t>69</a:t>
            </a:fld>
            <a:endParaRPr lang="en-US"/>
          </a:p>
        </p:txBody>
      </p:sp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smtClean="0"/>
              <a:t>2. DİRENÇ ÖLÇME</a:t>
            </a:r>
          </a:p>
        </p:txBody>
      </p:sp>
      <p:sp>
        <p:nvSpPr>
          <p:cNvPr id="7987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49325" y="1981200"/>
            <a:ext cx="7367588" cy="4114800"/>
          </a:xfrm>
        </p:spPr>
        <p:txBody>
          <a:bodyPr/>
          <a:lstStyle/>
          <a:p>
            <a:r>
              <a:rPr lang="en-US" sz="2000" b="1" smtClean="0"/>
              <a:t>2.1. Direnç ve İletken</a:t>
            </a:r>
            <a:endParaRPr lang="en-US" sz="2000" smtClean="0"/>
          </a:p>
          <a:p>
            <a:pPr lvl="1"/>
            <a:r>
              <a:rPr lang="tr-TR" sz="1800" smtClean="0"/>
              <a:t>En basit ifade ile direnç elektrik akımına karşı gösterilen zorluk olarak ifade edilebilir.</a:t>
            </a:r>
          </a:p>
          <a:p>
            <a:pPr lvl="1"/>
            <a:r>
              <a:rPr lang="tr-TR" sz="1800" smtClean="0"/>
              <a:t>Direnci teknik olarak tanımlayacak olursak : 1 mm2 kesitinde, 106,3 cm boyunda cıva</a:t>
            </a:r>
            <a:r>
              <a:rPr lang="en-GB" sz="1800" smtClean="0"/>
              <a:t> </a:t>
            </a:r>
            <a:r>
              <a:rPr lang="tr-TR" sz="1800" smtClean="0"/>
              <a:t>silindirin 0°C' deki direncine 1 ohm (</a:t>
            </a:r>
            <a:r>
              <a:rPr lang="el-GR" sz="1800" smtClean="0"/>
              <a:t>Ω) </a:t>
            </a:r>
            <a:r>
              <a:rPr lang="tr-TR" sz="1800" smtClean="0"/>
              <a:t>denir. Bir elektrik devresine gerilim uygulandığında,</a:t>
            </a:r>
            <a:r>
              <a:rPr lang="en-GB" sz="1800" smtClean="0"/>
              <a:t> </a:t>
            </a:r>
            <a:r>
              <a:rPr lang="tr-TR" sz="1800" smtClean="0"/>
              <a:t>alıcıdan akım geçmektedir. Geçen akımı sınırlayan etken ise alıcının direncidir. Buradan şu</a:t>
            </a:r>
            <a:r>
              <a:rPr lang="en-GB" sz="1800" smtClean="0"/>
              <a:t> </a:t>
            </a:r>
            <a:r>
              <a:rPr lang="tr-TR" sz="1800" smtClean="0"/>
              <a:t>sonuca varabiliriz. Eğer iletkenin direnci fazla ise geçen akım miktarı az, iletkenin direnci az</a:t>
            </a:r>
            <a:r>
              <a:rPr lang="en-GB" sz="1800" smtClean="0"/>
              <a:t> </a:t>
            </a:r>
            <a:r>
              <a:rPr lang="tr-TR" sz="1800" smtClean="0"/>
              <a:t>ise geçen akım miktarı fazladır.</a:t>
            </a:r>
          </a:p>
          <a:p>
            <a:pPr lvl="1"/>
            <a:r>
              <a:rPr lang="tr-TR" sz="1800" smtClean="0"/>
              <a:t>Direnç birimlerinin ast katları pek kullanılmamakta olup ohm ve üst katları</a:t>
            </a:r>
            <a:r>
              <a:rPr lang="en-GB" sz="1800" smtClean="0"/>
              <a:t> </a:t>
            </a:r>
            <a:r>
              <a:rPr lang="tr-TR" sz="1800" smtClean="0"/>
              <a:t>kullanılmaktadır. </a:t>
            </a:r>
            <a:endParaRPr lang="en-GB" sz="1800" smtClean="0"/>
          </a:p>
          <a:p>
            <a:pPr lvl="1"/>
            <a:r>
              <a:rPr lang="tr-TR" sz="1800" smtClean="0"/>
              <a:t>Bunlar: </a:t>
            </a:r>
            <a:r>
              <a:rPr lang="tr-TR" sz="1800" b="1" smtClean="0"/>
              <a:t>Ohm (</a:t>
            </a:r>
            <a:r>
              <a:rPr lang="el-GR" sz="1800" b="1" smtClean="0"/>
              <a:t>Ω)&lt; </a:t>
            </a:r>
            <a:r>
              <a:rPr lang="tr-TR" sz="1800" b="1" smtClean="0"/>
              <a:t>Kiloohm (k</a:t>
            </a:r>
            <a:r>
              <a:rPr lang="el-GR" sz="1800" b="1" smtClean="0"/>
              <a:t>Ω) &lt;</a:t>
            </a:r>
            <a:r>
              <a:rPr lang="tr-TR" sz="1800" b="1" smtClean="0"/>
              <a:t>megaohm (M</a:t>
            </a:r>
            <a:r>
              <a:rPr lang="el-GR" sz="1800" b="1" smtClean="0"/>
              <a:t>Ω) &lt;</a:t>
            </a:r>
            <a:r>
              <a:rPr lang="tr-TR" sz="1800" b="1" smtClean="0"/>
              <a:t>Gigaohm (G</a:t>
            </a:r>
            <a:r>
              <a:rPr lang="el-GR" sz="1800" b="1" smtClean="0"/>
              <a:t>Ω)</a:t>
            </a:r>
          </a:p>
          <a:p>
            <a:endParaRPr lang="en-US" sz="2000" smtClean="0"/>
          </a:p>
        </p:txBody>
      </p:sp>
      <p:sp>
        <p:nvSpPr>
          <p:cNvPr id="79876" name="Slide Number Placeholder 4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FDC0EC6D-1A78-4C9F-AB26-E4BA7B83E1CC}" type="slidenum">
              <a:rPr lang="en-US" sz="1000"/>
              <a:pPr algn="r"/>
              <a:t>69</a:t>
            </a:fld>
            <a:endParaRPr lang="en-US" sz="100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1889887B-4936-4186-82EC-9686F921A68D}" type="slidenum">
              <a:rPr lang="en-US"/>
              <a:pPr/>
              <a:t>70</a:t>
            </a:fld>
            <a:endParaRPr lang="en-US"/>
          </a:p>
        </p:txBody>
      </p:sp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smtClean="0"/>
              <a:t>2. DİRENÇ ÖLÇME</a:t>
            </a:r>
          </a:p>
        </p:txBody>
      </p:sp>
      <p:sp>
        <p:nvSpPr>
          <p:cNvPr id="8089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49325" y="1981200"/>
            <a:ext cx="7439025" cy="4114800"/>
          </a:xfrm>
        </p:spPr>
        <p:txBody>
          <a:bodyPr/>
          <a:lstStyle/>
          <a:p>
            <a:r>
              <a:rPr lang="en-US" sz="1800" b="1" smtClean="0"/>
              <a:t>2.2. İletken Direncini Etkileyen Faktörler</a:t>
            </a:r>
            <a:endParaRPr lang="en-US" sz="1800" smtClean="0"/>
          </a:p>
          <a:p>
            <a:pPr lvl="1"/>
            <a:r>
              <a:rPr lang="tr-TR" sz="1800" smtClean="0"/>
              <a:t>Bir iletkenin direnci </a:t>
            </a:r>
            <a:r>
              <a:rPr lang="tr-TR" sz="1800" b="1" smtClean="0"/>
              <a:t>“R” (ohm), iletkenin boyu “l “ (metre), kesiti “S” (mm²) ve</a:t>
            </a:r>
            <a:r>
              <a:rPr lang="en-GB" sz="1800" b="1" smtClean="0"/>
              <a:t> </a:t>
            </a:r>
            <a:r>
              <a:rPr lang="tr-TR" sz="1800" b="1" smtClean="0"/>
              <a:t>iletkenin yapıldığı malzemenin öz direnci olan</a:t>
            </a:r>
            <a:r>
              <a:rPr lang="tr-TR" sz="1800" smtClean="0"/>
              <a:t> </a:t>
            </a:r>
            <a:r>
              <a:rPr lang="tr-TR" sz="1800" b="1" smtClean="0"/>
              <a:t>“</a:t>
            </a:r>
            <a:r>
              <a:rPr lang="el-GR" sz="1800" b="1" smtClean="0"/>
              <a:t>φ”(Ω.</a:t>
            </a:r>
            <a:r>
              <a:rPr lang="tr-TR" sz="1800" b="1" smtClean="0"/>
              <a:t>mm²/m) </a:t>
            </a:r>
            <a:r>
              <a:rPr lang="tr-TR" sz="1800" smtClean="0"/>
              <a:t>ya bağlıdır. </a:t>
            </a:r>
            <a:endParaRPr lang="en-GB" sz="1800" smtClean="0"/>
          </a:p>
          <a:p>
            <a:pPr lvl="1"/>
            <a:r>
              <a:rPr lang="tr-TR" sz="1800" smtClean="0"/>
              <a:t>Direncin, boy</a:t>
            </a:r>
            <a:r>
              <a:rPr lang="en-GB" sz="1800" b="1" smtClean="0"/>
              <a:t> </a:t>
            </a:r>
            <a:r>
              <a:rPr lang="tr-TR" sz="1800" smtClean="0"/>
              <a:t>kesit ve öz dirençle arasındaki bağıntıyı veren formül:</a:t>
            </a:r>
            <a:endParaRPr lang="en-GB" sz="1800" smtClean="0"/>
          </a:p>
          <a:p>
            <a:pPr lvl="1"/>
            <a:endParaRPr lang="en-GB" sz="1800" smtClean="0"/>
          </a:p>
          <a:p>
            <a:pPr lvl="1"/>
            <a:r>
              <a:rPr lang="en-GB" sz="1800" smtClean="0"/>
              <a:t> </a:t>
            </a:r>
          </a:p>
          <a:p>
            <a:pPr lvl="1"/>
            <a:endParaRPr lang="en-GB" sz="1800" smtClean="0"/>
          </a:p>
          <a:p>
            <a:r>
              <a:rPr lang="pt-BR" sz="1600" smtClean="0"/>
              <a:t>R: İletken direnci, ohm (Ω)</a:t>
            </a:r>
          </a:p>
          <a:p>
            <a:r>
              <a:rPr lang="nl-NL" sz="1600" smtClean="0"/>
              <a:t> l: İletkenin boyu, metre (m)</a:t>
            </a:r>
          </a:p>
          <a:p>
            <a:r>
              <a:rPr lang="fi-FI" sz="1600" smtClean="0"/>
              <a:t> S: İletkenin kesiti (mm²)</a:t>
            </a:r>
          </a:p>
          <a:p>
            <a:r>
              <a:rPr lang="tr-TR" sz="1600" smtClean="0"/>
              <a:t> K: İletkenin yapıldığı malzemenin öz iletkenliği (m/</a:t>
            </a:r>
            <a:r>
              <a:rPr lang="el-GR" sz="1600" smtClean="0"/>
              <a:t>Ω.</a:t>
            </a:r>
            <a:r>
              <a:rPr lang="tr-TR" sz="1600" smtClean="0"/>
              <a:t>mm²)</a:t>
            </a:r>
          </a:p>
          <a:p>
            <a:r>
              <a:rPr lang="tr-TR" sz="1600" smtClean="0"/>
              <a:t> </a:t>
            </a:r>
            <a:r>
              <a:rPr lang="el-GR" sz="1600" smtClean="0"/>
              <a:t>φ: </a:t>
            </a:r>
            <a:r>
              <a:rPr lang="tr-TR" sz="1600" smtClean="0"/>
              <a:t>iletkenin yapıldığı malzemenin öz direnci (</a:t>
            </a:r>
            <a:r>
              <a:rPr lang="el-GR" sz="1600" smtClean="0"/>
              <a:t>Ω.</a:t>
            </a:r>
            <a:r>
              <a:rPr lang="tr-TR" sz="1600" smtClean="0"/>
              <a:t>mm²/m)</a:t>
            </a:r>
          </a:p>
          <a:p>
            <a:pPr lvl="1"/>
            <a:endParaRPr lang="en-GB" sz="1800" smtClean="0"/>
          </a:p>
          <a:p>
            <a:pPr lvl="1"/>
            <a:endParaRPr lang="tr-TR" sz="1800" smtClean="0"/>
          </a:p>
          <a:p>
            <a:endParaRPr lang="en-US" sz="1800" smtClean="0"/>
          </a:p>
        </p:txBody>
      </p:sp>
      <p:sp>
        <p:nvSpPr>
          <p:cNvPr id="80900" name="Slide Number Placeholder 4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3DF6363B-C384-43BF-9449-935BBE3CF35D}" type="slidenum">
              <a:rPr lang="en-US" sz="1000"/>
              <a:pPr algn="r"/>
              <a:t>70</a:t>
            </a:fld>
            <a:endParaRPr lang="en-US" sz="1000"/>
          </a:p>
        </p:txBody>
      </p:sp>
      <p:pic>
        <p:nvPicPr>
          <p:cNvPr id="80901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57375" y="4000500"/>
            <a:ext cx="6069013" cy="642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9127CBBB-91E6-47EB-A623-2E096C55A6FC}" type="slidenum">
              <a:rPr lang="en-US"/>
              <a:pPr/>
              <a:t>71</a:t>
            </a:fld>
            <a:endParaRPr lang="en-US"/>
          </a:p>
        </p:txBody>
      </p:sp>
      <p:sp>
        <p:nvSpPr>
          <p:cNvPr id="81922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smtClean="0"/>
              <a:t>2. DİRENÇ ÖLÇME</a:t>
            </a:r>
          </a:p>
        </p:txBody>
      </p:sp>
      <p:sp>
        <p:nvSpPr>
          <p:cNvPr id="81923" name="Slide Number Placeholder 3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CAE1271D-B730-430F-87BE-4BEEC10465F8}" type="slidenum">
              <a:rPr lang="en-US" sz="1000"/>
              <a:pPr algn="r"/>
              <a:t>71</a:t>
            </a:fld>
            <a:endParaRPr lang="en-US" sz="1000"/>
          </a:p>
        </p:txBody>
      </p:sp>
      <p:sp>
        <p:nvSpPr>
          <p:cNvPr id="81924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sz="2000" b="1" smtClean="0"/>
              <a:t>Özdirenç: </a:t>
            </a:r>
            <a:r>
              <a:rPr lang="tr-TR" sz="2000" smtClean="0"/>
              <a:t>Birim uzunluk (1 metre) ve birim kesitteki (1mm2) iletkenin direncine</a:t>
            </a:r>
            <a:r>
              <a:rPr lang="en-GB" sz="2000" b="1" smtClean="0"/>
              <a:t> </a:t>
            </a:r>
            <a:r>
              <a:rPr lang="tr-TR" sz="2000" smtClean="0"/>
              <a:t>özdirenç denir. Özdirenç “</a:t>
            </a:r>
            <a:r>
              <a:rPr lang="el-GR" sz="2000" smtClean="0"/>
              <a:t>φ” </a:t>
            </a:r>
            <a:r>
              <a:rPr lang="tr-TR" sz="2000" smtClean="0"/>
              <a:t>ile gösterilir.</a:t>
            </a:r>
          </a:p>
          <a:p>
            <a:r>
              <a:rPr lang="tr-TR" sz="2000" b="1" smtClean="0"/>
              <a:t>Öziletkenlik: </a:t>
            </a:r>
            <a:r>
              <a:rPr lang="tr-TR" sz="2000" smtClean="0"/>
              <a:t>Özdirencin tersine öziletkenlik denir. “K” harfi ile gösterilir.</a:t>
            </a:r>
          </a:p>
          <a:p>
            <a:r>
              <a:rPr lang="tr-TR" sz="2000" smtClean="0"/>
              <a:t>Yukarıdaki formülde görüldüğü gibi:</a:t>
            </a:r>
          </a:p>
          <a:p>
            <a:r>
              <a:rPr lang="tr-TR" sz="2000" smtClean="0"/>
              <a:t>İletkenin boyu uzadıkça direnci de artar, boyu kısaldıkça direnci azalır. Özetle boy ile</a:t>
            </a:r>
            <a:r>
              <a:rPr lang="en-GB" sz="2000" smtClean="0"/>
              <a:t> </a:t>
            </a:r>
            <a:r>
              <a:rPr lang="tr-TR" sz="2000" smtClean="0"/>
              <a:t>direnç doğru orantılıdır.</a:t>
            </a:r>
          </a:p>
          <a:p>
            <a:r>
              <a:rPr lang="tr-TR" sz="2000" smtClean="0"/>
              <a:t> İletkenin kesiti artıkça direnci azalır, kesit azaldıkça direnç artar. Özetle kesit ile</a:t>
            </a:r>
            <a:r>
              <a:rPr lang="en-GB" sz="2000" smtClean="0"/>
              <a:t> d</a:t>
            </a:r>
            <a:r>
              <a:rPr lang="tr-TR" sz="2000" smtClean="0"/>
              <a:t>irenç ters orantılıdır.</a:t>
            </a:r>
          </a:p>
          <a:p>
            <a:r>
              <a:rPr lang="tr-TR" sz="2000" smtClean="0"/>
              <a:t> Özdirenç iletkenin iletkenlik kalitesini gösterir. İletkenin yapıldığı metalin özdirenç</a:t>
            </a:r>
            <a:r>
              <a:rPr lang="en-GB" sz="2000" smtClean="0"/>
              <a:t> </a:t>
            </a:r>
            <a:r>
              <a:rPr lang="tr-TR" sz="2000" smtClean="0"/>
              <a:t>değeri küçük ise direnç küçük, özdirenç değeri büyük ise direnç değeri büyüktür.</a:t>
            </a:r>
          </a:p>
          <a:p>
            <a:r>
              <a:rPr lang="tr-TR" sz="2000" smtClean="0"/>
              <a:t>Özetle özdirenç ile direnç doğru orantılıdır.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8A5B357F-BD84-4AB0-861A-89BD524BF067}" type="slidenum">
              <a:rPr lang="en-US"/>
              <a:pPr/>
              <a:t>72</a:t>
            </a:fld>
            <a:endParaRPr lang="en-US"/>
          </a:p>
        </p:txBody>
      </p:sp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smtClean="0"/>
              <a:t>2. DİRENÇ ÖLÇME</a:t>
            </a:r>
          </a:p>
        </p:txBody>
      </p:sp>
      <p:sp>
        <p:nvSpPr>
          <p:cNvPr id="8294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49325" y="1981200"/>
            <a:ext cx="7510463" cy="4114800"/>
          </a:xfrm>
        </p:spPr>
        <p:txBody>
          <a:bodyPr/>
          <a:lstStyle/>
          <a:p>
            <a:r>
              <a:rPr lang="en-US" sz="2000" b="1" smtClean="0"/>
              <a:t>2.2.1. Direnç De</a:t>
            </a:r>
            <a:r>
              <a:rPr lang="tr-TR" sz="2000" b="1" smtClean="0"/>
              <a:t>ğ</a:t>
            </a:r>
            <a:r>
              <a:rPr lang="en-US" sz="2000" b="1" smtClean="0"/>
              <a:t>erinin </a:t>
            </a:r>
            <a:r>
              <a:rPr lang="tr-TR" sz="2000" b="1" smtClean="0"/>
              <a:t>İ</a:t>
            </a:r>
            <a:r>
              <a:rPr lang="en-US" sz="2000" b="1" smtClean="0"/>
              <a:t>letkenin Boyu ile De</a:t>
            </a:r>
            <a:r>
              <a:rPr lang="tr-TR" sz="2000" b="1" smtClean="0"/>
              <a:t>ğ</a:t>
            </a:r>
            <a:r>
              <a:rPr lang="en-US" sz="2000" b="1" smtClean="0"/>
              <a:t>i</a:t>
            </a:r>
            <a:r>
              <a:rPr lang="tr-TR" sz="2000" b="1" smtClean="0"/>
              <a:t>ş</a:t>
            </a:r>
            <a:r>
              <a:rPr lang="en-US" sz="2000" b="1" smtClean="0"/>
              <a:t>imi</a:t>
            </a:r>
          </a:p>
          <a:p>
            <a:pPr lvl="1"/>
            <a:r>
              <a:rPr lang="tr-TR" sz="1800" smtClean="0"/>
              <a:t>Bu değerlendirmede; kesitleri ve cinslerinin aynı, boyları farklı iki iletkenin direnç</a:t>
            </a:r>
            <a:r>
              <a:rPr lang="en-GB" sz="1800" smtClean="0"/>
              <a:t> </a:t>
            </a:r>
            <a:r>
              <a:rPr lang="tr-TR" sz="1800" smtClean="0"/>
              <a:t>değerindeki boy farkından kaynaklanan değer bulunarak, iletken boyunun değişimi ile direnç</a:t>
            </a:r>
            <a:r>
              <a:rPr lang="en-GB" sz="1800" smtClean="0"/>
              <a:t> </a:t>
            </a:r>
            <a:r>
              <a:rPr lang="tr-TR" sz="1800" smtClean="0"/>
              <a:t>değerinde oluşan fark incelenecektir.</a:t>
            </a:r>
            <a:endParaRPr lang="en-GB" sz="1800" smtClean="0"/>
          </a:p>
          <a:p>
            <a:pPr lvl="1"/>
            <a:endParaRPr lang="en-US" sz="2000" smtClean="0"/>
          </a:p>
          <a:p>
            <a:endParaRPr lang="en-US" sz="1400" smtClean="0"/>
          </a:p>
        </p:txBody>
      </p:sp>
      <p:sp>
        <p:nvSpPr>
          <p:cNvPr id="82948" name="Slide Number Placeholder 4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5C2B6CA8-5218-4A88-9C82-23074EAF92DB}" type="slidenum">
              <a:rPr lang="en-US" sz="1000"/>
              <a:pPr algn="r"/>
              <a:t>72</a:t>
            </a:fld>
            <a:endParaRPr lang="en-US" sz="1000"/>
          </a:p>
        </p:txBody>
      </p:sp>
      <p:pic>
        <p:nvPicPr>
          <p:cNvPr id="82949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5775" y="3643313"/>
            <a:ext cx="8086725" cy="1581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2950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85775" y="5214938"/>
            <a:ext cx="8086725" cy="1581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2951" name="Rectangle 8"/>
          <p:cNvSpPr>
            <a:spLocks noChangeArrowheads="1"/>
          </p:cNvSpPr>
          <p:nvPr/>
        </p:nvSpPr>
        <p:spPr bwMode="auto">
          <a:xfrm>
            <a:off x="5357813" y="5143500"/>
            <a:ext cx="2500312" cy="92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tr-TR" b="1"/>
              <a:t>Şekil 2.1: Kesit ve cinsleri aynı, boyları farklı iki iletken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63FBDAD8-5D07-4A9A-BC57-AD361E3397E4}" type="slidenum">
              <a:rPr lang="en-US"/>
              <a:pPr/>
              <a:t>73</a:t>
            </a:fld>
            <a:endParaRPr lang="en-US"/>
          </a:p>
        </p:txBody>
      </p:sp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smtClean="0"/>
              <a:t>2. DİRENÇ ÖLÇME</a:t>
            </a:r>
          </a:p>
        </p:txBody>
      </p:sp>
      <p:sp>
        <p:nvSpPr>
          <p:cNvPr id="83971" name="Slide Number Placeholder 3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DF498617-4174-49BD-890C-50161A47EA36}" type="slidenum">
              <a:rPr lang="en-US" sz="1000"/>
              <a:pPr algn="r"/>
              <a:t>73</a:t>
            </a:fld>
            <a:endParaRPr lang="en-US" sz="1000"/>
          </a:p>
        </p:txBody>
      </p:sp>
      <p:sp>
        <p:nvSpPr>
          <p:cNvPr id="83972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sz="2000" smtClean="0"/>
              <a:t>S</a:t>
            </a:r>
            <a:r>
              <a:rPr lang="tr-TR" sz="1100" smtClean="0"/>
              <a:t>1</a:t>
            </a:r>
            <a:r>
              <a:rPr lang="tr-TR" sz="2000" smtClean="0"/>
              <a:t>=0,20 mm²</a:t>
            </a:r>
            <a:r>
              <a:rPr lang="en-GB" sz="2000" smtClean="0"/>
              <a:t>           </a:t>
            </a:r>
            <a:r>
              <a:rPr lang="tr-TR" sz="2000" smtClean="0"/>
              <a:t> S</a:t>
            </a:r>
            <a:r>
              <a:rPr lang="tr-TR" sz="1100" smtClean="0"/>
              <a:t>2</a:t>
            </a:r>
            <a:r>
              <a:rPr lang="tr-TR" sz="2000" smtClean="0"/>
              <a:t>=0,20 mm²</a:t>
            </a:r>
          </a:p>
          <a:p>
            <a:r>
              <a:rPr lang="tr-TR" sz="2000" smtClean="0"/>
              <a:t>I</a:t>
            </a:r>
            <a:r>
              <a:rPr lang="tr-TR" sz="1100" smtClean="0"/>
              <a:t>1</a:t>
            </a:r>
            <a:r>
              <a:rPr lang="tr-TR" sz="2000" smtClean="0"/>
              <a:t>=50 m </a:t>
            </a:r>
            <a:r>
              <a:rPr lang="en-GB" sz="2000" smtClean="0"/>
              <a:t>                     </a:t>
            </a:r>
            <a:r>
              <a:rPr lang="tr-TR" sz="2000" smtClean="0"/>
              <a:t>I</a:t>
            </a:r>
            <a:r>
              <a:rPr lang="tr-TR" sz="1100" smtClean="0"/>
              <a:t>2</a:t>
            </a:r>
            <a:r>
              <a:rPr lang="tr-TR" sz="2000" smtClean="0"/>
              <a:t>=25 m</a:t>
            </a:r>
          </a:p>
          <a:p>
            <a:r>
              <a:rPr lang="el-GR" sz="2000" smtClean="0"/>
              <a:t>φ=1,1 </a:t>
            </a:r>
            <a:r>
              <a:rPr lang="en-GB" sz="2000" smtClean="0"/>
              <a:t>                         </a:t>
            </a:r>
            <a:r>
              <a:rPr lang="el-GR" sz="2000" smtClean="0"/>
              <a:t>φ</a:t>
            </a:r>
            <a:r>
              <a:rPr lang="el-GR" sz="1100" smtClean="0"/>
              <a:t>2</a:t>
            </a:r>
            <a:r>
              <a:rPr lang="el-GR" sz="2000" smtClean="0"/>
              <a:t>=1,1</a:t>
            </a:r>
          </a:p>
          <a:p>
            <a:r>
              <a:rPr lang="tr-TR" sz="2000" smtClean="0"/>
              <a:t>R</a:t>
            </a:r>
            <a:r>
              <a:rPr lang="tr-TR" sz="1100" smtClean="0"/>
              <a:t>1</a:t>
            </a:r>
            <a:r>
              <a:rPr lang="tr-TR" sz="2000" smtClean="0"/>
              <a:t>= ? </a:t>
            </a:r>
            <a:r>
              <a:rPr lang="en-GB" sz="2000" smtClean="0"/>
              <a:t>                          </a:t>
            </a:r>
            <a:r>
              <a:rPr lang="tr-TR" sz="2000" smtClean="0"/>
              <a:t>R</a:t>
            </a:r>
            <a:r>
              <a:rPr lang="tr-TR" sz="1100" smtClean="0"/>
              <a:t>2</a:t>
            </a:r>
            <a:r>
              <a:rPr lang="tr-TR" sz="2000" smtClean="0"/>
              <a:t>= ?</a:t>
            </a:r>
            <a:endParaRPr lang="en-US" sz="2000" smtClean="0"/>
          </a:p>
          <a:p>
            <a:r>
              <a:rPr lang="en-GB" smtClean="0"/>
              <a:t> </a:t>
            </a:r>
          </a:p>
          <a:p>
            <a:endParaRPr lang="en-GB" smtClean="0"/>
          </a:p>
          <a:p>
            <a:r>
              <a:rPr lang="tr-TR" sz="2000" smtClean="0"/>
              <a:t>Bu sonuç bize gösteriyor ki uzunluk ile direnç değeri arasında doğru orantı vardır.</a:t>
            </a:r>
            <a:r>
              <a:rPr lang="en-GB" sz="2000" smtClean="0"/>
              <a:t> </a:t>
            </a:r>
            <a:r>
              <a:rPr lang="tr-TR" sz="2000" smtClean="0"/>
              <a:t>Kesiti ve cinsi değişmeyen bir iletkenin uzunluğu artarsa direnç değeri artar (R1), kısalırsa</a:t>
            </a:r>
            <a:r>
              <a:rPr lang="en-GB" sz="2000" smtClean="0"/>
              <a:t> </a:t>
            </a:r>
            <a:r>
              <a:rPr lang="tr-TR" sz="2000" smtClean="0"/>
              <a:t>direnç değeri azalır (R2).</a:t>
            </a:r>
          </a:p>
          <a:p>
            <a:endParaRPr lang="tr-TR" smtClean="0"/>
          </a:p>
        </p:txBody>
      </p:sp>
      <p:pic>
        <p:nvPicPr>
          <p:cNvPr id="8397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28750" y="3643313"/>
            <a:ext cx="7278688" cy="785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233A53D2-6A97-4431-A05C-ECA6E65FCA91}" type="slidenum">
              <a:rPr lang="en-US"/>
              <a:pPr/>
              <a:t>74</a:t>
            </a:fld>
            <a:endParaRPr lang="en-US"/>
          </a:p>
        </p:txBody>
      </p:sp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smtClean="0"/>
              <a:t>2. DİRENÇ ÖLÇME</a:t>
            </a:r>
          </a:p>
        </p:txBody>
      </p:sp>
      <p:sp>
        <p:nvSpPr>
          <p:cNvPr id="84995" name="Rectangle 4"/>
          <p:cNvSpPr>
            <a:spLocks noGrp="1" noChangeArrowheads="1"/>
          </p:cNvSpPr>
          <p:nvPr>
            <p:ph type="body" sz="half" idx="1"/>
          </p:nvPr>
        </p:nvSpPr>
        <p:spPr>
          <a:xfrm>
            <a:off x="949325" y="1700213"/>
            <a:ext cx="7294563" cy="4395787"/>
          </a:xfrm>
        </p:spPr>
        <p:txBody>
          <a:bodyPr/>
          <a:lstStyle/>
          <a:p>
            <a:r>
              <a:rPr lang="en-US" sz="2000" b="1" smtClean="0"/>
              <a:t>2.2.2. Direnç De</a:t>
            </a:r>
            <a:r>
              <a:rPr lang="tr-TR" sz="2000" b="1" smtClean="0"/>
              <a:t>ğ</a:t>
            </a:r>
            <a:r>
              <a:rPr lang="en-US" sz="2000" b="1" smtClean="0"/>
              <a:t>erinin </a:t>
            </a:r>
            <a:r>
              <a:rPr lang="tr-TR" sz="2000" b="1" smtClean="0"/>
              <a:t>İ</a:t>
            </a:r>
            <a:r>
              <a:rPr lang="en-US" sz="2000" b="1" smtClean="0"/>
              <a:t>letkenin Kesiti ile De</a:t>
            </a:r>
            <a:r>
              <a:rPr lang="tr-TR" sz="2000" b="1" smtClean="0"/>
              <a:t>ğ</a:t>
            </a:r>
            <a:r>
              <a:rPr lang="en-US" sz="2000" b="1" smtClean="0"/>
              <a:t>i</a:t>
            </a:r>
            <a:r>
              <a:rPr lang="tr-TR" sz="2000" b="1" smtClean="0"/>
              <a:t>ş</a:t>
            </a:r>
            <a:r>
              <a:rPr lang="en-US" sz="2000" b="1" smtClean="0"/>
              <a:t>imi</a:t>
            </a:r>
            <a:endParaRPr lang="en-US" sz="2000" smtClean="0"/>
          </a:p>
          <a:p>
            <a:pPr lvl="1"/>
            <a:r>
              <a:rPr lang="tr-TR" sz="2000" smtClean="0"/>
              <a:t>Bu değerlendirmede; boyları ve cinsleri aynı, kesitleri farklı iki iletkenin direnç</a:t>
            </a:r>
            <a:r>
              <a:rPr lang="en-GB" sz="2000" smtClean="0"/>
              <a:t> </a:t>
            </a:r>
            <a:r>
              <a:rPr lang="tr-TR" sz="2000" smtClean="0"/>
              <a:t>değerindeki kesitlerine göre bulunup kesitin değişimi ile direnç değerinde oluşan fark</a:t>
            </a:r>
            <a:r>
              <a:rPr lang="en-GB" sz="2000" smtClean="0"/>
              <a:t> </a:t>
            </a:r>
            <a:r>
              <a:rPr lang="tr-TR" sz="2000" smtClean="0"/>
              <a:t>incelenecektir.</a:t>
            </a:r>
          </a:p>
          <a:p>
            <a:pPr lvl="1"/>
            <a:endParaRPr lang="en-US" sz="2000" smtClean="0"/>
          </a:p>
        </p:txBody>
      </p:sp>
      <p:sp>
        <p:nvSpPr>
          <p:cNvPr id="84996" name="Slide Number Placeholder 5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A71B4A11-460B-4E74-929D-C8BDC1BD9AFB}" type="slidenum">
              <a:rPr lang="en-US" sz="1000"/>
              <a:pPr algn="r"/>
              <a:t>74</a:t>
            </a:fld>
            <a:endParaRPr lang="en-US" sz="1000"/>
          </a:p>
        </p:txBody>
      </p:sp>
      <p:pic>
        <p:nvPicPr>
          <p:cNvPr id="84997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2875" y="3357563"/>
            <a:ext cx="7658100" cy="169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4998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42875" y="5000625"/>
            <a:ext cx="7658100" cy="169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4999" name="Rectangle 10"/>
          <p:cNvSpPr>
            <a:spLocks noChangeArrowheads="1"/>
          </p:cNvSpPr>
          <p:nvPr/>
        </p:nvSpPr>
        <p:spPr bwMode="auto">
          <a:xfrm>
            <a:off x="7429500" y="3754438"/>
            <a:ext cx="1500188" cy="203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tr-TR" b="1"/>
              <a:t>Şekil 2.2: Boyları ve cinsleri aynı, kesitleri farklı iki iletken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1279C4E0-BEF2-4EC6-BD93-04A81320E467}" type="slidenum">
              <a:rPr lang="en-US"/>
              <a:pPr/>
              <a:t>75</a:t>
            </a:fld>
            <a:endParaRPr lang="en-US"/>
          </a:p>
        </p:txBody>
      </p:sp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smtClean="0"/>
              <a:t>2. DİRENÇ ÖLÇME</a:t>
            </a:r>
          </a:p>
        </p:txBody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sz="1800" smtClean="0"/>
              <a:t>S1=0,20 mm² </a:t>
            </a:r>
            <a:r>
              <a:rPr lang="en-GB" sz="1800" smtClean="0"/>
              <a:t>   </a:t>
            </a:r>
            <a:r>
              <a:rPr lang="tr-TR" sz="1800" smtClean="0"/>
              <a:t>S2=0,10 mm²</a:t>
            </a:r>
          </a:p>
          <a:p>
            <a:r>
              <a:rPr lang="tr-TR" sz="1800" smtClean="0"/>
              <a:t>I1=100 m</a:t>
            </a:r>
            <a:r>
              <a:rPr lang="en-GB" sz="1800" smtClean="0"/>
              <a:t>         </a:t>
            </a:r>
            <a:r>
              <a:rPr lang="tr-TR" sz="1800" smtClean="0"/>
              <a:t> </a:t>
            </a:r>
            <a:r>
              <a:rPr lang="en-GB" sz="1800" smtClean="0"/>
              <a:t> </a:t>
            </a:r>
            <a:r>
              <a:rPr lang="tr-TR" sz="1800" smtClean="0"/>
              <a:t>I2=100 m</a:t>
            </a:r>
          </a:p>
          <a:p>
            <a:r>
              <a:rPr lang="el-GR" sz="1800" smtClean="0"/>
              <a:t>φ1=1,1 </a:t>
            </a:r>
            <a:r>
              <a:rPr lang="en-GB" sz="1800" smtClean="0"/>
              <a:t>             </a:t>
            </a:r>
            <a:r>
              <a:rPr lang="el-GR" sz="1800" smtClean="0"/>
              <a:t>φ2=1,1</a:t>
            </a:r>
          </a:p>
          <a:p>
            <a:r>
              <a:rPr lang="tr-TR" sz="1800" smtClean="0"/>
              <a:t>R1= ? </a:t>
            </a:r>
            <a:r>
              <a:rPr lang="en-GB" sz="1800" smtClean="0"/>
              <a:t>               </a:t>
            </a:r>
            <a:r>
              <a:rPr lang="tr-TR" sz="1800" smtClean="0"/>
              <a:t>R2= ?</a:t>
            </a:r>
            <a:endParaRPr lang="en-GB" sz="1800" smtClean="0"/>
          </a:p>
          <a:p>
            <a:endParaRPr lang="en-GB" sz="1800" smtClean="0"/>
          </a:p>
          <a:p>
            <a:r>
              <a:rPr lang="en-GB" sz="1800" smtClean="0"/>
              <a:t>Xcxc</a:t>
            </a:r>
          </a:p>
          <a:p>
            <a:endParaRPr lang="en-GB" sz="1800" smtClean="0"/>
          </a:p>
          <a:p>
            <a:endParaRPr lang="en-GB" sz="1800" smtClean="0"/>
          </a:p>
          <a:p>
            <a:r>
              <a:rPr lang="tr-TR" sz="1800" smtClean="0"/>
              <a:t>Bu sonuç bize gösteriyor ki kesit ile direnç değeri arasında ters orantı vardır. Boyu ve</a:t>
            </a:r>
            <a:r>
              <a:rPr lang="en-GB" sz="1800" smtClean="0"/>
              <a:t> </a:t>
            </a:r>
            <a:r>
              <a:rPr lang="tr-TR" sz="1800" smtClean="0"/>
              <a:t>cinsi değişmeyen bir iletkenin kesiti artarsa direnç değeri azalır (R1), kesit azalırsa direnç</a:t>
            </a:r>
            <a:r>
              <a:rPr lang="en-GB" sz="1800" smtClean="0"/>
              <a:t> </a:t>
            </a:r>
            <a:r>
              <a:rPr lang="tr-TR" sz="1800" smtClean="0"/>
              <a:t>değeri artar (R2).</a:t>
            </a:r>
          </a:p>
          <a:p>
            <a:endParaRPr lang="en-GB" sz="1800" smtClean="0"/>
          </a:p>
          <a:p>
            <a:endParaRPr lang="en-GB" sz="1800" smtClean="0"/>
          </a:p>
          <a:p>
            <a:pPr>
              <a:buFont typeface="Wingdings" pitchFamily="2" charset="2"/>
              <a:buNone/>
            </a:pPr>
            <a:r>
              <a:rPr lang="en-GB" sz="1800" smtClean="0"/>
              <a:t> </a:t>
            </a:r>
          </a:p>
          <a:p>
            <a:endParaRPr lang="tr-TR" sz="1800" smtClean="0"/>
          </a:p>
        </p:txBody>
      </p:sp>
      <p:sp>
        <p:nvSpPr>
          <p:cNvPr id="86020" name="Slide Number Placeholder 5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F39C2517-3712-42C1-B809-F98BBC9BB27B}" type="slidenum">
              <a:rPr lang="en-US" sz="1000"/>
              <a:pPr algn="r"/>
              <a:t>75</a:t>
            </a:fld>
            <a:endParaRPr lang="en-US" sz="1000"/>
          </a:p>
        </p:txBody>
      </p:sp>
      <p:pic>
        <p:nvPicPr>
          <p:cNvPr id="86021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57313" y="3429000"/>
            <a:ext cx="6621462" cy="785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D73B715B-F25D-49F1-B667-DBA58187FDC2}" type="slidenum">
              <a:rPr lang="en-US"/>
              <a:pPr/>
              <a:t>76</a:t>
            </a:fld>
            <a:endParaRPr lang="en-US"/>
          </a:p>
        </p:txBody>
      </p:sp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smtClean="0"/>
              <a:t>2. DİRENÇ ÖLÇME</a:t>
            </a:r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sz="2000" b="1" smtClean="0"/>
              <a:t>2.2.3. Direnç Değerinin İletkenin Cinsi ile Değişimi</a:t>
            </a:r>
          </a:p>
          <a:p>
            <a:pPr lvl="1"/>
            <a:r>
              <a:rPr lang="tr-TR" sz="1800" smtClean="0"/>
              <a:t>Bu değerlendirmede; boyları ve kesitleri aynı, cinsleri (özdirençleri) farklı iki iletkenin</a:t>
            </a:r>
            <a:r>
              <a:rPr lang="en-GB" sz="1800" smtClean="0"/>
              <a:t> </a:t>
            </a:r>
            <a:r>
              <a:rPr lang="tr-TR" sz="1800" smtClean="0"/>
              <a:t>özdirençlerine göre direnç değerleri bulunarak özdirenç değişimi ile direnç değerinde oluşan</a:t>
            </a:r>
            <a:r>
              <a:rPr lang="en-GB" sz="1800" smtClean="0"/>
              <a:t> </a:t>
            </a:r>
            <a:r>
              <a:rPr lang="tr-TR" sz="1800" smtClean="0"/>
              <a:t>fark incelenecektir.</a:t>
            </a:r>
            <a:endParaRPr lang="en-GB" sz="1800" smtClean="0"/>
          </a:p>
          <a:p>
            <a:pPr lvl="1"/>
            <a:endParaRPr lang="tr-TR" sz="1800" smtClean="0"/>
          </a:p>
          <a:p>
            <a:pPr>
              <a:buFont typeface="Wingdings" pitchFamily="2" charset="2"/>
              <a:buNone/>
            </a:pPr>
            <a:r>
              <a:rPr lang="en-GB" smtClean="0"/>
              <a:t> </a:t>
            </a:r>
            <a:endParaRPr lang="tr-TR" smtClean="0"/>
          </a:p>
        </p:txBody>
      </p:sp>
      <p:sp>
        <p:nvSpPr>
          <p:cNvPr id="87044" name="Slide Number Placeholder 5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BBA75B80-66D1-4D14-956B-2D60BFEE18F7}" type="slidenum">
              <a:rPr lang="en-US" sz="1000"/>
              <a:pPr algn="r"/>
              <a:t>76</a:t>
            </a:fld>
            <a:endParaRPr lang="en-US" sz="1000"/>
          </a:p>
        </p:txBody>
      </p:sp>
      <p:pic>
        <p:nvPicPr>
          <p:cNvPr id="8704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7250" y="3570288"/>
            <a:ext cx="7634288" cy="300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D02FA9B0-0D7D-4A68-AEF3-AC279791316E}" type="slidenum">
              <a:rPr lang="en-US"/>
              <a:pPr/>
              <a:t>77</a:t>
            </a:fld>
            <a:endParaRPr lang="en-US"/>
          </a:p>
        </p:txBody>
      </p:sp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smtClean="0"/>
              <a:t>2. DİRENÇ ÖLÇME</a:t>
            </a:r>
          </a:p>
        </p:txBody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sz="2000" smtClean="0"/>
              <a:t>S</a:t>
            </a:r>
            <a:r>
              <a:rPr lang="tr-TR" sz="1100" smtClean="0"/>
              <a:t>1</a:t>
            </a:r>
            <a:r>
              <a:rPr lang="tr-TR" sz="2000" smtClean="0"/>
              <a:t>=0,20 mm² </a:t>
            </a:r>
            <a:r>
              <a:rPr lang="en-GB" sz="2000" smtClean="0"/>
              <a:t>            </a:t>
            </a:r>
            <a:r>
              <a:rPr lang="tr-TR" sz="2000" smtClean="0"/>
              <a:t>S</a:t>
            </a:r>
            <a:r>
              <a:rPr lang="tr-TR" sz="1100" smtClean="0"/>
              <a:t>2</a:t>
            </a:r>
            <a:r>
              <a:rPr lang="tr-TR" sz="2000" smtClean="0"/>
              <a:t>=0,20 mm²</a:t>
            </a:r>
          </a:p>
          <a:p>
            <a:r>
              <a:rPr lang="tr-TR" sz="2000" smtClean="0"/>
              <a:t>I</a:t>
            </a:r>
            <a:r>
              <a:rPr lang="tr-TR" sz="1100" smtClean="0"/>
              <a:t>1</a:t>
            </a:r>
            <a:r>
              <a:rPr lang="tr-TR" sz="2000" smtClean="0"/>
              <a:t>=100 m </a:t>
            </a:r>
            <a:r>
              <a:rPr lang="en-GB" sz="2000" smtClean="0"/>
              <a:t>                    </a:t>
            </a:r>
            <a:r>
              <a:rPr lang="tr-TR" sz="2000" smtClean="0"/>
              <a:t>I</a:t>
            </a:r>
            <a:r>
              <a:rPr lang="tr-TR" sz="1100" smtClean="0"/>
              <a:t>2</a:t>
            </a:r>
            <a:r>
              <a:rPr lang="tr-TR" sz="2000" smtClean="0"/>
              <a:t>=100 m</a:t>
            </a:r>
          </a:p>
          <a:p>
            <a:r>
              <a:rPr lang="el-GR" sz="2000" smtClean="0"/>
              <a:t>φ=0,0178 (</a:t>
            </a:r>
            <a:r>
              <a:rPr lang="tr-TR" sz="2000" smtClean="0"/>
              <a:t>Bakır) </a:t>
            </a:r>
            <a:r>
              <a:rPr lang="en-GB" sz="2000" smtClean="0"/>
              <a:t>        </a:t>
            </a:r>
            <a:r>
              <a:rPr lang="el-GR" sz="2000" smtClean="0"/>
              <a:t>φ=1,1 (</a:t>
            </a:r>
            <a:r>
              <a:rPr lang="tr-TR" sz="2000" smtClean="0"/>
              <a:t>Krom-Nikel)</a:t>
            </a:r>
          </a:p>
          <a:p>
            <a:r>
              <a:rPr lang="tr-TR" sz="2000" smtClean="0"/>
              <a:t>R</a:t>
            </a:r>
            <a:r>
              <a:rPr lang="tr-TR" sz="1100" smtClean="0"/>
              <a:t>1</a:t>
            </a:r>
            <a:r>
              <a:rPr lang="tr-TR" sz="2000" smtClean="0"/>
              <a:t>= ? </a:t>
            </a:r>
            <a:r>
              <a:rPr lang="en-GB" sz="2000" smtClean="0"/>
              <a:t>                          </a:t>
            </a:r>
            <a:r>
              <a:rPr lang="tr-TR" sz="2000" smtClean="0"/>
              <a:t>R</a:t>
            </a:r>
            <a:r>
              <a:rPr lang="tr-TR" sz="1100" smtClean="0"/>
              <a:t>2</a:t>
            </a:r>
            <a:r>
              <a:rPr lang="tr-TR" sz="2000" smtClean="0"/>
              <a:t>= ?</a:t>
            </a:r>
            <a:endParaRPr lang="en-GB" sz="2000" smtClean="0"/>
          </a:p>
          <a:p>
            <a:endParaRPr lang="en-GB" sz="2000" smtClean="0"/>
          </a:p>
          <a:p>
            <a:r>
              <a:rPr lang="en-GB" sz="2000" smtClean="0"/>
              <a:t>   </a:t>
            </a:r>
          </a:p>
          <a:p>
            <a:endParaRPr lang="en-GB" sz="2000" smtClean="0"/>
          </a:p>
          <a:p>
            <a:r>
              <a:rPr lang="tr-TR" sz="2000" smtClean="0"/>
              <a:t>Bu sonuç bize gösteriyor ki iletkenin özdirenci ile direnç değeri arasında doğru orantı</a:t>
            </a:r>
            <a:r>
              <a:rPr lang="en-GB" sz="2000" smtClean="0"/>
              <a:t> </a:t>
            </a:r>
            <a:r>
              <a:rPr lang="tr-TR" sz="2000" smtClean="0"/>
              <a:t>vardır. Boyu ve kesiti aynı olan iletkenlerden, özdirenci büyük olanın direnç değeri büyük</a:t>
            </a:r>
            <a:r>
              <a:rPr lang="en-GB" sz="2000" smtClean="0"/>
              <a:t> </a:t>
            </a:r>
            <a:r>
              <a:rPr lang="tr-TR" sz="2000" smtClean="0"/>
              <a:t>(R1), özdirenci küçük olanın direnç değeri küçüktür (R2).</a:t>
            </a:r>
          </a:p>
          <a:p>
            <a:endParaRPr lang="en-GB" sz="2000" smtClean="0"/>
          </a:p>
        </p:txBody>
      </p:sp>
      <p:sp>
        <p:nvSpPr>
          <p:cNvPr id="88068" name="Slide Number Placeholder 5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5E42E92B-C48D-4B2E-A98A-AE85D3863487}" type="slidenum">
              <a:rPr lang="en-US" sz="1000"/>
              <a:pPr algn="r"/>
              <a:t>77</a:t>
            </a:fld>
            <a:endParaRPr lang="en-US" sz="1000"/>
          </a:p>
        </p:txBody>
      </p:sp>
      <p:pic>
        <p:nvPicPr>
          <p:cNvPr id="88069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00188" y="3857625"/>
            <a:ext cx="6286500" cy="719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822FB932-6F6C-460E-A9AD-3FE9CA1CA728}" type="slidenum">
              <a:rPr lang="en-US"/>
              <a:pPr/>
              <a:t>78</a:t>
            </a:fld>
            <a:endParaRPr lang="en-US"/>
          </a:p>
        </p:txBody>
      </p:sp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smtClean="0"/>
              <a:t>2. DİRENÇ ÖLÇME</a:t>
            </a:r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sz="2000" smtClean="0"/>
              <a:t>Tablo 2.1 de çeşitli iletkenler özdirençleri ve öziletkenlikleri verilmiştir.</a:t>
            </a:r>
            <a:endParaRPr lang="en-GB" sz="2000" smtClean="0"/>
          </a:p>
          <a:p>
            <a:endParaRPr lang="tr-TR" sz="2000" smtClean="0"/>
          </a:p>
        </p:txBody>
      </p:sp>
      <p:sp>
        <p:nvSpPr>
          <p:cNvPr id="89092" name="Slide Number Placeholder 4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FF19198C-F9F0-493E-8ACA-0C140ACC5F0C}" type="slidenum">
              <a:rPr lang="en-US" sz="1000"/>
              <a:pPr algn="r"/>
              <a:t>78</a:t>
            </a:fld>
            <a:endParaRPr lang="en-US" sz="1000"/>
          </a:p>
        </p:txBody>
      </p:sp>
      <p:pic>
        <p:nvPicPr>
          <p:cNvPr id="89093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43000" y="2786063"/>
            <a:ext cx="7610475" cy="2543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32AEDBB0-6C80-4BDE-BE2B-DB41AC41594A}" type="slidenum">
              <a:rPr lang="en-US"/>
              <a:pPr/>
              <a:t>79</a:t>
            </a:fld>
            <a:endParaRPr lang="en-US"/>
          </a:p>
        </p:txBody>
      </p:sp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smtClean="0"/>
              <a:t>2. DİRENÇ ÖLÇME</a:t>
            </a:r>
          </a:p>
        </p:txBody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sz="2000" b="1" smtClean="0"/>
              <a:t>2.2.4. Direncin Sıcaklıkla Değişimi</a:t>
            </a:r>
          </a:p>
          <a:p>
            <a:pPr lvl="1"/>
            <a:r>
              <a:rPr lang="tr-TR" sz="2000" smtClean="0"/>
              <a:t>Tüm iletkenlerin dirençleri sıcaklık ile belirli bir miktar değişir. Bu değişim bazı</a:t>
            </a:r>
            <a:r>
              <a:rPr lang="en-GB" sz="2000" smtClean="0"/>
              <a:t> </a:t>
            </a:r>
            <a:r>
              <a:rPr lang="tr-TR" sz="2000" smtClean="0"/>
              <a:t>metallerde direncin artması yönünde olurken bazı iletkenlerde de direnç değerinin azalması</a:t>
            </a:r>
            <a:r>
              <a:rPr lang="en-GB" sz="2000" smtClean="0"/>
              <a:t> </a:t>
            </a:r>
            <a:r>
              <a:rPr lang="tr-TR" sz="2000" smtClean="0"/>
              <a:t>yönünde olur. Direncin, sıcaklık faktöründen dolayı değişmesi büyük akım değeri ile çalışan</a:t>
            </a:r>
            <a:r>
              <a:rPr lang="en-GB" sz="2000" smtClean="0"/>
              <a:t> </a:t>
            </a:r>
            <a:r>
              <a:rPr lang="tr-TR" sz="2000" smtClean="0"/>
              <a:t>devrelerde çok önemli değildir.</a:t>
            </a:r>
            <a:endParaRPr lang="en-GB" sz="2000" smtClean="0"/>
          </a:p>
          <a:p>
            <a:pPr lvl="1"/>
            <a:r>
              <a:rPr lang="tr-TR" sz="2000" smtClean="0"/>
              <a:t>Ancak özellikle elektronik devrelerde dikkate alınmalı ve</a:t>
            </a:r>
            <a:r>
              <a:rPr lang="en-GB" sz="2000" smtClean="0"/>
              <a:t> </a:t>
            </a:r>
            <a:r>
              <a:rPr lang="tr-TR" sz="2000" smtClean="0"/>
              <a:t>dirençlerin sıcaklıktan dolayı değerindeki değişmeye bağlı olarak akımda da belirli bir</a:t>
            </a:r>
            <a:r>
              <a:rPr lang="en-GB" sz="2000" smtClean="0"/>
              <a:t> </a:t>
            </a:r>
            <a:r>
              <a:rPr lang="tr-TR" sz="2000" smtClean="0"/>
              <a:t>miktar değişiklik olduğu unutulmamalıdır.</a:t>
            </a:r>
          </a:p>
        </p:txBody>
      </p:sp>
      <p:sp>
        <p:nvSpPr>
          <p:cNvPr id="90116" name="Slide Number Placeholder 4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BAB2ABAD-3E63-4D7E-BC3B-14E205475E34}" type="slidenum">
              <a:rPr lang="en-US" sz="1000"/>
              <a:pPr algn="r"/>
              <a:t>79</a:t>
            </a:fld>
            <a:endParaRPr lang="en-US"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E701C2D7-3819-49E7-BE0A-A39C2D3A0FCC}" type="slidenum">
              <a:rPr lang="en-US"/>
              <a:pPr/>
              <a:t>80</a:t>
            </a:fld>
            <a:endParaRPr lang="en-US"/>
          </a:p>
        </p:txBody>
      </p:sp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smtClean="0"/>
              <a:t>2. DİRENÇ ÖLÇME</a:t>
            </a:r>
          </a:p>
        </p:txBody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sz="2000" b="1" smtClean="0"/>
              <a:t>2.3. Direnç Değerinin Ölçülmesi</a:t>
            </a:r>
          </a:p>
          <a:p>
            <a:pPr lvl="1"/>
            <a:r>
              <a:rPr lang="tr-TR" sz="1600" b="1" smtClean="0"/>
              <a:t>2.3.1. Ohmmetre ile Direnç Ölçümü</a:t>
            </a:r>
          </a:p>
          <a:p>
            <a:pPr lvl="2"/>
            <a:r>
              <a:rPr lang="tr-TR" sz="1600" smtClean="0"/>
              <a:t>Direnç değerini ölçen ölçü aletlerine ohmmetre denir. Yalnız direnç ölçen</a:t>
            </a:r>
          </a:p>
          <a:p>
            <a:pPr lvl="2"/>
            <a:r>
              <a:rPr lang="tr-TR" sz="1600" smtClean="0"/>
              <a:t>ohmmetreler bulunduğu gibi bu işlem, birden fazla büyüklüğü ölçebilen, bu yüzden daha</a:t>
            </a:r>
            <a:r>
              <a:rPr lang="en-GB" sz="1600" smtClean="0"/>
              <a:t> </a:t>
            </a:r>
            <a:r>
              <a:rPr lang="tr-TR" sz="1600" smtClean="0"/>
              <a:t>pratik kullanım imkanı sağlayan avometreler ile de yapılmaktadır. Ohmmetreler yapı olarakakım ölçen, döner bobinli ölçü aletleridir. Bu ölçü aletlerinin skalası akım değil de direnç</a:t>
            </a:r>
            <a:r>
              <a:rPr lang="en-GB" sz="1600" smtClean="0"/>
              <a:t> </a:t>
            </a:r>
            <a:r>
              <a:rPr lang="el-GR" sz="1600" smtClean="0"/>
              <a:t>(Ω) </a:t>
            </a:r>
            <a:r>
              <a:rPr lang="tr-TR" sz="1600" smtClean="0"/>
              <a:t>ölçecek şekilde taksimatlandırılmıştır. Ohmmetreler direnç ölçmenin yanında elektrik</a:t>
            </a:r>
            <a:r>
              <a:rPr lang="en-GB" sz="1600" smtClean="0"/>
              <a:t> </a:t>
            </a:r>
            <a:r>
              <a:rPr lang="tr-TR" sz="1600" smtClean="0"/>
              <a:t>elektronik devrelerinde açık ve kapalı devre kontrollerinde de sıkça kullanılmaktadır.</a:t>
            </a:r>
            <a:r>
              <a:rPr lang="en-GB" sz="1600" smtClean="0"/>
              <a:t> </a:t>
            </a:r>
          </a:p>
          <a:p>
            <a:pPr lvl="2"/>
            <a:r>
              <a:rPr lang="tr-TR" sz="1600" smtClean="0"/>
              <a:t>Ohmmetreler ölçüm yapmak için mutlaka kendine ait bir enerji kaynağına ihtiyaç duyarlar.</a:t>
            </a:r>
            <a:r>
              <a:rPr lang="en-GB" sz="1600" smtClean="0"/>
              <a:t> </a:t>
            </a:r>
            <a:r>
              <a:rPr lang="tr-TR" sz="1600" smtClean="0"/>
              <a:t>Bu gereksinim genellikle 9 V veya 1,5 V’ luk pillerin seri bağlanması ile giderilir.</a:t>
            </a:r>
          </a:p>
          <a:p>
            <a:pPr lvl="2"/>
            <a:r>
              <a:rPr lang="tr-TR" sz="1600" b="1" smtClean="0"/>
              <a:t>Ohmmetre veya avometreler ile kesinlikle enerji altında direnç</a:t>
            </a:r>
            <a:r>
              <a:rPr lang="en-GB" sz="1600" b="1" smtClean="0"/>
              <a:t> </a:t>
            </a:r>
            <a:r>
              <a:rPr lang="tr-TR" sz="1600" b="1" smtClean="0"/>
              <a:t>ölçümü yapılmaz</a:t>
            </a:r>
            <a:r>
              <a:rPr lang="tr-TR" sz="1200" b="1" smtClean="0"/>
              <a:t>.</a:t>
            </a:r>
          </a:p>
        </p:txBody>
      </p:sp>
      <p:sp>
        <p:nvSpPr>
          <p:cNvPr id="91140" name="Slide Number Placeholder 4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C3B15689-7C04-4DB1-A72C-F8F47C0AB5F4}" type="slidenum">
              <a:rPr lang="en-US" sz="1000"/>
              <a:pPr algn="r"/>
              <a:t>80</a:t>
            </a:fld>
            <a:endParaRPr lang="en-US" sz="100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D8FF3056-4536-408F-A25D-6F233E5E3745}" type="slidenum">
              <a:rPr lang="en-US"/>
              <a:pPr/>
              <a:t>81</a:t>
            </a:fld>
            <a:endParaRPr lang="en-US"/>
          </a:p>
        </p:txBody>
      </p:sp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smtClean="0"/>
              <a:t>2. DİRENÇ ÖLÇME</a:t>
            </a:r>
          </a:p>
        </p:txBody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sz="2000" smtClean="0"/>
              <a:t>Ohmmetreler veya avometreler çalışan bir cihazda ölçüm yapılırken problarının</a:t>
            </a:r>
            <a:r>
              <a:rPr lang="en-GB" sz="2000" smtClean="0"/>
              <a:t> </a:t>
            </a:r>
            <a:r>
              <a:rPr lang="tr-TR" sz="2000" smtClean="0"/>
              <a:t>ikisinin de elle tutulmamasına dikkat edilmelidir. </a:t>
            </a:r>
            <a:endParaRPr lang="en-GB" sz="2000" smtClean="0"/>
          </a:p>
          <a:p>
            <a:r>
              <a:rPr lang="tr-TR" sz="2000" smtClean="0"/>
              <a:t>Bu direncin yanında vücut direncinin</a:t>
            </a:r>
            <a:r>
              <a:rPr lang="en-GB" sz="2000" smtClean="0"/>
              <a:t> </a:t>
            </a:r>
            <a:r>
              <a:rPr lang="tr-TR" sz="2000" smtClean="0"/>
              <a:t>ölçülmesine özellikle de büyük değerli dirençlerin ölçülmesinde, değerin yanlış</a:t>
            </a:r>
            <a:r>
              <a:rPr lang="en-GB" sz="2000" smtClean="0"/>
              <a:t> b</a:t>
            </a:r>
            <a:r>
              <a:rPr lang="tr-TR" sz="2000" smtClean="0"/>
              <a:t>elirlenmesine neden olur.</a:t>
            </a:r>
          </a:p>
        </p:txBody>
      </p:sp>
      <p:sp>
        <p:nvSpPr>
          <p:cNvPr id="92164" name="Slide Number Placeholder 4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72EA3FFE-937A-4120-81E0-CD162CB66E44}" type="slidenum">
              <a:rPr lang="en-US" sz="1000"/>
              <a:pPr algn="r"/>
              <a:t>81</a:t>
            </a:fld>
            <a:endParaRPr lang="en-US" sz="100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5BBF9333-46E4-40B4-B152-F3B1B64ADC73}" type="slidenum">
              <a:rPr lang="en-US"/>
              <a:pPr/>
              <a:t>82</a:t>
            </a:fld>
            <a:endParaRPr lang="en-US"/>
          </a:p>
        </p:txBody>
      </p:sp>
      <p:sp>
        <p:nvSpPr>
          <p:cNvPr id="931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smtClean="0"/>
              <a:t>2. DİRENÇ ÖLÇME</a:t>
            </a:r>
          </a:p>
        </p:txBody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sz="2400" b="1" smtClean="0"/>
              <a:t>2.3.2. Analog Ohmmetre ile Ölçme</a:t>
            </a:r>
          </a:p>
          <a:p>
            <a:pPr marL="742950" lvl="1" indent="-285750"/>
            <a:r>
              <a:rPr lang="tr-TR" sz="2000" smtClean="0"/>
              <a:t>Her şeyden önce analog ohmmetre ile ölçüme başlamadan önce sıfır ayarı</a:t>
            </a:r>
            <a:r>
              <a:rPr lang="en-GB" sz="2000" smtClean="0"/>
              <a:t> </a:t>
            </a:r>
            <a:r>
              <a:rPr lang="tr-TR" sz="2000" smtClean="0"/>
              <a:t>yapılmalıdır. Tüm ölçü aletlerinde olduğu gibi ohmmetreler ile ölçüm yapılırken analog</a:t>
            </a:r>
            <a:r>
              <a:rPr lang="en-GB" sz="2000" smtClean="0"/>
              <a:t> </a:t>
            </a:r>
            <a:r>
              <a:rPr lang="tr-TR" sz="2000" smtClean="0"/>
              <a:t>ohmmetrelerde büyüklüğün tespiti için: </a:t>
            </a:r>
            <a:endParaRPr lang="en-GB" sz="2000" smtClean="0"/>
          </a:p>
          <a:p>
            <a:pPr marL="742950" lvl="1" indent="-285750"/>
            <a:r>
              <a:rPr lang="tr-TR" sz="2000" b="1" smtClean="0"/>
              <a:t>Kademe anahtarının bulunduğu konum ile</a:t>
            </a:r>
            <a:r>
              <a:rPr lang="en-GB" sz="2000" b="1" smtClean="0"/>
              <a:t> </a:t>
            </a:r>
            <a:r>
              <a:rPr lang="tr-TR" sz="2000" b="1" smtClean="0"/>
              <a:t>skaladan okunan değer çarpılarak ölçülen büyüklüğün değeri tespit edilir. </a:t>
            </a:r>
            <a:endParaRPr lang="en-GB" sz="2000" b="1" smtClean="0"/>
          </a:p>
          <a:p>
            <a:pPr marL="742950" lvl="1" indent="-285750"/>
            <a:r>
              <a:rPr lang="tr-TR" sz="2000" b="1" smtClean="0"/>
              <a:t>Örneğin,</a:t>
            </a:r>
            <a:r>
              <a:rPr lang="en-GB" sz="2000" b="1" smtClean="0"/>
              <a:t> </a:t>
            </a:r>
            <a:r>
              <a:rPr lang="tr-TR" sz="2000" smtClean="0"/>
              <a:t>kademe anahtarı X100 kademesinde iken skalada okunan değer 100 ile çarpılarak ölçülen</a:t>
            </a:r>
            <a:r>
              <a:rPr lang="en-GB" sz="2000" smtClean="0"/>
              <a:t> </a:t>
            </a:r>
            <a:r>
              <a:rPr lang="tr-TR" sz="2000" smtClean="0"/>
              <a:t>büyüklüğün değeri bulunur. Bununla ilgili bazı örnekler Tablo 2.2’de verilmiştir.</a:t>
            </a:r>
          </a:p>
        </p:txBody>
      </p:sp>
      <p:sp>
        <p:nvSpPr>
          <p:cNvPr id="93188" name="Slide Number Placeholder 4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583B4FB1-739B-441C-A409-2D940782BEF4}" type="slidenum">
              <a:rPr lang="en-US" sz="1000"/>
              <a:pPr algn="r"/>
              <a:t>82</a:t>
            </a:fld>
            <a:endParaRPr lang="en-US" sz="100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9EDCF1F8-C26C-46E5-A71B-0A20EF6A8ED0}" type="slidenum">
              <a:rPr lang="en-US"/>
              <a:pPr/>
              <a:t>83</a:t>
            </a:fld>
            <a:endParaRPr lang="en-US"/>
          </a:p>
        </p:txBody>
      </p:sp>
      <p:sp>
        <p:nvSpPr>
          <p:cNvPr id="94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smtClean="0"/>
              <a:t>2. DİRENÇ ÖLÇME</a:t>
            </a:r>
          </a:p>
        </p:txBody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en-GB" smtClean="0"/>
              <a:t>   </a:t>
            </a:r>
            <a:endParaRPr lang="tr-TR" smtClean="0"/>
          </a:p>
        </p:txBody>
      </p:sp>
      <p:pic>
        <p:nvPicPr>
          <p:cNvPr id="9421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43188" y="1643063"/>
            <a:ext cx="3086100" cy="3448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4213" name="Slide Number Placeholder 5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92D8B0AD-0524-4528-AD97-1EB46F117F3B}" type="slidenum">
              <a:rPr lang="en-US" sz="1000"/>
              <a:pPr algn="r"/>
              <a:t>83</a:t>
            </a:fld>
            <a:endParaRPr lang="en-US" sz="100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B755D106-5E79-49C7-80C2-7B92459704ED}" type="slidenum">
              <a:rPr lang="en-US"/>
              <a:pPr/>
              <a:t>84</a:t>
            </a:fld>
            <a:endParaRPr lang="en-US"/>
          </a:p>
        </p:txBody>
      </p:sp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smtClean="0"/>
              <a:t>2. DİRENÇ ÖLÇME</a:t>
            </a:r>
          </a:p>
        </p:txBody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en-GB" smtClean="0"/>
              <a:t>   </a:t>
            </a:r>
            <a:endParaRPr lang="tr-TR" smtClean="0"/>
          </a:p>
        </p:txBody>
      </p:sp>
      <p:pic>
        <p:nvPicPr>
          <p:cNvPr id="9523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5250" y="2033588"/>
            <a:ext cx="8905875" cy="3609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5237" name="Slide Number Placeholder 4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9B66D5F5-9334-4978-8B61-6D0133237B07}" type="slidenum">
              <a:rPr lang="en-US" sz="1000"/>
              <a:pPr algn="r"/>
              <a:t>84</a:t>
            </a:fld>
            <a:endParaRPr lang="en-US" sz="100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B5026509-37D9-41F6-BDB4-0E898B7F2846}" type="slidenum">
              <a:rPr lang="en-US"/>
              <a:pPr/>
              <a:t>85</a:t>
            </a:fld>
            <a:endParaRPr lang="en-US"/>
          </a:p>
        </p:txBody>
      </p:sp>
      <p:sp>
        <p:nvSpPr>
          <p:cNvPr id="96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smtClean="0"/>
              <a:t>2. DİRENÇ ÖLÇME</a:t>
            </a:r>
          </a:p>
        </p:txBody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sz="2000" b="1" smtClean="0"/>
              <a:t>2.3.3. Dijital Ohmmetre ile Ölçme</a:t>
            </a:r>
          </a:p>
          <a:p>
            <a:pPr lvl="1"/>
            <a:r>
              <a:rPr lang="tr-TR" sz="2000" smtClean="0"/>
              <a:t>Dijital ohmmetrelerle ölçüm sonucunu tayin etmek daha kolaydır. Ancak, dijital</a:t>
            </a:r>
            <a:r>
              <a:rPr lang="en-GB" sz="2000" smtClean="0"/>
              <a:t> </a:t>
            </a:r>
            <a:r>
              <a:rPr lang="tr-TR" sz="2000" smtClean="0"/>
              <a:t>ohmmetre veya avometreler ile direnç ölçümü yapılırken hatasız bir ölçüm yapabilmek için</a:t>
            </a:r>
            <a:r>
              <a:rPr lang="en-GB" sz="2000" smtClean="0"/>
              <a:t> </a:t>
            </a:r>
            <a:r>
              <a:rPr lang="tr-TR" sz="2000" smtClean="0"/>
              <a:t>dikkat edilmesi gereken noktalar bulunmaktadır. </a:t>
            </a:r>
            <a:endParaRPr lang="en-GB" sz="2000" smtClean="0"/>
          </a:p>
          <a:p>
            <a:pPr lvl="1"/>
            <a:r>
              <a:rPr lang="tr-TR" sz="2000" smtClean="0"/>
              <a:t>Günümüzde kademe anahtarı direnç ölçme</a:t>
            </a:r>
            <a:r>
              <a:rPr lang="en-GB" sz="2000" smtClean="0"/>
              <a:t> </a:t>
            </a:r>
            <a:r>
              <a:rPr lang="tr-TR" sz="2000" smtClean="0"/>
              <a:t>konumuna getirildikten sonra, kademe seçimi (200, 2K, 20K…2M) gerektirmeyen ölçü</a:t>
            </a:r>
            <a:r>
              <a:rPr lang="en-GB" sz="2000" smtClean="0"/>
              <a:t> </a:t>
            </a:r>
            <a:r>
              <a:rPr lang="tr-TR" sz="2000" smtClean="0"/>
              <a:t>aletleri bulunmaktadır. Ancak kademe seçimi gerektiren ohmmetre veya avometrelerde</a:t>
            </a:r>
            <a:r>
              <a:rPr lang="en-GB" sz="2000" smtClean="0"/>
              <a:t> </a:t>
            </a:r>
            <a:r>
              <a:rPr lang="tr-TR" sz="2000" smtClean="0"/>
              <a:t>doğru kademe seçimi yapmak önemlidir. </a:t>
            </a:r>
            <a:endParaRPr lang="en-GB" sz="2000" smtClean="0"/>
          </a:p>
          <a:p>
            <a:pPr lvl="1"/>
            <a:r>
              <a:rPr lang="tr-TR" sz="2000" smtClean="0"/>
              <a:t>Direnç ölçümü yapılırken uygun kademe seçimini</a:t>
            </a:r>
          </a:p>
          <a:p>
            <a:pPr lvl="1"/>
            <a:r>
              <a:rPr lang="tr-TR" sz="2000" smtClean="0"/>
              <a:t>bir örnekle açıklayalım:</a:t>
            </a:r>
          </a:p>
        </p:txBody>
      </p:sp>
      <p:sp>
        <p:nvSpPr>
          <p:cNvPr id="96260" name="Slide Number Placeholder 4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925B9ED9-44E1-4C9E-9090-4846680DF43B}" type="slidenum">
              <a:rPr lang="en-US" sz="1000"/>
              <a:pPr algn="r"/>
              <a:t>85</a:t>
            </a:fld>
            <a:endParaRPr lang="en-US" sz="100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5A26D942-D1DA-4840-8656-1ACD649188FB}" type="slidenum">
              <a:rPr lang="en-US"/>
              <a:pPr/>
              <a:t>86</a:t>
            </a:fld>
            <a:endParaRPr lang="en-US"/>
          </a:p>
        </p:txBody>
      </p:sp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smtClean="0"/>
              <a:t>2. DİRENÇ ÖLÇME</a:t>
            </a:r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en-GB" smtClean="0"/>
              <a:t>   </a:t>
            </a:r>
            <a:endParaRPr lang="tr-TR" smtClean="0"/>
          </a:p>
        </p:txBody>
      </p:sp>
      <p:pic>
        <p:nvPicPr>
          <p:cNvPr id="9728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00125" y="1909763"/>
            <a:ext cx="6991350" cy="4019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7285" name="Slide Number Placeholder 4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1736F130-5FA3-43DF-BA09-9DC31A16AB6B}" type="slidenum">
              <a:rPr lang="en-US" sz="1000"/>
              <a:pPr algn="r"/>
              <a:t>86</a:t>
            </a:fld>
            <a:endParaRPr lang="en-US" sz="100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A679DD27-3704-4679-A002-EE71088F88A0}" type="slidenum">
              <a:rPr lang="en-US"/>
              <a:pPr/>
              <a:t>87</a:t>
            </a:fld>
            <a:endParaRPr lang="en-US"/>
          </a:p>
        </p:txBody>
      </p:sp>
      <p:sp>
        <p:nvSpPr>
          <p:cNvPr id="98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smtClean="0"/>
              <a:t>2. DİRENÇ ÖLÇME</a:t>
            </a:r>
          </a:p>
        </p:txBody>
      </p:sp>
      <p:sp>
        <p:nvSpPr>
          <p:cNvPr id="983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mtClean="0"/>
              <a:t> </a:t>
            </a:r>
            <a:r>
              <a:rPr lang="el-GR" sz="1800" smtClean="0"/>
              <a:t>630 Ω’</a:t>
            </a:r>
            <a:r>
              <a:rPr lang="tr-TR" sz="1800" smtClean="0"/>
              <a:t>luk bir direnç için uygun kademeyi deneyerek tespit edelim. Burada dikkat</a:t>
            </a:r>
            <a:r>
              <a:rPr lang="en-GB" sz="1800" smtClean="0"/>
              <a:t> </a:t>
            </a:r>
            <a:r>
              <a:rPr lang="tr-TR" sz="1800" smtClean="0"/>
              <a:t>edilmesi gereken nokta direnç değerine en yakın ve kesinlikle direnç değerinden küçük</a:t>
            </a:r>
            <a:r>
              <a:rPr lang="en-GB" sz="1800" smtClean="0"/>
              <a:t> </a:t>
            </a:r>
            <a:r>
              <a:rPr lang="tr-TR" sz="1800" smtClean="0"/>
              <a:t>olmayan kademeyi seçmektir. Bu direnç ölçümü yapılırken uyulması gereken bir kuraldır.</a:t>
            </a:r>
          </a:p>
          <a:p>
            <a:r>
              <a:rPr lang="el-GR" sz="1800" smtClean="0"/>
              <a:t>630 Ω’</a:t>
            </a:r>
            <a:r>
              <a:rPr lang="tr-TR" sz="1800" smtClean="0"/>
              <a:t>luk direnç değeri ohmmetre veya avometrede ölçülürken seçilmesi gereken kademe</a:t>
            </a:r>
            <a:r>
              <a:rPr lang="en-GB" sz="1800" smtClean="0"/>
              <a:t> </a:t>
            </a:r>
            <a:r>
              <a:rPr lang="tr-TR" sz="1800" smtClean="0"/>
              <a:t>2K kademesidir. Eğer direnç ölçümü için seçilen kademe, direnç değeri için küçükse değer</a:t>
            </a:r>
            <a:r>
              <a:rPr lang="en-GB" sz="1800" smtClean="0"/>
              <a:t> </a:t>
            </a:r>
            <a:r>
              <a:rPr lang="tr-TR" sz="1800" smtClean="0"/>
              <a:t>ekranında 1 ifadesi (Resim 2.2.a), seçilen kademe çok büyükse 0 ifadesi okunacaktır (Resim</a:t>
            </a:r>
            <a:r>
              <a:rPr lang="en-GB" sz="1800" smtClean="0"/>
              <a:t> </a:t>
            </a:r>
            <a:r>
              <a:rPr lang="tr-TR" sz="1800" smtClean="0"/>
              <a:t>2.2.b). Değer ekranında 0 ifadesi gördüğünüzde kademe anahtarını küçültmeniz, 1 ifadesi</a:t>
            </a:r>
            <a:r>
              <a:rPr lang="en-GB" sz="1800" smtClean="0"/>
              <a:t> </a:t>
            </a:r>
            <a:r>
              <a:rPr lang="tr-TR" sz="1800" smtClean="0"/>
              <a:t>gördüğünüzde büyütmeniz gerektiğini unutmayın. </a:t>
            </a:r>
            <a:endParaRPr lang="en-GB" sz="1800" smtClean="0"/>
          </a:p>
          <a:p>
            <a:r>
              <a:rPr lang="tr-TR" sz="1800" b="1" smtClean="0"/>
              <a:t>Direnç ölçümünde, okunan değerde</a:t>
            </a:r>
            <a:r>
              <a:rPr lang="en-GB" sz="1800" b="1" smtClean="0"/>
              <a:t> </a:t>
            </a:r>
            <a:r>
              <a:rPr lang="tr-TR" sz="1800" b="1" smtClean="0"/>
              <a:t>hassasiyet arttırılmak isteniyorsa (0,190 K</a:t>
            </a:r>
            <a:r>
              <a:rPr lang="el-GR" sz="1800" b="1" smtClean="0"/>
              <a:t>Ω </a:t>
            </a:r>
            <a:r>
              <a:rPr lang="tr-TR" sz="1800" b="1" smtClean="0"/>
              <a:t>yerine, 199 </a:t>
            </a:r>
            <a:r>
              <a:rPr lang="el-GR" sz="1800" b="1" smtClean="0"/>
              <a:t>Ω </a:t>
            </a:r>
            <a:r>
              <a:rPr lang="tr-TR" sz="1800" b="1" smtClean="0"/>
              <a:t>gibi) kademe küçültülerek</a:t>
            </a:r>
            <a:r>
              <a:rPr lang="en-GB" sz="1800" b="1" smtClean="0"/>
              <a:t> </a:t>
            </a:r>
            <a:r>
              <a:rPr lang="tr-TR" sz="1800" b="1" smtClean="0"/>
              <a:t>bu hassasiyet arttırılabilir.</a:t>
            </a:r>
          </a:p>
          <a:p>
            <a:pPr>
              <a:buFont typeface="Wingdings" pitchFamily="2" charset="2"/>
              <a:buNone/>
            </a:pPr>
            <a:endParaRPr lang="tr-TR" smtClean="0"/>
          </a:p>
        </p:txBody>
      </p:sp>
      <p:sp>
        <p:nvSpPr>
          <p:cNvPr id="98308" name="Slide Number Placeholder 4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ABB09489-A309-4A12-AEF8-81C234F16C2E}" type="slidenum">
              <a:rPr lang="en-US" sz="1000"/>
              <a:pPr algn="r"/>
              <a:t>87</a:t>
            </a:fld>
            <a:endParaRPr lang="en-US" sz="100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DFC1C455-C3F0-48E5-97D7-A7767F842C62}" type="slidenum">
              <a:rPr lang="en-US"/>
              <a:pPr/>
              <a:t>88</a:t>
            </a:fld>
            <a:endParaRPr lang="en-US"/>
          </a:p>
        </p:txBody>
      </p:sp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>
          <a:xfrm>
            <a:off x="928688" y="0"/>
            <a:ext cx="7158037" cy="1412875"/>
          </a:xfrm>
        </p:spPr>
        <p:txBody>
          <a:bodyPr/>
          <a:lstStyle/>
          <a:p>
            <a:pPr eaLnBrk="1" hangingPunct="1"/>
            <a:r>
              <a:rPr lang="en-GB" sz="3600" b="1" smtClean="0"/>
              <a:t>UYGULAMA</a:t>
            </a:r>
            <a:r>
              <a:rPr lang="tr-TR" sz="3600" b="1" smtClean="0"/>
              <a:t> FAALİYETİ</a:t>
            </a:r>
          </a:p>
        </p:txBody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8688" y="1785938"/>
            <a:ext cx="7661275" cy="48768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sz="2400" smtClean="0"/>
              <a:t>  </a:t>
            </a:r>
          </a:p>
        </p:txBody>
      </p:sp>
      <p:pic>
        <p:nvPicPr>
          <p:cNvPr id="9933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5263" y="1757363"/>
            <a:ext cx="8753475" cy="4743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9333" name="Slide Number Placeholder 6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F5FF2EBD-9A3F-467E-A5EF-2F15E8FEBA29}" type="slidenum">
              <a:rPr lang="en-US" sz="1000"/>
              <a:pPr algn="r"/>
              <a:t>88</a:t>
            </a:fld>
            <a:endParaRPr lang="en-US"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763F28B1-CD58-4098-B84B-1F2DC51A8231}" type="slidenum">
              <a:rPr lang="en-US"/>
              <a:pPr/>
              <a:t>89</a:t>
            </a:fld>
            <a:endParaRPr lang="en-US"/>
          </a:p>
        </p:txBody>
      </p:sp>
      <p:sp>
        <p:nvSpPr>
          <p:cNvPr id="100354" name="Rectangle 2"/>
          <p:cNvSpPr>
            <a:spLocks noGrp="1" noChangeArrowheads="1"/>
          </p:cNvSpPr>
          <p:nvPr>
            <p:ph type="title"/>
          </p:nvPr>
        </p:nvSpPr>
        <p:spPr>
          <a:xfrm>
            <a:off x="928688" y="0"/>
            <a:ext cx="7158037" cy="1412875"/>
          </a:xfrm>
        </p:spPr>
        <p:txBody>
          <a:bodyPr/>
          <a:lstStyle/>
          <a:p>
            <a:pPr eaLnBrk="1" hangingPunct="1"/>
            <a:r>
              <a:rPr lang="en-GB" sz="3600" b="1" smtClean="0"/>
              <a:t>UYGULAMA</a:t>
            </a:r>
            <a:r>
              <a:rPr lang="tr-TR" sz="3600" b="1" smtClean="0"/>
              <a:t> FAALİYETİ</a:t>
            </a:r>
          </a:p>
        </p:txBody>
      </p:sp>
      <p:sp>
        <p:nvSpPr>
          <p:cNvPr id="1003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8688" y="1785938"/>
            <a:ext cx="7661275" cy="48768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sz="2400" smtClean="0"/>
              <a:t>  </a:t>
            </a:r>
          </a:p>
        </p:txBody>
      </p:sp>
      <p:pic>
        <p:nvPicPr>
          <p:cNvPr id="10035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3350" y="1881188"/>
            <a:ext cx="8877300" cy="3095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0357" name="Slide Number Placeholder 4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56CDBA75-98C9-476F-8FD9-59FE39138CB1}" type="slidenum">
              <a:rPr lang="en-US" sz="1000"/>
              <a:pPr algn="r"/>
              <a:t>89</a:t>
            </a:fld>
            <a:endParaRPr lang="en-US"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495F92A0-169B-4710-835E-EB9FCF60DC8F}" type="slidenum">
              <a:rPr lang="en-US"/>
              <a:pPr/>
              <a:t>90</a:t>
            </a:fld>
            <a:endParaRPr lang="en-US"/>
          </a:p>
        </p:txBody>
      </p:sp>
      <p:sp>
        <p:nvSpPr>
          <p:cNvPr id="101378" name="Rectangle 2"/>
          <p:cNvSpPr>
            <a:spLocks noGrp="1" noChangeArrowheads="1"/>
          </p:cNvSpPr>
          <p:nvPr>
            <p:ph type="title"/>
          </p:nvPr>
        </p:nvSpPr>
        <p:spPr>
          <a:xfrm>
            <a:off x="928688" y="0"/>
            <a:ext cx="7158037" cy="1412875"/>
          </a:xfrm>
        </p:spPr>
        <p:txBody>
          <a:bodyPr/>
          <a:lstStyle/>
          <a:p>
            <a:pPr eaLnBrk="1" hangingPunct="1"/>
            <a:r>
              <a:rPr lang="en-GB" sz="3600" b="1" smtClean="0"/>
              <a:t>UYGULAMA</a:t>
            </a:r>
            <a:r>
              <a:rPr lang="tr-TR" sz="3600" b="1" smtClean="0"/>
              <a:t> FAALİYETİ</a:t>
            </a:r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8688" y="1785938"/>
            <a:ext cx="7661275" cy="4876800"/>
          </a:xfrm>
        </p:spPr>
        <p:txBody>
          <a:bodyPr/>
          <a:lstStyle/>
          <a:p>
            <a:r>
              <a:rPr lang="tr-TR" sz="2000" smtClean="0"/>
              <a:t>Yukarıda verilen direnç değerlerinin ölçümlerini, dijital ve analog ohmmetre veya</a:t>
            </a:r>
            <a:r>
              <a:rPr lang="en-GB" sz="2000" smtClean="0"/>
              <a:t> </a:t>
            </a:r>
            <a:r>
              <a:rPr lang="tr-TR" sz="2000" smtClean="0"/>
              <a:t>avometreler ile grup oluşturarak yapınınız. Ölçtüğünüz direnç değerlerinin hepsini sırası ile</a:t>
            </a:r>
            <a:r>
              <a:rPr lang="en-GB" sz="2000" smtClean="0"/>
              <a:t> </a:t>
            </a:r>
            <a:r>
              <a:rPr lang="tr-TR" sz="2000" smtClean="0"/>
              <a:t>dijital ve analog ölçü aletlerinden okuduğunuz değerlerini karşılaştırınız. Burada dijital ve</a:t>
            </a:r>
            <a:r>
              <a:rPr lang="en-GB" sz="2000" smtClean="0"/>
              <a:t> </a:t>
            </a:r>
            <a:r>
              <a:rPr lang="tr-TR" sz="2000" smtClean="0"/>
              <a:t>analog ölçü aletlerinde, gerçek değerlere ulaşıp ulaşamadığınızı kontrol ediniz. </a:t>
            </a:r>
            <a:endParaRPr lang="en-GB" sz="2000" smtClean="0"/>
          </a:p>
          <a:p>
            <a:r>
              <a:rPr lang="tr-TR" sz="2000" smtClean="0"/>
              <a:t>Daha sonra,</a:t>
            </a:r>
            <a:r>
              <a:rPr lang="en-GB" sz="2000" smtClean="0"/>
              <a:t> </a:t>
            </a:r>
            <a:r>
              <a:rPr lang="tr-TR" sz="2000" smtClean="0"/>
              <a:t>diğer grup arkadaşlarınızla beraber karşılaştığınız problemler ve yaptığınız hataları ortaya</a:t>
            </a:r>
            <a:r>
              <a:rPr lang="en-GB" sz="2000" smtClean="0"/>
              <a:t> </a:t>
            </a:r>
            <a:r>
              <a:rPr lang="tr-TR" sz="2000" smtClean="0"/>
              <a:t>koyarak karşılaşabileceğiniz durumların tespitini yapınız.</a:t>
            </a:r>
          </a:p>
        </p:txBody>
      </p:sp>
      <p:sp>
        <p:nvSpPr>
          <p:cNvPr id="101380" name="Slide Number Placeholder 5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9A41B85F-1782-4532-BA57-C6DE51A4B18D}" type="slidenum">
              <a:rPr lang="en-US" sz="1000"/>
              <a:pPr algn="r"/>
              <a:t>90</a:t>
            </a:fld>
            <a:endParaRPr lang="en-US"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6F5BBA45-884F-482E-ACB7-4B7F984F0521}" type="slidenum">
              <a:rPr lang="en-US"/>
              <a:pPr/>
              <a:t>91</a:t>
            </a:fld>
            <a:endParaRPr lang="en-US"/>
          </a:p>
        </p:txBody>
      </p:sp>
      <p:sp>
        <p:nvSpPr>
          <p:cNvPr id="102402" name="Rectangle 2"/>
          <p:cNvSpPr>
            <a:spLocks noGrp="1" noChangeArrowheads="1"/>
          </p:cNvSpPr>
          <p:nvPr>
            <p:ph type="title"/>
          </p:nvPr>
        </p:nvSpPr>
        <p:spPr>
          <a:xfrm>
            <a:off x="928688" y="0"/>
            <a:ext cx="7158037" cy="1412875"/>
          </a:xfrm>
        </p:spPr>
        <p:txBody>
          <a:bodyPr/>
          <a:lstStyle/>
          <a:p>
            <a:pPr eaLnBrk="1" hangingPunct="1"/>
            <a:r>
              <a:rPr lang="en-GB" sz="3600" b="1" smtClean="0"/>
              <a:t>UYGULAMA</a:t>
            </a:r>
            <a:r>
              <a:rPr lang="tr-TR" sz="3600" b="1" smtClean="0"/>
              <a:t> FAALİYETİ</a:t>
            </a:r>
          </a:p>
        </p:txBody>
      </p:sp>
      <p:sp>
        <p:nvSpPr>
          <p:cNvPr id="1024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8688" y="1785938"/>
            <a:ext cx="7661275" cy="4876800"/>
          </a:xfrm>
        </p:spPr>
        <p:txBody>
          <a:bodyPr/>
          <a:lstStyle/>
          <a:p>
            <a:r>
              <a:rPr lang="tr-TR" sz="2400" b="1" smtClean="0"/>
              <a:t>İşlem Basamakları</a:t>
            </a:r>
          </a:p>
          <a:p>
            <a:pPr lvl="1"/>
            <a:r>
              <a:rPr lang="tr-TR" sz="2000" smtClean="0"/>
              <a:t>Analog ohmmetre veya avometre ile</a:t>
            </a:r>
            <a:r>
              <a:rPr lang="en-GB" sz="2000" smtClean="0"/>
              <a:t> </a:t>
            </a:r>
            <a:r>
              <a:rPr lang="tr-TR" sz="2000" smtClean="0"/>
              <a:t>ölçüm yapılacaksa sıfır ayarını</a:t>
            </a:r>
            <a:r>
              <a:rPr lang="en-GB" sz="2000" smtClean="0"/>
              <a:t> </a:t>
            </a:r>
            <a:r>
              <a:rPr lang="tr-TR" sz="2000" smtClean="0"/>
              <a:t>yapınız.</a:t>
            </a:r>
          </a:p>
          <a:p>
            <a:pPr lvl="1"/>
            <a:r>
              <a:rPr lang="tr-TR" sz="2000" smtClean="0"/>
              <a:t>Ohmmetre ve veya avometreyi</a:t>
            </a:r>
            <a:r>
              <a:rPr lang="en-GB" sz="2000" smtClean="0"/>
              <a:t> </a:t>
            </a:r>
            <a:r>
              <a:rPr lang="tr-TR" sz="2000" smtClean="0"/>
              <a:t>direnç ölçme konumuna alınız.</a:t>
            </a:r>
          </a:p>
          <a:p>
            <a:pPr lvl="1"/>
            <a:r>
              <a:rPr lang="tr-TR" sz="2000" smtClean="0"/>
              <a:t> Ohmmetre veya avometreyi</a:t>
            </a:r>
            <a:r>
              <a:rPr lang="en-GB" sz="2000" smtClean="0"/>
              <a:t> </a:t>
            </a:r>
            <a:r>
              <a:rPr lang="tr-TR" sz="2000" smtClean="0"/>
              <a:t>ölçülecek direnç değerine uygun</a:t>
            </a:r>
            <a:r>
              <a:rPr lang="en-GB" sz="2000" smtClean="0"/>
              <a:t> </a:t>
            </a:r>
            <a:r>
              <a:rPr lang="tr-TR" sz="2000" smtClean="0"/>
              <a:t>kademeye alınız.</a:t>
            </a:r>
          </a:p>
          <a:p>
            <a:pPr lvl="1"/>
            <a:r>
              <a:rPr lang="tr-TR" sz="2000" smtClean="0"/>
              <a:t>Ölçü aleti problarını direnç uçlarına</a:t>
            </a:r>
            <a:r>
              <a:rPr lang="en-GB" sz="2000" smtClean="0"/>
              <a:t> </a:t>
            </a:r>
            <a:r>
              <a:rPr lang="tr-TR" sz="2000" smtClean="0"/>
              <a:t>bağlayınız. </a:t>
            </a:r>
          </a:p>
          <a:p>
            <a:pPr lvl="1"/>
            <a:r>
              <a:rPr lang="tr-TR" sz="2000" smtClean="0"/>
              <a:t> Ölçü aleti değer ekranındaki değeri</a:t>
            </a:r>
            <a:r>
              <a:rPr lang="en-GB" sz="2000" smtClean="0"/>
              <a:t> </a:t>
            </a:r>
            <a:r>
              <a:rPr lang="tr-TR" sz="2000" smtClean="0"/>
              <a:t>okuyunuz.</a:t>
            </a:r>
          </a:p>
          <a:p>
            <a:pPr>
              <a:buFont typeface="Wingdings" pitchFamily="2" charset="2"/>
              <a:buNone/>
            </a:pPr>
            <a:endParaRPr lang="en-GB" sz="2400" smtClean="0"/>
          </a:p>
        </p:txBody>
      </p:sp>
      <p:sp>
        <p:nvSpPr>
          <p:cNvPr id="102404" name="Slide Number Placeholder 4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8BCF6874-993B-4043-BA03-519BA3D9194A}" type="slidenum">
              <a:rPr lang="en-US" sz="1000"/>
              <a:pPr algn="r"/>
              <a:t>91</a:t>
            </a:fld>
            <a:endParaRPr lang="en-US"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FF352967-FF27-4053-935B-5E39E490F1FB}" type="slidenum">
              <a:rPr lang="en-US"/>
              <a:pPr/>
              <a:t>92</a:t>
            </a:fld>
            <a:endParaRPr lang="en-US"/>
          </a:p>
        </p:txBody>
      </p:sp>
      <p:sp>
        <p:nvSpPr>
          <p:cNvPr id="103426" name="Rectangle 2"/>
          <p:cNvSpPr>
            <a:spLocks noGrp="1" noChangeArrowheads="1"/>
          </p:cNvSpPr>
          <p:nvPr>
            <p:ph type="title"/>
          </p:nvPr>
        </p:nvSpPr>
        <p:spPr>
          <a:xfrm>
            <a:off x="928688" y="0"/>
            <a:ext cx="7158037" cy="1412875"/>
          </a:xfrm>
        </p:spPr>
        <p:txBody>
          <a:bodyPr/>
          <a:lstStyle/>
          <a:p>
            <a:pPr eaLnBrk="1" hangingPunct="1"/>
            <a:r>
              <a:rPr lang="en-GB" sz="3600" b="1" smtClean="0"/>
              <a:t>UYGULAMA</a:t>
            </a:r>
            <a:r>
              <a:rPr lang="tr-TR" sz="3600" b="1" smtClean="0"/>
              <a:t> FAALİYETİ</a:t>
            </a:r>
          </a:p>
        </p:txBody>
      </p:sp>
      <p:sp>
        <p:nvSpPr>
          <p:cNvPr id="1034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8688" y="1785938"/>
            <a:ext cx="7661275" cy="4876800"/>
          </a:xfrm>
        </p:spPr>
        <p:txBody>
          <a:bodyPr/>
          <a:lstStyle/>
          <a:p>
            <a:pPr eaLnBrk="1" hangingPunct="1"/>
            <a:r>
              <a:rPr lang="tr-TR" sz="2400" b="1" smtClean="0"/>
              <a:t>Öneriler</a:t>
            </a:r>
            <a:endParaRPr lang="en-GB" sz="2400" b="1" smtClean="0"/>
          </a:p>
          <a:p>
            <a:pPr lvl="1" eaLnBrk="1" hangingPunct="1"/>
            <a:r>
              <a:rPr lang="tr-TR" sz="2000" smtClean="0"/>
              <a:t>Sıfır ayarını tam olarak</a:t>
            </a:r>
            <a:r>
              <a:rPr lang="en-GB" sz="2000" smtClean="0"/>
              <a:t> </a:t>
            </a:r>
            <a:r>
              <a:rPr lang="tr-TR" sz="2000" smtClean="0"/>
              <a:t>yapamadığınızda, ölçü aletinin pillerini</a:t>
            </a:r>
            <a:r>
              <a:rPr lang="en-GB" sz="2000" smtClean="0"/>
              <a:t> </a:t>
            </a:r>
            <a:r>
              <a:rPr lang="tr-TR" sz="2000" smtClean="0"/>
              <a:t>kontrol ediniz.</a:t>
            </a:r>
            <a:endParaRPr lang="en-GB" sz="2000" smtClean="0"/>
          </a:p>
          <a:p>
            <a:pPr lvl="1" eaLnBrk="1" hangingPunct="1"/>
            <a:r>
              <a:rPr lang="tr-TR" sz="2000" smtClean="0"/>
              <a:t>Enerji altında ölçüm yapılamayacağını</a:t>
            </a:r>
            <a:r>
              <a:rPr lang="en-GB" sz="2000" smtClean="0"/>
              <a:t> </a:t>
            </a:r>
            <a:r>
              <a:rPr lang="tr-TR" sz="2000" smtClean="0"/>
              <a:t>unutmayınız.</a:t>
            </a:r>
            <a:endParaRPr lang="en-GB" sz="2000" smtClean="0"/>
          </a:p>
          <a:p>
            <a:pPr lvl="1"/>
            <a:r>
              <a:rPr lang="tr-TR" sz="2000" smtClean="0"/>
              <a:t>Kademe seçiminiz uygun değilse</a:t>
            </a:r>
            <a:r>
              <a:rPr lang="en-GB" sz="2000" smtClean="0"/>
              <a:t> </a:t>
            </a:r>
            <a:r>
              <a:rPr lang="tr-TR" sz="2000" smtClean="0"/>
              <a:t>kademeyi büyültüp küçültünüz.</a:t>
            </a:r>
          </a:p>
          <a:p>
            <a:pPr lvl="1"/>
            <a:r>
              <a:rPr lang="tr-TR" sz="2000" smtClean="0"/>
              <a:t>İbre değer göstermesine rağmen sapma</a:t>
            </a:r>
            <a:r>
              <a:rPr lang="en-GB" sz="2000" smtClean="0"/>
              <a:t> </a:t>
            </a:r>
            <a:r>
              <a:rPr lang="tr-TR" sz="2000" smtClean="0"/>
              <a:t>küçük ise daha fazla sapma için</a:t>
            </a:r>
            <a:r>
              <a:rPr lang="en-GB" sz="2000" smtClean="0"/>
              <a:t> </a:t>
            </a:r>
            <a:r>
              <a:rPr lang="tr-TR" sz="2000" smtClean="0"/>
              <a:t>kademeyi küçültünüz.</a:t>
            </a:r>
          </a:p>
          <a:p>
            <a:pPr lvl="1"/>
            <a:r>
              <a:rPr lang="tr-TR" sz="2000" smtClean="0"/>
              <a:t>Dijital ölçü aletlerinde ölçüm değerini</a:t>
            </a:r>
          </a:p>
          <a:p>
            <a:pPr lvl="1"/>
            <a:r>
              <a:rPr lang="tr-TR" sz="2000" smtClean="0"/>
              <a:t>en hassas değeri okuyuncaya kadar</a:t>
            </a:r>
            <a:r>
              <a:rPr lang="en-GB" sz="2000" smtClean="0"/>
              <a:t> </a:t>
            </a:r>
            <a:r>
              <a:rPr lang="tr-TR" sz="2000" smtClean="0"/>
              <a:t>küçültün</a:t>
            </a:r>
            <a:r>
              <a:rPr lang="en-GB" sz="2000" smtClean="0"/>
              <a:t>.</a:t>
            </a:r>
            <a:endParaRPr lang="tr-TR" sz="1600" smtClean="0"/>
          </a:p>
          <a:p>
            <a:pPr lvl="1"/>
            <a:r>
              <a:rPr lang="tr-TR" sz="2000" smtClean="0"/>
              <a:t>Probları iki elinizle tutmamaya dikkat</a:t>
            </a:r>
            <a:r>
              <a:rPr lang="en-GB" sz="2000" smtClean="0"/>
              <a:t> </a:t>
            </a:r>
            <a:r>
              <a:rPr lang="tr-TR" sz="2000" smtClean="0"/>
              <a:t>ediniz.</a:t>
            </a:r>
          </a:p>
          <a:p>
            <a:pPr lvl="1"/>
            <a:r>
              <a:rPr lang="tr-TR" sz="2000" smtClean="0"/>
              <a:t>Analog ölçü aleti ile ölçüm</a:t>
            </a:r>
            <a:r>
              <a:rPr lang="en-GB" sz="2000" smtClean="0"/>
              <a:t> </a:t>
            </a:r>
            <a:r>
              <a:rPr lang="tr-TR" sz="2000" smtClean="0"/>
              <a:t>yapıyorsanız, ibrenin konumunu daha</a:t>
            </a:r>
            <a:r>
              <a:rPr lang="en-GB" sz="2000" smtClean="0"/>
              <a:t> </a:t>
            </a:r>
            <a:r>
              <a:rPr lang="tr-TR" sz="2000" smtClean="0"/>
              <a:t>net tayın etmek için skaladaki ayna</a:t>
            </a:r>
            <a:r>
              <a:rPr lang="en-GB" sz="2000" smtClean="0"/>
              <a:t> </a:t>
            </a:r>
            <a:r>
              <a:rPr lang="tr-TR" sz="2000" smtClean="0"/>
              <a:t>şeridinden faydalanınız</a:t>
            </a:r>
            <a:endParaRPr lang="en-US" sz="1600" smtClean="0"/>
          </a:p>
        </p:txBody>
      </p:sp>
      <p:sp>
        <p:nvSpPr>
          <p:cNvPr id="103428" name="Slide Number Placeholder 5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3B189FEF-DBC9-4B34-AD89-9C557358C042}" type="slidenum">
              <a:rPr lang="en-US" sz="1000"/>
              <a:pPr algn="r"/>
              <a:t>92</a:t>
            </a:fld>
            <a:endParaRPr lang="en-US"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6CBE4CA2-8F2B-4A36-B77D-6910BE749FC4}" type="slidenum">
              <a:rPr lang="en-US"/>
              <a:pPr/>
              <a:t>93</a:t>
            </a:fld>
            <a:endParaRPr lang="en-US"/>
          </a:p>
        </p:txBody>
      </p:sp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z="3600" b="1" smtClean="0"/>
              <a:t>ÖLÇME VE DEĞERLENDİRME</a:t>
            </a:r>
            <a:endParaRPr lang="en-US" sz="3600" smtClean="0"/>
          </a:p>
        </p:txBody>
      </p:sp>
      <p:sp>
        <p:nvSpPr>
          <p:cNvPr id="104451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sz="2000" b="1" smtClean="0"/>
              <a:t>ÖLÇME SORULARI</a:t>
            </a:r>
          </a:p>
          <a:p>
            <a:r>
              <a:rPr lang="tr-TR" sz="2000" smtClean="0"/>
              <a:t>Aşağıda size verilen soruları doğru ya da yanlış olarak cevaplayınız.</a:t>
            </a:r>
          </a:p>
          <a:p>
            <a:r>
              <a:rPr lang="tr-TR" sz="2000" smtClean="0"/>
              <a:t>1. Direnç, iletkenden geçen akım miktarını etkileyen bir faktördür.</a:t>
            </a:r>
          </a:p>
          <a:p>
            <a:r>
              <a:rPr lang="tr-TR" sz="2000" smtClean="0"/>
              <a:t>2. Direncin üst katları küçükten büyüğe </a:t>
            </a:r>
            <a:r>
              <a:rPr lang="el-GR" sz="2000" smtClean="0"/>
              <a:t>Ω, </a:t>
            </a:r>
            <a:r>
              <a:rPr lang="tr-TR" sz="2000" smtClean="0"/>
              <a:t>K</a:t>
            </a:r>
            <a:r>
              <a:rPr lang="el-GR" sz="2000" smtClean="0"/>
              <a:t>Ω, </a:t>
            </a:r>
            <a:r>
              <a:rPr lang="tr-TR" sz="2000" smtClean="0"/>
              <a:t>G</a:t>
            </a:r>
            <a:r>
              <a:rPr lang="el-GR" sz="2000" smtClean="0"/>
              <a:t>Ω, </a:t>
            </a:r>
            <a:r>
              <a:rPr lang="tr-TR" sz="2000" smtClean="0"/>
              <a:t>M</a:t>
            </a:r>
            <a:r>
              <a:rPr lang="el-GR" sz="2000" smtClean="0"/>
              <a:t>Ω </a:t>
            </a:r>
            <a:r>
              <a:rPr lang="tr-TR" sz="2000" smtClean="0"/>
              <a:t>şeklindedir.</a:t>
            </a:r>
          </a:p>
          <a:p>
            <a:r>
              <a:rPr lang="tr-TR" sz="2000" smtClean="0"/>
              <a:t>3. Özdirenç her madde için değişken bir değerdir.</a:t>
            </a:r>
          </a:p>
          <a:p>
            <a:r>
              <a:rPr lang="tr-TR" sz="2000" smtClean="0"/>
              <a:t>4. Bir iletkenin yalnızca kesiti arttırılırsa direnç değeri azalır.</a:t>
            </a:r>
          </a:p>
          <a:p>
            <a:r>
              <a:rPr lang="tr-TR" sz="2000" smtClean="0"/>
              <a:t>5. Bir iletken tam ortadan kesilirse direnç değeri yarıya düşer.</a:t>
            </a:r>
            <a:endParaRPr lang="en-GB" sz="2000" smtClean="0"/>
          </a:p>
          <a:p>
            <a:r>
              <a:rPr lang="tr-TR" sz="2000" smtClean="0"/>
              <a:t>6. Özdirenci küçük olan maddenin direnç değeri, özdirenci büyük olana göre daha azdır.</a:t>
            </a:r>
          </a:p>
          <a:p>
            <a:endParaRPr lang="tr-TR" sz="2000" smtClean="0"/>
          </a:p>
        </p:txBody>
      </p:sp>
      <p:sp>
        <p:nvSpPr>
          <p:cNvPr id="104452" name="Slide Number Placeholder 5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618F8847-E80D-4D2A-8491-2613E4DFA688}" type="slidenum">
              <a:rPr lang="en-US" sz="1000"/>
              <a:pPr algn="r"/>
              <a:t>93</a:t>
            </a:fld>
            <a:endParaRPr lang="en-US"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AD5EEE22-40F8-4630-9196-83492AAC2905}" type="slidenum">
              <a:rPr lang="en-US"/>
              <a:pPr/>
              <a:t>94</a:t>
            </a:fld>
            <a:endParaRPr lang="en-US"/>
          </a:p>
        </p:txBody>
      </p:sp>
      <p:sp>
        <p:nvSpPr>
          <p:cNvPr id="105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z="3600" b="1" smtClean="0"/>
              <a:t>ÖLÇME VE DEĞERLENDİRME</a:t>
            </a:r>
            <a:endParaRPr lang="en-US" sz="3600" smtClean="0"/>
          </a:p>
        </p:txBody>
      </p:sp>
      <p:sp>
        <p:nvSpPr>
          <p:cNvPr id="105475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sz="2000" smtClean="0"/>
              <a:t>7. İletkenlerin direncine yalnız boyu kesiti ve cinsi etki eder.</a:t>
            </a:r>
          </a:p>
          <a:p>
            <a:r>
              <a:rPr lang="tr-TR" sz="2000" smtClean="0"/>
              <a:t>8. İletkenlerin direnci yalnız ohmmetre ile ölçülebilir.</a:t>
            </a:r>
          </a:p>
          <a:p>
            <a:r>
              <a:rPr lang="tr-TR" sz="2000" smtClean="0"/>
              <a:t>9. Ohmmetrenin pili söküldüğünde direnç ölçümü yapılabilir.</a:t>
            </a:r>
          </a:p>
          <a:p>
            <a:r>
              <a:rPr lang="tr-TR" sz="2000" smtClean="0"/>
              <a:t>10. Analog ohmmetrelerde direnç değeri, her zaman skaladan direkt okunarak belirlenir.</a:t>
            </a:r>
          </a:p>
          <a:p>
            <a:r>
              <a:rPr lang="tr-TR" sz="2000" smtClean="0"/>
              <a:t>11. Analog ohmmetrelerde kademe anahtarının olması gerekenden büyük ya da küçük</a:t>
            </a:r>
            <a:r>
              <a:rPr lang="en-GB" sz="2000" smtClean="0"/>
              <a:t> </a:t>
            </a:r>
            <a:r>
              <a:rPr lang="tr-TR" sz="2000" smtClean="0"/>
              <a:t>kademede olması, ölçme sonucunu etkilemez.</a:t>
            </a:r>
          </a:p>
          <a:p>
            <a:r>
              <a:rPr lang="tr-TR" sz="2000" smtClean="0"/>
              <a:t>12. Dijital ohmmetrelerde değer ekranında 1 ifadesi varsa bu seçilen kademenin gerekenden</a:t>
            </a:r>
            <a:r>
              <a:rPr lang="en-GB" sz="2000" smtClean="0"/>
              <a:t> </a:t>
            </a:r>
            <a:r>
              <a:rPr lang="tr-TR" sz="2000" smtClean="0"/>
              <a:t>küçük olduğunu gösterir.</a:t>
            </a:r>
          </a:p>
          <a:p>
            <a:r>
              <a:rPr lang="tr-TR" sz="2000" smtClean="0"/>
              <a:t>13. Dijital ölçü aletlerinde değer ekranında 0 ifadesi görüldüğünde kademe anahtarı</a:t>
            </a:r>
            <a:r>
              <a:rPr lang="en-GB" sz="2000" smtClean="0"/>
              <a:t> </a:t>
            </a:r>
            <a:r>
              <a:rPr lang="tr-TR" sz="2000" smtClean="0"/>
              <a:t>küçültülür</a:t>
            </a:r>
            <a:r>
              <a:rPr lang="tr-TR" smtClean="0"/>
              <a:t>.</a:t>
            </a:r>
          </a:p>
        </p:txBody>
      </p:sp>
      <p:sp>
        <p:nvSpPr>
          <p:cNvPr id="105476" name="Slide Number Placeholder 5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F46C033E-DFF9-4F6B-8A46-9F84E102176A}" type="slidenum">
              <a:rPr lang="en-US" sz="1000"/>
              <a:pPr algn="r"/>
              <a:t>94</a:t>
            </a:fld>
            <a:endParaRPr lang="en-US"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FEE5013E-C994-437E-BAAD-B33CE662F992}" type="slidenum">
              <a:rPr lang="en-US"/>
              <a:pPr/>
              <a:t>95</a:t>
            </a:fld>
            <a:endParaRPr lang="en-US"/>
          </a:p>
        </p:txBody>
      </p:sp>
      <p:sp>
        <p:nvSpPr>
          <p:cNvPr id="1064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z="3600" b="1" smtClean="0"/>
              <a:t>ÖLÇME VE DEĞERLENDİRME</a:t>
            </a:r>
            <a:endParaRPr lang="en-US" sz="3600" smtClean="0"/>
          </a:p>
        </p:txBody>
      </p:sp>
      <p:sp>
        <p:nvSpPr>
          <p:cNvPr id="106499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sz="2000" b="1" smtClean="0"/>
              <a:t>DEĞERLENDİRME</a:t>
            </a:r>
          </a:p>
          <a:p>
            <a:r>
              <a:rPr lang="tr-TR" sz="2000" smtClean="0"/>
              <a:t>Cevaplarınızı cevap anahtarı ile kontrol ediniz. Doğru ve yanlış cevaplarınızı</a:t>
            </a:r>
            <a:r>
              <a:rPr lang="en-GB" sz="2000" smtClean="0"/>
              <a:t> </a:t>
            </a:r>
            <a:r>
              <a:rPr lang="tr-TR" sz="2000" smtClean="0"/>
              <a:t>belirleyerek kendinizi değerlendiriniz. </a:t>
            </a:r>
            <a:endParaRPr lang="en-GB" sz="2000" smtClean="0"/>
          </a:p>
          <a:p>
            <a:pPr>
              <a:buFont typeface="Wingdings" pitchFamily="2" charset="2"/>
              <a:buNone/>
            </a:pPr>
            <a:endParaRPr lang="en-GB" sz="2000" smtClean="0"/>
          </a:p>
          <a:p>
            <a:r>
              <a:rPr lang="tr-TR" sz="2000" smtClean="0"/>
              <a:t>Cevaplarınız yanlış ise öğrenme faaliyetinin ilgili</a:t>
            </a:r>
            <a:r>
              <a:rPr lang="en-GB" sz="2000" smtClean="0"/>
              <a:t> </a:t>
            </a:r>
            <a:r>
              <a:rPr lang="tr-TR" sz="2000" smtClean="0"/>
              <a:t>bölümüne dönerek konuyu tekrar ediniz.</a:t>
            </a:r>
          </a:p>
        </p:txBody>
      </p:sp>
      <p:sp>
        <p:nvSpPr>
          <p:cNvPr id="106500" name="Slide Number Placeholder 4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C46FC6CD-A814-4ADB-AA6D-3BF2B7F4D333}" type="slidenum">
              <a:rPr lang="en-US" sz="1000"/>
              <a:pPr algn="r"/>
              <a:t>95</a:t>
            </a:fld>
            <a:endParaRPr lang="en-US"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C6ACFA81-6EE5-479C-8DBF-A85F1A2B5D62}" type="slidenum">
              <a:rPr lang="en-US"/>
              <a:pPr/>
              <a:t>96</a:t>
            </a:fld>
            <a:endParaRPr lang="en-US"/>
          </a:p>
        </p:txBody>
      </p:sp>
      <p:sp>
        <p:nvSpPr>
          <p:cNvPr id="107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smtClean="0"/>
              <a:t>ÖĞRENME FAALİYETİ-3</a:t>
            </a:r>
            <a:endParaRPr lang="en-US" sz="3600" smtClean="0"/>
          </a:p>
        </p:txBody>
      </p:sp>
      <p:sp>
        <p:nvSpPr>
          <p:cNvPr id="10752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49325" y="1981200"/>
            <a:ext cx="7694613" cy="4114800"/>
          </a:xfrm>
        </p:spPr>
        <p:txBody>
          <a:bodyPr/>
          <a:lstStyle/>
          <a:p>
            <a:r>
              <a:rPr lang="en-US" sz="2000" b="1" smtClean="0"/>
              <a:t>AMAÇ</a:t>
            </a:r>
            <a:endParaRPr lang="tr-TR" sz="2000" b="1" smtClean="0"/>
          </a:p>
          <a:p>
            <a:pPr lvl="1"/>
            <a:r>
              <a:rPr lang="tr-TR" sz="2000" smtClean="0"/>
              <a:t>Endüktans değerinin bağlı olduğu faktörleri kavrayarak endüktans ölçümünü Lcrmetre</a:t>
            </a:r>
            <a:r>
              <a:rPr lang="en-GB" sz="2000" smtClean="0"/>
              <a:t> </a:t>
            </a:r>
            <a:r>
              <a:rPr lang="tr-TR" sz="2000" smtClean="0"/>
              <a:t>ile hatasız ve tekniğine uygun olarak yapabileceksiniz.</a:t>
            </a:r>
            <a:endParaRPr lang="en-GB" sz="2000" smtClean="0"/>
          </a:p>
          <a:p>
            <a:pPr lvl="1">
              <a:buFont typeface="Wingdings" pitchFamily="2" charset="2"/>
              <a:buNone/>
            </a:pPr>
            <a:endParaRPr lang="tr-TR" b="1" smtClean="0"/>
          </a:p>
          <a:p>
            <a:r>
              <a:rPr lang="en-US" sz="2000" b="1" smtClean="0"/>
              <a:t>ARAŞTIRMA</a:t>
            </a:r>
          </a:p>
          <a:p>
            <a:pPr lvl="1"/>
            <a:r>
              <a:rPr lang="tr-TR" sz="2000" smtClean="0"/>
              <a:t>Endüktans ölçümünün önemini ve gereğini araştırarak bir rapor halinde hazırlayınız.</a:t>
            </a:r>
          </a:p>
          <a:p>
            <a:pPr lvl="1"/>
            <a:endParaRPr lang="en-US" sz="1600" smtClean="0"/>
          </a:p>
          <a:p>
            <a:endParaRPr lang="en-US" sz="2000" smtClean="0"/>
          </a:p>
          <a:p>
            <a:endParaRPr lang="en-US" sz="1800" smtClean="0"/>
          </a:p>
        </p:txBody>
      </p:sp>
      <p:sp>
        <p:nvSpPr>
          <p:cNvPr id="107524" name="Content Placeholder 6"/>
          <p:cNvSpPr>
            <a:spLocks noGrp="1"/>
          </p:cNvSpPr>
          <p:nvPr>
            <p:ph sz="quarter" idx="3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en-GB" smtClean="0"/>
              <a:t>  </a:t>
            </a:r>
            <a:endParaRPr lang="tr-TR" smtClean="0"/>
          </a:p>
        </p:txBody>
      </p:sp>
      <p:sp>
        <p:nvSpPr>
          <p:cNvPr id="107525" name="Slide Number Placeholder 10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9C730C45-FFE4-4AB6-AC6B-F95A2AD0A02A}" type="slidenum">
              <a:rPr lang="en-US" sz="1000"/>
              <a:pPr algn="r"/>
              <a:t>96</a:t>
            </a:fld>
            <a:endParaRPr lang="en-US"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B565FA25-DE34-4582-A0BC-050188CE7F16}" type="slidenum">
              <a:rPr lang="en-US"/>
              <a:pPr/>
              <a:t>97</a:t>
            </a:fld>
            <a:endParaRPr lang="en-US"/>
          </a:p>
        </p:txBody>
      </p:sp>
      <p:sp>
        <p:nvSpPr>
          <p:cNvPr id="108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z="3600" b="1" smtClean="0"/>
              <a:t>3. ENDÜKTANS ÖLÇME</a:t>
            </a:r>
          </a:p>
        </p:txBody>
      </p:sp>
      <p:sp>
        <p:nvSpPr>
          <p:cNvPr id="108547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sz="2000" b="1" smtClean="0"/>
              <a:t>3.1. Bobinin Endüktansı</a:t>
            </a:r>
          </a:p>
          <a:p>
            <a:pPr lvl="1"/>
            <a:r>
              <a:rPr lang="tr-TR" sz="1800" smtClean="0"/>
              <a:t>Bobinler iletken tellerin yan yana veya üst üste sarılmasıyla elde edilen devre</a:t>
            </a:r>
          </a:p>
          <a:p>
            <a:pPr lvl="1"/>
            <a:r>
              <a:rPr lang="tr-TR" sz="1800" smtClean="0"/>
              <a:t>elemanlarıdır. Bobinlerin, elektrik akımının değişimine karşı gösterdikleri tepkiye endüktans</a:t>
            </a:r>
            <a:r>
              <a:rPr lang="en-GB" sz="1800" smtClean="0"/>
              <a:t> </a:t>
            </a:r>
            <a:r>
              <a:rPr lang="tr-TR" sz="1800" smtClean="0"/>
              <a:t>denir. </a:t>
            </a:r>
            <a:endParaRPr lang="en-GB" sz="1800" smtClean="0"/>
          </a:p>
          <a:p>
            <a:pPr lvl="1"/>
            <a:r>
              <a:rPr lang="tr-TR" sz="1800" smtClean="0"/>
              <a:t>Endüktans, L harfi ile sembolize edilir ve birimi henry (H)'dir. Uygulamada daha çok</a:t>
            </a:r>
            <a:r>
              <a:rPr lang="en-GB" sz="1800" smtClean="0"/>
              <a:t> </a:t>
            </a:r>
            <a:r>
              <a:rPr lang="tr-TR" sz="1800" smtClean="0"/>
              <a:t>endüktans biriminin alt katları olan </a:t>
            </a:r>
            <a:r>
              <a:rPr lang="el-GR" sz="1800" smtClean="0"/>
              <a:t>μ</a:t>
            </a:r>
            <a:r>
              <a:rPr lang="tr-TR" sz="1800" smtClean="0"/>
              <a:t>H(Mikro Henri) ve mH (Mili Henri) kullanılır. 1 H=103 mH=106 </a:t>
            </a:r>
            <a:r>
              <a:rPr lang="el-GR" sz="1800" smtClean="0"/>
              <a:t>μ</a:t>
            </a:r>
            <a:r>
              <a:rPr lang="tr-TR" sz="1800" smtClean="0"/>
              <a:t>H dir. </a:t>
            </a:r>
            <a:endParaRPr lang="en-GB" sz="1800" smtClean="0"/>
          </a:p>
          <a:p>
            <a:pPr lvl="1"/>
            <a:r>
              <a:rPr lang="tr-TR" sz="1800" smtClean="0"/>
              <a:t>Bir bobinin endüktif reaktansını (XL) bulabilmek için endüktans değeri</a:t>
            </a:r>
            <a:r>
              <a:rPr lang="en-GB" sz="1800" smtClean="0"/>
              <a:t> </a:t>
            </a:r>
            <a:r>
              <a:rPr lang="tr-TR" sz="1800" smtClean="0"/>
              <a:t>bilinmelidir</a:t>
            </a:r>
            <a:r>
              <a:rPr lang="tr-TR" sz="2000" smtClean="0"/>
              <a:t>.</a:t>
            </a:r>
          </a:p>
        </p:txBody>
      </p:sp>
      <p:sp>
        <p:nvSpPr>
          <p:cNvPr id="108548" name="Slide Number Placeholder 5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9A5B6BC3-4704-46ED-AB24-131EF63FD41F}" type="slidenum">
              <a:rPr lang="en-US" sz="1000"/>
              <a:pPr algn="r"/>
              <a:t>97</a:t>
            </a:fld>
            <a:endParaRPr lang="en-US" sz="1000"/>
          </a:p>
        </p:txBody>
      </p:sp>
      <p:pic>
        <p:nvPicPr>
          <p:cNvPr id="108549" name="Picture 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040188" y="5214938"/>
            <a:ext cx="2032000" cy="1528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8550" name="Rectangle 7"/>
          <p:cNvSpPr>
            <a:spLocks noChangeArrowheads="1"/>
          </p:cNvSpPr>
          <p:nvPr/>
        </p:nvSpPr>
        <p:spPr bwMode="auto">
          <a:xfrm>
            <a:off x="6143625" y="5559425"/>
            <a:ext cx="2338388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/>
              <a:t>Resim 3.1: Bobinler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672C7BBD-30DA-49F2-A4EE-8BF337502698}" type="slidenum">
              <a:rPr lang="en-US"/>
              <a:pPr/>
              <a:t>98</a:t>
            </a:fld>
            <a:endParaRPr lang="en-US"/>
          </a:p>
        </p:txBody>
      </p:sp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z="3600" b="1" smtClean="0"/>
              <a:t>3. ENDÜKTANS ÖLÇME</a:t>
            </a:r>
          </a:p>
        </p:txBody>
      </p:sp>
      <p:sp>
        <p:nvSpPr>
          <p:cNvPr id="109571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sz="2000" smtClean="0"/>
              <a:t>Bobinler DC ile beslenen bir devrede çalışırken akıma sadece </a:t>
            </a:r>
            <a:r>
              <a:rPr lang="tr-TR" sz="2000" b="1" smtClean="0"/>
              <a:t>omik direnç </a:t>
            </a:r>
            <a:r>
              <a:rPr lang="tr-TR" sz="2000" smtClean="0"/>
              <a:t>gösterirler.</a:t>
            </a:r>
          </a:p>
          <a:p>
            <a:r>
              <a:rPr lang="tr-TR" sz="2000" smtClean="0"/>
              <a:t>Yani, bobinin yapıldığı metalin akıma karşı gösterdiği zorluk söz konusudur. AC ile</a:t>
            </a:r>
            <a:r>
              <a:rPr lang="en-GB" sz="2000" smtClean="0"/>
              <a:t> </a:t>
            </a:r>
            <a:r>
              <a:rPr lang="tr-TR" sz="2000" smtClean="0"/>
              <a:t>beslenen bir devrede ise bobinin akıma gösterdiği direnç artar. Artışın sebebi bobin etrafında</a:t>
            </a:r>
            <a:r>
              <a:rPr lang="en-GB" sz="2000" smtClean="0"/>
              <a:t> </a:t>
            </a:r>
            <a:r>
              <a:rPr lang="tr-TR" sz="2000" smtClean="0"/>
              <a:t>oluşan değişken manyetik alanın akıma karşı ilave bir karşı koyma (direnç) etkisi</a:t>
            </a:r>
            <a:r>
              <a:rPr lang="en-GB" sz="2000" smtClean="0"/>
              <a:t> </a:t>
            </a:r>
            <a:r>
              <a:rPr lang="tr-TR" sz="2000" smtClean="0"/>
              <a:t>oluşturmasıdır. AC sinyalin frekansı yükseldikçe oluşan manyetik alanın değişim hızı da</a:t>
            </a:r>
            <a:r>
              <a:rPr lang="en-GB" sz="2000" smtClean="0"/>
              <a:t> </a:t>
            </a:r>
            <a:r>
              <a:rPr lang="tr-TR" sz="2000" smtClean="0"/>
              <a:t>artacağından bobinin akıma gösterdiği direnç de yükselir.</a:t>
            </a:r>
            <a:endParaRPr lang="en-GB" sz="2000" smtClean="0"/>
          </a:p>
          <a:p>
            <a:r>
              <a:rPr lang="tr-TR" sz="2000" smtClean="0"/>
              <a:t>Bu nedenle bobinler, dirençleri</a:t>
            </a:r>
            <a:r>
              <a:rPr lang="en-GB" sz="2000" smtClean="0"/>
              <a:t> </a:t>
            </a:r>
            <a:r>
              <a:rPr lang="tr-TR" sz="2000" smtClean="0"/>
              <a:t>frekansla birlikte yükselen eleman olarak nitelendirilebilir. </a:t>
            </a:r>
            <a:endParaRPr lang="en-GB" sz="2000" smtClean="0"/>
          </a:p>
          <a:p>
            <a:r>
              <a:rPr lang="tr-TR" sz="2000" smtClean="0"/>
              <a:t>Bobinlerin sarıldığı kısma karkas,</a:t>
            </a:r>
            <a:r>
              <a:rPr lang="en-GB" sz="2000" smtClean="0"/>
              <a:t> </a:t>
            </a:r>
            <a:r>
              <a:rPr lang="nn-NO" sz="2000" smtClean="0"/>
              <a:t>mandren ya da makara; iletkenin karkas üzerinde bir tur yapmasına ise sipir, tur ya da sarım </a:t>
            </a:r>
            <a:r>
              <a:rPr lang="tr-TR" sz="2000" smtClean="0"/>
              <a:t>adı verilir. Bobinlerde çoğunlukla dış yüzeyi izoleli (vernikli) bakır tel kullanılır.</a:t>
            </a:r>
          </a:p>
        </p:txBody>
      </p:sp>
      <p:sp>
        <p:nvSpPr>
          <p:cNvPr id="109572" name="Slide Number Placeholder 6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53BD150D-0955-4912-BDA2-DD971590348F}" type="slidenum">
              <a:rPr lang="en-US" sz="1000"/>
              <a:pPr algn="r"/>
              <a:t>98</a:t>
            </a:fld>
            <a:endParaRPr lang="en-US"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D245FE8B-49D8-4B74-B300-D82A4EC264B8}" type="slidenum">
              <a:rPr lang="en-US"/>
              <a:pPr/>
              <a:t>99</a:t>
            </a:fld>
            <a:endParaRPr lang="en-US"/>
          </a:p>
        </p:txBody>
      </p:sp>
      <p:sp>
        <p:nvSpPr>
          <p:cNvPr id="110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z="3600" b="1" smtClean="0"/>
              <a:t>3. ENDÜKTANS ÖLÇME</a:t>
            </a:r>
          </a:p>
        </p:txBody>
      </p:sp>
      <p:sp>
        <p:nvSpPr>
          <p:cNvPr id="110595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sz="2000" b="1" smtClean="0"/>
              <a:t>3.2. Endüktansı Etkileyen Faktörler</a:t>
            </a:r>
            <a:endParaRPr lang="en-GB" sz="2000" smtClean="0"/>
          </a:p>
          <a:p>
            <a:pPr lvl="1"/>
            <a:r>
              <a:rPr lang="tr-TR" sz="2000" smtClean="0"/>
              <a:t>Uygulamada kullanılan bir bobinin endüktansı çeşitli faktörlere göre azalmakta ya da</a:t>
            </a:r>
            <a:r>
              <a:rPr lang="en-GB" sz="2000" smtClean="0"/>
              <a:t> </a:t>
            </a:r>
            <a:r>
              <a:rPr lang="tr-TR" sz="2000" smtClean="0"/>
              <a:t>artmaktadır. Bunlar:</a:t>
            </a:r>
          </a:p>
          <a:p>
            <a:pPr lvl="2"/>
            <a:r>
              <a:rPr lang="tr-TR" sz="2000" smtClean="0"/>
              <a:t> Sarım sayısı</a:t>
            </a:r>
          </a:p>
          <a:p>
            <a:pPr lvl="2"/>
            <a:r>
              <a:rPr lang="tr-TR" sz="2000" smtClean="0"/>
              <a:t> Nüvenin cinsi</a:t>
            </a:r>
          </a:p>
          <a:p>
            <a:pPr lvl="2"/>
            <a:r>
              <a:rPr lang="tr-TR" sz="2000" smtClean="0"/>
              <a:t> Sarımlar arası aralık</a:t>
            </a:r>
          </a:p>
          <a:p>
            <a:pPr lvl="2"/>
            <a:r>
              <a:rPr lang="tr-TR" sz="2000" smtClean="0"/>
              <a:t> Tel kesiti</a:t>
            </a:r>
          </a:p>
          <a:p>
            <a:pPr lvl="2"/>
            <a:r>
              <a:rPr lang="tr-TR" sz="2000" smtClean="0"/>
              <a:t> Bobinin biçimi</a:t>
            </a:r>
          </a:p>
          <a:p>
            <a:pPr lvl="2"/>
            <a:r>
              <a:rPr lang="tr-TR" sz="2000" smtClean="0"/>
              <a:t> Sargı katı sayısı</a:t>
            </a:r>
          </a:p>
          <a:p>
            <a:pPr lvl="2"/>
            <a:r>
              <a:rPr lang="tr-TR" sz="2000" smtClean="0"/>
              <a:t> Bobinin çapı</a:t>
            </a:r>
          </a:p>
          <a:p>
            <a:pPr lvl="2"/>
            <a:r>
              <a:rPr lang="tr-TR" sz="2000" smtClean="0"/>
              <a:t> Sargı tipi</a:t>
            </a:r>
          </a:p>
          <a:p>
            <a:pPr lvl="2"/>
            <a:r>
              <a:rPr lang="tr-TR" sz="2000" smtClean="0"/>
              <a:t> Uygulanan AC gerilimin frekansıdır.</a:t>
            </a:r>
          </a:p>
        </p:txBody>
      </p:sp>
      <p:sp>
        <p:nvSpPr>
          <p:cNvPr id="110596" name="Slide Number Placeholder 4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8440BF9E-AB15-45C5-90B7-703D2EEB4F43}" type="slidenum">
              <a:rPr lang="en-US" sz="1000"/>
              <a:pPr algn="r"/>
              <a:t>99</a:t>
            </a:fld>
            <a:endParaRPr lang="en-US"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9C6BA4B8-0C5B-4819-8787-5F1D0981AB20}" type="slidenum">
              <a:rPr lang="en-US"/>
              <a:pPr/>
              <a:t>100</a:t>
            </a:fld>
            <a:endParaRPr lang="en-US"/>
          </a:p>
        </p:txBody>
      </p:sp>
      <p:sp>
        <p:nvSpPr>
          <p:cNvPr id="1116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z="3600" b="1" smtClean="0"/>
              <a:t>3. ENDÜKTANS ÖLÇME</a:t>
            </a:r>
          </a:p>
        </p:txBody>
      </p:sp>
      <p:sp>
        <p:nvSpPr>
          <p:cNvPr id="111619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sz="2000" smtClean="0"/>
              <a:t>Bobine doğru gerilim uygulandığında, geçen akıma bobinin ( R ) omik direnci karşı</a:t>
            </a:r>
            <a:r>
              <a:rPr lang="en-GB" sz="2000" smtClean="0"/>
              <a:t> </a:t>
            </a:r>
            <a:r>
              <a:rPr lang="tr-TR" sz="2000" smtClean="0"/>
              <a:t>koyarken aynı bobine alternatif gerilim uygulandığında, alternatif akıma gösterilen direnç</a:t>
            </a:r>
            <a:r>
              <a:rPr lang="en-GB" sz="2000" smtClean="0"/>
              <a:t> </a:t>
            </a:r>
            <a:r>
              <a:rPr lang="tr-TR" sz="2000" smtClean="0"/>
              <a:t>daha büyük olur. </a:t>
            </a:r>
            <a:endParaRPr lang="en-GB" sz="2000" smtClean="0"/>
          </a:p>
          <a:p>
            <a:r>
              <a:rPr lang="tr-TR" sz="2000" smtClean="0"/>
              <a:t>Alternatif akımdaki bobinin bu direnci (XL) ile ifade edilir ve endüktif</a:t>
            </a:r>
            <a:r>
              <a:rPr lang="en-GB" sz="2000" smtClean="0"/>
              <a:t> </a:t>
            </a:r>
            <a:r>
              <a:rPr lang="tr-TR" sz="2000" smtClean="0"/>
              <a:t>direnç olarak tanımlanır.</a:t>
            </a:r>
          </a:p>
          <a:p>
            <a:r>
              <a:rPr lang="tr-TR" sz="2000" smtClean="0"/>
              <a:t>Endüktif reaktans:</a:t>
            </a:r>
          </a:p>
          <a:p>
            <a:r>
              <a:rPr lang="tr-TR" sz="2000" b="1" smtClean="0"/>
              <a:t>XL=2.</a:t>
            </a:r>
            <a:r>
              <a:rPr lang="el-GR" sz="2000" b="1" smtClean="0"/>
              <a:t>π.</a:t>
            </a:r>
            <a:r>
              <a:rPr lang="tr-TR" sz="2000" b="1" smtClean="0"/>
              <a:t>f.L</a:t>
            </a:r>
            <a:r>
              <a:rPr lang="en-GB" sz="2000" b="1" smtClean="0"/>
              <a:t> </a:t>
            </a:r>
            <a:r>
              <a:rPr lang="tr-TR" sz="2000" smtClean="0"/>
              <a:t>formülü ile hesaplanır.</a:t>
            </a:r>
          </a:p>
          <a:p>
            <a:r>
              <a:rPr lang="tr-TR" sz="2000" smtClean="0"/>
              <a:t>Burada:</a:t>
            </a:r>
          </a:p>
          <a:p>
            <a:pPr lvl="1"/>
            <a:r>
              <a:rPr lang="tr-TR" sz="2000" b="1" smtClean="0"/>
              <a:t>XL=Endüktif reaktans (</a:t>
            </a:r>
            <a:r>
              <a:rPr lang="el-GR" sz="2000" b="1" smtClean="0"/>
              <a:t>Ω)</a:t>
            </a:r>
          </a:p>
          <a:p>
            <a:pPr lvl="1"/>
            <a:r>
              <a:rPr lang="tr-TR" sz="2000" b="1" smtClean="0"/>
              <a:t>f= Frekans (Hz)</a:t>
            </a:r>
          </a:p>
          <a:p>
            <a:pPr lvl="1"/>
            <a:r>
              <a:rPr lang="tr-TR" sz="2000" b="1" smtClean="0"/>
              <a:t>L= Endüktanstır (Henry)</a:t>
            </a:r>
          </a:p>
        </p:txBody>
      </p:sp>
      <p:sp>
        <p:nvSpPr>
          <p:cNvPr id="111620" name="Slide Number Placeholder 5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165B3379-BFC5-422D-A4D5-C5148E31C962}" type="slidenum">
              <a:rPr lang="en-US" sz="1000"/>
              <a:pPr algn="r"/>
              <a:t>100</a:t>
            </a:fld>
            <a:endParaRPr lang="en-US"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7E56954A-C684-4AAE-AC66-632BFF668DF6}" type="slidenum">
              <a:rPr lang="en-US"/>
              <a:pPr/>
              <a:t>101</a:t>
            </a:fld>
            <a:endParaRPr lang="en-US"/>
          </a:p>
        </p:txBody>
      </p:sp>
      <p:sp>
        <p:nvSpPr>
          <p:cNvPr id="112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z="3600" b="1" smtClean="0"/>
              <a:t>3. ENDÜKTANS ÖLÇME</a:t>
            </a:r>
          </a:p>
        </p:txBody>
      </p:sp>
      <p:sp>
        <p:nvSpPr>
          <p:cNvPr id="112643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sz="2000" b="1" smtClean="0"/>
              <a:t>Örnek: </a:t>
            </a:r>
            <a:r>
              <a:rPr lang="tr-TR" sz="2000" smtClean="0"/>
              <a:t>1 Henry’lik bir bobinin frekansı 50 Hz olan şebeke hattı üzerinde çalışmaktadır. Bu</a:t>
            </a:r>
            <a:r>
              <a:rPr lang="en-GB" sz="2000" smtClean="0"/>
              <a:t> </a:t>
            </a:r>
            <a:r>
              <a:rPr lang="tr-TR" sz="2000" smtClean="0"/>
              <a:t>bobinin endüktif reaktansını ve doğru gerilim uygulandığındaki endüktif reaktansını</a:t>
            </a:r>
            <a:r>
              <a:rPr lang="en-GB" sz="2000" smtClean="0"/>
              <a:t> </a:t>
            </a:r>
            <a:r>
              <a:rPr lang="tr-TR" sz="2000" smtClean="0"/>
              <a:t>bulunuz.</a:t>
            </a:r>
          </a:p>
          <a:p>
            <a:pPr lvl="1"/>
            <a:r>
              <a:rPr lang="tr-TR" sz="2000" b="1" smtClean="0"/>
              <a:t>XL= 2.</a:t>
            </a:r>
            <a:r>
              <a:rPr lang="el-GR" sz="2000" b="1" smtClean="0"/>
              <a:t>π.</a:t>
            </a:r>
            <a:r>
              <a:rPr lang="tr-TR" sz="2000" b="1" smtClean="0"/>
              <a:t>f.L=2.3,14.50.1=314 </a:t>
            </a:r>
            <a:r>
              <a:rPr lang="el-GR" sz="2000" b="1" smtClean="0"/>
              <a:t>Ω : </a:t>
            </a:r>
            <a:r>
              <a:rPr lang="tr-TR" sz="2000" b="1" i="1" smtClean="0"/>
              <a:t>Alternatif akımdaki endüktif reaktansı</a:t>
            </a:r>
          </a:p>
          <a:p>
            <a:pPr lvl="1"/>
            <a:r>
              <a:rPr lang="tr-TR" sz="2000" b="1" smtClean="0"/>
              <a:t>XL= 2.</a:t>
            </a:r>
            <a:r>
              <a:rPr lang="el-GR" sz="2000" b="1" smtClean="0"/>
              <a:t>π.</a:t>
            </a:r>
            <a:r>
              <a:rPr lang="tr-TR" sz="2000" b="1" smtClean="0"/>
              <a:t>f.L=2.3,14.0.1= 0 </a:t>
            </a:r>
            <a:r>
              <a:rPr lang="el-GR" sz="2000" b="1" smtClean="0"/>
              <a:t>Ω : </a:t>
            </a:r>
            <a:r>
              <a:rPr lang="tr-TR" sz="2000" b="1" i="1" smtClean="0"/>
              <a:t>Doğru akımdaki endüktif reaktansı</a:t>
            </a:r>
            <a:endParaRPr lang="en-GB" sz="2000" b="1" i="1" smtClean="0"/>
          </a:p>
          <a:p>
            <a:r>
              <a:rPr lang="tr-TR" sz="1600" smtClean="0"/>
              <a:t>Buradan da görüldüğü gibi bobinlerin alternatif akıma karşı gösterdikleri zorluk doğru</a:t>
            </a:r>
            <a:r>
              <a:rPr lang="en-GB" sz="1600" smtClean="0"/>
              <a:t> </a:t>
            </a:r>
            <a:r>
              <a:rPr lang="tr-TR" sz="1600" smtClean="0"/>
              <a:t>akımda olduğundan çok daha fazladır. Çünkü alternatif akımda zamana karşı değişim söz</a:t>
            </a:r>
            <a:r>
              <a:rPr lang="en-GB" sz="1600" smtClean="0"/>
              <a:t> </a:t>
            </a:r>
            <a:r>
              <a:rPr lang="tr-TR" sz="1600" smtClean="0"/>
              <a:t>konusudur. Bobinlerin hepsi endüktansa sahip olduklarından, endüktansın etkisi ile alternatif</a:t>
            </a:r>
            <a:r>
              <a:rPr lang="en-GB" sz="1600" smtClean="0"/>
              <a:t> </a:t>
            </a:r>
            <a:r>
              <a:rPr lang="tr-TR" sz="1600" smtClean="0"/>
              <a:t>akımın değişimine karşı koymaya çalışır. Bu durum endüktif reaktansı oluşturur. Doğru</a:t>
            </a:r>
            <a:r>
              <a:rPr lang="en-GB" sz="1600" smtClean="0"/>
              <a:t> </a:t>
            </a:r>
            <a:r>
              <a:rPr lang="tr-TR" sz="1600" smtClean="0"/>
              <a:t>akımda frekans değerinin 0 olmasıyla akım değerinde herhangi bir değişiklik olmaz.</a:t>
            </a:r>
          </a:p>
          <a:p>
            <a:r>
              <a:rPr lang="tr-TR" sz="1600" smtClean="0"/>
              <a:t>Dolayısıyla endüktansın akım değişimi ile karşılaşmadığı için karşı koyacak bir sebebi</a:t>
            </a:r>
            <a:r>
              <a:rPr lang="en-GB" sz="1600" smtClean="0"/>
              <a:t> </a:t>
            </a:r>
            <a:r>
              <a:rPr lang="tr-TR" sz="1600" smtClean="0"/>
              <a:t>kalmamıştır ve endüktif reaktans değeri doğru akımda sıfırdır.</a:t>
            </a:r>
          </a:p>
          <a:p>
            <a:pPr lvl="1"/>
            <a:endParaRPr lang="tr-TR" sz="1600" b="1" i="1" smtClean="0"/>
          </a:p>
        </p:txBody>
      </p:sp>
      <p:sp>
        <p:nvSpPr>
          <p:cNvPr id="112644" name="Slide Number Placeholder 4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EB6DD703-5CAF-4526-9AA3-FFCEC8B8979F}" type="slidenum">
              <a:rPr lang="en-US" sz="1000"/>
              <a:pPr algn="r"/>
              <a:t>101</a:t>
            </a:fld>
            <a:endParaRPr lang="en-US"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21BD7EFC-5A21-46BF-95B9-96C8ACA2EBF3}" type="slidenum">
              <a:rPr lang="en-US"/>
              <a:pPr/>
              <a:t>102</a:t>
            </a:fld>
            <a:endParaRPr lang="en-US"/>
          </a:p>
        </p:txBody>
      </p:sp>
      <p:sp>
        <p:nvSpPr>
          <p:cNvPr id="1136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z="3600" b="1" smtClean="0"/>
              <a:t>3. ENDÜKTANS ÖLÇME</a:t>
            </a:r>
          </a:p>
        </p:txBody>
      </p:sp>
      <p:sp>
        <p:nvSpPr>
          <p:cNvPr id="113667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sz="2000" b="1" smtClean="0"/>
              <a:t>3.3. Endüktans Değerinin Ölçülmesi</a:t>
            </a:r>
          </a:p>
          <a:p>
            <a:pPr lvl="1"/>
            <a:r>
              <a:rPr lang="tr-TR" sz="2000" smtClean="0"/>
              <a:t>Endüktans değeri de aynen direnç değerinde olduğu gibi kesinlikle enerji altında</a:t>
            </a:r>
            <a:r>
              <a:rPr lang="en-GB" sz="2000" smtClean="0"/>
              <a:t> </a:t>
            </a:r>
            <a:r>
              <a:rPr lang="tr-TR" sz="2000" smtClean="0"/>
              <a:t>olmadan Lcrmetre veya endüktans ölçme özelliğine sahip avometreler ile yapılabilmektedir.</a:t>
            </a:r>
          </a:p>
          <a:p>
            <a:pPr lvl="1"/>
            <a:r>
              <a:rPr lang="tr-TR" sz="2000" smtClean="0"/>
              <a:t>Endüktans ölçerken aynen direnç ölçümündeki teknikler uygulanmaktadır.</a:t>
            </a:r>
            <a:endParaRPr lang="en-GB" sz="2000" smtClean="0"/>
          </a:p>
          <a:p>
            <a:pPr lvl="1"/>
            <a:r>
              <a:rPr lang="tr-TR" sz="2000" smtClean="0"/>
              <a:t>Lcrmetre</a:t>
            </a:r>
            <a:r>
              <a:rPr lang="en-GB" sz="2000" smtClean="0"/>
              <a:t> </a:t>
            </a:r>
            <a:r>
              <a:rPr lang="tr-TR" sz="2000" smtClean="0"/>
              <a:t>olmadığı durumda endüktans ölçme özelliğine sahip avometre ile aynen Lcrmetre de olduğu</a:t>
            </a:r>
            <a:r>
              <a:rPr lang="en-GB" sz="2000" smtClean="0"/>
              <a:t> </a:t>
            </a:r>
            <a:r>
              <a:rPr lang="tr-TR" sz="2000" smtClean="0"/>
              <a:t>gibi ölçüm yapılabilir. </a:t>
            </a:r>
            <a:endParaRPr lang="en-GB" sz="2000" smtClean="0"/>
          </a:p>
          <a:p>
            <a:pPr lvl="1"/>
            <a:r>
              <a:rPr lang="tr-TR" sz="2000" smtClean="0"/>
              <a:t>Yalnız burada dikkat edilmesi gereken husus, bu özelliğe sahip</a:t>
            </a:r>
            <a:r>
              <a:rPr lang="en-GB" sz="2000" smtClean="0"/>
              <a:t> </a:t>
            </a:r>
            <a:r>
              <a:rPr lang="tr-TR" sz="2000" smtClean="0"/>
              <a:t>avometrelerde endüktansı ölçülecek bobin, problara değil Lx olarak gösterilen bağlantı</a:t>
            </a:r>
            <a:r>
              <a:rPr lang="en-GB" sz="2000" smtClean="0"/>
              <a:t> </a:t>
            </a:r>
            <a:r>
              <a:rPr lang="tr-TR" sz="2000" smtClean="0"/>
              <a:t>noktasına bağlanmalıdır (Resim 3.2).</a:t>
            </a:r>
          </a:p>
        </p:txBody>
      </p:sp>
      <p:sp>
        <p:nvSpPr>
          <p:cNvPr id="113668" name="Slide Number Placeholder 4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087AEE2D-1206-45F9-A6FB-A692F9C45C76}" type="slidenum">
              <a:rPr lang="en-US" sz="1000"/>
              <a:pPr algn="r"/>
              <a:t>102</a:t>
            </a:fld>
            <a:endParaRPr lang="en-US"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90DCC2C1-30AA-470C-BC05-E5C3F5FD6F46}" type="slidenum">
              <a:rPr lang="en-US"/>
              <a:pPr/>
              <a:t>103</a:t>
            </a:fld>
            <a:endParaRPr lang="en-US"/>
          </a:p>
        </p:txBody>
      </p:sp>
      <p:sp>
        <p:nvSpPr>
          <p:cNvPr id="114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z="3600" b="1" smtClean="0"/>
              <a:t>3. ENDÜKTANS ÖLÇME</a:t>
            </a:r>
          </a:p>
        </p:txBody>
      </p:sp>
      <p:sp>
        <p:nvSpPr>
          <p:cNvPr id="114691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en-GB" smtClean="0"/>
              <a:t>  </a:t>
            </a:r>
            <a:endParaRPr lang="tr-TR" smtClean="0"/>
          </a:p>
        </p:txBody>
      </p:sp>
      <p:pic>
        <p:nvPicPr>
          <p:cNvPr id="11469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43025" y="1700213"/>
            <a:ext cx="5872163" cy="4729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4693" name="Slide Number Placeholder 4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7FD371A9-89CE-4FFA-9765-DB9FBA498664}" type="slidenum">
              <a:rPr lang="en-US" sz="1000"/>
              <a:pPr algn="r"/>
              <a:t>103</a:t>
            </a:fld>
            <a:endParaRPr lang="en-US"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DE9D993C-0415-48B2-843D-B0C6CCBF0563}" type="slidenum">
              <a:rPr lang="en-US"/>
              <a:pPr/>
              <a:t>104</a:t>
            </a:fld>
            <a:endParaRPr lang="en-US"/>
          </a:p>
        </p:txBody>
      </p:sp>
      <p:sp>
        <p:nvSpPr>
          <p:cNvPr id="115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z="3600" b="1" smtClean="0"/>
              <a:t>3. ENDÜKTANS ÖLÇME</a:t>
            </a:r>
          </a:p>
        </p:txBody>
      </p:sp>
      <p:sp>
        <p:nvSpPr>
          <p:cNvPr id="115715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sz="2000" b="1" smtClean="0"/>
              <a:t>3.3.1. Lcrmetre ile Endüktans Değerinin Ölçülmesi</a:t>
            </a:r>
          </a:p>
          <a:p>
            <a:pPr lvl="1"/>
            <a:r>
              <a:rPr lang="tr-TR" sz="2000" smtClean="0"/>
              <a:t>Lcrmetreler ile endüktans ölçülürken ölçülecek endüktans değerine uygun kademe</a:t>
            </a:r>
            <a:r>
              <a:rPr lang="en-GB" sz="2000" smtClean="0"/>
              <a:t> </a:t>
            </a:r>
            <a:r>
              <a:rPr lang="tr-TR" sz="2000" smtClean="0"/>
              <a:t>seçilir, eğer endüktans değeri için seçilen kademe küçük ise değer ekranında “1”, kademe</a:t>
            </a:r>
            <a:r>
              <a:rPr lang="en-GB" sz="2000" smtClean="0"/>
              <a:t> </a:t>
            </a:r>
            <a:r>
              <a:rPr lang="tr-TR" sz="2000" smtClean="0"/>
              <a:t>büyük ise “0” değeri görülür. </a:t>
            </a:r>
            <a:endParaRPr lang="en-GB" sz="2000" smtClean="0"/>
          </a:p>
          <a:p>
            <a:pPr lvl="1"/>
            <a:r>
              <a:rPr lang="tr-TR" sz="2000" smtClean="0"/>
              <a:t>Bu durumlarda seçilen kademe büyütülerek ya da küçültülerek</a:t>
            </a:r>
            <a:r>
              <a:rPr lang="en-GB" sz="2000" smtClean="0"/>
              <a:t> </a:t>
            </a:r>
            <a:r>
              <a:rPr lang="tr-TR" sz="2000" smtClean="0"/>
              <a:t>ölçüm tamamlanır.</a:t>
            </a:r>
          </a:p>
          <a:p>
            <a:pPr lvl="1"/>
            <a:r>
              <a:rPr lang="tr-TR" sz="2000" b="1" smtClean="0"/>
              <a:t>Lcrmetre ile bobinin endüktansını (L) ölçtüğünüzü, endüktansında</a:t>
            </a:r>
            <a:r>
              <a:rPr lang="en-GB" sz="2000" b="1" smtClean="0"/>
              <a:t> </a:t>
            </a:r>
            <a:r>
              <a:rPr lang="tr-TR" sz="2000" b="1" smtClean="0"/>
              <a:t>alternatif akımın değişimine karşı gösterilen zorluk olduğunu unutmayın</a:t>
            </a:r>
            <a:r>
              <a:rPr lang="tr-TR" sz="2000" b="1" i="1" smtClean="0"/>
              <a:t>.</a:t>
            </a:r>
          </a:p>
        </p:txBody>
      </p:sp>
      <p:sp>
        <p:nvSpPr>
          <p:cNvPr id="115716" name="Slide Number Placeholder 4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14AD9761-BC96-4699-8501-25494A2C3A89}" type="slidenum">
              <a:rPr lang="en-US" sz="1000"/>
              <a:pPr algn="r"/>
              <a:t>104</a:t>
            </a:fld>
            <a:endParaRPr lang="en-US"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078703D3-42B7-4337-A4A2-4985714F784F}" type="slidenum">
              <a:rPr lang="en-US"/>
              <a:pPr/>
              <a:t>105</a:t>
            </a:fld>
            <a:endParaRPr lang="en-US"/>
          </a:p>
        </p:txBody>
      </p:sp>
      <p:sp>
        <p:nvSpPr>
          <p:cNvPr id="116738" name="Rectangle 2"/>
          <p:cNvSpPr>
            <a:spLocks noGrp="1" noChangeArrowheads="1"/>
          </p:cNvSpPr>
          <p:nvPr>
            <p:ph type="title"/>
          </p:nvPr>
        </p:nvSpPr>
        <p:spPr>
          <a:xfrm>
            <a:off x="928688" y="0"/>
            <a:ext cx="7158037" cy="1412875"/>
          </a:xfrm>
        </p:spPr>
        <p:txBody>
          <a:bodyPr/>
          <a:lstStyle/>
          <a:p>
            <a:pPr eaLnBrk="1" hangingPunct="1"/>
            <a:r>
              <a:rPr lang="en-GB" sz="3600" b="1" smtClean="0"/>
              <a:t>UYGULAMA</a:t>
            </a:r>
            <a:r>
              <a:rPr lang="tr-TR" sz="3600" b="1" smtClean="0"/>
              <a:t> FAALİYETİ</a:t>
            </a:r>
          </a:p>
        </p:txBody>
      </p:sp>
      <p:sp>
        <p:nvSpPr>
          <p:cNvPr id="1167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8688" y="1785938"/>
            <a:ext cx="7661275" cy="4876800"/>
          </a:xfrm>
        </p:spPr>
        <p:txBody>
          <a:bodyPr/>
          <a:lstStyle/>
          <a:p>
            <a:r>
              <a:rPr lang="tr-TR" sz="1800" smtClean="0"/>
              <a:t>Endüktans değerleri farklı bobinleri Lcrmetre veya endüktans ölçme özelliğine sahip</a:t>
            </a:r>
            <a:r>
              <a:rPr lang="en-GB" sz="1800" smtClean="0"/>
              <a:t> </a:t>
            </a:r>
            <a:r>
              <a:rPr lang="tr-TR" sz="1800" smtClean="0"/>
              <a:t>avometre kullanarak ölçünüz. </a:t>
            </a:r>
            <a:endParaRPr lang="en-GB" sz="1800" smtClean="0"/>
          </a:p>
          <a:p>
            <a:r>
              <a:rPr lang="tr-TR" sz="1800" smtClean="0"/>
              <a:t>Endüktans değerini ölçtüğünüz her bir bobinin endüktif</a:t>
            </a:r>
            <a:r>
              <a:rPr lang="en-GB" sz="1800" smtClean="0"/>
              <a:t> </a:t>
            </a:r>
            <a:r>
              <a:rPr lang="tr-TR" sz="1800" smtClean="0"/>
              <a:t>reaktansını hesaplayarak sonuçları aşağıdaki tabloya yazınız.</a:t>
            </a:r>
          </a:p>
        </p:txBody>
      </p:sp>
      <p:sp>
        <p:nvSpPr>
          <p:cNvPr id="116740" name="Slide Number Placeholder 4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64FE18D4-5AD9-48A5-AEED-F00958BAF0C9}" type="slidenum">
              <a:rPr lang="en-US" sz="1000"/>
              <a:pPr algn="r"/>
              <a:t>105</a:t>
            </a:fld>
            <a:endParaRPr lang="en-US" sz="1000"/>
          </a:p>
        </p:txBody>
      </p:sp>
      <p:pic>
        <p:nvPicPr>
          <p:cNvPr id="116741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43063" y="3143250"/>
            <a:ext cx="5929312" cy="3525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3FB22C27-D61F-4478-8BF3-8D3A44AF52C1}" type="slidenum">
              <a:rPr lang="en-US"/>
              <a:pPr/>
              <a:t>106</a:t>
            </a:fld>
            <a:endParaRPr lang="en-US"/>
          </a:p>
        </p:txBody>
      </p:sp>
      <p:sp>
        <p:nvSpPr>
          <p:cNvPr id="117762" name="Rectangle 2"/>
          <p:cNvSpPr>
            <a:spLocks noGrp="1" noChangeArrowheads="1"/>
          </p:cNvSpPr>
          <p:nvPr>
            <p:ph type="title"/>
          </p:nvPr>
        </p:nvSpPr>
        <p:spPr>
          <a:xfrm>
            <a:off x="928688" y="0"/>
            <a:ext cx="7158037" cy="1412875"/>
          </a:xfrm>
        </p:spPr>
        <p:txBody>
          <a:bodyPr/>
          <a:lstStyle/>
          <a:p>
            <a:pPr eaLnBrk="1" hangingPunct="1"/>
            <a:r>
              <a:rPr lang="en-GB" sz="3600" b="1" smtClean="0"/>
              <a:t>UYGULAMA</a:t>
            </a:r>
            <a:r>
              <a:rPr lang="tr-TR" sz="3600" b="1" smtClean="0"/>
              <a:t> FAALİYETİ</a:t>
            </a:r>
          </a:p>
        </p:txBody>
      </p:sp>
      <p:sp>
        <p:nvSpPr>
          <p:cNvPr id="1177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8688" y="1785938"/>
            <a:ext cx="7661275" cy="4876800"/>
          </a:xfrm>
        </p:spPr>
        <p:txBody>
          <a:bodyPr/>
          <a:lstStyle/>
          <a:p>
            <a:r>
              <a:rPr lang="tr-TR" sz="2400" b="1" smtClean="0"/>
              <a:t>İşlem Basamakları</a:t>
            </a:r>
            <a:endParaRPr lang="en-GB" sz="2400" b="1" smtClean="0"/>
          </a:p>
          <a:p>
            <a:pPr lvl="1"/>
            <a:r>
              <a:rPr lang="tr-TR" sz="2000" smtClean="0"/>
              <a:t>Analog Lcrmetre veya avometre ile</a:t>
            </a:r>
            <a:r>
              <a:rPr lang="en-GB" sz="2000" smtClean="0"/>
              <a:t> </a:t>
            </a:r>
            <a:r>
              <a:rPr lang="tr-TR" sz="2000" smtClean="0"/>
              <a:t>ölçüm yapılacaksa sıfır ayarını yapınız.</a:t>
            </a:r>
            <a:endParaRPr lang="en-GB" sz="2000" smtClean="0"/>
          </a:p>
          <a:p>
            <a:pPr lvl="1"/>
            <a:r>
              <a:rPr lang="tr-TR" sz="2000" smtClean="0"/>
              <a:t>Lcrmetreyi endüktans ölçme</a:t>
            </a:r>
            <a:r>
              <a:rPr lang="en-GB" sz="2000" smtClean="0"/>
              <a:t> </a:t>
            </a:r>
            <a:r>
              <a:rPr lang="tr-TR" sz="2000" smtClean="0"/>
              <a:t>konumuna alınız.</a:t>
            </a:r>
            <a:endParaRPr lang="en-GB" sz="2000" smtClean="0"/>
          </a:p>
          <a:p>
            <a:pPr lvl="1"/>
            <a:r>
              <a:rPr lang="tr-TR" sz="2000" smtClean="0"/>
              <a:t>Lcrmetreyi ölçülecek endüktans</a:t>
            </a:r>
            <a:r>
              <a:rPr lang="en-GB" sz="2000" smtClean="0"/>
              <a:t> </a:t>
            </a:r>
            <a:r>
              <a:rPr lang="tr-TR" sz="2000" smtClean="0"/>
              <a:t>değerine uygun kademeye alınız.</a:t>
            </a:r>
            <a:endParaRPr lang="en-GB" sz="2000" smtClean="0"/>
          </a:p>
          <a:p>
            <a:pPr lvl="1"/>
            <a:r>
              <a:rPr lang="tr-TR" sz="2000" smtClean="0"/>
              <a:t>Lcrmetre problarını bobin uçlarına</a:t>
            </a:r>
            <a:r>
              <a:rPr lang="en-GB" sz="2000" smtClean="0"/>
              <a:t> </a:t>
            </a:r>
            <a:r>
              <a:rPr lang="tr-TR" sz="2000" smtClean="0"/>
              <a:t>dokundurunuz.</a:t>
            </a:r>
          </a:p>
          <a:p>
            <a:pPr lvl="1"/>
            <a:r>
              <a:rPr lang="tr-TR" sz="2000" smtClean="0"/>
              <a:t>Lcrmetre değer ekranındaki değeri</a:t>
            </a:r>
            <a:r>
              <a:rPr lang="en-GB" sz="2000" smtClean="0"/>
              <a:t> </a:t>
            </a:r>
            <a:r>
              <a:rPr lang="tr-TR" sz="2000" smtClean="0"/>
              <a:t>okuyunuz.</a:t>
            </a:r>
          </a:p>
          <a:p>
            <a:endParaRPr lang="tr-TR" sz="2400" smtClean="0"/>
          </a:p>
          <a:p>
            <a:endParaRPr lang="tr-TR" sz="2400" smtClean="0"/>
          </a:p>
          <a:p>
            <a:endParaRPr lang="tr-TR" sz="2400" smtClean="0"/>
          </a:p>
          <a:p>
            <a:endParaRPr lang="tr-TR" sz="2400" b="1" smtClean="0"/>
          </a:p>
        </p:txBody>
      </p:sp>
      <p:sp>
        <p:nvSpPr>
          <p:cNvPr id="117764" name="Slide Number Placeholder 5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A4D71969-1913-4B8A-9597-FB566E59C0E1}" type="slidenum">
              <a:rPr lang="en-US" sz="1000"/>
              <a:pPr algn="r"/>
              <a:t>106</a:t>
            </a:fld>
            <a:endParaRPr lang="en-US"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F866BEE8-BE37-4D0F-AF60-DFD327109BDA}" type="slidenum">
              <a:rPr lang="en-US"/>
              <a:pPr/>
              <a:t>107</a:t>
            </a:fld>
            <a:endParaRPr lang="en-US"/>
          </a:p>
        </p:txBody>
      </p:sp>
      <p:sp>
        <p:nvSpPr>
          <p:cNvPr id="118786" name="Rectangle 2"/>
          <p:cNvSpPr>
            <a:spLocks noGrp="1" noChangeArrowheads="1"/>
          </p:cNvSpPr>
          <p:nvPr>
            <p:ph type="title"/>
          </p:nvPr>
        </p:nvSpPr>
        <p:spPr>
          <a:xfrm>
            <a:off x="928688" y="0"/>
            <a:ext cx="7158037" cy="1412875"/>
          </a:xfrm>
        </p:spPr>
        <p:txBody>
          <a:bodyPr/>
          <a:lstStyle/>
          <a:p>
            <a:pPr eaLnBrk="1" hangingPunct="1"/>
            <a:r>
              <a:rPr lang="en-GB" sz="3600" b="1" smtClean="0"/>
              <a:t>UYGULAMA</a:t>
            </a:r>
            <a:r>
              <a:rPr lang="tr-TR" sz="3600" b="1" smtClean="0"/>
              <a:t> FAALİYETİ</a:t>
            </a:r>
          </a:p>
        </p:txBody>
      </p:sp>
      <p:sp>
        <p:nvSpPr>
          <p:cNvPr id="1187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8688" y="1785938"/>
            <a:ext cx="7661275" cy="4876800"/>
          </a:xfrm>
        </p:spPr>
        <p:txBody>
          <a:bodyPr/>
          <a:lstStyle/>
          <a:p>
            <a:r>
              <a:rPr lang="tr-TR" sz="2400" b="1" smtClean="0"/>
              <a:t>Öneriler</a:t>
            </a:r>
            <a:endParaRPr lang="en-GB" sz="2400" b="1" smtClean="0"/>
          </a:p>
          <a:p>
            <a:pPr lvl="1"/>
            <a:r>
              <a:rPr lang="tr-TR" sz="1800" smtClean="0"/>
              <a:t>Sıfır ayarını tam olarak</a:t>
            </a:r>
            <a:r>
              <a:rPr lang="en-GB" sz="1800" smtClean="0"/>
              <a:t> </a:t>
            </a:r>
            <a:r>
              <a:rPr lang="tr-TR" sz="1800" smtClean="0"/>
              <a:t>yapamadığınızda, ölçü aletinin</a:t>
            </a:r>
            <a:r>
              <a:rPr lang="en-GB" sz="1800" smtClean="0"/>
              <a:t> </a:t>
            </a:r>
            <a:r>
              <a:rPr lang="tr-TR" sz="1800" smtClean="0"/>
              <a:t>pillerini kontrol ediniz.</a:t>
            </a:r>
            <a:endParaRPr lang="en-GB" sz="1800" smtClean="0"/>
          </a:p>
          <a:p>
            <a:pPr lvl="1"/>
            <a:r>
              <a:rPr lang="tr-TR" sz="1800" smtClean="0"/>
              <a:t>Enerji altında endüktans ölçümü</a:t>
            </a:r>
            <a:r>
              <a:rPr lang="en-GB" sz="1800" smtClean="0"/>
              <a:t> </a:t>
            </a:r>
            <a:r>
              <a:rPr lang="tr-TR" sz="1800" smtClean="0"/>
              <a:t>yapılamayacağını unutmayın.</a:t>
            </a:r>
            <a:endParaRPr lang="en-GB" sz="1800" smtClean="0"/>
          </a:p>
          <a:p>
            <a:pPr lvl="1"/>
            <a:r>
              <a:rPr lang="tr-TR" sz="1800" smtClean="0"/>
              <a:t>Kademe seçiminiz uygun değilse</a:t>
            </a:r>
            <a:r>
              <a:rPr lang="en-GB" sz="1800" smtClean="0"/>
              <a:t> </a:t>
            </a:r>
            <a:r>
              <a:rPr lang="tr-TR" sz="1800" smtClean="0"/>
              <a:t>kademeyi büyütün veya küçültün.</a:t>
            </a:r>
          </a:p>
          <a:p>
            <a:pPr lvl="1"/>
            <a:r>
              <a:rPr lang="tr-TR" sz="1800" smtClean="0"/>
              <a:t> İbre değer göstermesine rağmen</a:t>
            </a:r>
          </a:p>
          <a:p>
            <a:pPr lvl="1"/>
            <a:r>
              <a:rPr lang="tr-TR" sz="1800" smtClean="0"/>
              <a:t>sapma küçük ise daha fazla sapma</a:t>
            </a:r>
            <a:r>
              <a:rPr lang="en-GB" sz="1800" smtClean="0"/>
              <a:t> </a:t>
            </a:r>
            <a:r>
              <a:rPr lang="tr-TR" sz="1800" smtClean="0"/>
              <a:t>için kademeyi küçültün.</a:t>
            </a:r>
          </a:p>
          <a:p>
            <a:pPr lvl="1"/>
            <a:r>
              <a:rPr lang="tr-TR" sz="1800" smtClean="0"/>
              <a:t>Dijital ölçü aletlerinde ölçüm</a:t>
            </a:r>
            <a:r>
              <a:rPr lang="en-GB" sz="1800" smtClean="0"/>
              <a:t> </a:t>
            </a:r>
            <a:r>
              <a:rPr lang="tr-TR" sz="1800" smtClean="0"/>
              <a:t>değerini en hassas değeri</a:t>
            </a:r>
            <a:r>
              <a:rPr lang="en-GB" sz="1800" smtClean="0"/>
              <a:t> </a:t>
            </a:r>
            <a:r>
              <a:rPr lang="tr-TR" sz="1800" smtClean="0"/>
              <a:t>okuyuncaya kadar küçültün.</a:t>
            </a:r>
          </a:p>
          <a:p>
            <a:pPr lvl="1"/>
            <a:r>
              <a:rPr lang="tr-TR" sz="1800" smtClean="0"/>
              <a:t>Probları iki elinizle tutmamaya</a:t>
            </a:r>
            <a:r>
              <a:rPr lang="en-GB" sz="1800" smtClean="0"/>
              <a:t> </a:t>
            </a:r>
            <a:r>
              <a:rPr lang="tr-TR" sz="1800" smtClean="0"/>
              <a:t>dikkat ediniz.</a:t>
            </a:r>
            <a:endParaRPr lang="en-GB" sz="1800" smtClean="0"/>
          </a:p>
          <a:p>
            <a:pPr lvl="1"/>
            <a:r>
              <a:rPr lang="tr-TR" sz="1800" smtClean="0"/>
              <a:t>Analog ölçü aleti ile ölçüm</a:t>
            </a:r>
            <a:r>
              <a:rPr lang="en-GB" sz="1800" smtClean="0"/>
              <a:t> </a:t>
            </a:r>
            <a:r>
              <a:rPr lang="tr-TR" sz="1800" smtClean="0"/>
              <a:t>yapıyorsanız ibrenin konumunu daha</a:t>
            </a:r>
            <a:r>
              <a:rPr lang="en-GB" sz="1800" smtClean="0"/>
              <a:t> </a:t>
            </a:r>
            <a:r>
              <a:rPr lang="tr-TR" sz="1800" smtClean="0"/>
              <a:t>net tayin etmek için skaladaki ayna</a:t>
            </a:r>
            <a:r>
              <a:rPr lang="en-GB" sz="1800" smtClean="0"/>
              <a:t> </a:t>
            </a:r>
            <a:r>
              <a:rPr lang="tr-TR" sz="1800" smtClean="0"/>
              <a:t>şeridinden faydalanınız.</a:t>
            </a:r>
          </a:p>
          <a:p>
            <a:endParaRPr lang="tr-TR" sz="2400" smtClean="0"/>
          </a:p>
          <a:p>
            <a:endParaRPr lang="tr-TR" sz="2400" smtClean="0"/>
          </a:p>
          <a:p>
            <a:pPr lvl="1"/>
            <a:endParaRPr lang="tr-TR" sz="2000" b="1" smtClean="0"/>
          </a:p>
        </p:txBody>
      </p:sp>
      <p:sp>
        <p:nvSpPr>
          <p:cNvPr id="118788" name="Slide Number Placeholder 4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86E97C21-AD37-4264-8955-FFA058F0AB19}" type="slidenum">
              <a:rPr lang="en-US" sz="1000"/>
              <a:pPr algn="r"/>
              <a:t>107</a:t>
            </a:fld>
            <a:endParaRPr lang="en-US"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987876DD-DF17-42A5-A4F0-09912E2A9473}" type="slidenum">
              <a:rPr lang="en-US"/>
              <a:pPr/>
              <a:t>108</a:t>
            </a:fld>
            <a:endParaRPr lang="en-US"/>
          </a:p>
        </p:txBody>
      </p:sp>
      <p:sp>
        <p:nvSpPr>
          <p:cNvPr id="119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z="3600" b="1" smtClean="0"/>
              <a:t>ÖLÇME VE DEĞERLENDİRME</a:t>
            </a:r>
            <a:endParaRPr lang="en-US" sz="3600" smtClean="0"/>
          </a:p>
        </p:txBody>
      </p:sp>
      <p:sp>
        <p:nvSpPr>
          <p:cNvPr id="119811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tr-TR" sz="1800" b="1" dirty="0" smtClean="0"/>
              <a:t>ÖLÇME SORULARI</a:t>
            </a:r>
          </a:p>
          <a:p>
            <a:pPr lvl="1">
              <a:defRPr/>
            </a:pPr>
            <a:r>
              <a:rPr lang="tr-TR" sz="1800" dirty="0" smtClean="0">
                <a:ea typeface="+mn-ea"/>
                <a:cs typeface="+mn-cs"/>
              </a:rPr>
              <a:t>Aşağıda verilen soruları doğru ya da yanlış olarak cevaplayınız.</a:t>
            </a:r>
          </a:p>
          <a:p>
            <a:pPr lvl="1">
              <a:defRPr/>
            </a:pPr>
            <a:r>
              <a:rPr lang="tr-TR" sz="1800" dirty="0" smtClean="0">
                <a:ea typeface="+mn-ea"/>
                <a:cs typeface="+mn-cs"/>
              </a:rPr>
              <a:t>1. Bobinin alternatif akımın değişimine karşı gösterdiği zorluğa endüktans denir.</a:t>
            </a:r>
          </a:p>
          <a:p>
            <a:pPr lvl="1">
              <a:defRPr/>
            </a:pPr>
            <a:r>
              <a:rPr lang="tr-TR" sz="1800" dirty="0" smtClean="0">
                <a:ea typeface="+mn-ea"/>
                <a:cs typeface="+mn-cs"/>
              </a:rPr>
              <a:t>2. Bobin endüktasının birimi henrydir.</a:t>
            </a:r>
          </a:p>
          <a:p>
            <a:pPr lvl="1">
              <a:defRPr/>
            </a:pPr>
            <a:r>
              <a:rPr lang="tr-TR" sz="1800" dirty="0" smtClean="0">
                <a:ea typeface="+mn-ea"/>
                <a:cs typeface="+mn-cs"/>
              </a:rPr>
              <a:t>3. mH ve </a:t>
            </a:r>
            <a:r>
              <a:rPr lang="el-GR" sz="1800" dirty="0" smtClean="0">
                <a:ea typeface="+mn-ea"/>
                <a:cs typeface="+mn-cs"/>
              </a:rPr>
              <a:t>μ</a:t>
            </a:r>
            <a:r>
              <a:rPr lang="tr-TR" sz="1800" dirty="0" smtClean="0">
                <a:ea typeface="+mn-ea"/>
                <a:cs typeface="+mn-cs"/>
              </a:rPr>
              <a:t>H endüktansın üst katlarıdır.</a:t>
            </a:r>
          </a:p>
          <a:p>
            <a:pPr lvl="1">
              <a:defRPr/>
            </a:pPr>
            <a:r>
              <a:rPr lang="tr-TR" sz="1800" dirty="0" smtClean="0">
                <a:ea typeface="+mn-ea"/>
                <a:cs typeface="+mn-cs"/>
              </a:rPr>
              <a:t>4. Sipir sayısı değiştirilen bir bobinin endüktansı değişmez.</a:t>
            </a:r>
          </a:p>
          <a:p>
            <a:pPr lvl="1">
              <a:defRPr/>
            </a:pPr>
            <a:r>
              <a:rPr lang="tr-TR" sz="1800" dirty="0" smtClean="0">
                <a:ea typeface="+mn-ea"/>
                <a:cs typeface="+mn-cs"/>
              </a:rPr>
              <a:t>5. Telin çapı endüktansı etkileyen faktörlerden biri değildir.</a:t>
            </a:r>
          </a:p>
          <a:p>
            <a:pPr lvl="1">
              <a:defRPr/>
            </a:pPr>
            <a:r>
              <a:rPr lang="tr-TR" sz="1800" dirty="0" smtClean="0">
                <a:ea typeface="+mn-ea"/>
                <a:cs typeface="+mn-cs"/>
              </a:rPr>
              <a:t>6. Endüktansı büyük olan bobinin endüktif reaktansı da büyüktür.</a:t>
            </a:r>
          </a:p>
          <a:p>
            <a:pPr lvl="1">
              <a:defRPr/>
            </a:pPr>
            <a:r>
              <a:rPr lang="tr-TR" sz="1800" dirty="0" smtClean="0">
                <a:ea typeface="+mn-ea"/>
                <a:cs typeface="+mn-cs"/>
              </a:rPr>
              <a:t>7. Endüktans LCRmetre ile ölçülür.</a:t>
            </a:r>
          </a:p>
          <a:p>
            <a:pPr lvl="1">
              <a:defRPr/>
            </a:pPr>
            <a:r>
              <a:rPr lang="tr-TR" sz="1800" dirty="0" smtClean="0">
                <a:ea typeface="+mn-ea"/>
                <a:cs typeface="+mn-cs"/>
              </a:rPr>
              <a:t>8. Frekans arttıkça endüktif reaktans azalır.</a:t>
            </a:r>
          </a:p>
          <a:p>
            <a:pPr lvl="1">
              <a:defRPr/>
            </a:pPr>
            <a:r>
              <a:rPr lang="tr-TR" sz="1800" dirty="0" smtClean="0">
                <a:ea typeface="+mn-ea"/>
                <a:cs typeface="+mn-cs"/>
              </a:rPr>
              <a:t>9. Frekans, endüktansı değiştiren faktörlerden biri değildir.</a:t>
            </a:r>
          </a:p>
          <a:p>
            <a:pPr lvl="1">
              <a:defRPr/>
            </a:pPr>
            <a:r>
              <a:rPr lang="tr-TR" sz="1800" dirty="0" smtClean="0">
                <a:ea typeface="+mn-ea"/>
                <a:cs typeface="+mn-cs"/>
              </a:rPr>
              <a:t>10. Doğru akım uygulanan bir bobinin endüktansı sıfırdır.</a:t>
            </a:r>
          </a:p>
          <a:p>
            <a:pPr lvl="1">
              <a:defRPr/>
            </a:pPr>
            <a:r>
              <a:rPr lang="tr-TR" sz="1800" dirty="0" smtClean="0">
                <a:ea typeface="+mn-ea"/>
                <a:cs typeface="+mn-cs"/>
              </a:rPr>
              <a:t>11. 0,02 H endüktansa sahip bir bobinin endüktif reaktansı 20 </a:t>
            </a:r>
            <a:r>
              <a:rPr lang="el-GR" sz="1800" dirty="0" smtClean="0">
                <a:ea typeface="+mn-ea"/>
                <a:cs typeface="+mn-cs"/>
              </a:rPr>
              <a:t>Ω </a:t>
            </a:r>
            <a:r>
              <a:rPr lang="tr-TR" sz="1800" dirty="0" smtClean="0">
                <a:ea typeface="+mn-ea"/>
                <a:cs typeface="+mn-cs"/>
              </a:rPr>
              <a:t>dur.</a:t>
            </a:r>
          </a:p>
        </p:txBody>
      </p:sp>
      <p:sp>
        <p:nvSpPr>
          <p:cNvPr id="119812" name="Slide Number Placeholder 5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BD08FBCB-7ED1-4B74-AFE3-E3F7CFB07136}" type="slidenum">
              <a:rPr lang="en-US" sz="1000"/>
              <a:pPr algn="r"/>
              <a:t>108</a:t>
            </a:fld>
            <a:endParaRPr lang="en-US"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C1A809A2-A913-4A21-8618-C076CAD7D022}" type="slidenum">
              <a:rPr lang="en-US"/>
              <a:pPr/>
              <a:t>109</a:t>
            </a:fld>
            <a:endParaRPr lang="en-US"/>
          </a:p>
        </p:txBody>
      </p:sp>
      <p:sp>
        <p:nvSpPr>
          <p:cNvPr id="1208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z="3600" b="1" smtClean="0"/>
              <a:t>ÖLÇME VE DEĞERLENDİRME</a:t>
            </a:r>
            <a:endParaRPr lang="en-US" sz="3600" smtClean="0"/>
          </a:p>
        </p:txBody>
      </p:sp>
      <p:sp>
        <p:nvSpPr>
          <p:cNvPr id="120835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sz="2400" b="1" smtClean="0"/>
              <a:t>DEĞERLENDİRME</a:t>
            </a:r>
          </a:p>
          <a:p>
            <a:r>
              <a:rPr lang="tr-TR" sz="2400" smtClean="0"/>
              <a:t>Cevaplarınızı cevap anahtarı ile kontrol ediniz. Doğru ve yanlış cevaplarınızı</a:t>
            </a:r>
            <a:r>
              <a:rPr lang="en-GB" sz="2400" smtClean="0"/>
              <a:t> </a:t>
            </a:r>
            <a:r>
              <a:rPr lang="tr-TR" sz="2400" smtClean="0"/>
              <a:t>belirleyerek kendinizi değerlendiriniz. </a:t>
            </a:r>
            <a:endParaRPr lang="en-GB" sz="2400" smtClean="0"/>
          </a:p>
          <a:p>
            <a:r>
              <a:rPr lang="tr-TR" sz="2400" smtClean="0"/>
              <a:t>Cevaplarınız yanlış ise öğrenme faaliyetinin ilgili</a:t>
            </a:r>
            <a:r>
              <a:rPr lang="en-GB" sz="2400" smtClean="0"/>
              <a:t> </a:t>
            </a:r>
            <a:r>
              <a:rPr lang="tr-TR" sz="2400" smtClean="0"/>
              <a:t>bölümüne dönerek konuyu tekrar ediniz.</a:t>
            </a:r>
          </a:p>
        </p:txBody>
      </p:sp>
      <p:sp>
        <p:nvSpPr>
          <p:cNvPr id="120836" name="Slide Number Placeholder 4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4F8244DD-CDF5-4E83-8E52-60C504E51234}" type="slidenum">
              <a:rPr lang="en-US" sz="1000"/>
              <a:pPr algn="r"/>
              <a:t>109</a:t>
            </a:fld>
            <a:endParaRPr lang="en-US"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91C3F807-C10D-4987-8682-B00F02D70189}" type="slidenum">
              <a:rPr lang="en-US"/>
              <a:pPr/>
              <a:t>110</a:t>
            </a:fld>
            <a:endParaRPr lang="en-US"/>
          </a:p>
        </p:txBody>
      </p:sp>
      <p:sp>
        <p:nvSpPr>
          <p:cNvPr id="1218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smtClean="0"/>
              <a:t>ÖĞRENME FAALİYETİ-4</a:t>
            </a:r>
            <a:endParaRPr lang="en-US" sz="3600" smtClean="0"/>
          </a:p>
        </p:txBody>
      </p:sp>
      <p:sp>
        <p:nvSpPr>
          <p:cNvPr id="12185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49325" y="1981200"/>
            <a:ext cx="7694613" cy="4114800"/>
          </a:xfrm>
        </p:spPr>
        <p:txBody>
          <a:bodyPr/>
          <a:lstStyle/>
          <a:p>
            <a:r>
              <a:rPr lang="en-US" sz="2000" b="1" smtClean="0"/>
              <a:t>AMAÇ</a:t>
            </a:r>
            <a:endParaRPr lang="tr-TR" sz="2000" b="1" smtClean="0"/>
          </a:p>
          <a:p>
            <a:pPr lvl="1"/>
            <a:r>
              <a:rPr lang="tr-TR" sz="2000" smtClean="0"/>
              <a:t>Kapasite değerinin bağlı olduğu faktörleri kavrayarak, kapasite ölçümünü Lcrmetre ile</a:t>
            </a:r>
            <a:r>
              <a:rPr lang="en-GB" sz="2000" smtClean="0"/>
              <a:t> </a:t>
            </a:r>
            <a:r>
              <a:rPr lang="tr-TR" sz="2000" smtClean="0"/>
              <a:t>hatasız ve tekniğine uygun olarak yapabileceksiniz.</a:t>
            </a:r>
          </a:p>
          <a:p>
            <a:endParaRPr lang="tr-TR" sz="2800" b="1" smtClean="0"/>
          </a:p>
          <a:p>
            <a:r>
              <a:rPr lang="en-US" sz="2000" b="1" smtClean="0"/>
              <a:t>ARAŞTIRMA</a:t>
            </a:r>
          </a:p>
          <a:p>
            <a:pPr lvl="1"/>
            <a:r>
              <a:rPr lang="tr-TR" sz="2000" smtClean="0"/>
              <a:t>Yüksek kapasiteli ve düşük kapasiteli kondansatörlerin kullanım yerlerini araştırınız.</a:t>
            </a:r>
          </a:p>
          <a:p>
            <a:pPr lvl="1"/>
            <a:r>
              <a:rPr lang="tr-TR" sz="2000" smtClean="0"/>
              <a:t>Bu araştırmanızı bir rapor haline getiririniz.</a:t>
            </a:r>
          </a:p>
          <a:p>
            <a:pPr lvl="1"/>
            <a:endParaRPr lang="en-US" sz="1600" smtClean="0"/>
          </a:p>
          <a:p>
            <a:endParaRPr lang="en-US" sz="2000" smtClean="0"/>
          </a:p>
          <a:p>
            <a:endParaRPr lang="en-US" sz="1800" smtClean="0"/>
          </a:p>
        </p:txBody>
      </p:sp>
      <p:sp>
        <p:nvSpPr>
          <p:cNvPr id="121860" name="Slide Number Placeholder 9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3DDC7006-7249-4514-804C-31E404737D96}" type="slidenum">
              <a:rPr lang="en-US" sz="1000"/>
              <a:pPr algn="r"/>
              <a:t>110</a:t>
            </a:fld>
            <a:endParaRPr lang="en-US"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7D6FD4D5-27A2-4649-AF55-424192C54881}" type="slidenum">
              <a:rPr lang="en-US"/>
              <a:pPr/>
              <a:t>111</a:t>
            </a:fld>
            <a:endParaRPr lang="en-US"/>
          </a:p>
        </p:txBody>
      </p:sp>
      <p:sp>
        <p:nvSpPr>
          <p:cNvPr id="122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z="3600" b="1" smtClean="0"/>
              <a:t>4. KAPASİTE ÖLÇME</a:t>
            </a:r>
          </a:p>
        </p:txBody>
      </p:sp>
      <p:sp>
        <p:nvSpPr>
          <p:cNvPr id="122883" name="Content Placeholder 3"/>
          <p:cNvSpPr>
            <a:spLocks noGrp="1"/>
          </p:cNvSpPr>
          <p:nvPr>
            <p:ph idx="1"/>
          </p:nvPr>
        </p:nvSpPr>
        <p:spPr>
          <a:xfrm>
            <a:off x="949325" y="2028825"/>
            <a:ext cx="7661275" cy="4114800"/>
          </a:xfrm>
        </p:spPr>
        <p:txBody>
          <a:bodyPr/>
          <a:lstStyle/>
          <a:p>
            <a:r>
              <a:rPr lang="tr-TR" sz="1800" b="1" smtClean="0"/>
              <a:t>4.1. Kondansatör Kapasitesi</a:t>
            </a:r>
          </a:p>
          <a:p>
            <a:pPr lvl="1"/>
            <a:r>
              <a:rPr lang="tr-TR" sz="1600" smtClean="0"/>
              <a:t>İki iletken levha arasına bir yalıtkan malzeme konularak yapılan elektronik devre</a:t>
            </a:r>
            <a:r>
              <a:rPr lang="en-GB" sz="1600" smtClean="0"/>
              <a:t> </a:t>
            </a:r>
            <a:r>
              <a:rPr lang="tr-TR" sz="1600" smtClean="0"/>
              <a:t>elamanlarına </a:t>
            </a:r>
            <a:r>
              <a:rPr lang="tr-TR" sz="1600" b="1" smtClean="0"/>
              <a:t>kondansatör denir. Kondansatörler elektrik enerjisini depo etmek için</a:t>
            </a:r>
          </a:p>
          <a:p>
            <a:pPr lvl="1"/>
            <a:r>
              <a:rPr lang="tr-TR" sz="1600" smtClean="0"/>
              <a:t>kullanılır ve her kondansatörün depo ettiği enerji miktarı farklılık gösterir. Kondansatörlerin</a:t>
            </a:r>
            <a:r>
              <a:rPr lang="en-GB" sz="1600" smtClean="0"/>
              <a:t> </a:t>
            </a:r>
            <a:r>
              <a:rPr lang="tr-TR" sz="1600" smtClean="0"/>
              <a:t>depo edecekleri enerji miktarını kapasitesi belirler. Tanım olarak, kondansatörün elektrik</a:t>
            </a:r>
            <a:r>
              <a:rPr lang="en-GB" sz="1600" smtClean="0"/>
              <a:t> </a:t>
            </a:r>
            <a:r>
              <a:rPr lang="tr-TR" sz="1600" smtClean="0"/>
              <a:t>enerjisini depo edebilme özelliğine </a:t>
            </a:r>
            <a:r>
              <a:rPr lang="tr-TR" sz="1600" b="1" smtClean="0"/>
              <a:t>kapasite denir. </a:t>
            </a:r>
            <a:endParaRPr lang="en-GB" sz="1600" b="1" smtClean="0"/>
          </a:p>
          <a:p>
            <a:pPr lvl="1"/>
            <a:r>
              <a:rPr lang="tr-TR" sz="1600" b="1" smtClean="0"/>
              <a:t>Kapasite “C” harfi ile ifade edilir ve</a:t>
            </a:r>
            <a:r>
              <a:rPr lang="en-GB" sz="1600" b="1" smtClean="0"/>
              <a:t> </a:t>
            </a:r>
            <a:r>
              <a:rPr lang="tr-TR" sz="1600" smtClean="0"/>
              <a:t>birimine </a:t>
            </a:r>
            <a:r>
              <a:rPr lang="tr-TR" sz="1600" b="1" smtClean="0"/>
              <a:t>Farad(F) denir. Uygulamada farad büyük bir değer olduğundan daha çok ast katları</a:t>
            </a:r>
            <a:r>
              <a:rPr lang="en-GB" sz="1600" b="1" smtClean="0"/>
              <a:t> </a:t>
            </a:r>
            <a:r>
              <a:rPr lang="tr-TR" sz="1600" smtClean="0"/>
              <a:t>kullanılır. </a:t>
            </a:r>
            <a:endParaRPr lang="en-GB" sz="1600" smtClean="0"/>
          </a:p>
          <a:p>
            <a:pPr lvl="1"/>
            <a:r>
              <a:rPr lang="tr-TR" sz="1600" smtClean="0"/>
              <a:t>Bunlar, pikofarad (pF), nanofarad (nF), mikrofarad (mF), milifarad (mF)</a:t>
            </a:r>
            <a:r>
              <a:rPr lang="en-GB" sz="1600" smtClean="0"/>
              <a:t> </a:t>
            </a:r>
            <a:r>
              <a:rPr lang="tr-TR" sz="1600" smtClean="0"/>
              <a:t>şeklindedir.</a:t>
            </a:r>
            <a:endParaRPr lang="en-GB" sz="1600" smtClean="0"/>
          </a:p>
          <a:p>
            <a:pPr lvl="1"/>
            <a:endParaRPr lang="en-GB" sz="1600" smtClean="0"/>
          </a:p>
          <a:p>
            <a:pPr lvl="1"/>
            <a:endParaRPr lang="en-GB" sz="1600" smtClean="0"/>
          </a:p>
          <a:p>
            <a:pPr lvl="1"/>
            <a:r>
              <a:rPr lang="tr-TR" sz="1600" smtClean="0"/>
              <a:t>şeklinde kademelendirilir.</a:t>
            </a:r>
          </a:p>
        </p:txBody>
      </p:sp>
      <p:sp>
        <p:nvSpPr>
          <p:cNvPr id="122884" name="Slide Number Placeholder 5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828A3F70-35E0-4A0E-9C65-4EC41B2E4FCB}" type="slidenum">
              <a:rPr lang="en-US" sz="1000"/>
              <a:pPr algn="r"/>
              <a:t>111</a:t>
            </a:fld>
            <a:endParaRPr lang="en-US" sz="1000"/>
          </a:p>
        </p:txBody>
      </p:sp>
      <p:pic>
        <p:nvPicPr>
          <p:cNvPr id="122885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57438" y="5429250"/>
            <a:ext cx="4143375" cy="62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C1709CEF-FEDC-44BA-93CD-F98D722AFA8C}" type="slidenum">
              <a:rPr lang="en-US"/>
              <a:pPr/>
              <a:t>112</a:t>
            </a:fld>
            <a:endParaRPr lang="en-US"/>
          </a:p>
        </p:txBody>
      </p:sp>
      <p:sp>
        <p:nvSpPr>
          <p:cNvPr id="123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z="3600" b="1" smtClean="0"/>
              <a:t>4. KAPASİTE ÖLÇME</a:t>
            </a:r>
          </a:p>
        </p:txBody>
      </p:sp>
      <p:sp>
        <p:nvSpPr>
          <p:cNvPr id="123907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sz="2000" b="1" smtClean="0"/>
              <a:t>4.2. Kapasiteyi Etkileyen Faktörler</a:t>
            </a:r>
          </a:p>
          <a:p>
            <a:pPr lvl="1"/>
            <a:r>
              <a:rPr lang="tr-TR" sz="2000" smtClean="0"/>
              <a:t>Kondansatörlerde kapasiteyi etkileyen, faktörler yapısı ile ilgili özellikleridir. Bunlar:</a:t>
            </a:r>
          </a:p>
          <a:p>
            <a:pPr lvl="1"/>
            <a:r>
              <a:rPr lang="tr-TR" sz="2000" smtClean="0"/>
              <a:t> Kondansatör plakalarının yüzey alanına</a:t>
            </a:r>
          </a:p>
          <a:p>
            <a:pPr lvl="1"/>
            <a:r>
              <a:rPr lang="tr-TR" sz="2000" smtClean="0"/>
              <a:t> Plakalar arası mesafeye</a:t>
            </a:r>
          </a:p>
          <a:p>
            <a:pPr lvl="1"/>
            <a:r>
              <a:rPr lang="tr-TR" sz="2000" smtClean="0"/>
              <a:t>Araya konan yalıtkan malzemenin cinsine bağlıdır.</a:t>
            </a:r>
          </a:p>
          <a:p>
            <a:pPr lvl="1"/>
            <a:r>
              <a:rPr lang="tr-TR" sz="2000" smtClean="0"/>
              <a:t>Kondansatör kapasitesi (sığası), plakaların yüzey alanı ve plakalar arasındaki</a:t>
            </a:r>
            <a:r>
              <a:rPr lang="en-GB" sz="2000" smtClean="0"/>
              <a:t> </a:t>
            </a:r>
            <a:r>
              <a:rPr lang="tr-TR" sz="2000" smtClean="0"/>
              <a:t>mesafeyle ilişkilidir. Ayrıca plakalar arasındaki yalıtkan maddenin yalıtkanlık özelliği de</a:t>
            </a:r>
            <a:r>
              <a:rPr lang="en-GB" sz="2000" smtClean="0"/>
              <a:t> </a:t>
            </a:r>
            <a:r>
              <a:rPr lang="tr-TR" sz="2000" smtClean="0"/>
              <a:t>kondansatörün sığasını etkiler. </a:t>
            </a:r>
            <a:endParaRPr lang="en-GB" sz="2000" smtClean="0"/>
          </a:p>
          <a:p>
            <a:pPr lvl="1"/>
            <a:r>
              <a:rPr lang="tr-TR" sz="2000" smtClean="0"/>
              <a:t>Şekil 4.1’ de kondansatör yüzeyinin ve plakalar arası</a:t>
            </a:r>
            <a:r>
              <a:rPr lang="en-GB" sz="2000" smtClean="0"/>
              <a:t> </a:t>
            </a:r>
            <a:r>
              <a:rPr lang="tr-TR" sz="2000" smtClean="0"/>
              <a:t>mesafenin kapasiteye etkisi gösterilmiştir.</a:t>
            </a:r>
          </a:p>
        </p:txBody>
      </p:sp>
      <p:sp>
        <p:nvSpPr>
          <p:cNvPr id="123908" name="Slide Number Placeholder 4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F2AA09BC-972D-4F2B-882B-0842775C05DD}" type="slidenum">
              <a:rPr lang="en-US" sz="1000"/>
              <a:pPr algn="r"/>
              <a:t>112</a:t>
            </a:fld>
            <a:endParaRPr lang="en-US"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F9D8EA72-616A-49AF-99FF-6DEDE85BF6C5}" type="slidenum">
              <a:rPr lang="en-US"/>
              <a:pPr/>
              <a:t>113</a:t>
            </a:fld>
            <a:endParaRPr lang="en-US"/>
          </a:p>
        </p:txBody>
      </p:sp>
      <p:sp>
        <p:nvSpPr>
          <p:cNvPr id="124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z="3600" b="1" smtClean="0"/>
              <a:t>4. KAPASİTE ÖLÇME</a:t>
            </a:r>
          </a:p>
        </p:txBody>
      </p:sp>
      <p:sp>
        <p:nvSpPr>
          <p:cNvPr id="124931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en-GB" smtClean="0"/>
              <a:t>    </a:t>
            </a:r>
          </a:p>
          <a:p>
            <a:pPr>
              <a:buFont typeface="Wingdings" pitchFamily="2" charset="2"/>
              <a:buNone/>
            </a:pPr>
            <a:endParaRPr lang="en-GB" smtClean="0"/>
          </a:p>
          <a:p>
            <a:pPr>
              <a:buFont typeface="Wingdings" pitchFamily="2" charset="2"/>
              <a:buNone/>
            </a:pPr>
            <a:endParaRPr lang="en-GB" smtClean="0"/>
          </a:p>
          <a:p>
            <a:pPr>
              <a:buFont typeface="Wingdings" pitchFamily="2" charset="2"/>
              <a:buNone/>
            </a:pPr>
            <a:endParaRPr lang="en-GB" smtClean="0"/>
          </a:p>
          <a:p>
            <a:pPr>
              <a:buFont typeface="Wingdings" pitchFamily="2" charset="2"/>
              <a:buNone/>
            </a:pPr>
            <a:endParaRPr lang="en-GB" smtClean="0"/>
          </a:p>
          <a:p>
            <a:pPr>
              <a:buFont typeface="Wingdings" pitchFamily="2" charset="2"/>
              <a:buNone/>
            </a:pPr>
            <a:endParaRPr lang="en-GB" smtClean="0"/>
          </a:p>
          <a:p>
            <a:r>
              <a:rPr lang="tr-TR" sz="1600" smtClean="0"/>
              <a:t>Şekil 4.1’de görüldüğü gibi levhaların yüzeyi büyüdüğünde kapasite artar. Levhalar</a:t>
            </a:r>
            <a:r>
              <a:rPr lang="en-GB" sz="1600" smtClean="0"/>
              <a:t> </a:t>
            </a:r>
            <a:r>
              <a:rPr lang="tr-TR" sz="1600" smtClean="0"/>
              <a:t>arasındaki boşluk artarsa kapasite azalır. Son olarak levhalar arasındaki yalıtkan maddenin</a:t>
            </a:r>
            <a:r>
              <a:rPr lang="en-GB" sz="1600" smtClean="0"/>
              <a:t> </a:t>
            </a:r>
            <a:r>
              <a:rPr lang="tr-TR" sz="1600" smtClean="0"/>
              <a:t>dielektrik kat sayısı ile kapasite doğru orantılıdır. Kondansatörlerde kapasite arttıkça</a:t>
            </a:r>
            <a:r>
              <a:rPr lang="en-GB" sz="1600" smtClean="0"/>
              <a:t> </a:t>
            </a:r>
            <a:r>
              <a:rPr lang="tr-TR" sz="1600" smtClean="0"/>
              <a:t>kondansatörün fiziksel boyutları da artar.</a:t>
            </a:r>
          </a:p>
          <a:p>
            <a:pPr>
              <a:buFont typeface="Wingdings" pitchFamily="2" charset="2"/>
              <a:buNone/>
            </a:pPr>
            <a:endParaRPr lang="tr-TR" sz="1600" smtClean="0"/>
          </a:p>
        </p:txBody>
      </p:sp>
      <p:pic>
        <p:nvPicPr>
          <p:cNvPr id="12493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09775" y="1743075"/>
            <a:ext cx="4991100" cy="3471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4933" name="Slide Number Placeholder 6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740C647E-2BF8-4C01-B83B-4439E7720278}" type="slidenum">
              <a:rPr lang="en-US" sz="1000"/>
              <a:pPr algn="r"/>
              <a:t>113</a:t>
            </a:fld>
            <a:endParaRPr lang="en-US"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B64D2684-5355-4200-9787-C8B2EEA8E202}" type="slidenum">
              <a:rPr lang="en-US"/>
              <a:pPr/>
              <a:t>114</a:t>
            </a:fld>
            <a:endParaRPr lang="en-US"/>
          </a:p>
        </p:txBody>
      </p:sp>
      <p:sp>
        <p:nvSpPr>
          <p:cNvPr id="125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z="3600" b="1" smtClean="0"/>
              <a:t>4. KAPASİTE ÖLÇME</a:t>
            </a:r>
          </a:p>
        </p:txBody>
      </p:sp>
      <p:sp>
        <p:nvSpPr>
          <p:cNvPr id="125955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sz="2000" b="1" smtClean="0"/>
              <a:t>4.3. Kapasitesinin Ölçülmesi</a:t>
            </a:r>
          </a:p>
          <a:p>
            <a:pPr lvl="1"/>
            <a:r>
              <a:rPr lang="tr-TR" sz="2000" smtClean="0"/>
              <a:t>Kondansatör kapasitesi değişik ölçü aletleri ve teknikler ile ölçülebilir. Bunlardan en</a:t>
            </a:r>
            <a:r>
              <a:rPr lang="en-GB" sz="2000" smtClean="0"/>
              <a:t> </a:t>
            </a:r>
            <a:r>
              <a:rPr lang="tr-TR" sz="2000" smtClean="0"/>
              <a:t>pratik olan yöntem Lcrmetre ya da kapasite ölçümü yapabilen avometre kullanmaktır. Ayrıca</a:t>
            </a:r>
            <a:r>
              <a:rPr lang="en-GB" sz="2000" smtClean="0"/>
              <a:t> </a:t>
            </a:r>
            <a:r>
              <a:rPr lang="tr-TR" sz="2000" smtClean="0"/>
              <a:t>sadece kapasite ölçümü yapan kapasite metrelerde bulunmaktadır (Resim 4.1.b). </a:t>
            </a:r>
            <a:endParaRPr lang="en-GB" sz="2000" smtClean="0"/>
          </a:p>
          <a:p>
            <a:pPr lvl="1"/>
            <a:r>
              <a:rPr lang="tr-TR" sz="2000" smtClean="0"/>
              <a:t>Bu ölçü</a:t>
            </a:r>
            <a:r>
              <a:rPr lang="en-GB" sz="2000" smtClean="0"/>
              <a:t> </a:t>
            </a:r>
            <a:r>
              <a:rPr lang="tr-TR" sz="2000" smtClean="0"/>
              <a:t>aletlerin hepsinde de kademe seçimi ve ölçme tekniği aynı olup direnç ve endüktans</a:t>
            </a:r>
            <a:r>
              <a:rPr lang="en-GB" sz="2000" smtClean="0"/>
              <a:t> </a:t>
            </a:r>
            <a:r>
              <a:rPr lang="tr-TR" sz="2000" smtClean="0"/>
              <a:t>ölçümünde olduğu gibi uygun kademe seçimi yapılır. </a:t>
            </a:r>
            <a:endParaRPr lang="en-GB" sz="2000" smtClean="0"/>
          </a:p>
          <a:p>
            <a:pPr lvl="1"/>
            <a:r>
              <a:rPr lang="tr-TR" sz="2000" smtClean="0"/>
              <a:t>Kondansatör uçları Lcrmetrede</a:t>
            </a:r>
            <a:r>
              <a:rPr lang="en-GB" sz="2000" smtClean="0"/>
              <a:t> </a:t>
            </a:r>
            <a:r>
              <a:rPr lang="tr-TR" sz="2000" smtClean="0"/>
              <a:t>problarına ya da ölçüm noktasına, avometrelerde yalnız ölçüm noktasına bağlandıktan sonra</a:t>
            </a:r>
            <a:r>
              <a:rPr lang="en-GB" sz="2000" smtClean="0"/>
              <a:t> </a:t>
            </a:r>
            <a:r>
              <a:rPr lang="tr-TR" sz="2000" smtClean="0"/>
              <a:t>değer ekranından sonuç okunur.</a:t>
            </a:r>
          </a:p>
        </p:txBody>
      </p:sp>
      <p:sp>
        <p:nvSpPr>
          <p:cNvPr id="125956" name="Slide Number Placeholder 5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5951F943-13D7-4AF6-B913-741FAEA1882A}" type="slidenum">
              <a:rPr lang="en-US" sz="1000"/>
              <a:pPr algn="r"/>
              <a:t>114</a:t>
            </a:fld>
            <a:endParaRPr lang="en-US"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F7C5E33C-3916-420A-8CD1-8943712FD61B}" type="slidenum">
              <a:rPr lang="en-US"/>
              <a:pPr/>
              <a:t>115</a:t>
            </a:fld>
            <a:endParaRPr lang="en-US"/>
          </a:p>
        </p:txBody>
      </p:sp>
      <p:sp>
        <p:nvSpPr>
          <p:cNvPr id="1269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z="3600" b="1" smtClean="0"/>
              <a:t>4. KAPASİTE ÖLÇME</a:t>
            </a:r>
          </a:p>
        </p:txBody>
      </p:sp>
      <p:sp>
        <p:nvSpPr>
          <p:cNvPr id="126979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sz="2000" b="1" smtClean="0"/>
              <a:t>4.3.1. LCR Metre ile Kapasite Ölçümü</a:t>
            </a:r>
          </a:p>
          <a:p>
            <a:pPr lvl="1"/>
            <a:r>
              <a:rPr lang="tr-TR" sz="2000" smtClean="0"/>
              <a:t>Lcrmetrelerde kapasite ölçümü, endüktans ölçümünden farklı değildir. </a:t>
            </a:r>
            <a:endParaRPr lang="en-GB" sz="2000" smtClean="0"/>
          </a:p>
          <a:p>
            <a:pPr lvl="1"/>
            <a:r>
              <a:rPr lang="tr-TR" sz="2000" smtClean="0"/>
              <a:t>Kapasite</a:t>
            </a:r>
            <a:r>
              <a:rPr lang="en-GB" sz="2000" smtClean="0"/>
              <a:t> </a:t>
            </a:r>
            <a:r>
              <a:rPr lang="tr-TR" sz="2000" smtClean="0"/>
              <a:t>ölçümü yapılırken burada da ölçülecek değere uygun kademeyi seçmek ve ölçümü bundan</a:t>
            </a:r>
            <a:r>
              <a:rPr lang="en-GB" sz="2000" smtClean="0"/>
              <a:t> </a:t>
            </a:r>
            <a:r>
              <a:rPr lang="tr-TR" sz="2000" smtClean="0"/>
              <a:t>sonra başlatmak hızlı ve doğru bir ölçüm yapılmasını sağlayacaktır. </a:t>
            </a:r>
            <a:endParaRPr lang="en-GB" sz="2000" smtClean="0"/>
          </a:p>
          <a:p>
            <a:pPr lvl="1"/>
            <a:r>
              <a:rPr lang="tr-TR" sz="2000" smtClean="0"/>
              <a:t>Kademe seçiminden</a:t>
            </a:r>
            <a:r>
              <a:rPr lang="en-GB" sz="2000" smtClean="0"/>
              <a:t> </a:t>
            </a:r>
            <a:r>
              <a:rPr lang="tr-TR" sz="2000" smtClean="0"/>
              <a:t>sonra ölçüm yapıldığında değer ekranında kapasite değeri yerine “1” ifadesi görmeniz aynen</a:t>
            </a:r>
            <a:r>
              <a:rPr lang="en-GB" sz="2000" smtClean="0"/>
              <a:t> </a:t>
            </a:r>
            <a:r>
              <a:rPr lang="tr-TR" sz="2000" smtClean="0"/>
              <a:t>direnç ve endüktans ölçümünde olduğu gibi küçük bir kademe, “0” ifadesinin görülmesi</a:t>
            </a:r>
            <a:r>
              <a:rPr lang="en-GB" sz="2000" smtClean="0"/>
              <a:t> </a:t>
            </a:r>
            <a:r>
              <a:rPr lang="tr-TR" sz="2000" smtClean="0"/>
              <a:t>büyük bir kademe seçildiğini gösterir. </a:t>
            </a:r>
            <a:endParaRPr lang="en-GB" sz="2000" smtClean="0"/>
          </a:p>
          <a:p>
            <a:pPr lvl="1"/>
            <a:r>
              <a:rPr lang="tr-TR" sz="2000" smtClean="0"/>
              <a:t>Aynı zamanda okunan değerde hassasiyet arttırılmak</a:t>
            </a:r>
            <a:r>
              <a:rPr lang="en-GB" sz="2000" smtClean="0"/>
              <a:t> </a:t>
            </a:r>
            <a:r>
              <a:rPr lang="tr-TR" sz="2000" smtClean="0"/>
              <a:t>isteniyorsa (100 </a:t>
            </a:r>
            <a:r>
              <a:rPr lang="el-GR" sz="2000" smtClean="0"/>
              <a:t>μ</a:t>
            </a:r>
            <a:r>
              <a:rPr lang="tr-TR" sz="2000" smtClean="0"/>
              <a:t>f yerine, 99.2 </a:t>
            </a:r>
            <a:r>
              <a:rPr lang="el-GR" sz="2000" smtClean="0"/>
              <a:t>μ</a:t>
            </a:r>
            <a:r>
              <a:rPr lang="tr-TR" sz="2000" smtClean="0"/>
              <a:t>f gibi) kademe küçültülerek bu hassasiyet arttırılabilir.</a:t>
            </a:r>
          </a:p>
        </p:txBody>
      </p:sp>
      <p:sp>
        <p:nvSpPr>
          <p:cNvPr id="126980" name="Slide Number Placeholder 5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38FB376E-9047-4A37-A467-05D42C606EB5}" type="slidenum">
              <a:rPr lang="en-US" sz="1000"/>
              <a:pPr algn="r"/>
              <a:t>115</a:t>
            </a:fld>
            <a:endParaRPr lang="en-US"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F9E1B9F2-6F3B-44C4-B8AC-767512BBDFF8}" type="slidenum">
              <a:rPr lang="en-US"/>
              <a:pPr/>
              <a:t>116</a:t>
            </a:fld>
            <a:endParaRPr lang="en-US"/>
          </a:p>
        </p:txBody>
      </p:sp>
      <p:sp>
        <p:nvSpPr>
          <p:cNvPr id="1280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z="3600" b="1" smtClean="0"/>
              <a:t>4. KAPASİTE ÖLÇME</a:t>
            </a:r>
          </a:p>
        </p:txBody>
      </p:sp>
      <p:sp>
        <p:nvSpPr>
          <p:cNvPr id="128003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en-GB" smtClean="0"/>
              <a:t>  </a:t>
            </a:r>
            <a:endParaRPr lang="tr-TR" smtClean="0"/>
          </a:p>
        </p:txBody>
      </p:sp>
      <p:pic>
        <p:nvPicPr>
          <p:cNvPr id="12800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81125" y="1633538"/>
            <a:ext cx="5840413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8005" name="Slide Number Placeholder 4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7CDC104B-E1F7-4044-ADF5-2EB9D6E614D2}" type="slidenum">
              <a:rPr lang="en-US" sz="1000"/>
              <a:pPr algn="r"/>
              <a:t>116</a:t>
            </a:fld>
            <a:endParaRPr lang="en-US"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7CC70339-23FB-405B-AF44-3DB818897470}" type="slidenum">
              <a:rPr lang="en-US"/>
              <a:pPr/>
              <a:t>117</a:t>
            </a:fld>
            <a:endParaRPr lang="en-US"/>
          </a:p>
        </p:txBody>
      </p:sp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>
          <a:xfrm>
            <a:off x="928688" y="0"/>
            <a:ext cx="7158037" cy="1412875"/>
          </a:xfrm>
        </p:spPr>
        <p:txBody>
          <a:bodyPr/>
          <a:lstStyle/>
          <a:p>
            <a:pPr eaLnBrk="1" hangingPunct="1"/>
            <a:r>
              <a:rPr lang="en-GB" sz="3600" b="1" smtClean="0"/>
              <a:t>UYGULAMA</a:t>
            </a:r>
            <a:r>
              <a:rPr lang="tr-TR" sz="3600" b="1" smtClean="0"/>
              <a:t> FAALİYETİ</a:t>
            </a:r>
          </a:p>
        </p:txBody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8688" y="1785938"/>
            <a:ext cx="7661275" cy="4876800"/>
          </a:xfrm>
        </p:spPr>
        <p:txBody>
          <a:bodyPr/>
          <a:lstStyle/>
          <a:p>
            <a:r>
              <a:rPr lang="tr-TR" sz="1600" smtClean="0"/>
              <a:t>Kapasite değerleri farklı kondansatörlerin Lcrmetre ya da avometre ile kapasite</a:t>
            </a:r>
            <a:r>
              <a:rPr lang="en-GB" sz="1600" smtClean="0"/>
              <a:t> </a:t>
            </a:r>
            <a:r>
              <a:rPr lang="tr-TR" sz="1600" smtClean="0"/>
              <a:t>ölçümlerini yapınız. </a:t>
            </a:r>
            <a:endParaRPr lang="en-GB" sz="1600" smtClean="0"/>
          </a:p>
          <a:p>
            <a:r>
              <a:rPr lang="tr-TR" sz="1600" smtClean="0"/>
              <a:t>Ölçtüğünüz kapasite değeri ile kondansatör üzerinde yazan değerleri</a:t>
            </a:r>
            <a:r>
              <a:rPr lang="en-GB" sz="1600" smtClean="0"/>
              <a:t> </a:t>
            </a:r>
            <a:r>
              <a:rPr lang="tr-TR" sz="1600" smtClean="0"/>
              <a:t>aşağıda verilen tabloya yazınız, arada fark var ise ölçümünüzü tekrarlayınız.</a:t>
            </a:r>
          </a:p>
        </p:txBody>
      </p:sp>
      <p:sp>
        <p:nvSpPr>
          <p:cNvPr id="129028" name="Slide Number Placeholder 5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7CD5FA6B-2489-4220-8FB7-10484E618DC7}" type="slidenum">
              <a:rPr lang="en-US" sz="1000"/>
              <a:pPr algn="r"/>
              <a:t>117</a:t>
            </a:fld>
            <a:endParaRPr lang="en-US" sz="1000"/>
          </a:p>
        </p:txBody>
      </p:sp>
      <p:pic>
        <p:nvPicPr>
          <p:cNvPr id="129029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00125" y="2928938"/>
            <a:ext cx="7407275" cy="3071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483D11A2-BC0D-49C2-90A4-B82956021970}" type="slidenum">
              <a:rPr lang="en-US"/>
              <a:pPr/>
              <a:t>118</a:t>
            </a:fld>
            <a:endParaRPr lang="en-US"/>
          </a:p>
        </p:txBody>
      </p:sp>
      <p:sp>
        <p:nvSpPr>
          <p:cNvPr id="130050" name="Rectangle 2"/>
          <p:cNvSpPr>
            <a:spLocks noGrp="1" noChangeArrowheads="1"/>
          </p:cNvSpPr>
          <p:nvPr>
            <p:ph type="title"/>
          </p:nvPr>
        </p:nvSpPr>
        <p:spPr>
          <a:xfrm>
            <a:off x="928688" y="0"/>
            <a:ext cx="7158037" cy="1412875"/>
          </a:xfrm>
        </p:spPr>
        <p:txBody>
          <a:bodyPr/>
          <a:lstStyle/>
          <a:p>
            <a:pPr eaLnBrk="1" hangingPunct="1"/>
            <a:r>
              <a:rPr lang="en-GB" sz="3600" b="1" smtClean="0"/>
              <a:t>UYGULAMA</a:t>
            </a:r>
            <a:r>
              <a:rPr lang="tr-TR" sz="3600" b="1" smtClean="0"/>
              <a:t> FAALİYETİ</a:t>
            </a:r>
          </a:p>
        </p:txBody>
      </p:sp>
      <p:sp>
        <p:nvSpPr>
          <p:cNvPr id="1300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8688" y="1785938"/>
            <a:ext cx="7661275" cy="4876800"/>
          </a:xfrm>
        </p:spPr>
        <p:txBody>
          <a:bodyPr/>
          <a:lstStyle/>
          <a:p>
            <a:r>
              <a:rPr lang="tr-TR" sz="2000" b="1" smtClean="0"/>
              <a:t>İşlem Basamakları</a:t>
            </a:r>
            <a:endParaRPr lang="en-GB" sz="2000" b="1" smtClean="0"/>
          </a:p>
          <a:p>
            <a:pPr lvl="1"/>
            <a:r>
              <a:rPr lang="tr-TR" sz="2000" smtClean="0"/>
              <a:t>Analog Lcrmetre veya avometre ile</a:t>
            </a:r>
            <a:r>
              <a:rPr lang="en-GB" sz="2000" smtClean="0"/>
              <a:t> </a:t>
            </a:r>
            <a:r>
              <a:rPr lang="tr-TR" sz="2000" smtClean="0"/>
              <a:t>ölçüm yapılacaksa sıfır ayarını</a:t>
            </a:r>
            <a:r>
              <a:rPr lang="en-GB" sz="2000" smtClean="0"/>
              <a:t> </a:t>
            </a:r>
            <a:r>
              <a:rPr lang="tr-TR" sz="2000" smtClean="0"/>
              <a:t>yapınız.</a:t>
            </a:r>
            <a:endParaRPr lang="en-GB" sz="2000" smtClean="0"/>
          </a:p>
          <a:p>
            <a:pPr lvl="1"/>
            <a:r>
              <a:rPr lang="tr-TR" sz="2000" smtClean="0"/>
              <a:t>Lcrmetreyi kapasite ölçme</a:t>
            </a:r>
            <a:r>
              <a:rPr lang="en-GB" sz="2000" smtClean="0"/>
              <a:t> </a:t>
            </a:r>
            <a:r>
              <a:rPr lang="tr-TR" sz="2000" smtClean="0"/>
              <a:t>konumuna alınız.</a:t>
            </a:r>
            <a:endParaRPr lang="en-GB" sz="2000" smtClean="0"/>
          </a:p>
          <a:p>
            <a:pPr lvl="1"/>
            <a:r>
              <a:rPr lang="tr-TR" sz="2000" smtClean="0"/>
              <a:t>Lcrmetreyi ölçülecek kapasite</a:t>
            </a:r>
            <a:r>
              <a:rPr lang="en-GB" sz="2000" smtClean="0"/>
              <a:t> </a:t>
            </a:r>
            <a:r>
              <a:rPr lang="tr-TR" sz="2000" smtClean="0"/>
              <a:t>değerine uygun kademeye alınız.</a:t>
            </a:r>
            <a:endParaRPr lang="en-GB" sz="2000" smtClean="0"/>
          </a:p>
          <a:p>
            <a:pPr lvl="1"/>
            <a:r>
              <a:rPr lang="tr-TR" sz="2000" smtClean="0"/>
              <a:t>Lcrmetre problarını kondansatör</a:t>
            </a:r>
            <a:r>
              <a:rPr lang="en-GB" sz="2000" smtClean="0"/>
              <a:t> </a:t>
            </a:r>
            <a:r>
              <a:rPr lang="tr-TR" sz="2000" smtClean="0"/>
              <a:t>uçlarına dokundurunuz.</a:t>
            </a:r>
            <a:endParaRPr lang="en-GB" sz="2000" smtClean="0"/>
          </a:p>
          <a:p>
            <a:pPr lvl="1"/>
            <a:r>
              <a:rPr lang="tr-TR" sz="2000" smtClean="0"/>
              <a:t>Lcrmetre değer ekranındaki değeri</a:t>
            </a:r>
            <a:r>
              <a:rPr lang="en-GB" sz="2000" smtClean="0"/>
              <a:t> </a:t>
            </a:r>
            <a:r>
              <a:rPr lang="tr-TR" sz="2000" smtClean="0"/>
              <a:t>okuyunuz.</a:t>
            </a:r>
          </a:p>
          <a:p>
            <a:endParaRPr lang="tr-TR" sz="2400" smtClean="0"/>
          </a:p>
          <a:p>
            <a:endParaRPr lang="tr-TR" sz="2400" smtClean="0"/>
          </a:p>
          <a:p>
            <a:endParaRPr lang="tr-TR" sz="2400" b="1" smtClean="0"/>
          </a:p>
        </p:txBody>
      </p:sp>
      <p:sp>
        <p:nvSpPr>
          <p:cNvPr id="130052" name="Slide Number Placeholder 5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CE3BD231-F2FD-4917-A1E7-A1AE932F9F9F}" type="slidenum">
              <a:rPr lang="en-US" sz="1000"/>
              <a:pPr algn="r"/>
              <a:t>118</a:t>
            </a:fld>
            <a:endParaRPr lang="en-US"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4353FE60-3DFA-48F5-8FC0-75B9EFC1A485}" type="slidenum">
              <a:rPr lang="en-US"/>
              <a:pPr/>
              <a:t>119</a:t>
            </a:fld>
            <a:endParaRPr lang="en-US"/>
          </a:p>
        </p:txBody>
      </p:sp>
      <p:sp>
        <p:nvSpPr>
          <p:cNvPr id="131074" name="Rectangle 2"/>
          <p:cNvSpPr>
            <a:spLocks noGrp="1" noChangeArrowheads="1"/>
          </p:cNvSpPr>
          <p:nvPr>
            <p:ph type="title"/>
          </p:nvPr>
        </p:nvSpPr>
        <p:spPr>
          <a:xfrm>
            <a:off x="928688" y="0"/>
            <a:ext cx="7158037" cy="1412875"/>
          </a:xfrm>
        </p:spPr>
        <p:txBody>
          <a:bodyPr/>
          <a:lstStyle/>
          <a:p>
            <a:pPr eaLnBrk="1" hangingPunct="1"/>
            <a:r>
              <a:rPr lang="en-GB" sz="3600" b="1" smtClean="0"/>
              <a:t>UYGULAMA</a:t>
            </a:r>
            <a:r>
              <a:rPr lang="tr-TR" sz="3600" b="1" smtClean="0"/>
              <a:t> FAALİYETİ</a:t>
            </a:r>
          </a:p>
        </p:txBody>
      </p:sp>
      <p:sp>
        <p:nvSpPr>
          <p:cNvPr id="131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8688" y="1785938"/>
            <a:ext cx="7661275" cy="4876800"/>
          </a:xfrm>
        </p:spPr>
        <p:txBody>
          <a:bodyPr/>
          <a:lstStyle/>
          <a:p>
            <a:r>
              <a:rPr lang="tr-TR" sz="2000" b="1" smtClean="0"/>
              <a:t>Öneriler</a:t>
            </a:r>
            <a:endParaRPr lang="en-GB" sz="2000" b="1" smtClean="0"/>
          </a:p>
          <a:p>
            <a:pPr lvl="1"/>
            <a:r>
              <a:rPr lang="tr-TR" sz="2000" smtClean="0"/>
              <a:t>Sıfır ayarını tam olarak</a:t>
            </a:r>
            <a:r>
              <a:rPr lang="en-GB" sz="2000" smtClean="0"/>
              <a:t> </a:t>
            </a:r>
            <a:r>
              <a:rPr lang="tr-TR" sz="2000" smtClean="0"/>
              <a:t>yapamadığınızda, ölçü aletinin</a:t>
            </a:r>
            <a:r>
              <a:rPr lang="en-GB" sz="2000" smtClean="0"/>
              <a:t> </a:t>
            </a:r>
            <a:r>
              <a:rPr lang="tr-TR" sz="2000" smtClean="0"/>
              <a:t>pillerini kontrol ediniz.</a:t>
            </a:r>
          </a:p>
          <a:p>
            <a:pPr lvl="1"/>
            <a:r>
              <a:rPr lang="tr-TR" sz="2000" smtClean="0"/>
              <a:t>Enerji altında kapasite ölçümü</a:t>
            </a:r>
            <a:r>
              <a:rPr lang="en-GB" sz="2000" smtClean="0"/>
              <a:t> </a:t>
            </a:r>
            <a:r>
              <a:rPr lang="tr-TR" sz="2000" smtClean="0"/>
              <a:t>yapılamayacağını unutmayın.</a:t>
            </a:r>
            <a:endParaRPr lang="en-GB" sz="2000" smtClean="0"/>
          </a:p>
          <a:p>
            <a:pPr lvl="1"/>
            <a:r>
              <a:rPr lang="tr-TR" sz="2000" smtClean="0"/>
              <a:t>Kademe seçiminiz uygun değilse</a:t>
            </a:r>
            <a:r>
              <a:rPr lang="en-GB" sz="2000" smtClean="0"/>
              <a:t> </a:t>
            </a:r>
            <a:r>
              <a:rPr lang="tr-TR" sz="2000" smtClean="0"/>
              <a:t>kademeyi büyütün veya küçültün.</a:t>
            </a:r>
          </a:p>
          <a:p>
            <a:pPr lvl="1"/>
            <a:r>
              <a:rPr lang="tr-TR" sz="2000" smtClean="0"/>
              <a:t> İbre değer göstermesine rağmen</a:t>
            </a:r>
            <a:r>
              <a:rPr lang="en-GB" sz="2000" smtClean="0"/>
              <a:t> </a:t>
            </a:r>
            <a:r>
              <a:rPr lang="tr-TR" sz="2000" smtClean="0"/>
              <a:t>sapma küçük ise daha fazla sapma</a:t>
            </a:r>
            <a:r>
              <a:rPr lang="en-GB" sz="2000" smtClean="0"/>
              <a:t> </a:t>
            </a:r>
            <a:r>
              <a:rPr lang="tr-TR" sz="2000" smtClean="0"/>
              <a:t>için kademeyi küçültün.</a:t>
            </a:r>
          </a:p>
          <a:p>
            <a:pPr lvl="1"/>
            <a:r>
              <a:rPr lang="tr-TR" sz="2000" smtClean="0"/>
              <a:t>Dijital ölçü aletlerinde ölçüm</a:t>
            </a:r>
            <a:r>
              <a:rPr lang="en-GB" sz="2000" smtClean="0"/>
              <a:t> </a:t>
            </a:r>
            <a:r>
              <a:rPr lang="tr-TR" sz="2000" smtClean="0"/>
              <a:t>değerini en hassas değeri okuyuncaya</a:t>
            </a:r>
            <a:r>
              <a:rPr lang="en-GB" sz="2000" smtClean="0"/>
              <a:t> </a:t>
            </a:r>
            <a:r>
              <a:rPr lang="tr-TR" sz="2000" smtClean="0"/>
              <a:t>kadar küçültün.</a:t>
            </a:r>
            <a:endParaRPr lang="en-GB" sz="2000" smtClean="0"/>
          </a:p>
          <a:p>
            <a:pPr lvl="1"/>
            <a:r>
              <a:rPr lang="tr-TR" sz="2000" smtClean="0"/>
              <a:t>Probları iki elinizle tutmamaya</a:t>
            </a:r>
            <a:r>
              <a:rPr lang="en-GB" sz="2000" smtClean="0"/>
              <a:t> </a:t>
            </a:r>
            <a:r>
              <a:rPr lang="tr-TR" sz="2000" smtClean="0"/>
              <a:t>dikkat ediniz.</a:t>
            </a:r>
            <a:endParaRPr lang="en-GB" sz="2000" smtClean="0"/>
          </a:p>
          <a:p>
            <a:pPr lvl="1"/>
            <a:r>
              <a:rPr lang="tr-TR" sz="2000" smtClean="0"/>
              <a:t>Analog ölçü aleti ile ölçüm</a:t>
            </a:r>
            <a:r>
              <a:rPr lang="en-GB" sz="2000" smtClean="0"/>
              <a:t> </a:t>
            </a:r>
            <a:r>
              <a:rPr lang="tr-TR" sz="2000" smtClean="0"/>
              <a:t>yapıyorsanız ibrenin konumunu daha</a:t>
            </a:r>
            <a:r>
              <a:rPr lang="en-GB" sz="2000" smtClean="0"/>
              <a:t> </a:t>
            </a:r>
            <a:r>
              <a:rPr lang="tr-TR" sz="2000" smtClean="0"/>
              <a:t>net tayin etmek için skala ayna</a:t>
            </a:r>
            <a:r>
              <a:rPr lang="en-GB" sz="2000" smtClean="0"/>
              <a:t> </a:t>
            </a:r>
            <a:r>
              <a:rPr lang="tr-TR" sz="2000" smtClean="0"/>
              <a:t>şeridinden faydalanınız.</a:t>
            </a:r>
          </a:p>
          <a:p>
            <a:endParaRPr lang="tr-TR" sz="2000" smtClean="0"/>
          </a:p>
          <a:p>
            <a:endParaRPr lang="tr-TR" sz="2400" smtClean="0"/>
          </a:p>
          <a:p>
            <a:endParaRPr lang="tr-TR" sz="2400" smtClean="0"/>
          </a:p>
          <a:p>
            <a:endParaRPr lang="en-GB" sz="2400" b="1" smtClean="0"/>
          </a:p>
        </p:txBody>
      </p:sp>
      <p:sp>
        <p:nvSpPr>
          <p:cNvPr id="131076" name="Slide Number Placeholder 4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BCE01D59-3CE5-499C-9A26-A47925CE859D}" type="slidenum">
              <a:rPr lang="en-US" sz="1000"/>
              <a:pPr algn="r"/>
              <a:t>119</a:t>
            </a:fld>
            <a:endParaRPr lang="en-US"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50EC7E83-A86F-4A78-A7AD-80E23C7AE02A}" type="slidenum">
              <a:rPr lang="en-US"/>
              <a:pPr/>
              <a:t>120</a:t>
            </a:fld>
            <a:endParaRPr lang="en-US"/>
          </a:p>
        </p:txBody>
      </p:sp>
      <p:sp>
        <p:nvSpPr>
          <p:cNvPr id="132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z="3600" b="1" smtClean="0"/>
              <a:t>ÖLÇME VE DEĞERLENDİRME</a:t>
            </a:r>
            <a:endParaRPr lang="en-US" sz="3600" smtClean="0"/>
          </a:p>
        </p:txBody>
      </p:sp>
      <p:sp>
        <p:nvSpPr>
          <p:cNvPr id="132099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sz="2000" b="1" smtClean="0"/>
              <a:t>ÖLÇME SORULARI</a:t>
            </a:r>
          </a:p>
          <a:p>
            <a:r>
              <a:rPr lang="tr-TR" sz="2000" smtClean="0"/>
              <a:t>Aşağıda verilen soruları doğru ya da yanlış olarak cevaplayınız.</a:t>
            </a:r>
          </a:p>
          <a:p>
            <a:r>
              <a:rPr lang="tr-TR" sz="1800" smtClean="0"/>
              <a:t>1. Kondansatörlerin elektrik enerjisini depo etme özelliğine kapasite denir.</a:t>
            </a:r>
          </a:p>
          <a:p>
            <a:r>
              <a:rPr lang="tr-TR" sz="1800" smtClean="0"/>
              <a:t>2. Kapasite birimi faraddır.</a:t>
            </a:r>
          </a:p>
          <a:p>
            <a:r>
              <a:rPr lang="tr-TR" sz="1800" smtClean="0"/>
              <a:t>3. Farad biriminin ast katlarından çok, üst katları kullanılır.</a:t>
            </a:r>
          </a:p>
          <a:p>
            <a:r>
              <a:rPr lang="tr-TR" sz="1800" smtClean="0"/>
              <a:t>4. Kondansatör, iletken levhaları arasındaki mesafe arttırılırsa kondansatör kapasitesi artar.</a:t>
            </a:r>
          </a:p>
          <a:p>
            <a:r>
              <a:rPr lang="tr-TR" sz="1800" smtClean="0"/>
              <a:t>5. Yalıtkan maddenin dielektrik kat sayısı, kondansatör kapasitesini etkileyen faktörlerden</a:t>
            </a:r>
            <a:r>
              <a:rPr lang="en-GB" sz="1800" smtClean="0"/>
              <a:t> </a:t>
            </a:r>
            <a:r>
              <a:rPr lang="tr-TR" sz="1800" smtClean="0"/>
              <a:t>biri değildir.</a:t>
            </a:r>
          </a:p>
          <a:p>
            <a:r>
              <a:rPr lang="tr-TR" sz="1800" smtClean="0"/>
              <a:t>6. Kapasite arttıkça kondansatörlerin fiziksel boyutları da artar .</a:t>
            </a:r>
          </a:p>
          <a:p>
            <a:r>
              <a:rPr lang="tr-TR" sz="1800" smtClean="0"/>
              <a:t>7. Kapasite Lcrmetre ile ölçülür.</a:t>
            </a:r>
          </a:p>
          <a:p>
            <a:r>
              <a:rPr lang="tr-TR" sz="1800" smtClean="0"/>
              <a:t>8. Yalnız kapasite ölçümü için kullanılan kapasite metreler mevcuttur.</a:t>
            </a:r>
          </a:p>
        </p:txBody>
      </p:sp>
      <p:sp>
        <p:nvSpPr>
          <p:cNvPr id="132100" name="Slide Number Placeholder 5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AE82765A-F826-4D1E-878B-B3D71BFB9F59}" type="slidenum">
              <a:rPr lang="en-US" sz="1000"/>
              <a:pPr algn="r"/>
              <a:t>120</a:t>
            </a:fld>
            <a:endParaRPr lang="en-US"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0BE2CD16-EAE9-4850-A64C-5245EECEF76F}" type="slidenum">
              <a:rPr lang="en-US"/>
              <a:pPr/>
              <a:t>121</a:t>
            </a:fld>
            <a:endParaRPr lang="en-US"/>
          </a:p>
        </p:txBody>
      </p:sp>
      <p:sp>
        <p:nvSpPr>
          <p:cNvPr id="133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z="3600" b="1" smtClean="0"/>
              <a:t>ÖLÇME VE DEĞERLENDİRME</a:t>
            </a:r>
            <a:endParaRPr lang="en-US" sz="3600" smtClean="0"/>
          </a:p>
        </p:txBody>
      </p:sp>
      <p:sp>
        <p:nvSpPr>
          <p:cNvPr id="133123" name="Content Placeholder 3"/>
          <p:cNvSpPr>
            <a:spLocks noGrp="1"/>
          </p:cNvSpPr>
          <p:nvPr>
            <p:ph idx="1"/>
          </p:nvPr>
        </p:nvSpPr>
        <p:spPr>
          <a:xfrm>
            <a:off x="949325" y="1989138"/>
            <a:ext cx="7661275" cy="4114800"/>
          </a:xfrm>
        </p:spPr>
        <p:txBody>
          <a:bodyPr/>
          <a:lstStyle/>
          <a:p>
            <a:r>
              <a:rPr lang="tr-TR" sz="2400" b="1" smtClean="0"/>
              <a:t>DEĞERLENDİRME</a:t>
            </a:r>
          </a:p>
          <a:p>
            <a:r>
              <a:rPr lang="tr-TR" sz="1800" smtClean="0"/>
              <a:t>Cevaplarınızı cevap anahtarı ile kontrol ediniz. Doğru ve yanlış cevaplarınızı</a:t>
            </a:r>
            <a:r>
              <a:rPr lang="en-GB" sz="1800" smtClean="0"/>
              <a:t> </a:t>
            </a:r>
            <a:r>
              <a:rPr lang="tr-TR" sz="1800" smtClean="0"/>
              <a:t>belirleyerek kendinizi değerlendiriniz. </a:t>
            </a:r>
            <a:endParaRPr lang="en-GB" sz="1800" smtClean="0"/>
          </a:p>
          <a:p>
            <a:r>
              <a:rPr lang="tr-TR" sz="1800" smtClean="0"/>
              <a:t>Cevaplarınız yanlış ise öğrenme faaliyetinin ilgili</a:t>
            </a:r>
            <a:r>
              <a:rPr lang="en-GB" sz="1800" smtClean="0"/>
              <a:t> </a:t>
            </a:r>
            <a:r>
              <a:rPr lang="tr-TR" sz="1800" smtClean="0"/>
              <a:t>bölümüne dönerek konuyu tekrar ediniz.</a:t>
            </a:r>
          </a:p>
        </p:txBody>
      </p:sp>
      <p:sp>
        <p:nvSpPr>
          <p:cNvPr id="133124" name="Slide Number Placeholder 5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6BD9B18A-2731-4A5E-A82D-939191853F12}" type="slidenum">
              <a:rPr lang="en-US" sz="1000"/>
              <a:pPr algn="r"/>
              <a:t>121</a:t>
            </a:fld>
            <a:endParaRPr lang="en-US"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37E3CF47-4A19-43DB-8157-CED798AAEFE7}" type="slidenum">
              <a:rPr lang="en-US"/>
              <a:pPr/>
              <a:t>122</a:t>
            </a:fld>
            <a:endParaRPr lang="en-US"/>
          </a:p>
        </p:txBody>
      </p:sp>
      <p:sp>
        <p:nvSpPr>
          <p:cNvPr id="134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smtClean="0"/>
              <a:t>ÖĞRENME FAALİYETİ-5</a:t>
            </a:r>
            <a:endParaRPr lang="en-US" sz="3600" smtClean="0"/>
          </a:p>
        </p:txBody>
      </p:sp>
      <p:sp>
        <p:nvSpPr>
          <p:cNvPr id="13414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49325" y="1981200"/>
            <a:ext cx="7908925" cy="4114800"/>
          </a:xfrm>
        </p:spPr>
        <p:txBody>
          <a:bodyPr/>
          <a:lstStyle/>
          <a:p>
            <a:r>
              <a:rPr lang="en-US" sz="2000" b="1" smtClean="0"/>
              <a:t>AMAÇ</a:t>
            </a:r>
            <a:endParaRPr lang="tr-TR" sz="2000" b="1" smtClean="0"/>
          </a:p>
          <a:p>
            <a:pPr lvl="1"/>
            <a:r>
              <a:rPr lang="tr-TR" sz="2000" smtClean="0"/>
              <a:t>Değişik değerlerdeki akımı, uygun ampermetre ile gerekli bağlantıyı yaparak hatasız</a:t>
            </a:r>
            <a:r>
              <a:rPr lang="en-GB" sz="2000" smtClean="0"/>
              <a:t> </a:t>
            </a:r>
            <a:r>
              <a:rPr lang="tr-TR" sz="2000" smtClean="0"/>
              <a:t>ve tekniğine uygun ölçebileceksiniz.</a:t>
            </a:r>
            <a:endParaRPr lang="tr-TR" b="1" smtClean="0"/>
          </a:p>
          <a:p>
            <a:endParaRPr lang="tr-TR" sz="2800" b="1" smtClean="0"/>
          </a:p>
          <a:p>
            <a:r>
              <a:rPr lang="en-US" sz="2000" b="1" smtClean="0"/>
              <a:t>ARAŞTIRMA</a:t>
            </a:r>
          </a:p>
          <a:p>
            <a:pPr lvl="1"/>
            <a:r>
              <a:rPr lang="tr-TR" sz="2000" smtClean="0"/>
              <a:t>Akım ölçmenin önemini, hangi değerdeki akımın nasıl ölçüleceğini araştırarak bir</a:t>
            </a:r>
            <a:r>
              <a:rPr lang="en-GB" sz="2000" smtClean="0"/>
              <a:t> </a:t>
            </a:r>
            <a:r>
              <a:rPr lang="tr-TR" sz="2000" smtClean="0"/>
              <a:t>rapor haline getiriniz.</a:t>
            </a:r>
          </a:p>
          <a:p>
            <a:endParaRPr lang="en-US" sz="2000" smtClean="0"/>
          </a:p>
          <a:p>
            <a:endParaRPr lang="en-US" sz="2000" smtClean="0"/>
          </a:p>
          <a:p>
            <a:endParaRPr lang="en-US" sz="1800" smtClean="0"/>
          </a:p>
        </p:txBody>
      </p:sp>
      <p:sp>
        <p:nvSpPr>
          <p:cNvPr id="134148" name="Slide Number Placeholder 9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4AEA91EA-7A0F-4E44-B946-00884658A0C5}" type="slidenum">
              <a:rPr lang="en-US" sz="1000"/>
              <a:pPr algn="r"/>
              <a:t>122</a:t>
            </a:fld>
            <a:endParaRPr lang="en-US"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10399ACB-3CB5-445B-95FB-B3943271B556}" type="slidenum">
              <a:rPr lang="en-US"/>
              <a:pPr/>
              <a:t>123</a:t>
            </a:fld>
            <a:endParaRPr lang="en-US"/>
          </a:p>
        </p:txBody>
      </p:sp>
      <p:sp>
        <p:nvSpPr>
          <p:cNvPr id="135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z="3600" b="1" smtClean="0"/>
              <a:t>5. AKIM ÖLÇME</a:t>
            </a:r>
          </a:p>
        </p:txBody>
      </p:sp>
      <p:sp>
        <p:nvSpPr>
          <p:cNvPr id="135171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sz="2000" b="1" smtClean="0"/>
              <a:t>5.1. Elektrik Akımı ve Tanımı</a:t>
            </a:r>
          </a:p>
          <a:p>
            <a:pPr lvl="1"/>
            <a:r>
              <a:rPr lang="tr-TR" sz="2000" smtClean="0"/>
              <a:t>Birim zamanda, bir yönde meydana gelen elektron hareketine </a:t>
            </a:r>
            <a:r>
              <a:rPr lang="tr-TR" sz="2000" b="1" smtClean="0"/>
              <a:t>elektrik akımı </a:t>
            </a:r>
            <a:r>
              <a:rPr lang="tr-TR" sz="2000" smtClean="0"/>
              <a:t>denir.</a:t>
            </a:r>
          </a:p>
          <a:p>
            <a:pPr lvl="1"/>
            <a:r>
              <a:rPr lang="tr-TR" sz="2000" smtClean="0"/>
              <a:t>Elektrik akımı, iletkenlere uygulanan potansiyel farkın iletken atomunun son yörüngesindeki</a:t>
            </a:r>
            <a:r>
              <a:rPr lang="en-GB" sz="2000" smtClean="0"/>
              <a:t> </a:t>
            </a:r>
            <a:r>
              <a:rPr lang="tr-TR" sz="2000" smtClean="0"/>
              <a:t>elektronları kendi yörüngesinden koparıp bir yönde ötelemesi ile meydana gelir. </a:t>
            </a:r>
            <a:endParaRPr lang="en-GB" sz="2000" smtClean="0"/>
          </a:p>
          <a:p>
            <a:pPr lvl="1"/>
            <a:r>
              <a:rPr lang="tr-TR" sz="2000" b="1" smtClean="0"/>
              <a:t>Elektrik</a:t>
            </a:r>
            <a:r>
              <a:rPr lang="en-GB" sz="2000" b="1" smtClean="0"/>
              <a:t> </a:t>
            </a:r>
            <a:r>
              <a:rPr lang="tr-TR" sz="2000" b="1" smtClean="0"/>
              <a:t>akımı</a:t>
            </a:r>
            <a:r>
              <a:rPr lang="tr-TR" sz="2000" smtClean="0"/>
              <a:t> “</a:t>
            </a:r>
            <a:r>
              <a:rPr lang="tr-TR" sz="2000" b="1" smtClean="0"/>
              <a:t>I” harfi ile gösterilir. Akım şiddeti ampermetre ile ölçülür.</a:t>
            </a:r>
          </a:p>
        </p:txBody>
      </p:sp>
      <p:sp>
        <p:nvSpPr>
          <p:cNvPr id="135172" name="Slide Number Placeholder 5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2739F248-1E58-40DA-8019-1127B4BB7113}" type="slidenum">
              <a:rPr lang="en-US" sz="1000"/>
              <a:pPr algn="r"/>
              <a:t>123</a:t>
            </a:fld>
            <a:endParaRPr lang="en-US"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50D481CB-1E84-4168-91DE-CE19FD5EC6A2}" type="slidenum">
              <a:rPr lang="en-US"/>
              <a:pPr/>
              <a:t>124</a:t>
            </a:fld>
            <a:endParaRPr lang="en-US"/>
          </a:p>
        </p:txBody>
      </p:sp>
      <p:sp>
        <p:nvSpPr>
          <p:cNvPr id="136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z="3600" b="1" smtClean="0"/>
              <a:t>5. AKIM ÖLÇME</a:t>
            </a:r>
          </a:p>
        </p:txBody>
      </p:sp>
      <p:sp>
        <p:nvSpPr>
          <p:cNvPr id="136195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sz="2000" b="1" smtClean="0"/>
              <a:t>5.2. Doğru ve Alternatif Akım</a:t>
            </a:r>
          </a:p>
          <a:p>
            <a:pPr lvl="1"/>
            <a:r>
              <a:rPr lang="tr-TR" sz="2000" b="1" smtClean="0"/>
              <a:t>5.2.1. Doğru Akım</a:t>
            </a:r>
          </a:p>
          <a:p>
            <a:pPr lvl="2"/>
            <a:r>
              <a:rPr lang="tr-TR" sz="1800" smtClean="0"/>
              <a:t>Yönü ve şiddeti zamana göre değişmeyen akıma doğru akım (DC) denir. Doğru</a:t>
            </a:r>
            <a:r>
              <a:rPr lang="en-GB" sz="1800" smtClean="0"/>
              <a:t> </a:t>
            </a:r>
            <a:r>
              <a:rPr lang="tr-TR" sz="1800" smtClean="0"/>
              <a:t>akımın üretilmesi ve iletilmesi alternatif akıma göre daha zor olduğundan çok yaygın</a:t>
            </a:r>
            <a:r>
              <a:rPr lang="en-GB" sz="1800" smtClean="0"/>
              <a:t> </a:t>
            </a:r>
            <a:r>
              <a:rPr lang="tr-TR" sz="1800" smtClean="0"/>
              <a:t>kullanılmamaktadır. </a:t>
            </a:r>
            <a:endParaRPr lang="en-GB" sz="1800" smtClean="0"/>
          </a:p>
          <a:p>
            <a:pPr lvl="2"/>
            <a:r>
              <a:rPr lang="tr-TR" sz="1800" smtClean="0"/>
              <a:t>Aküler, piller, DC dinamoları, DC kaynaklarına birer örnek olarak</a:t>
            </a:r>
            <a:r>
              <a:rPr lang="en-GB" sz="1800" smtClean="0"/>
              <a:t> </a:t>
            </a:r>
            <a:r>
              <a:rPr lang="tr-TR" sz="1800" smtClean="0"/>
              <a:t>verilebilir.</a:t>
            </a:r>
          </a:p>
        </p:txBody>
      </p:sp>
      <p:pic>
        <p:nvPicPr>
          <p:cNvPr id="136196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76750" y="4452938"/>
            <a:ext cx="2024063" cy="2119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6197" name="Slide Number Placeholder 5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448531F4-5B47-47D4-B81F-65984235C477}" type="slidenum">
              <a:rPr lang="en-US" sz="1000"/>
              <a:pPr algn="r"/>
              <a:t>124</a:t>
            </a:fld>
            <a:endParaRPr lang="en-US"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60A6A73F-007E-4C94-8857-1369AB0BB894}" type="slidenum">
              <a:rPr lang="en-US"/>
              <a:pPr/>
              <a:t>125</a:t>
            </a:fld>
            <a:endParaRPr lang="en-US"/>
          </a:p>
        </p:txBody>
      </p:sp>
      <p:sp>
        <p:nvSpPr>
          <p:cNvPr id="137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z="3600" b="1" smtClean="0"/>
              <a:t>5. AKIM ÖLÇME</a:t>
            </a:r>
          </a:p>
        </p:txBody>
      </p:sp>
      <p:sp>
        <p:nvSpPr>
          <p:cNvPr id="137219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sz="2000" b="1" smtClean="0"/>
              <a:t>5.2.2. Alternatif Akım</a:t>
            </a:r>
          </a:p>
          <a:p>
            <a:pPr lvl="1"/>
            <a:r>
              <a:rPr lang="tr-TR" sz="1600" smtClean="0"/>
              <a:t>Yönü ve şiddeti zamana göre değişen akıma alternatif akım denir. Buradaki yön</a:t>
            </a:r>
            <a:r>
              <a:rPr lang="en-GB" sz="1600" smtClean="0"/>
              <a:t> </a:t>
            </a:r>
            <a:r>
              <a:rPr lang="tr-TR" sz="1600" smtClean="0"/>
              <a:t>değişimiyle alternatif akımın zamanla hem pozitif hem de negatif değer alması</a:t>
            </a:r>
            <a:r>
              <a:rPr lang="en-GB" sz="1600" smtClean="0"/>
              <a:t> </a:t>
            </a:r>
            <a:r>
              <a:rPr lang="tr-TR" sz="1600" smtClean="0"/>
              <a:t>vurgulanırken, şiddetinin değişmesiyle de sıfırdan maksimum değere doğru hızlı bir değer</a:t>
            </a:r>
            <a:r>
              <a:rPr lang="en-GB" sz="1600" smtClean="0"/>
              <a:t> </a:t>
            </a:r>
            <a:r>
              <a:rPr lang="tr-TR" sz="1600" smtClean="0"/>
              <a:t>artışı ve azalışı göstermesi ifade edilmektedir. Alternatif akımda devamlı olarak değişen</a:t>
            </a:r>
            <a:r>
              <a:rPr lang="en-GB" sz="1600" smtClean="0"/>
              <a:t> </a:t>
            </a:r>
            <a:r>
              <a:rPr lang="tr-TR" sz="1600" smtClean="0"/>
              <a:t>akım ve gerilimin farklı bazı değerleri vardır. </a:t>
            </a:r>
            <a:endParaRPr lang="en-GB" sz="1600" smtClean="0"/>
          </a:p>
          <a:p>
            <a:pPr lvl="1"/>
            <a:r>
              <a:rPr lang="tr-TR" sz="1600" smtClean="0"/>
              <a:t>Bu değerler; ani değer, maksimum değer,</a:t>
            </a:r>
            <a:r>
              <a:rPr lang="en-GB" sz="1600" smtClean="0"/>
              <a:t> </a:t>
            </a:r>
            <a:r>
              <a:rPr lang="tr-TR" sz="1600" smtClean="0"/>
              <a:t>tepeden tepeye değer, ortalama değer ve etkin değer olarak adlandırılır.</a:t>
            </a:r>
          </a:p>
        </p:txBody>
      </p:sp>
      <p:pic>
        <p:nvPicPr>
          <p:cNvPr id="137220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16275" y="4505325"/>
            <a:ext cx="3141663" cy="2138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7221" name="Slide Number Placeholder 5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382FEA53-E259-4F21-A4B3-10C3297540C7}" type="slidenum">
              <a:rPr lang="en-US" sz="1000"/>
              <a:pPr algn="r"/>
              <a:t>125</a:t>
            </a:fld>
            <a:endParaRPr lang="en-US"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2ADC2E87-020E-4505-98EC-C9DFD4245FB2}" type="slidenum">
              <a:rPr lang="en-US"/>
              <a:pPr/>
              <a:t>126</a:t>
            </a:fld>
            <a:endParaRPr lang="en-US"/>
          </a:p>
        </p:txBody>
      </p:sp>
      <p:sp>
        <p:nvSpPr>
          <p:cNvPr id="138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z="3600" b="1" smtClean="0"/>
              <a:t>5. AKIM ÖLÇME</a:t>
            </a:r>
          </a:p>
        </p:txBody>
      </p:sp>
      <p:sp>
        <p:nvSpPr>
          <p:cNvPr id="138243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tr-TR" sz="2000" b="1" dirty="0" smtClean="0"/>
              <a:t>5.2.2.1. Ani Değer</a:t>
            </a:r>
          </a:p>
          <a:p>
            <a:pPr lvl="1">
              <a:defRPr/>
            </a:pPr>
            <a:r>
              <a:rPr lang="tr-TR" sz="1600" dirty="0" smtClean="0">
                <a:ea typeface="+mn-ea"/>
                <a:cs typeface="+mn-cs"/>
              </a:rPr>
              <a:t>Akım veya gerilimin herhangi bir andaki değerine ani değer adı verilir. Akım ve</a:t>
            </a:r>
            <a:r>
              <a:rPr lang="en-GB" sz="1600" dirty="0" smtClean="0">
                <a:ea typeface="+mn-ea"/>
                <a:cs typeface="+mn-cs"/>
              </a:rPr>
              <a:t> </a:t>
            </a:r>
            <a:r>
              <a:rPr lang="tr-TR" sz="1600" dirty="0" smtClean="0">
                <a:ea typeface="+mn-ea"/>
                <a:cs typeface="+mn-cs"/>
              </a:rPr>
              <a:t>gerilimin ani değeri “i” ve “v” ile gösterilir.</a:t>
            </a:r>
          </a:p>
          <a:p>
            <a:pPr>
              <a:defRPr/>
            </a:pPr>
            <a:r>
              <a:rPr lang="tr-TR" sz="2000" b="1" dirty="0" smtClean="0"/>
              <a:t>5.2.2.2. Maksimum Değer:</a:t>
            </a:r>
          </a:p>
          <a:p>
            <a:pPr lvl="1">
              <a:defRPr/>
            </a:pPr>
            <a:r>
              <a:rPr lang="tr-TR" sz="1600" dirty="0" smtClean="0">
                <a:ea typeface="+mn-ea"/>
                <a:cs typeface="+mn-cs"/>
              </a:rPr>
              <a:t>Alternatif akım eğrisinde akım veya gerilim değerinin aldığı en büyük değere</a:t>
            </a:r>
            <a:r>
              <a:rPr lang="en-GB" sz="1600" dirty="0" smtClean="0">
                <a:ea typeface="+mn-ea"/>
                <a:cs typeface="+mn-cs"/>
              </a:rPr>
              <a:t> </a:t>
            </a:r>
            <a:r>
              <a:rPr lang="tr-TR" sz="1600" dirty="0" smtClean="0">
                <a:ea typeface="+mn-ea"/>
                <a:cs typeface="+mn-cs"/>
              </a:rPr>
              <a:t>maksimum değer denir. Akım ve gerilimin maksimum değeri “Im” ve “Vm” ile gösterilir.</a:t>
            </a:r>
          </a:p>
          <a:p>
            <a:pPr lvl="1">
              <a:defRPr/>
            </a:pPr>
            <a:r>
              <a:rPr lang="tr-TR" sz="1600" dirty="0" smtClean="0">
                <a:ea typeface="+mn-ea"/>
                <a:cs typeface="+mn-cs"/>
              </a:rPr>
              <a:t>Alternatif akım eğrisinde akım veya gerilim değerinin aldığı en büyük değer ile en küçük</a:t>
            </a:r>
            <a:r>
              <a:rPr lang="en-GB" sz="1600" dirty="0" smtClean="0">
                <a:ea typeface="+mn-ea"/>
                <a:cs typeface="+mn-cs"/>
              </a:rPr>
              <a:t> </a:t>
            </a:r>
            <a:r>
              <a:rPr lang="tr-TR" sz="1600" dirty="0" smtClean="0">
                <a:ea typeface="+mn-ea"/>
                <a:cs typeface="+mn-cs"/>
              </a:rPr>
              <a:t>değer arasındaki fark tepeden tepeye değeri verir. Tepeden tepeye değer maksimum değerin</a:t>
            </a:r>
            <a:r>
              <a:rPr lang="en-GB" sz="1600" dirty="0" smtClean="0">
                <a:ea typeface="+mn-ea"/>
                <a:cs typeface="+mn-cs"/>
              </a:rPr>
              <a:t> </a:t>
            </a:r>
            <a:r>
              <a:rPr lang="tr-TR" sz="1600" dirty="0" smtClean="0">
                <a:ea typeface="+mn-ea"/>
                <a:cs typeface="+mn-cs"/>
              </a:rPr>
              <a:t>iki katıdır.</a:t>
            </a:r>
          </a:p>
        </p:txBody>
      </p:sp>
      <p:pic>
        <p:nvPicPr>
          <p:cNvPr id="138244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429000" y="4857750"/>
            <a:ext cx="2428875" cy="1895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8245" name="Slide Number Placeholder 5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2A096300-AA94-4CF6-909A-14BE81647920}" type="slidenum">
              <a:rPr lang="en-US" sz="1000"/>
              <a:pPr algn="r"/>
              <a:t>126</a:t>
            </a:fld>
            <a:endParaRPr lang="en-US"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5780BE99-A4B9-4654-8DA0-E6CB3AA9A664}" type="slidenum">
              <a:rPr lang="en-US"/>
              <a:pPr/>
              <a:t>127</a:t>
            </a:fld>
            <a:endParaRPr lang="en-US"/>
          </a:p>
        </p:txBody>
      </p:sp>
      <p:sp>
        <p:nvSpPr>
          <p:cNvPr id="139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z="3600" b="1" smtClean="0"/>
              <a:t>5. AKIM ÖLÇME</a:t>
            </a:r>
          </a:p>
        </p:txBody>
      </p:sp>
      <p:sp>
        <p:nvSpPr>
          <p:cNvPr id="139267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sz="2000" b="1" smtClean="0"/>
              <a:t>5.2.2.3. Ortalama Değer</a:t>
            </a:r>
          </a:p>
          <a:p>
            <a:pPr lvl="1"/>
            <a:r>
              <a:rPr lang="tr-TR" sz="1600" smtClean="0"/>
              <a:t>Akım veya gerilimin bir periyotta aldığı değerlerin ortalaması, ortalama değer olarak</a:t>
            </a:r>
            <a:r>
              <a:rPr lang="en-GB" sz="1600" smtClean="0"/>
              <a:t> </a:t>
            </a:r>
            <a:r>
              <a:rPr lang="tr-TR" sz="1600" smtClean="0"/>
              <a:t>tanımlanır. </a:t>
            </a:r>
            <a:endParaRPr lang="en-GB" sz="1600" smtClean="0"/>
          </a:p>
          <a:p>
            <a:pPr lvl="1"/>
            <a:r>
              <a:rPr lang="tr-TR" sz="1600" smtClean="0"/>
              <a:t>Alternatif akımın ortalama değeri sıfırdır. Çünkü pozitif değer olarak aldığı</a:t>
            </a:r>
            <a:r>
              <a:rPr lang="en-GB" sz="1600" smtClean="0"/>
              <a:t> </a:t>
            </a:r>
            <a:r>
              <a:rPr lang="tr-TR" sz="1600" smtClean="0"/>
              <a:t>değerlerin tamamını negatifte de aldığından toplam ve ortalama sıfır değerine tekabül eder.</a:t>
            </a:r>
          </a:p>
          <a:p>
            <a:pPr lvl="1"/>
            <a:r>
              <a:rPr lang="tr-TR" sz="1600" smtClean="0"/>
              <a:t>Akım ve gerilimin ortalama değeri Iort ve Vort ile gösterilir. Şekilde verilen sinyalin</a:t>
            </a:r>
            <a:r>
              <a:rPr lang="en-GB" sz="1600" smtClean="0"/>
              <a:t> </a:t>
            </a:r>
            <a:r>
              <a:rPr lang="tr-TR" sz="1600" smtClean="0"/>
              <a:t>ortalama değeri:</a:t>
            </a:r>
          </a:p>
          <a:p>
            <a:pPr lvl="1"/>
            <a:r>
              <a:rPr lang="de-DE" sz="1600" b="1" smtClean="0"/>
              <a:t>I</a:t>
            </a:r>
            <a:r>
              <a:rPr lang="de-DE" sz="1000" b="1" smtClean="0"/>
              <a:t>ort</a:t>
            </a:r>
            <a:r>
              <a:rPr lang="de-DE" sz="1600" b="1" smtClean="0"/>
              <a:t>=0,636.I</a:t>
            </a:r>
            <a:r>
              <a:rPr lang="de-DE" sz="1000" b="1" smtClean="0"/>
              <a:t>m</a:t>
            </a:r>
            <a:r>
              <a:rPr lang="de-DE" sz="1600" b="1" smtClean="0"/>
              <a:t>, V</a:t>
            </a:r>
            <a:r>
              <a:rPr lang="de-DE" sz="1000" b="1" smtClean="0"/>
              <a:t>ort</a:t>
            </a:r>
            <a:r>
              <a:rPr lang="de-DE" sz="1600" b="1" smtClean="0"/>
              <a:t>=0,636.V</a:t>
            </a:r>
            <a:r>
              <a:rPr lang="de-DE" sz="1000" b="1" smtClean="0"/>
              <a:t>m</a:t>
            </a:r>
            <a:r>
              <a:rPr lang="de-DE" sz="1600" b="1" smtClean="0"/>
              <a:t> formülü ile bulunur</a:t>
            </a:r>
          </a:p>
        </p:txBody>
      </p:sp>
      <p:sp>
        <p:nvSpPr>
          <p:cNvPr id="139268" name="Slide Number Placeholder 4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B19F973D-B7CB-403A-B0B7-A1BCF5792334}" type="slidenum">
              <a:rPr lang="en-US" sz="1000"/>
              <a:pPr algn="r"/>
              <a:t>127</a:t>
            </a:fld>
            <a:endParaRPr lang="en-US" sz="1000"/>
          </a:p>
        </p:txBody>
      </p:sp>
      <p:pic>
        <p:nvPicPr>
          <p:cNvPr id="139269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43000" y="4572000"/>
            <a:ext cx="4152900" cy="1876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9270" name="Rectangle 6"/>
          <p:cNvSpPr>
            <a:spLocks noChangeArrowheads="1"/>
          </p:cNvSpPr>
          <p:nvPr/>
        </p:nvSpPr>
        <p:spPr bwMode="auto">
          <a:xfrm>
            <a:off x="5429250" y="5130800"/>
            <a:ext cx="2941638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/>
              <a:t>Şekil 5.4: Ortalama değer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98AB9E1C-3679-432F-9E36-9EC41825BDAE}" type="slidenum">
              <a:rPr lang="en-US"/>
              <a:pPr/>
              <a:t>128</a:t>
            </a:fld>
            <a:endParaRPr lang="en-US"/>
          </a:p>
        </p:txBody>
      </p:sp>
      <p:sp>
        <p:nvSpPr>
          <p:cNvPr id="140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z="3600" b="1" smtClean="0"/>
              <a:t>5. AKIM ÖLÇME</a:t>
            </a:r>
          </a:p>
        </p:txBody>
      </p:sp>
      <p:sp>
        <p:nvSpPr>
          <p:cNvPr id="140291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sz="2000" b="1" smtClean="0"/>
              <a:t>5.2.2.4. Etkin Değer</a:t>
            </a:r>
          </a:p>
          <a:p>
            <a:pPr lvl="1"/>
            <a:r>
              <a:rPr lang="tr-TR" sz="1600" smtClean="0"/>
              <a:t>Alternatif akımda, doğru akımın yaptığı işe eşit iş yapan alternatif akım değerine etkin</a:t>
            </a:r>
            <a:r>
              <a:rPr lang="en-GB" sz="1600" smtClean="0"/>
              <a:t> </a:t>
            </a:r>
            <a:r>
              <a:rPr lang="tr-TR" sz="1600" smtClean="0"/>
              <a:t>değer denir. </a:t>
            </a:r>
            <a:endParaRPr lang="en-GB" sz="1600" smtClean="0"/>
          </a:p>
          <a:p>
            <a:pPr lvl="1"/>
            <a:r>
              <a:rPr lang="tr-TR" sz="1600" smtClean="0"/>
              <a:t>Alternatif akımın en çok kullanılan değeri, etkin değerdir. Ölçü aletleri alternatif</a:t>
            </a:r>
            <a:r>
              <a:rPr lang="en-GB" sz="1600" smtClean="0"/>
              <a:t> </a:t>
            </a:r>
            <a:r>
              <a:rPr lang="tr-TR" sz="1600" smtClean="0"/>
              <a:t>akımın etkin değerini ölçer. Akım ve gerilimin etkin değeri “I” ve “V” ile ifade edilir. Etkin</a:t>
            </a:r>
            <a:r>
              <a:rPr lang="en-GB" sz="1600" smtClean="0"/>
              <a:t> </a:t>
            </a:r>
            <a:r>
              <a:rPr lang="tr-TR" sz="1600" smtClean="0"/>
              <a:t>değer “RMS” veya “rsm” şeklinde de ifade edilir.</a:t>
            </a:r>
          </a:p>
          <a:p>
            <a:pPr lvl="1"/>
            <a:r>
              <a:rPr lang="tr-TR" sz="1600" b="1" smtClean="0"/>
              <a:t>I=0,707.I</a:t>
            </a:r>
            <a:r>
              <a:rPr lang="tr-TR" sz="1000" b="1" smtClean="0"/>
              <a:t>m</a:t>
            </a:r>
            <a:r>
              <a:rPr lang="tr-TR" sz="1600" b="1" smtClean="0"/>
              <a:t>, V=0,707.V</a:t>
            </a:r>
            <a:r>
              <a:rPr lang="tr-TR" sz="1000" b="1" smtClean="0"/>
              <a:t>m</a:t>
            </a:r>
            <a:r>
              <a:rPr lang="tr-TR" sz="1600" b="1" smtClean="0"/>
              <a:t> formülü ile bulunur.</a:t>
            </a:r>
            <a:endParaRPr lang="en-GB" sz="1600" b="1" smtClean="0"/>
          </a:p>
          <a:p>
            <a:pPr lvl="1"/>
            <a:endParaRPr lang="tr-TR" sz="1600" b="1" smtClean="0"/>
          </a:p>
        </p:txBody>
      </p:sp>
      <p:sp>
        <p:nvSpPr>
          <p:cNvPr id="140292" name="Slide Number Placeholder 4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33836612-1CD3-4065-823B-2A4B8A265733}" type="slidenum">
              <a:rPr lang="en-US" sz="1000"/>
              <a:pPr algn="r"/>
              <a:t>128</a:t>
            </a:fld>
            <a:endParaRPr lang="en-US"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2D0A5CE4-7243-4EC9-B8FA-D49E74BAF653}" type="slidenum">
              <a:rPr lang="en-US"/>
              <a:pPr/>
              <a:t>129</a:t>
            </a:fld>
            <a:endParaRPr lang="en-US"/>
          </a:p>
        </p:txBody>
      </p:sp>
      <p:sp>
        <p:nvSpPr>
          <p:cNvPr id="141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z="3600" b="1" smtClean="0"/>
              <a:t>5. AKIM ÖLÇME</a:t>
            </a:r>
          </a:p>
        </p:txBody>
      </p:sp>
      <p:sp>
        <p:nvSpPr>
          <p:cNvPr id="141315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sz="2000" b="1" smtClean="0"/>
              <a:t>5.3. Ampermetre Yapısı ve Çeşitleri</a:t>
            </a:r>
          </a:p>
          <a:p>
            <a:pPr lvl="1"/>
            <a:r>
              <a:rPr lang="tr-TR" sz="1600" smtClean="0"/>
              <a:t>Elektrik akım şiddetini ölçmede kullanılan ölçü aletlerine </a:t>
            </a:r>
            <a:r>
              <a:rPr lang="tr-TR" sz="1600" b="1" smtClean="0"/>
              <a:t>ampermetre denir.</a:t>
            </a:r>
          </a:p>
          <a:p>
            <a:pPr lvl="1"/>
            <a:r>
              <a:rPr lang="tr-TR" sz="1600" smtClean="0"/>
              <a:t>Ampermetrelerin elektrik devrelerindeki sembolü, daire içinde “</a:t>
            </a:r>
            <a:r>
              <a:rPr lang="tr-TR" sz="1600" b="1" smtClean="0"/>
              <a:t>A” ile ifade edilir.</a:t>
            </a:r>
          </a:p>
          <a:p>
            <a:pPr lvl="1"/>
            <a:r>
              <a:rPr lang="tr-TR" sz="1600" smtClean="0"/>
              <a:t>Ampermetreler devreye seri bağlanır, çünkü alıcı veya alıcılardan geçecek akımın</a:t>
            </a:r>
            <a:r>
              <a:rPr lang="en-GB" sz="1600" smtClean="0"/>
              <a:t> </a:t>
            </a:r>
            <a:r>
              <a:rPr lang="tr-TR" sz="1600" smtClean="0"/>
              <a:t>ölçülebilmesi için akımın tamamının ampermetreden geçmesi gerekmektedir.</a:t>
            </a:r>
            <a:endParaRPr lang="en-GB" sz="1600" smtClean="0"/>
          </a:p>
          <a:p>
            <a:pPr lvl="1"/>
            <a:r>
              <a:rPr lang="tr-TR" sz="1600" smtClean="0"/>
              <a:t>Ampermetreler</a:t>
            </a:r>
            <a:r>
              <a:rPr lang="en-GB" sz="1600" smtClean="0"/>
              <a:t> </a:t>
            </a:r>
            <a:r>
              <a:rPr lang="tr-TR" sz="1600" smtClean="0"/>
              <a:t>devreye seri bağlandıklarından, ölçüm yaptıkları devrelerde bir yük gibi akımı sınırlandırıcı</a:t>
            </a:r>
            <a:r>
              <a:rPr lang="en-GB" sz="1600" smtClean="0"/>
              <a:t> </a:t>
            </a:r>
            <a:r>
              <a:rPr lang="tr-TR" sz="1600" smtClean="0"/>
              <a:t>etki yapmamaları gerekmektedir.</a:t>
            </a:r>
            <a:endParaRPr lang="en-GB" sz="1600" smtClean="0"/>
          </a:p>
          <a:p>
            <a:pPr lvl="1"/>
            <a:r>
              <a:rPr lang="tr-TR" sz="1600" smtClean="0"/>
              <a:t>Bu yüzden ampermetrelerin iç dirençleri çok küçüktür (0-1</a:t>
            </a:r>
            <a:r>
              <a:rPr lang="en-GB" sz="1600" smtClean="0"/>
              <a:t> </a:t>
            </a:r>
            <a:r>
              <a:rPr lang="el-GR" sz="1600" smtClean="0"/>
              <a:t>Ω) </a:t>
            </a:r>
            <a:r>
              <a:rPr lang="tr-TR" sz="1600" smtClean="0"/>
              <a:t>ve yanlışlıkla paralel bağlanmaları durumunda üzerinden çok büyük akım geçeceğinden</a:t>
            </a:r>
            <a:r>
              <a:rPr lang="en-GB" sz="1600" smtClean="0"/>
              <a:t> </a:t>
            </a:r>
            <a:r>
              <a:rPr lang="tr-TR" sz="1600" smtClean="0"/>
              <a:t>kısa sürede kullanılmaz hale gelebilirler.</a:t>
            </a:r>
          </a:p>
        </p:txBody>
      </p:sp>
      <p:sp>
        <p:nvSpPr>
          <p:cNvPr id="141316" name="Slide Number Placeholder 4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FC38B53D-A027-4B27-8354-EFE2966CD14B}" type="slidenum">
              <a:rPr lang="en-US" sz="1000"/>
              <a:pPr algn="r"/>
              <a:t>129</a:t>
            </a:fld>
            <a:endParaRPr lang="en-US"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4E4C9F0B-4D8D-414D-9FA5-B2A233D16ADC}" type="slidenum">
              <a:rPr lang="en-US"/>
              <a:pPr/>
              <a:t>130</a:t>
            </a:fld>
            <a:endParaRPr lang="en-US"/>
          </a:p>
        </p:txBody>
      </p:sp>
      <p:sp>
        <p:nvSpPr>
          <p:cNvPr id="142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z="3600" b="1" smtClean="0"/>
              <a:t>5. AKIM ÖLÇME</a:t>
            </a:r>
          </a:p>
        </p:txBody>
      </p:sp>
      <p:sp>
        <p:nvSpPr>
          <p:cNvPr id="142339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en-GB" smtClean="0"/>
              <a:t>  </a:t>
            </a:r>
            <a:endParaRPr lang="tr-TR" smtClean="0"/>
          </a:p>
        </p:txBody>
      </p:sp>
      <p:pic>
        <p:nvPicPr>
          <p:cNvPr id="14234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14375" y="2009775"/>
            <a:ext cx="7458075" cy="2990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2341" name="Slide Number Placeholder 4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8C211D77-2C4E-4AB7-B8EF-E73967510978}" type="slidenum">
              <a:rPr lang="en-US" sz="1000"/>
              <a:pPr algn="r"/>
              <a:t>130</a:t>
            </a:fld>
            <a:endParaRPr lang="en-US"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16FB00AA-7098-474C-AC4D-B74B2E8BA28C}" type="slidenum">
              <a:rPr lang="en-US"/>
              <a:pPr/>
              <a:t>131</a:t>
            </a:fld>
            <a:endParaRPr lang="en-US"/>
          </a:p>
        </p:txBody>
      </p:sp>
      <p:sp>
        <p:nvSpPr>
          <p:cNvPr id="143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z="3600" b="1" smtClean="0"/>
              <a:t>5. AKIM ÖLÇME</a:t>
            </a:r>
          </a:p>
        </p:txBody>
      </p:sp>
      <p:sp>
        <p:nvSpPr>
          <p:cNvPr id="143363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sz="2000" smtClean="0"/>
              <a:t>Akım şiddetini ölçen bu aletler dijital, analog ve pens ampermetreler olarak çeşitlere</a:t>
            </a:r>
            <a:r>
              <a:rPr lang="en-GB" sz="2000" smtClean="0"/>
              <a:t> </a:t>
            </a:r>
            <a:r>
              <a:rPr lang="tr-TR" sz="2000" smtClean="0"/>
              <a:t>sahiptir. </a:t>
            </a:r>
            <a:endParaRPr lang="en-GB" sz="2000" smtClean="0"/>
          </a:p>
          <a:p>
            <a:r>
              <a:rPr lang="tr-TR" sz="2000" smtClean="0"/>
              <a:t>Ampermetreler ölçülecek değere göre mA seviyesinden kA seviyesine kadar ölçme</a:t>
            </a:r>
            <a:r>
              <a:rPr lang="en-GB" sz="2000" smtClean="0"/>
              <a:t> </a:t>
            </a:r>
            <a:r>
              <a:rPr lang="tr-TR" sz="2000" smtClean="0"/>
              <a:t>alanına sahip olarak imal edilmektedirler. </a:t>
            </a:r>
            <a:endParaRPr lang="en-GB" sz="2000" smtClean="0"/>
          </a:p>
          <a:p>
            <a:r>
              <a:rPr lang="tr-TR" sz="2000" smtClean="0"/>
              <a:t>Ölçülecek akımın DC veya AC olmasına göre, DC</a:t>
            </a:r>
            <a:r>
              <a:rPr lang="en-GB" sz="2000" smtClean="0"/>
              <a:t> </a:t>
            </a:r>
            <a:r>
              <a:rPr lang="tr-TR" sz="2000" smtClean="0"/>
              <a:t>ampermetresi veya AC ampermetresi kullanılmalıdır</a:t>
            </a:r>
            <a:r>
              <a:rPr lang="tr-TR" smtClean="0"/>
              <a:t>.</a:t>
            </a:r>
          </a:p>
        </p:txBody>
      </p:sp>
      <p:sp>
        <p:nvSpPr>
          <p:cNvPr id="143364" name="Slide Number Placeholder 5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5CE05805-602F-4FC7-A253-B702533B4171}" type="slidenum">
              <a:rPr lang="en-US" sz="1000"/>
              <a:pPr algn="r"/>
              <a:t>131</a:t>
            </a:fld>
            <a:endParaRPr lang="en-US"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08991078-3A43-4E56-B8E8-FE8E38646E59}" type="slidenum">
              <a:rPr lang="en-US"/>
              <a:pPr/>
              <a:t>132</a:t>
            </a:fld>
            <a:endParaRPr lang="en-US"/>
          </a:p>
        </p:txBody>
      </p:sp>
      <p:sp>
        <p:nvSpPr>
          <p:cNvPr id="144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z="3600" b="1" smtClean="0"/>
              <a:t>5. AKIM ÖLÇME</a:t>
            </a:r>
          </a:p>
        </p:txBody>
      </p:sp>
      <p:sp>
        <p:nvSpPr>
          <p:cNvPr id="144387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tr-TR" sz="1800" b="1" dirty="0" smtClean="0"/>
              <a:t>5.4. Ampermetreyi Devreye Bağlama ve Akım Ölçme</a:t>
            </a:r>
          </a:p>
          <a:p>
            <a:pPr lvl="1">
              <a:defRPr/>
            </a:pPr>
            <a:r>
              <a:rPr lang="tr-TR" sz="1600" dirty="0" smtClean="0">
                <a:ea typeface="+mn-ea"/>
                <a:cs typeface="+mn-cs"/>
              </a:rPr>
              <a:t>Akım ölçme işlemi yapılmadan önceki en önemli nokta ölçüm yapılacak akıma uygun</a:t>
            </a:r>
            <a:r>
              <a:rPr lang="en-GB" sz="1600" dirty="0" smtClean="0">
                <a:ea typeface="+mn-ea"/>
                <a:cs typeface="+mn-cs"/>
              </a:rPr>
              <a:t> </a:t>
            </a:r>
            <a:r>
              <a:rPr lang="tr-TR" sz="1600" dirty="0" smtClean="0">
                <a:ea typeface="+mn-ea"/>
                <a:cs typeface="+mn-cs"/>
              </a:rPr>
              <a:t>ampermetre seçmektir. Ampermetre seçimi yapılırken aşağıda belirtilen hususlara kesinlikle</a:t>
            </a:r>
            <a:r>
              <a:rPr lang="en-GB" sz="1600" dirty="0" smtClean="0">
                <a:ea typeface="+mn-ea"/>
                <a:cs typeface="+mn-cs"/>
              </a:rPr>
              <a:t> </a:t>
            </a:r>
            <a:r>
              <a:rPr lang="tr-TR" sz="1600" dirty="0" smtClean="0">
                <a:ea typeface="+mn-ea"/>
                <a:cs typeface="+mn-cs"/>
              </a:rPr>
              <a:t>dikkat edilmelidir:</a:t>
            </a:r>
          </a:p>
          <a:p>
            <a:pPr lvl="2">
              <a:defRPr/>
            </a:pPr>
            <a:r>
              <a:rPr lang="tr-TR" sz="1400" b="1" dirty="0" smtClean="0">
                <a:ea typeface="+mn-ea"/>
                <a:cs typeface="+mn-cs"/>
              </a:rPr>
              <a:t>Ampermetreler devreye seri bağlanır.</a:t>
            </a:r>
          </a:p>
          <a:p>
            <a:pPr lvl="2">
              <a:defRPr/>
            </a:pPr>
            <a:r>
              <a:rPr lang="tr-TR" sz="1400" dirty="0" smtClean="0">
                <a:ea typeface="+mn-ea"/>
                <a:cs typeface="+mn-cs"/>
              </a:rPr>
              <a:t> Akım çeşidine uygun(AC-DC) ampermetre seçilmelidir.</a:t>
            </a:r>
          </a:p>
          <a:p>
            <a:pPr lvl="2">
              <a:defRPr/>
            </a:pPr>
            <a:r>
              <a:rPr lang="tr-TR" sz="1400" dirty="0" smtClean="0">
                <a:ea typeface="+mn-ea"/>
                <a:cs typeface="+mn-cs"/>
              </a:rPr>
              <a:t> Ampermetrenin ölçme sınırı, ölçülecek akım değerinden mutlaka büyük olmalıdır.</a:t>
            </a:r>
          </a:p>
          <a:p>
            <a:pPr lvl="2">
              <a:defRPr/>
            </a:pPr>
            <a:r>
              <a:rPr lang="tr-TR" sz="1400" dirty="0" smtClean="0">
                <a:ea typeface="+mn-ea"/>
                <a:cs typeface="+mn-cs"/>
              </a:rPr>
              <a:t> Alternatif akım ölçmelerinde ampermetreye bağlanan giriş ve çıkış uçları farklılık</a:t>
            </a:r>
            <a:r>
              <a:rPr lang="en-GB" sz="1400" dirty="0" smtClean="0">
                <a:ea typeface="+mn-ea"/>
                <a:cs typeface="+mn-cs"/>
              </a:rPr>
              <a:t> </a:t>
            </a:r>
            <a:r>
              <a:rPr lang="tr-TR" sz="1400" dirty="0" smtClean="0">
                <a:ea typeface="+mn-ea"/>
                <a:cs typeface="+mn-cs"/>
              </a:rPr>
              <a:t>göstermezken doğru akımda “+” ve “–“ uçlar doğru bağlanmalıdır. Aksi takdirde</a:t>
            </a:r>
            <a:r>
              <a:rPr lang="en-GB" sz="1400" dirty="0" smtClean="0">
                <a:ea typeface="+mn-ea"/>
                <a:cs typeface="+mn-cs"/>
              </a:rPr>
              <a:t> </a:t>
            </a:r>
            <a:r>
              <a:rPr lang="tr-TR" sz="1400" dirty="0" smtClean="0">
                <a:ea typeface="+mn-ea"/>
                <a:cs typeface="+mn-cs"/>
              </a:rPr>
              <a:t>analog ölçü aletlerinde ibre ters sapar dijital ölçü aletlerinde değer önünde negatif</a:t>
            </a:r>
            <a:r>
              <a:rPr lang="en-GB" sz="1400" dirty="0" smtClean="0">
                <a:ea typeface="+mn-ea"/>
                <a:cs typeface="+mn-cs"/>
              </a:rPr>
              <a:t> </a:t>
            </a:r>
            <a:r>
              <a:rPr lang="tr-TR" sz="1400" dirty="0" smtClean="0">
                <a:ea typeface="+mn-ea"/>
                <a:cs typeface="+mn-cs"/>
              </a:rPr>
              <a:t>ifadesi görünür.</a:t>
            </a:r>
          </a:p>
          <a:p>
            <a:pPr lvl="2">
              <a:defRPr/>
            </a:pPr>
            <a:r>
              <a:rPr lang="tr-TR" sz="1400" dirty="0" smtClean="0">
                <a:ea typeface="+mn-ea"/>
                <a:cs typeface="+mn-cs"/>
              </a:rPr>
              <a:t> Ölçülecek akım değerine uygun hassasiyete sahip ampermetre seçilmelidir. </a:t>
            </a:r>
            <a:r>
              <a:rPr lang="el-GR" sz="1400" dirty="0" smtClean="0">
                <a:ea typeface="+mn-ea"/>
                <a:cs typeface="+mn-cs"/>
              </a:rPr>
              <a:t>μ</a:t>
            </a:r>
            <a:r>
              <a:rPr lang="tr-TR" sz="1400" dirty="0" smtClean="0">
                <a:ea typeface="+mn-ea"/>
                <a:cs typeface="+mn-cs"/>
              </a:rPr>
              <a:t>A</a:t>
            </a:r>
            <a:r>
              <a:rPr lang="en-GB" sz="1400" dirty="0" smtClean="0">
                <a:ea typeface="+mn-ea"/>
                <a:cs typeface="+mn-cs"/>
              </a:rPr>
              <a:t> </a:t>
            </a:r>
            <a:r>
              <a:rPr lang="tr-TR" sz="1400" dirty="0" smtClean="0">
                <a:ea typeface="+mn-ea"/>
                <a:cs typeface="+mn-cs"/>
              </a:rPr>
              <a:t>seviyesindeki akım, amper seviyesinde ölçüm yapan bir ampermetre ile</a:t>
            </a:r>
            <a:r>
              <a:rPr lang="en-GB" sz="1400" dirty="0" smtClean="0">
                <a:ea typeface="+mn-ea"/>
                <a:cs typeface="+mn-cs"/>
              </a:rPr>
              <a:t> </a:t>
            </a:r>
            <a:r>
              <a:rPr lang="tr-TR" sz="1400" dirty="0" smtClean="0">
                <a:ea typeface="+mn-ea"/>
                <a:cs typeface="+mn-cs"/>
              </a:rPr>
              <a:t>ölçülemez.</a:t>
            </a:r>
          </a:p>
          <a:p>
            <a:pPr lvl="2">
              <a:defRPr/>
            </a:pPr>
            <a:r>
              <a:rPr lang="tr-TR" sz="1400" dirty="0" smtClean="0">
                <a:ea typeface="+mn-ea"/>
                <a:cs typeface="+mn-cs"/>
              </a:rPr>
              <a:t> Ampermetre ölçüm yapılacak noktaya, alıcının veya devrenin çektiği akımın</a:t>
            </a:r>
            <a:r>
              <a:rPr lang="en-GB" sz="1400" dirty="0" smtClean="0">
                <a:ea typeface="+mn-ea"/>
                <a:cs typeface="+mn-cs"/>
              </a:rPr>
              <a:t> </a:t>
            </a:r>
            <a:r>
              <a:rPr lang="tr-TR" sz="1400" dirty="0" smtClean="0">
                <a:ea typeface="+mn-ea"/>
                <a:cs typeface="+mn-cs"/>
              </a:rPr>
              <a:t>tamamı üzerinden geçecek şekilde, yani seri bağlanmalıdır</a:t>
            </a:r>
            <a:r>
              <a:rPr lang="tr-TR" sz="1600" dirty="0" smtClean="0">
                <a:ea typeface="+mn-ea"/>
                <a:cs typeface="+mn-cs"/>
              </a:rPr>
              <a:t>.</a:t>
            </a:r>
          </a:p>
          <a:p>
            <a:pPr lvl="1">
              <a:defRPr/>
            </a:pPr>
            <a:r>
              <a:rPr lang="tr-TR" sz="1600" dirty="0" smtClean="0">
                <a:ea typeface="+mn-ea"/>
                <a:cs typeface="+mn-cs"/>
              </a:rPr>
              <a:t>Enerji altında hiçbir şekilde ampermetre bağlantısı yapılmamalı ve mevcut bağlantıya</a:t>
            </a:r>
            <a:r>
              <a:rPr lang="en-GB" sz="1600" dirty="0" smtClean="0">
                <a:ea typeface="+mn-ea"/>
                <a:cs typeface="+mn-cs"/>
              </a:rPr>
              <a:t> </a:t>
            </a:r>
            <a:r>
              <a:rPr lang="tr-TR" sz="1600" dirty="0" smtClean="0">
                <a:ea typeface="+mn-ea"/>
                <a:cs typeface="+mn-cs"/>
              </a:rPr>
              <a:t>müdahale edilmemelidir.</a:t>
            </a:r>
          </a:p>
        </p:txBody>
      </p:sp>
      <p:sp>
        <p:nvSpPr>
          <p:cNvPr id="144388" name="Slide Number Placeholder 5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8DB1A131-C18E-4CCF-A7C2-A0C8A2FD424B}" type="slidenum">
              <a:rPr lang="en-US" sz="1000"/>
              <a:pPr algn="r"/>
              <a:t>132</a:t>
            </a:fld>
            <a:endParaRPr lang="en-US"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2BA47A8E-03AB-4F38-89CF-6A1FAD581E57}" type="slidenum">
              <a:rPr lang="en-US"/>
              <a:pPr/>
              <a:t>133</a:t>
            </a:fld>
            <a:endParaRPr lang="en-US"/>
          </a:p>
        </p:txBody>
      </p:sp>
      <p:sp>
        <p:nvSpPr>
          <p:cNvPr id="145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z="3600" b="1" smtClean="0"/>
              <a:t>5. AKIM ÖLÇME</a:t>
            </a:r>
          </a:p>
        </p:txBody>
      </p:sp>
      <p:sp>
        <p:nvSpPr>
          <p:cNvPr id="145411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sz="1800" b="1" smtClean="0"/>
              <a:t>5.5. Akım Trafosu Kullanarak Akım Ölçme</a:t>
            </a:r>
          </a:p>
          <a:p>
            <a:pPr lvl="1"/>
            <a:r>
              <a:rPr lang="tr-TR" sz="1600" smtClean="0"/>
              <a:t>Endüstride birçok tesiste AC elektrik enerjisi kullanılır. Bu tesislerin koruma ve</a:t>
            </a:r>
            <a:r>
              <a:rPr lang="en-GB" sz="1600" smtClean="0"/>
              <a:t> </a:t>
            </a:r>
            <a:r>
              <a:rPr lang="tr-TR" sz="1600" smtClean="0"/>
              <a:t>kontrol devrelerinde ölçü aletleri ve röleleri vardır. Bu durum yüksek gerilim ve büyük</a:t>
            </a:r>
            <a:r>
              <a:rPr lang="en-GB" sz="1600" smtClean="0"/>
              <a:t> </a:t>
            </a:r>
            <a:r>
              <a:rPr lang="tr-TR" sz="1600" smtClean="0"/>
              <a:t>akımların ölçülmesini zorunlu kılmaktadır, bu işlemin direkt olarak yapılması çok zor ve</a:t>
            </a:r>
            <a:r>
              <a:rPr lang="en-GB" sz="1600" smtClean="0"/>
              <a:t> </a:t>
            </a:r>
            <a:r>
              <a:rPr lang="tr-TR" sz="1600" smtClean="0"/>
              <a:t>tehlikelidir. Çünkü ölçü aletlerinin yüksek gerilime ve büyük akım değerlerine dayanacak</a:t>
            </a:r>
            <a:r>
              <a:rPr lang="en-GB" sz="1600" smtClean="0"/>
              <a:t> </a:t>
            </a:r>
            <a:r>
              <a:rPr lang="tr-TR" sz="1600" smtClean="0"/>
              <a:t>şekilde yapılması mümkün değildir. </a:t>
            </a:r>
            <a:endParaRPr lang="en-GB" sz="1600" smtClean="0"/>
          </a:p>
          <a:p>
            <a:pPr lvl="1"/>
            <a:r>
              <a:rPr lang="tr-TR" sz="1600" smtClean="0"/>
              <a:t>Bu gibi devrelerde belirli standartlarda yapılmış, ucuz</a:t>
            </a:r>
            <a:r>
              <a:rPr lang="en-GB" sz="1600" smtClean="0"/>
              <a:t> </a:t>
            </a:r>
            <a:r>
              <a:rPr lang="tr-TR" sz="1600" smtClean="0"/>
              <a:t>ve küçük yapılı ölçü aletleri ve kontrol cihazlarının yüksek gerilim ve büyük akımlı hatlara</a:t>
            </a:r>
            <a:r>
              <a:rPr lang="en-GB" sz="1600" smtClean="0"/>
              <a:t> </a:t>
            </a:r>
            <a:r>
              <a:rPr lang="tr-TR" sz="1600" smtClean="0"/>
              <a:t>bağlanmasını sağlayan transformatörler kullanılır. Bu transformatörlere </a:t>
            </a:r>
            <a:r>
              <a:rPr lang="tr-TR" sz="1600" b="1" smtClean="0"/>
              <a:t>ölçü</a:t>
            </a:r>
            <a:r>
              <a:rPr lang="en-GB" sz="1600" b="1" smtClean="0"/>
              <a:t> </a:t>
            </a:r>
            <a:r>
              <a:rPr lang="tr-TR" sz="1600" b="1" smtClean="0"/>
              <a:t>transformatörleri denir. </a:t>
            </a:r>
            <a:endParaRPr lang="en-GB" sz="1600" b="1" smtClean="0"/>
          </a:p>
          <a:p>
            <a:pPr lvl="1"/>
            <a:r>
              <a:rPr lang="tr-TR" sz="1600" smtClean="0"/>
              <a:t>Ölçü transformatörlerinin sekonder uçlarına ampermetre,</a:t>
            </a:r>
            <a:r>
              <a:rPr lang="en-GB" sz="1600" smtClean="0"/>
              <a:t> </a:t>
            </a:r>
            <a:r>
              <a:rPr lang="tr-TR" sz="1600" smtClean="0"/>
              <a:t>voltmetre, wattmetre, sayaç ve koruma röleleri bağlanır. Ölçü transformatörleri iki kısma</a:t>
            </a:r>
            <a:r>
              <a:rPr lang="en-GB" sz="1600" smtClean="0"/>
              <a:t> </a:t>
            </a:r>
            <a:r>
              <a:rPr lang="tr-TR" sz="1600" smtClean="0"/>
              <a:t>ayrılır:</a:t>
            </a:r>
          </a:p>
          <a:p>
            <a:pPr lvl="2"/>
            <a:r>
              <a:rPr lang="tr-TR" sz="1600" b="1" smtClean="0"/>
              <a:t>Akım transformatörleri</a:t>
            </a:r>
          </a:p>
          <a:p>
            <a:pPr lvl="2"/>
            <a:r>
              <a:rPr lang="tr-TR" sz="1600" b="1" smtClean="0"/>
              <a:t>Gerilim transformatörleri</a:t>
            </a:r>
          </a:p>
          <a:p>
            <a:pPr lvl="1"/>
            <a:r>
              <a:rPr lang="tr-TR" sz="1600" smtClean="0"/>
              <a:t>Gerilim transformatörleri çok yüksek gerilimlerin ölçülmesinde kullanıldığından</a:t>
            </a:r>
            <a:r>
              <a:rPr lang="en-GB" sz="1600" smtClean="0"/>
              <a:t> </a:t>
            </a:r>
            <a:r>
              <a:rPr lang="tr-TR" sz="1600" smtClean="0"/>
              <a:t>burada değinilmeyecektir.</a:t>
            </a:r>
          </a:p>
        </p:txBody>
      </p:sp>
      <p:sp>
        <p:nvSpPr>
          <p:cNvPr id="145412" name="Slide Number Placeholder 4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39B7F53F-4DA0-44C2-B4C0-B0EE14CAE1FE}" type="slidenum">
              <a:rPr lang="en-US" sz="1000"/>
              <a:pPr algn="r"/>
              <a:t>133</a:t>
            </a:fld>
            <a:endParaRPr lang="en-US"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C13A2C4A-2BF9-4AA3-AF59-18BF3730C64B}" type="slidenum">
              <a:rPr lang="en-US"/>
              <a:pPr/>
              <a:t>134</a:t>
            </a:fld>
            <a:endParaRPr lang="en-US"/>
          </a:p>
        </p:txBody>
      </p:sp>
      <p:sp>
        <p:nvSpPr>
          <p:cNvPr id="146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z="3600" b="1" smtClean="0"/>
              <a:t>5. AKIM ÖLÇME</a:t>
            </a:r>
          </a:p>
        </p:txBody>
      </p:sp>
      <p:sp>
        <p:nvSpPr>
          <p:cNvPr id="146435" name="Content Placeholder 3"/>
          <p:cNvSpPr>
            <a:spLocks noGrp="1"/>
          </p:cNvSpPr>
          <p:nvPr>
            <p:ph idx="1"/>
          </p:nvPr>
        </p:nvSpPr>
        <p:spPr>
          <a:xfrm>
            <a:off x="949325" y="1714500"/>
            <a:ext cx="7661275" cy="4114800"/>
          </a:xfrm>
        </p:spPr>
        <p:txBody>
          <a:bodyPr/>
          <a:lstStyle/>
          <a:p>
            <a:r>
              <a:rPr lang="tr-TR" sz="1800" b="1" smtClean="0"/>
              <a:t>5.5.1. Akım Transformatörleri</a:t>
            </a:r>
          </a:p>
          <a:p>
            <a:pPr lvl="1"/>
            <a:r>
              <a:rPr lang="tr-TR" sz="1600" smtClean="0"/>
              <a:t>Büyük değerli akımların ölçülmesinde akım transformatörleri kullanılır. Akım</a:t>
            </a:r>
            <a:r>
              <a:rPr lang="en-GB" sz="1600" smtClean="0"/>
              <a:t> </a:t>
            </a:r>
            <a:r>
              <a:rPr lang="tr-TR" sz="1600" smtClean="0"/>
              <a:t>transformatörlerinin primer sargısından ölçülecek akım sekonder sargısından ise ölçü aleti</a:t>
            </a:r>
            <a:r>
              <a:rPr lang="en-GB" sz="1600" smtClean="0"/>
              <a:t> </a:t>
            </a:r>
            <a:r>
              <a:rPr lang="tr-TR" sz="1600" smtClean="0"/>
              <a:t>akımı geçer. </a:t>
            </a:r>
            <a:endParaRPr lang="en-GB" sz="1600" smtClean="0"/>
          </a:p>
          <a:p>
            <a:pPr lvl="1"/>
            <a:r>
              <a:rPr lang="tr-TR" sz="1600" smtClean="0"/>
              <a:t>Örneğin, 100/5 dönüştürme oranına sahip bir transformatörün primer</a:t>
            </a:r>
            <a:r>
              <a:rPr lang="en-GB" sz="1600" smtClean="0"/>
              <a:t> </a:t>
            </a:r>
            <a:r>
              <a:rPr lang="tr-TR" sz="1600" smtClean="0"/>
              <a:t>sargısından 100 A akım geçerken sekonder sargısından ve sekonder sargısına bağlı ölçü</a:t>
            </a:r>
            <a:r>
              <a:rPr lang="en-GB" sz="1600" smtClean="0"/>
              <a:t> </a:t>
            </a:r>
            <a:r>
              <a:rPr lang="tr-TR" sz="1600" smtClean="0"/>
              <a:t>aletinden 5 A akım geçer. Dijital ampermetrelerde 5 A’lik sekonder akımı ölçü aletinden</a:t>
            </a:r>
            <a:r>
              <a:rPr lang="en-GB" sz="1600" smtClean="0"/>
              <a:t> </a:t>
            </a:r>
            <a:r>
              <a:rPr lang="tr-TR" sz="1600" smtClean="0"/>
              <a:t>geçtiğinde, ölçü aletine girilen akım transformatörü oranı 100/5 olarak ayarlanmış ise ölçü</a:t>
            </a:r>
            <a:r>
              <a:rPr lang="en-GB" sz="1600" smtClean="0"/>
              <a:t> </a:t>
            </a:r>
            <a:r>
              <a:rPr lang="tr-TR" sz="1600" smtClean="0"/>
              <a:t>aleti gösterge ekranında 100 A akım değeri gösterir. </a:t>
            </a:r>
            <a:endParaRPr lang="en-GB" sz="1600" smtClean="0"/>
          </a:p>
          <a:p>
            <a:pPr lvl="1"/>
            <a:r>
              <a:rPr lang="tr-TR" sz="1600" smtClean="0"/>
              <a:t>Burada akım transformatörünün görevi</a:t>
            </a:r>
            <a:r>
              <a:rPr lang="en-GB" sz="1600" smtClean="0"/>
              <a:t> </a:t>
            </a:r>
            <a:r>
              <a:rPr lang="tr-TR" sz="1600" smtClean="0"/>
              <a:t>büyük değerli akımı ölçü aletini tehlikeye sokmayacak değere düşürerek güvenli ölçme</a:t>
            </a:r>
            <a:r>
              <a:rPr lang="en-GB" sz="1600" smtClean="0"/>
              <a:t> </a:t>
            </a:r>
            <a:r>
              <a:rPr lang="tr-TR" sz="1600" smtClean="0"/>
              <a:t>sağlamaktır.</a:t>
            </a:r>
            <a:endParaRPr lang="en-GB" sz="1600" smtClean="0"/>
          </a:p>
          <a:p>
            <a:pPr lvl="1"/>
            <a:r>
              <a:rPr lang="tr-TR" sz="1600" smtClean="0"/>
              <a:t> Akım transformatörlerinin primer uçları K-L, sekonder uçları k-l olarak</a:t>
            </a:r>
            <a:r>
              <a:rPr lang="en-GB" sz="1600" smtClean="0"/>
              <a:t> </a:t>
            </a:r>
            <a:r>
              <a:rPr lang="tr-TR" sz="1600" smtClean="0"/>
              <a:t>gösterilir. Akım transformatörleri, hassasiyet sınıfı ve dönüştürme oranlarına göre seçilerek</a:t>
            </a:r>
            <a:r>
              <a:rPr lang="en-GB" sz="1600" smtClean="0"/>
              <a:t> </a:t>
            </a:r>
            <a:r>
              <a:rPr lang="tr-TR" sz="1600" smtClean="0"/>
              <a:t>kullanılır. </a:t>
            </a:r>
            <a:endParaRPr lang="en-GB" sz="1600" smtClean="0"/>
          </a:p>
          <a:p>
            <a:pPr lvl="1"/>
            <a:r>
              <a:rPr lang="tr-TR" sz="1600" smtClean="0"/>
              <a:t>Akım transformatörlerinde sekonder sargı uçları açık bırakılmamalıdır. Bu durum</a:t>
            </a:r>
            <a:r>
              <a:rPr lang="en-GB" sz="1600" smtClean="0"/>
              <a:t> </a:t>
            </a:r>
            <a:r>
              <a:rPr lang="tr-TR" sz="1600" smtClean="0"/>
              <a:t>akım trafosunun yanarak kullanılmaz hale gelmesine neden olabilir. 1000 A kadar akım</a:t>
            </a:r>
            <a:r>
              <a:rPr lang="en-GB" sz="1600" smtClean="0"/>
              <a:t> </a:t>
            </a:r>
            <a:r>
              <a:rPr lang="tr-TR" sz="1600" smtClean="0"/>
              <a:t>transformatörleri aşağıda verilmiştir:</a:t>
            </a:r>
          </a:p>
          <a:p>
            <a:pPr lvl="1"/>
            <a:r>
              <a:rPr lang="tr-TR" sz="1600" smtClean="0"/>
              <a:t>10-15-20-30-50-75-100-150-200-300-400-600-800-1000 / 5 şeklindedir.</a:t>
            </a:r>
          </a:p>
        </p:txBody>
      </p:sp>
      <p:sp>
        <p:nvSpPr>
          <p:cNvPr id="146436" name="Slide Number Placeholder 4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C41DD590-41BC-4CC7-8054-9A4EA31731F5}" type="slidenum">
              <a:rPr lang="en-US" sz="1000"/>
              <a:pPr algn="r"/>
              <a:t>134</a:t>
            </a:fld>
            <a:endParaRPr lang="en-US"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1473BA56-B383-4C27-B11B-09CABFC05143}" type="slidenum">
              <a:rPr lang="en-US"/>
              <a:pPr/>
              <a:t>135</a:t>
            </a:fld>
            <a:endParaRPr lang="en-US"/>
          </a:p>
        </p:txBody>
      </p:sp>
      <p:sp>
        <p:nvSpPr>
          <p:cNvPr id="147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z="3600" b="1" smtClean="0"/>
              <a:t>5. AKIM ÖLÇME</a:t>
            </a:r>
          </a:p>
        </p:txBody>
      </p:sp>
      <p:sp>
        <p:nvSpPr>
          <p:cNvPr id="147459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endParaRPr lang="en-GB" smtClean="0"/>
          </a:p>
          <a:p>
            <a:pPr>
              <a:buFont typeface="Wingdings" pitchFamily="2" charset="2"/>
              <a:buNone/>
            </a:pPr>
            <a:endParaRPr lang="en-GB" smtClean="0"/>
          </a:p>
          <a:p>
            <a:pPr>
              <a:buFont typeface="Wingdings" pitchFamily="2" charset="2"/>
              <a:buNone/>
            </a:pPr>
            <a:endParaRPr lang="en-GB" smtClean="0"/>
          </a:p>
          <a:p>
            <a:pPr>
              <a:buFont typeface="Wingdings" pitchFamily="2" charset="2"/>
              <a:buNone/>
            </a:pPr>
            <a:endParaRPr lang="en-GB" smtClean="0"/>
          </a:p>
          <a:p>
            <a:pPr>
              <a:buFont typeface="Wingdings" pitchFamily="2" charset="2"/>
              <a:buNone/>
            </a:pPr>
            <a:endParaRPr lang="en-GB" smtClean="0"/>
          </a:p>
          <a:p>
            <a:r>
              <a:rPr lang="tr-TR" sz="2000" smtClean="0"/>
              <a:t>Akım transformatörünün primeri, akım değeri ölçülecek enerji hattına; sekonder uçları</a:t>
            </a:r>
            <a:r>
              <a:rPr lang="en-GB" sz="2000" smtClean="0"/>
              <a:t> </a:t>
            </a:r>
            <a:r>
              <a:rPr lang="tr-TR" sz="2000" smtClean="0"/>
              <a:t>da ölçü aleti uçlarına bağlanmalıdır. </a:t>
            </a:r>
            <a:endParaRPr lang="en-GB" sz="2000" smtClean="0"/>
          </a:p>
          <a:p>
            <a:r>
              <a:rPr lang="tr-TR" sz="2000" smtClean="0"/>
              <a:t>Ayrıca sekonder sargı uçlarından birinin mutlaka</a:t>
            </a:r>
            <a:r>
              <a:rPr lang="en-GB" sz="2000" smtClean="0"/>
              <a:t> </a:t>
            </a:r>
            <a:r>
              <a:rPr lang="tr-TR" sz="2000" smtClean="0"/>
              <a:t>topraklaması gerekir.</a:t>
            </a:r>
          </a:p>
          <a:p>
            <a:pPr>
              <a:buFont typeface="Wingdings" pitchFamily="2" charset="2"/>
              <a:buNone/>
            </a:pPr>
            <a:endParaRPr lang="tr-TR" smtClean="0"/>
          </a:p>
        </p:txBody>
      </p:sp>
      <p:sp>
        <p:nvSpPr>
          <p:cNvPr id="147460" name="Slide Number Placeholder 5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FB648720-82C4-4FE2-A1D5-AC961EB7F92A}" type="slidenum">
              <a:rPr lang="en-US" sz="1000"/>
              <a:pPr algn="r"/>
              <a:t>135</a:t>
            </a:fld>
            <a:endParaRPr lang="en-US" sz="1000"/>
          </a:p>
        </p:txBody>
      </p:sp>
      <p:pic>
        <p:nvPicPr>
          <p:cNvPr id="147461" name="Picture 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71688" y="2071688"/>
            <a:ext cx="1095375" cy="169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7462" name="Picture 8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938588" y="2214563"/>
            <a:ext cx="1419225" cy="169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7463" name="Rectangle 8"/>
          <p:cNvSpPr>
            <a:spLocks noChangeArrowheads="1"/>
          </p:cNvSpPr>
          <p:nvPr/>
        </p:nvSpPr>
        <p:spPr bwMode="auto">
          <a:xfrm>
            <a:off x="1928813" y="3987800"/>
            <a:ext cx="3881437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/>
              <a:t>Resim 5.2: Akım transformatörleri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50465EE7-C29B-4BA7-B458-55698402070C}" type="slidenum">
              <a:rPr lang="en-US"/>
              <a:pPr/>
              <a:t>136</a:t>
            </a:fld>
            <a:endParaRPr lang="en-US"/>
          </a:p>
        </p:txBody>
      </p:sp>
      <p:sp>
        <p:nvSpPr>
          <p:cNvPr id="148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z="3600" b="1" smtClean="0"/>
              <a:t>5. AKIM ÖLÇME</a:t>
            </a:r>
          </a:p>
        </p:txBody>
      </p:sp>
      <p:sp>
        <p:nvSpPr>
          <p:cNvPr id="148483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sz="1800" b="1" smtClean="0"/>
              <a:t>5.6. Pens Ampermetreler</a:t>
            </a:r>
          </a:p>
          <a:p>
            <a:pPr lvl="1"/>
            <a:r>
              <a:rPr lang="tr-TR" sz="1600" smtClean="0"/>
              <a:t>Pens ampermetreler dijital ve analog olmak üzere çeşitli tipte, değişik özelliklere</a:t>
            </a:r>
            <a:r>
              <a:rPr lang="en-GB" sz="1600" smtClean="0"/>
              <a:t> </a:t>
            </a:r>
            <a:r>
              <a:rPr lang="tr-TR" sz="1600" smtClean="0"/>
              <a:t>sahip olacak şekilde üretilmektedir. Pens ampermetreler, akım ölçme işlemini daha pratik</a:t>
            </a:r>
            <a:r>
              <a:rPr lang="en-GB" sz="1600" smtClean="0"/>
              <a:t> </a:t>
            </a:r>
            <a:r>
              <a:rPr lang="tr-TR" sz="1600" smtClean="0"/>
              <a:t>hale getirmek için ampermetre ve akım trafosu aynı gövde içerisinde birleştirilerek</a:t>
            </a:r>
            <a:r>
              <a:rPr lang="en-GB" sz="1600" smtClean="0"/>
              <a:t> </a:t>
            </a:r>
            <a:r>
              <a:rPr lang="tr-TR" sz="1600" smtClean="0"/>
              <a:t>oluşturulmuş ölçü aletleridir. </a:t>
            </a:r>
            <a:endParaRPr lang="en-GB" sz="1600" smtClean="0"/>
          </a:p>
          <a:p>
            <a:pPr lvl="1"/>
            <a:r>
              <a:rPr lang="tr-TR" sz="1600" smtClean="0"/>
              <a:t>Aletin gövdesinden dışarı doğru açılan demir nüvesi, pens gibi</a:t>
            </a:r>
            <a:r>
              <a:rPr lang="en-GB" sz="1600" smtClean="0"/>
              <a:t> </a:t>
            </a:r>
            <a:r>
              <a:rPr lang="tr-TR" sz="1600" smtClean="0"/>
              <a:t>açılıp kapanacak şekilde yapılmıştır. Böylece akımı ölçülecek iletken kesilmeden pens</a:t>
            </a:r>
            <a:r>
              <a:rPr lang="en-GB" sz="1600" smtClean="0"/>
              <a:t> </a:t>
            </a:r>
            <a:r>
              <a:rPr lang="tr-TR" sz="1600" smtClean="0"/>
              <a:t>içerisine alınır.</a:t>
            </a:r>
            <a:endParaRPr lang="en-GB" sz="1600" smtClean="0"/>
          </a:p>
          <a:p>
            <a:pPr lvl="1"/>
            <a:r>
              <a:rPr lang="tr-TR" sz="1600" smtClean="0"/>
              <a:t>Pens içerisindeki iletken tek sipirlik primer sargı görevi görerek etrafında</a:t>
            </a:r>
            <a:r>
              <a:rPr lang="en-GB" sz="1600" smtClean="0"/>
              <a:t> </a:t>
            </a:r>
            <a:r>
              <a:rPr lang="tr-TR" sz="1600" smtClean="0"/>
              <a:t>oluşan manyetik alan pens şeklindeki nüveden geçerek alet içerisindeki sekonder sargıda bir</a:t>
            </a:r>
            <a:r>
              <a:rPr lang="en-GB" sz="1600" smtClean="0"/>
              <a:t> </a:t>
            </a:r>
            <a:r>
              <a:rPr lang="tr-TR" sz="1600" smtClean="0"/>
              <a:t>gerilim meydana getirir ve akım değeri bu şekilde tespit edilir. </a:t>
            </a:r>
            <a:endParaRPr lang="en-GB" sz="1600" smtClean="0"/>
          </a:p>
          <a:p>
            <a:pPr lvl="1"/>
            <a:r>
              <a:rPr lang="tr-TR" sz="1600" smtClean="0"/>
              <a:t>Pens ampermetrelerde pens</a:t>
            </a:r>
            <a:r>
              <a:rPr lang="en-GB" sz="1600" smtClean="0"/>
              <a:t> </a:t>
            </a:r>
            <a:r>
              <a:rPr lang="tr-TR" sz="1600" smtClean="0"/>
              <a:t>içerisine yalnız akımı ölçülecek iletken alınmalıdır. </a:t>
            </a:r>
            <a:endParaRPr lang="en-GB" sz="1600" smtClean="0"/>
          </a:p>
          <a:p>
            <a:pPr lvl="1"/>
            <a:r>
              <a:rPr lang="tr-TR" sz="1600" smtClean="0"/>
              <a:t>Pens içerisinde birden fazla iletken</a:t>
            </a:r>
            <a:r>
              <a:rPr lang="en-GB" sz="1600" smtClean="0"/>
              <a:t> </a:t>
            </a:r>
            <a:r>
              <a:rPr lang="tr-TR" sz="1600" smtClean="0"/>
              <a:t>alınırsa ölçülen akım değeri şu şekilde yorumlanmalıdır. </a:t>
            </a:r>
            <a:endParaRPr lang="en-GB" sz="1600" smtClean="0"/>
          </a:p>
          <a:p>
            <a:pPr lvl="1"/>
            <a:r>
              <a:rPr lang="tr-TR" sz="1600" smtClean="0"/>
              <a:t>İletkenlerden aynı yönde akım</a:t>
            </a:r>
            <a:r>
              <a:rPr lang="en-GB" sz="1600" smtClean="0"/>
              <a:t> </a:t>
            </a:r>
            <a:r>
              <a:rPr lang="tr-TR" sz="1600" smtClean="0"/>
              <a:t>geçiyor ise ölçülen değer bu akımların toplamına, zıt yönlü akım geçiyor ise farkına eşittir.</a:t>
            </a:r>
          </a:p>
        </p:txBody>
      </p:sp>
      <p:sp>
        <p:nvSpPr>
          <p:cNvPr id="148484" name="Slide Number Placeholder 4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4505D755-0499-4639-A39D-20CAA80D5C02}" type="slidenum">
              <a:rPr lang="en-US" sz="1000"/>
              <a:pPr algn="r"/>
              <a:t>136</a:t>
            </a:fld>
            <a:endParaRPr lang="en-US"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D7F7175E-C3EB-4D81-9D8F-905AE66B803A}" type="slidenum">
              <a:rPr lang="en-US"/>
              <a:pPr/>
              <a:t>137</a:t>
            </a:fld>
            <a:endParaRPr lang="en-US"/>
          </a:p>
        </p:txBody>
      </p:sp>
      <p:sp>
        <p:nvSpPr>
          <p:cNvPr id="149506" name="Rectangle 2"/>
          <p:cNvSpPr>
            <a:spLocks noGrp="1" noChangeArrowheads="1"/>
          </p:cNvSpPr>
          <p:nvPr>
            <p:ph type="title"/>
          </p:nvPr>
        </p:nvSpPr>
        <p:spPr>
          <a:xfrm>
            <a:off x="928688" y="0"/>
            <a:ext cx="7158037" cy="1412875"/>
          </a:xfrm>
        </p:spPr>
        <p:txBody>
          <a:bodyPr/>
          <a:lstStyle/>
          <a:p>
            <a:pPr eaLnBrk="1" hangingPunct="1"/>
            <a:r>
              <a:rPr lang="en-GB" sz="3600" b="1" smtClean="0"/>
              <a:t>UYGULAMA</a:t>
            </a:r>
            <a:r>
              <a:rPr lang="tr-TR" sz="3600" b="1" smtClean="0"/>
              <a:t> FAALİYETİ</a:t>
            </a:r>
          </a:p>
        </p:txBody>
      </p:sp>
      <p:sp>
        <p:nvSpPr>
          <p:cNvPr id="149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8688" y="1785938"/>
            <a:ext cx="7661275" cy="4876800"/>
          </a:xfrm>
        </p:spPr>
        <p:txBody>
          <a:bodyPr/>
          <a:lstStyle/>
          <a:p>
            <a:r>
              <a:rPr lang="tr-TR" sz="1800" smtClean="0"/>
              <a:t>Aşağıda verilen şemaya göre gerekli ampermetre, araç ve gereçleri seçerek bağlantıyı</a:t>
            </a:r>
            <a:r>
              <a:rPr lang="en-GB" sz="1800" smtClean="0"/>
              <a:t> </a:t>
            </a:r>
            <a:r>
              <a:rPr lang="tr-TR" sz="1800" smtClean="0"/>
              <a:t>kurun. </a:t>
            </a:r>
            <a:endParaRPr lang="en-GB" sz="1800" smtClean="0"/>
          </a:p>
          <a:p>
            <a:r>
              <a:rPr lang="tr-TR" sz="1800" smtClean="0"/>
              <a:t>Öğretmeninizin gözetiminde devreye enerji verip reosta direncini değiştirerek</a:t>
            </a:r>
            <a:r>
              <a:rPr lang="en-GB" sz="1800" smtClean="0"/>
              <a:t> </a:t>
            </a:r>
            <a:r>
              <a:rPr lang="tr-TR" sz="1800" smtClean="0"/>
              <a:t>ampermetrede okuduğunuz değerleri çizelgeye yazınız. Aynı bağlantıyı doğru akım kaynağı</a:t>
            </a:r>
            <a:r>
              <a:rPr lang="en-GB" sz="1800" smtClean="0"/>
              <a:t> </a:t>
            </a:r>
            <a:r>
              <a:rPr lang="tr-TR" sz="1800" smtClean="0"/>
              <a:t>ve ampermetresi kullanarak da yapıp bağlantı açısından bir fark olmadığını görebilirsiniz.</a:t>
            </a:r>
          </a:p>
        </p:txBody>
      </p:sp>
      <p:sp>
        <p:nvSpPr>
          <p:cNvPr id="149508" name="Slide Number Placeholder 5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622F1137-9BCC-4247-86CF-D8E9798AFCD7}" type="slidenum">
              <a:rPr lang="en-US" sz="1000"/>
              <a:pPr algn="r"/>
              <a:t>137</a:t>
            </a:fld>
            <a:endParaRPr lang="en-US" sz="1000"/>
          </a:p>
        </p:txBody>
      </p:sp>
      <p:pic>
        <p:nvPicPr>
          <p:cNvPr id="149509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14500" y="3643313"/>
            <a:ext cx="4286250" cy="2628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9510" name="Rectangle 6"/>
          <p:cNvSpPr>
            <a:spLocks noChangeArrowheads="1"/>
          </p:cNvSpPr>
          <p:nvPr/>
        </p:nvSpPr>
        <p:spPr bwMode="auto">
          <a:xfrm>
            <a:off x="6143625" y="3786188"/>
            <a:ext cx="2428875" cy="92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tr-TR" b="1"/>
              <a:t>Resim 5.3: Ampermetre ile alıcı akımını ölçmek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FC9F1A19-5D11-4D6F-9A1A-B168C8EC8781}" type="slidenum">
              <a:rPr lang="en-US"/>
              <a:pPr/>
              <a:t>138</a:t>
            </a:fld>
            <a:endParaRPr lang="en-US"/>
          </a:p>
        </p:txBody>
      </p:sp>
      <p:sp>
        <p:nvSpPr>
          <p:cNvPr id="150530" name="Rectangle 2"/>
          <p:cNvSpPr>
            <a:spLocks noGrp="1" noChangeArrowheads="1"/>
          </p:cNvSpPr>
          <p:nvPr>
            <p:ph type="title"/>
          </p:nvPr>
        </p:nvSpPr>
        <p:spPr>
          <a:xfrm>
            <a:off x="928688" y="0"/>
            <a:ext cx="7158037" cy="1412875"/>
          </a:xfrm>
        </p:spPr>
        <p:txBody>
          <a:bodyPr/>
          <a:lstStyle/>
          <a:p>
            <a:pPr eaLnBrk="1" hangingPunct="1"/>
            <a:r>
              <a:rPr lang="en-GB" sz="3600" b="1" smtClean="0"/>
              <a:t>UYGULAMA</a:t>
            </a:r>
            <a:r>
              <a:rPr lang="tr-TR" sz="3600" b="1" smtClean="0"/>
              <a:t> FAALİYETİ</a:t>
            </a:r>
          </a:p>
        </p:txBody>
      </p:sp>
      <p:sp>
        <p:nvSpPr>
          <p:cNvPr id="150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8688" y="1785938"/>
            <a:ext cx="7661275" cy="48768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sz="2400" smtClean="0"/>
              <a:t>  </a:t>
            </a:r>
          </a:p>
        </p:txBody>
      </p:sp>
      <p:pic>
        <p:nvPicPr>
          <p:cNvPr id="15053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2938" y="1981200"/>
            <a:ext cx="6629400" cy="289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0533" name="Slide Number Placeholder 4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1186DD75-4A89-4375-8A5B-19570583634C}" type="slidenum">
              <a:rPr lang="en-US" sz="1000"/>
              <a:pPr algn="r"/>
              <a:t>138</a:t>
            </a:fld>
            <a:endParaRPr lang="en-US"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17F2B02E-E19E-4152-B104-9A5FBD5A8F1C}" type="slidenum">
              <a:rPr lang="en-US"/>
              <a:pPr/>
              <a:t>139</a:t>
            </a:fld>
            <a:endParaRPr lang="en-US"/>
          </a:p>
        </p:txBody>
      </p:sp>
      <p:sp>
        <p:nvSpPr>
          <p:cNvPr id="151554" name="Rectangle 2"/>
          <p:cNvSpPr>
            <a:spLocks noGrp="1" noChangeArrowheads="1"/>
          </p:cNvSpPr>
          <p:nvPr>
            <p:ph type="title"/>
          </p:nvPr>
        </p:nvSpPr>
        <p:spPr>
          <a:xfrm>
            <a:off x="928688" y="0"/>
            <a:ext cx="7158037" cy="1412875"/>
          </a:xfrm>
        </p:spPr>
        <p:txBody>
          <a:bodyPr/>
          <a:lstStyle/>
          <a:p>
            <a:pPr eaLnBrk="1" hangingPunct="1"/>
            <a:r>
              <a:rPr lang="en-GB" sz="3600" b="1" smtClean="0"/>
              <a:t>UYGULAMA</a:t>
            </a:r>
            <a:r>
              <a:rPr lang="tr-TR" sz="3600" b="1" smtClean="0"/>
              <a:t> FAALİYETİ</a:t>
            </a:r>
          </a:p>
        </p:txBody>
      </p:sp>
      <p:sp>
        <p:nvSpPr>
          <p:cNvPr id="151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8688" y="1785938"/>
            <a:ext cx="7661275" cy="48768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sz="2400" smtClean="0"/>
              <a:t>  </a:t>
            </a:r>
          </a:p>
        </p:txBody>
      </p:sp>
      <p:pic>
        <p:nvPicPr>
          <p:cNvPr id="15155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8163" y="1895475"/>
            <a:ext cx="8067675" cy="3067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1557" name="Slide Number Placeholder 4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BE82335B-6F3A-4EFB-A0AF-F9CD97DCCECF}" type="slidenum">
              <a:rPr lang="en-US" sz="1000"/>
              <a:pPr algn="r"/>
              <a:t>139</a:t>
            </a:fld>
            <a:endParaRPr lang="en-US"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6559D872-EB8A-45AA-BE2F-61A796EA7DA9}" type="slidenum">
              <a:rPr lang="en-US"/>
              <a:pPr/>
              <a:t>140</a:t>
            </a:fld>
            <a:endParaRPr lang="en-US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title"/>
          </p:nvPr>
        </p:nvSpPr>
        <p:spPr>
          <a:xfrm>
            <a:off x="928688" y="0"/>
            <a:ext cx="7158037" cy="1412875"/>
          </a:xfrm>
        </p:spPr>
        <p:txBody>
          <a:bodyPr/>
          <a:lstStyle/>
          <a:p>
            <a:pPr eaLnBrk="1" hangingPunct="1"/>
            <a:r>
              <a:rPr lang="en-GB" sz="3600" b="1" smtClean="0"/>
              <a:t>UYGULAMA</a:t>
            </a:r>
            <a:r>
              <a:rPr lang="tr-TR" sz="3600" b="1" smtClean="0"/>
              <a:t> FAALİYETİ</a:t>
            </a:r>
          </a:p>
        </p:txBody>
      </p:sp>
      <p:sp>
        <p:nvSpPr>
          <p:cNvPr id="152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8688" y="1785938"/>
            <a:ext cx="7661275" cy="4876800"/>
          </a:xfrm>
        </p:spPr>
        <p:txBody>
          <a:bodyPr/>
          <a:lstStyle/>
          <a:p>
            <a:r>
              <a:rPr lang="tr-TR" sz="2000" b="1" smtClean="0"/>
              <a:t>İşlem Basamakları</a:t>
            </a:r>
            <a:endParaRPr lang="en-GB" sz="2000" b="1" smtClean="0"/>
          </a:p>
          <a:p>
            <a:pPr lvl="1"/>
            <a:r>
              <a:rPr lang="tr-TR" sz="2000" smtClean="0"/>
              <a:t>Ölçülecek akıma uygun</a:t>
            </a:r>
            <a:r>
              <a:rPr lang="en-GB" sz="2000" smtClean="0"/>
              <a:t> </a:t>
            </a:r>
            <a:r>
              <a:rPr lang="tr-TR" sz="2000" smtClean="0"/>
              <a:t>ampermetre ve devre</a:t>
            </a:r>
            <a:r>
              <a:rPr lang="en-GB" sz="2000" smtClean="0"/>
              <a:t> </a:t>
            </a:r>
            <a:r>
              <a:rPr lang="tr-TR" sz="2000" smtClean="0"/>
              <a:t>elemanlarını seçiniz.</a:t>
            </a:r>
            <a:endParaRPr lang="en-GB" sz="2000" smtClean="0"/>
          </a:p>
          <a:p>
            <a:pPr lvl="1"/>
            <a:r>
              <a:rPr lang="tr-TR" sz="2000" smtClean="0"/>
              <a:t>Analog ampermetre ile ölçüm</a:t>
            </a:r>
            <a:r>
              <a:rPr lang="en-GB" sz="2000" smtClean="0"/>
              <a:t> </a:t>
            </a:r>
            <a:r>
              <a:rPr lang="tr-TR" sz="2000" smtClean="0"/>
              <a:t>yapılacaksa sıfır ayarını yap.</a:t>
            </a:r>
            <a:endParaRPr lang="en-GB" sz="2000" smtClean="0"/>
          </a:p>
          <a:p>
            <a:pPr lvl="1"/>
            <a:r>
              <a:rPr lang="tr-TR" sz="2000" smtClean="0"/>
              <a:t>Ampermetreyi ölçülecek akım</a:t>
            </a:r>
            <a:r>
              <a:rPr lang="en-GB" sz="2000" smtClean="0"/>
              <a:t> </a:t>
            </a:r>
            <a:r>
              <a:rPr lang="tr-TR" sz="2000" smtClean="0"/>
              <a:t>değerine uygun kademeye getir.</a:t>
            </a:r>
            <a:endParaRPr lang="en-GB" sz="2000" smtClean="0"/>
          </a:p>
          <a:p>
            <a:pPr lvl="1"/>
            <a:r>
              <a:rPr lang="tr-TR" sz="2000" smtClean="0"/>
              <a:t>Ampermetrenin bağlantısını</a:t>
            </a:r>
            <a:r>
              <a:rPr lang="en-GB" sz="2000" smtClean="0"/>
              <a:t> </a:t>
            </a:r>
            <a:r>
              <a:rPr lang="tr-TR" sz="2000" smtClean="0"/>
              <a:t>yap.</a:t>
            </a:r>
            <a:endParaRPr lang="en-GB" sz="2000" smtClean="0"/>
          </a:p>
          <a:p>
            <a:pPr lvl="1"/>
            <a:r>
              <a:rPr lang="tr-TR" sz="2000" smtClean="0"/>
              <a:t>Ampermetrenin bağlantısını</a:t>
            </a:r>
            <a:r>
              <a:rPr lang="en-GB" sz="2000" smtClean="0"/>
              <a:t> </a:t>
            </a:r>
            <a:r>
              <a:rPr lang="tr-TR" sz="2000" smtClean="0"/>
              <a:t>kontrol ettikten sonra devreye</a:t>
            </a:r>
            <a:r>
              <a:rPr lang="en-GB" sz="2000" smtClean="0"/>
              <a:t> </a:t>
            </a:r>
            <a:r>
              <a:rPr lang="tr-TR" sz="2000" smtClean="0"/>
              <a:t>enerji ver.</a:t>
            </a:r>
            <a:endParaRPr lang="en-GB" sz="2000" smtClean="0"/>
          </a:p>
          <a:p>
            <a:pPr lvl="1"/>
            <a:r>
              <a:rPr lang="tr-TR" sz="2000" smtClean="0"/>
              <a:t>Reosta direncini değiştirip akım</a:t>
            </a:r>
            <a:r>
              <a:rPr lang="en-GB" sz="2000" smtClean="0"/>
              <a:t> </a:t>
            </a:r>
            <a:r>
              <a:rPr lang="tr-TR" sz="2000" smtClean="0"/>
              <a:t>değerlerini ölçerek aşağıdaki</a:t>
            </a:r>
            <a:r>
              <a:rPr lang="en-GB" sz="2000" smtClean="0"/>
              <a:t> </a:t>
            </a:r>
            <a:r>
              <a:rPr lang="tr-TR" sz="2000" smtClean="0"/>
              <a:t>çizelgeye yaz.</a:t>
            </a:r>
          </a:p>
          <a:p>
            <a:endParaRPr lang="tr-TR" sz="2400" smtClean="0"/>
          </a:p>
          <a:p>
            <a:endParaRPr lang="tr-TR" sz="2400" smtClean="0"/>
          </a:p>
          <a:p>
            <a:endParaRPr lang="tr-TR" sz="2400" smtClean="0"/>
          </a:p>
          <a:p>
            <a:endParaRPr lang="tr-TR" sz="2400" smtClean="0"/>
          </a:p>
          <a:p>
            <a:endParaRPr lang="tr-TR" sz="2400" smtClean="0"/>
          </a:p>
          <a:p>
            <a:endParaRPr lang="tr-TR" sz="2400" b="1" smtClean="0"/>
          </a:p>
        </p:txBody>
      </p:sp>
      <p:sp>
        <p:nvSpPr>
          <p:cNvPr id="152580" name="Slide Number Placeholder 4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BA7B5BC9-73DB-45FD-81E7-756AB12527BC}" type="slidenum">
              <a:rPr lang="en-US" sz="1000"/>
              <a:pPr algn="r"/>
              <a:t>140</a:t>
            </a:fld>
            <a:endParaRPr lang="en-US"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E43782C3-C9C5-401C-86E3-181B86FEDA49}" type="slidenum">
              <a:rPr lang="en-US"/>
              <a:pPr/>
              <a:t>141</a:t>
            </a:fld>
            <a:endParaRPr lang="en-US"/>
          </a:p>
        </p:txBody>
      </p:sp>
      <p:sp>
        <p:nvSpPr>
          <p:cNvPr id="153602" name="Rectangle 2"/>
          <p:cNvSpPr>
            <a:spLocks noGrp="1" noChangeArrowheads="1"/>
          </p:cNvSpPr>
          <p:nvPr>
            <p:ph type="title"/>
          </p:nvPr>
        </p:nvSpPr>
        <p:spPr>
          <a:xfrm>
            <a:off x="928688" y="0"/>
            <a:ext cx="7158037" cy="1412875"/>
          </a:xfrm>
        </p:spPr>
        <p:txBody>
          <a:bodyPr/>
          <a:lstStyle/>
          <a:p>
            <a:pPr eaLnBrk="1" hangingPunct="1"/>
            <a:r>
              <a:rPr lang="en-GB" sz="3600" b="1" smtClean="0"/>
              <a:t>UYGULAMA</a:t>
            </a:r>
            <a:r>
              <a:rPr lang="tr-TR" sz="3600" b="1" smtClean="0"/>
              <a:t> FAALİYETİ</a:t>
            </a:r>
          </a:p>
        </p:txBody>
      </p:sp>
      <p:sp>
        <p:nvSpPr>
          <p:cNvPr id="153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8688" y="1785938"/>
            <a:ext cx="7661275" cy="4876800"/>
          </a:xfrm>
        </p:spPr>
        <p:txBody>
          <a:bodyPr/>
          <a:lstStyle/>
          <a:p>
            <a:r>
              <a:rPr lang="tr-TR" sz="1800" b="1" smtClean="0"/>
              <a:t>Öneriler</a:t>
            </a:r>
            <a:endParaRPr lang="en-GB" sz="1800" b="1" smtClean="0"/>
          </a:p>
          <a:p>
            <a:pPr lvl="1"/>
            <a:r>
              <a:rPr lang="tr-TR" sz="1800" smtClean="0"/>
              <a:t>Ampermetrenin ölçme sınırı, ölçülecek</a:t>
            </a:r>
            <a:r>
              <a:rPr lang="en-GB" sz="1800" smtClean="0"/>
              <a:t> </a:t>
            </a:r>
            <a:r>
              <a:rPr lang="tr-TR" sz="1800" smtClean="0"/>
              <a:t>akım değerinden küçük olmamalıdır.</a:t>
            </a:r>
          </a:p>
          <a:p>
            <a:pPr lvl="1"/>
            <a:r>
              <a:rPr lang="tr-TR" sz="1800" smtClean="0"/>
              <a:t> Ampermetre ölçüm yapılacak akım çeşidine</a:t>
            </a:r>
          </a:p>
          <a:p>
            <a:pPr lvl="1"/>
            <a:r>
              <a:rPr lang="tr-TR" sz="1800" smtClean="0"/>
              <a:t>Uygun olmalıdır(AC-DC).</a:t>
            </a:r>
          </a:p>
          <a:p>
            <a:pPr lvl="1"/>
            <a:r>
              <a:rPr lang="tr-TR" sz="1800" smtClean="0"/>
              <a:t>Ampermetrenin hassasiyeti ölçülecek akım</a:t>
            </a:r>
            <a:r>
              <a:rPr lang="en-GB" sz="1800" smtClean="0"/>
              <a:t> </a:t>
            </a:r>
            <a:r>
              <a:rPr lang="tr-TR" sz="1800" smtClean="0"/>
              <a:t>değerine ve ölçüm amacına uygun olmalıdır.</a:t>
            </a:r>
            <a:endParaRPr lang="en-GB" sz="1800" smtClean="0"/>
          </a:p>
          <a:p>
            <a:pPr lvl="1"/>
            <a:r>
              <a:rPr lang="tr-TR" sz="1800" smtClean="0"/>
              <a:t>Sıfır ayarı yapılmazsa ölçme sonucunun</a:t>
            </a:r>
            <a:r>
              <a:rPr lang="en-GB" sz="1800" smtClean="0"/>
              <a:t> </a:t>
            </a:r>
            <a:r>
              <a:rPr lang="tr-TR" sz="1800" smtClean="0"/>
              <a:t>hatalı olacağını unutmayınız.</a:t>
            </a:r>
            <a:endParaRPr lang="en-GB" sz="1800" smtClean="0"/>
          </a:p>
          <a:p>
            <a:pPr lvl="1"/>
            <a:r>
              <a:rPr lang="tr-TR" sz="1800" smtClean="0"/>
              <a:t>Yanlış akım kademesinde ölçüm yapmak</a:t>
            </a:r>
            <a:r>
              <a:rPr lang="en-GB" sz="1800" smtClean="0"/>
              <a:t> </a:t>
            </a:r>
            <a:r>
              <a:rPr lang="tr-TR" sz="1800" smtClean="0"/>
              <a:t>sonucun hatalı olmasının yanında, ölçü</a:t>
            </a:r>
            <a:r>
              <a:rPr lang="en-GB" sz="1800" smtClean="0"/>
              <a:t> </a:t>
            </a:r>
            <a:r>
              <a:rPr lang="tr-TR" sz="1800" smtClean="0"/>
              <a:t>aletine de zarar vereceğini unutmayınız.</a:t>
            </a:r>
            <a:endParaRPr lang="en-GB" sz="1800" smtClean="0"/>
          </a:p>
          <a:p>
            <a:pPr lvl="1"/>
            <a:r>
              <a:rPr lang="tr-TR" sz="1800" smtClean="0"/>
              <a:t>Ampermetreyi devreye seri bağlayınız.</a:t>
            </a:r>
            <a:r>
              <a:rPr lang="en-GB" sz="1800" smtClean="0"/>
              <a:t> </a:t>
            </a:r>
            <a:r>
              <a:rPr lang="tr-TR" sz="1800" smtClean="0"/>
              <a:t>Kesinlikle enerji altında bağlantı</a:t>
            </a:r>
            <a:r>
              <a:rPr lang="en-GB" sz="1800" smtClean="0"/>
              <a:t> </a:t>
            </a:r>
            <a:r>
              <a:rPr lang="tr-TR" sz="1800" smtClean="0"/>
              <a:t>yapmayınız, mevcut bağlantıya müdahale</a:t>
            </a:r>
            <a:r>
              <a:rPr lang="en-GB" sz="1800" smtClean="0"/>
              <a:t> </a:t>
            </a:r>
            <a:r>
              <a:rPr lang="tr-TR" sz="1800" smtClean="0"/>
              <a:t>etmeyiniz.</a:t>
            </a:r>
            <a:endParaRPr lang="en-GB" sz="1800" smtClean="0"/>
          </a:p>
          <a:p>
            <a:pPr lvl="1"/>
            <a:r>
              <a:rPr lang="tr-TR" sz="1800" smtClean="0"/>
              <a:t>Devrenize öğretmen gözetiminde enerji</a:t>
            </a:r>
            <a:r>
              <a:rPr lang="en-GB" sz="1800" smtClean="0"/>
              <a:t> </a:t>
            </a:r>
            <a:r>
              <a:rPr lang="tr-TR" sz="1800" smtClean="0"/>
              <a:t>veriniz.</a:t>
            </a:r>
            <a:endParaRPr lang="en-GB" sz="1800" smtClean="0"/>
          </a:p>
          <a:p>
            <a:pPr lvl="1"/>
            <a:r>
              <a:rPr lang="tr-TR" sz="1800" smtClean="0"/>
              <a:t>Analog ölçü aleti ile ölçüm yapılıyorsa</a:t>
            </a:r>
            <a:r>
              <a:rPr lang="en-GB" sz="1800" smtClean="0"/>
              <a:t> </a:t>
            </a:r>
            <a:r>
              <a:rPr lang="tr-TR" sz="1800" smtClean="0"/>
              <a:t>skaladaki ayna şeridinden faydalanınız.</a:t>
            </a:r>
          </a:p>
          <a:p>
            <a:endParaRPr lang="tr-TR" sz="2400" smtClean="0"/>
          </a:p>
          <a:p>
            <a:endParaRPr lang="en-GB" sz="2400" smtClean="0"/>
          </a:p>
          <a:p>
            <a:endParaRPr lang="tr-TR" sz="2400" smtClean="0"/>
          </a:p>
          <a:p>
            <a:endParaRPr lang="tr-TR" sz="2400" b="1" smtClean="0"/>
          </a:p>
        </p:txBody>
      </p:sp>
      <p:sp>
        <p:nvSpPr>
          <p:cNvPr id="153604" name="Slide Number Placeholder 4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83D915D3-0C7E-4CB6-8E46-E760F8DD93BB}" type="slidenum">
              <a:rPr lang="en-US" sz="1000"/>
              <a:pPr algn="r"/>
              <a:t>141</a:t>
            </a:fld>
            <a:endParaRPr lang="en-US"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8B208970-37E7-47D0-85EB-B256AC34960E}" type="slidenum">
              <a:rPr lang="en-US"/>
              <a:pPr/>
              <a:t>142</a:t>
            </a:fld>
            <a:endParaRPr lang="en-US"/>
          </a:p>
        </p:txBody>
      </p:sp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928688" y="0"/>
            <a:ext cx="7158037" cy="1412875"/>
          </a:xfrm>
        </p:spPr>
        <p:txBody>
          <a:bodyPr/>
          <a:lstStyle/>
          <a:p>
            <a:pPr eaLnBrk="1" hangingPunct="1"/>
            <a:r>
              <a:rPr lang="en-GB" sz="3600" b="1" smtClean="0"/>
              <a:t>UYGULAMA</a:t>
            </a:r>
            <a:r>
              <a:rPr lang="tr-TR" sz="3600" b="1" smtClean="0"/>
              <a:t> FAALİYETİ</a:t>
            </a:r>
          </a:p>
        </p:txBody>
      </p:sp>
      <p:sp>
        <p:nvSpPr>
          <p:cNvPr id="154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8688" y="1785938"/>
            <a:ext cx="7661275" cy="48768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sz="2400" smtClean="0"/>
              <a:t>  </a:t>
            </a:r>
          </a:p>
        </p:txBody>
      </p:sp>
      <p:pic>
        <p:nvPicPr>
          <p:cNvPr id="15462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6263" y="1981200"/>
            <a:ext cx="7991475" cy="289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4629" name="Slide Number Placeholder 4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C0523DE0-6479-4343-9497-8F99326D3888}" type="slidenum">
              <a:rPr lang="en-US" sz="1000"/>
              <a:pPr algn="r"/>
              <a:t>142</a:t>
            </a:fld>
            <a:endParaRPr lang="en-US"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EA805C11-7690-4DD9-8BD8-D0CD89B1FFEB}" type="slidenum">
              <a:rPr lang="en-US"/>
              <a:pPr/>
              <a:t>143</a:t>
            </a:fld>
            <a:endParaRPr lang="en-US"/>
          </a:p>
        </p:txBody>
      </p:sp>
      <p:sp>
        <p:nvSpPr>
          <p:cNvPr id="155650" name="Rectangle 2"/>
          <p:cNvSpPr>
            <a:spLocks noGrp="1" noChangeArrowheads="1"/>
          </p:cNvSpPr>
          <p:nvPr>
            <p:ph type="title"/>
          </p:nvPr>
        </p:nvSpPr>
        <p:spPr>
          <a:xfrm>
            <a:off x="928688" y="0"/>
            <a:ext cx="7158037" cy="1412875"/>
          </a:xfrm>
        </p:spPr>
        <p:txBody>
          <a:bodyPr/>
          <a:lstStyle/>
          <a:p>
            <a:pPr eaLnBrk="1" hangingPunct="1"/>
            <a:r>
              <a:rPr lang="en-GB" sz="3600" b="1" smtClean="0"/>
              <a:t>UYGULAMA</a:t>
            </a:r>
            <a:r>
              <a:rPr lang="tr-TR" sz="3600" b="1" smtClean="0"/>
              <a:t> FAALİYETİ</a:t>
            </a:r>
          </a:p>
        </p:txBody>
      </p:sp>
      <p:sp>
        <p:nvSpPr>
          <p:cNvPr id="155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8688" y="1785938"/>
            <a:ext cx="7661275" cy="4876800"/>
          </a:xfrm>
        </p:spPr>
        <p:txBody>
          <a:bodyPr/>
          <a:lstStyle/>
          <a:p>
            <a:r>
              <a:rPr lang="tr-TR" sz="1600" smtClean="0"/>
              <a:t>Aşağıdaki bağlantı şemasını gerekli malzemeleri temin ederek kurunuz. Akım</a:t>
            </a:r>
            <a:r>
              <a:rPr lang="en-GB" sz="1600" smtClean="0"/>
              <a:t> t</a:t>
            </a:r>
            <a:r>
              <a:rPr lang="tr-TR" sz="1600" smtClean="0"/>
              <a:t>ransformatörünün dönüştürme oranını ölçü aletine giriniz. (bu işlem için ölçü aletinin</a:t>
            </a:r>
            <a:r>
              <a:rPr lang="en-GB" sz="1600" smtClean="0"/>
              <a:t> </a:t>
            </a:r>
            <a:r>
              <a:rPr lang="tr-TR" sz="1600" smtClean="0"/>
              <a:t>kullanım kılavuzundan faydalanınız.) Gerekli kontrolleri yaptıktan sonra akım değerini</a:t>
            </a:r>
            <a:r>
              <a:rPr lang="en-GB" sz="1600" smtClean="0"/>
              <a:t> </a:t>
            </a:r>
            <a:r>
              <a:rPr lang="tr-TR" sz="1600" smtClean="0"/>
              <a:t>ölçünüz.</a:t>
            </a:r>
          </a:p>
          <a:p>
            <a:r>
              <a:rPr lang="tr-TR" sz="1600" b="1" smtClean="0"/>
              <a:t>Malzeme listesi:</a:t>
            </a:r>
            <a:endParaRPr lang="en-GB" sz="1600" b="1" smtClean="0"/>
          </a:p>
          <a:p>
            <a:endParaRPr lang="tr-TR" sz="1600" b="1" smtClean="0"/>
          </a:p>
        </p:txBody>
      </p:sp>
      <p:sp>
        <p:nvSpPr>
          <p:cNvPr id="155652" name="Slide Number Placeholder 4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6780B293-2DCD-458E-A3D2-618DDA08D664}" type="slidenum">
              <a:rPr lang="en-US" sz="1000"/>
              <a:pPr algn="r"/>
              <a:t>143</a:t>
            </a:fld>
            <a:endParaRPr lang="en-US" sz="1000"/>
          </a:p>
        </p:txBody>
      </p:sp>
      <p:pic>
        <p:nvPicPr>
          <p:cNvPr id="155653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28750" y="3286125"/>
            <a:ext cx="7085013" cy="1928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B9BE4BA5-0D5F-4A98-B24B-5CF625CD3739}" type="slidenum">
              <a:rPr lang="en-US"/>
              <a:pPr/>
              <a:t>144</a:t>
            </a:fld>
            <a:endParaRPr lang="en-US"/>
          </a:p>
        </p:txBody>
      </p:sp>
      <p:sp>
        <p:nvSpPr>
          <p:cNvPr id="156674" name="Rectangle 2"/>
          <p:cNvSpPr>
            <a:spLocks noGrp="1" noChangeArrowheads="1"/>
          </p:cNvSpPr>
          <p:nvPr>
            <p:ph type="title"/>
          </p:nvPr>
        </p:nvSpPr>
        <p:spPr>
          <a:xfrm>
            <a:off x="928688" y="0"/>
            <a:ext cx="7158037" cy="1412875"/>
          </a:xfrm>
        </p:spPr>
        <p:txBody>
          <a:bodyPr/>
          <a:lstStyle/>
          <a:p>
            <a:pPr eaLnBrk="1" hangingPunct="1"/>
            <a:r>
              <a:rPr lang="en-GB" sz="3600" b="1" smtClean="0"/>
              <a:t>UYGULAMA</a:t>
            </a:r>
            <a:r>
              <a:rPr lang="tr-TR" sz="3600" b="1" smtClean="0"/>
              <a:t> FAALİYETİ</a:t>
            </a:r>
          </a:p>
        </p:txBody>
      </p:sp>
      <p:sp>
        <p:nvSpPr>
          <p:cNvPr id="156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8688" y="1785938"/>
            <a:ext cx="7661275" cy="4876800"/>
          </a:xfrm>
        </p:spPr>
        <p:txBody>
          <a:bodyPr/>
          <a:lstStyle/>
          <a:p>
            <a:r>
              <a:rPr lang="tr-TR" sz="2400" b="1" smtClean="0"/>
              <a:t>İşlem Basamakları</a:t>
            </a:r>
            <a:endParaRPr lang="en-GB" sz="2400" b="1" smtClean="0"/>
          </a:p>
          <a:p>
            <a:pPr lvl="1"/>
            <a:r>
              <a:rPr lang="tr-TR" sz="2000" smtClean="0"/>
              <a:t>Ölçülecek akıma uygun akım</a:t>
            </a:r>
            <a:r>
              <a:rPr lang="en-GB" sz="2000" smtClean="0"/>
              <a:t> </a:t>
            </a:r>
            <a:r>
              <a:rPr lang="tr-TR" sz="2000" smtClean="0"/>
              <a:t>transformatörü, ampermetre ve</a:t>
            </a:r>
            <a:r>
              <a:rPr lang="en-GB" sz="2000" smtClean="0"/>
              <a:t> </a:t>
            </a:r>
            <a:r>
              <a:rPr lang="tr-TR" sz="2000" smtClean="0"/>
              <a:t>diğer malzemeleri özelliklerine</a:t>
            </a:r>
            <a:r>
              <a:rPr lang="en-GB" sz="2000" smtClean="0"/>
              <a:t> </a:t>
            </a:r>
            <a:r>
              <a:rPr lang="tr-TR" sz="2000" smtClean="0"/>
              <a:t>uygun olarak seç.</a:t>
            </a:r>
            <a:endParaRPr lang="en-GB" sz="2000" smtClean="0"/>
          </a:p>
          <a:p>
            <a:pPr lvl="1"/>
            <a:r>
              <a:rPr lang="tr-TR" sz="2000" smtClean="0"/>
              <a:t>Devre bağlantı şemasını kur.</a:t>
            </a:r>
          </a:p>
          <a:p>
            <a:pPr lvl="1"/>
            <a:r>
              <a:rPr lang="tr-TR" sz="2000" smtClean="0"/>
              <a:t>Akım trafosunun dönüştürme</a:t>
            </a:r>
            <a:r>
              <a:rPr lang="en-GB" sz="2000" smtClean="0"/>
              <a:t> </a:t>
            </a:r>
            <a:r>
              <a:rPr lang="tr-TR" sz="2000" smtClean="0"/>
              <a:t>oranını ölçü aletine gir.</a:t>
            </a:r>
          </a:p>
          <a:p>
            <a:pPr lvl="1"/>
            <a:r>
              <a:rPr lang="tr-TR" sz="2000" smtClean="0"/>
              <a:t>Devre bağlantısını kontrol</a:t>
            </a:r>
            <a:r>
              <a:rPr lang="en-GB" sz="2000" smtClean="0"/>
              <a:t> </a:t>
            </a:r>
            <a:r>
              <a:rPr lang="tr-TR" sz="2000" smtClean="0"/>
              <a:t>ettikten sonra devreye enerji</a:t>
            </a:r>
            <a:r>
              <a:rPr lang="en-GB" sz="2000" smtClean="0"/>
              <a:t> </a:t>
            </a:r>
            <a:r>
              <a:rPr lang="tr-TR" sz="2000" smtClean="0"/>
              <a:t>ver.</a:t>
            </a:r>
            <a:endParaRPr lang="en-GB" sz="2000" smtClean="0"/>
          </a:p>
          <a:p>
            <a:pPr lvl="1"/>
            <a:r>
              <a:rPr lang="tr-TR" sz="2000" smtClean="0"/>
              <a:t>Alıcının çektiği akımı ölç.</a:t>
            </a:r>
          </a:p>
          <a:p>
            <a:endParaRPr lang="tr-TR" sz="2400" smtClean="0"/>
          </a:p>
          <a:p>
            <a:endParaRPr lang="tr-TR" sz="2400" smtClean="0"/>
          </a:p>
          <a:p>
            <a:endParaRPr lang="tr-TR" sz="2400" b="1" smtClean="0"/>
          </a:p>
        </p:txBody>
      </p:sp>
      <p:sp>
        <p:nvSpPr>
          <p:cNvPr id="156676" name="Slide Number Placeholder 4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A3C11CBC-07E4-40FD-9249-316826C21AA3}" type="slidenum">
              <a:rPr lang="en-US" sz="1000"/>
              <a:pPr algn="r"/>
              <a:t>144</a:t>
            </a:fld>
            <a:endParaRPr lang="en-US"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F3D94130-A3C2-45EB-9730-D56C8023D42C}" type="slidenum">
              <a:rPr lang="en-US"/>
              <a:pPr/>
              <a:t>145</a:t>
            </a:fld>
            <a:endParaRPr lang="en-US"/>
          </a:p>
        </p:txBody>
      </p:sp>
      <p:sp>
        <p:nvSpPr>
          <p:cNvPr id="157698" name="Rectangle 2"/>
          <p:cNvSpPr>
            <a:spLocks noGrp="1" noChangeArrowheads="1"/>
          </p:cNvSpPr>
          <p:nvPr>
            <p:ph type="title"/>
          </p:nvPr>
        </p:nvSpPr>
        <p:spPr>
          <a:xfrm>
            <a:off x="928688" y="0"/>
            <a:ext cx="7158037" cy="1412875"/>
          </a:xfrm>
        </p:spPr>
        <p:txBody>
          <a:bodyPr/>
          <a:lstStyle/>
          <a:p>
            <a:pPr eaLnBrk="1" hangingPunct="1"/>
            <a:r>
              <a:rPr lang="en-GB" sz="3600" b="1" smtClean="0"/>
              <a:t>UYGULAMA</a:t>
            </a:r>
            <a:r>
              <a:rPr lang="tr-TR" sz="3600" b="1" smtClean="0"/>
              <a:t> FAALİYETİ</a:t>
            </a:r>
          </a:p>
        </p:txBody>
      </p:sp>
      <p:sp>
        <p:nvSpPr>
          <p:cNvPr id="156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8688" y="1785938"/>
            <a:ext cx="7661275" cy="4876800"/>
          </a:xfrm>
        </p:spPr>
        <p:txBody>
          <a:bodyPr/>
          <a:lstStyle/>
          <a:p>
            <a:r>
              <a:rPr lang="tr-TR" sz="2400" b="1" smtClean="0"/>
              <a:t>Öneriler</a:t>
            </a:r>
          </a:p>
          <a:p>
            <a:pPr lvl="1"/>
            <a:r>
              <a:rPr lang="tr-TR" sz="2000" smtClean="0"/>
              <a:t>Akım transformatörünün primer akımı hat</a:t>
            </a:r>
            <a:r>
              <a:rPr lang="en-GB" sz="2000" smtClean="0"/>
              <a:t> </a:t>
            </a:r>
            <a:r>
              <a:rPr lang="tr-TR" sz="2000" smtClean="0"/>
              <a:t>veya alıcı akımına uygun olmalıdır.</a:t>
            </a:r>
          </a:p>
          <a:p>
            <a:pPr lvl="1"/>
            <a:r>
              <a:rPr lang="tr-TR" sz="2000" smtClean="0"/>
              <a:t>Ampermetrenin ölçme sınırı yapılacak</a:t>
            </a:r>
            <a:r>
              <a:rPr lang="en-GB" sz="2000" smtClean="0"/>
              <a:t> </a:t>
            </a:r>
            <a:r>
              <a:rPr lang="tr-TR" sz="2000" smtClean="0"/>
              <a:t>ölçüme uygun olmalıdır.</a:t>
            </a:r>
            <a:endParaRPr lang="en-GB" sz="2000" smtClean="0"/>
          </a:p>
          <a:p>
            <a:pPr lvl="1"/>
            <a:r>
              <a:rPr lang="tr-TR" sz="2000" smtClean="0"/>
              <a:t>Akım transformatörünün bağlantısı</a:t>
            </a:r>
            <a:r>
              <a:rPr lang="en-GB" sz="2000" smtClean="0"/>
              <a:t> </a:t>
            </a:r>
            <a:r>
              <a:rPr lang="tr-TR" sz="2000" smtClean="0"/>
              <a:t>yapıldıktan sonra sekonder sargısı mutlaka</a:t>
            </a:r>
            <a:r>
              <a:rPr lang="en-GB" sz="2000" smtClean="0"/>
              <a:t> </a:t>
            </a:r>
            <a:r>
              <a:rPr lang="tr-TR" sz="2000" smtClean="0"/>
              <a:t>topraklanmalıdır.</a:t>
            </a:r>
            <a:endParaRPr lang="en-GB" sz="2000" smtClean="0"/>
          </a:p>
          <a:p>
            <a:pPr lvl="1"/>
            <a:r>
              <a:rPr lang="tr-TR" sz="2000" smtClean="0"/>
              <a:t>Bu işlem dijital pano tipi ampermetreler için</a:t>
            </a:r>
            <a:r>
              <a:rPr lang="en-GB" sz="2000" smtClean="0"/>
              <a:t> </a:t>
            </a:r>
            <a:r>
              <a:rPr lang="tr-TR" sz="2000" smtClean="0"/>
              <a:t>geçerlidir. Bu işlem için ölçü aletinin</a:t>
            </a:r>
            <a:r>
              <a:rPr lang="en-GB" sz="2000" smtClean="0"/>
              <a:t> </a:t>
            </a:r>
            <a:r>
              <a:rPr lang="tr-TR" sz="2000" smtClean="0"/>
              <a:t>kullanım kılavuzundan faydalanabilirsiniz</a:t>
            </a:r>
            <a:endParaRPr lang="en-GB" sz="2000" smtClean="0"/>
          </a:p>
          <a:p>
            <a:pPr lvl="1"/>
            <a:r>
              <a:rPr lang="tr-TR" sz="2000" smtClean="0"/>
              <a:t>Akım transformatörünün sekonder uçları</a:t>
            </a:r>
            <a:r>
              <a:rPr lang="en-GB" sz="2000" smtClean="0"/>
              <a:t> </a:t>
            </a:r>
            <a:r>
              <a:rPr lang="tr-TR" sz="2000" smtClean="0"/>
              <a:t>boşta bırakılmamalıdır.</a:t>
            </a:r>
            <a:endParaRPr lang="en-GB" sz="2000" smtClean="0"/>
          </a:p>
          <a:p>
            <a:pPr lvl="1"/>
            <a:r>
              <a:rPr lang="tr-TR" sz="2000" smtClean="0"/>
              <a:t>Analog ampermetre kullanıyorsanız</a:t>
            </a:r>
            <a:r>
              <a:rPr lang="en-GB" sz="2000" smtClean="0"/>
              <a:t> </a:t>
            </a:r>
            <a:r>
              <a:rPr lang="tr-TR" sz="2000" smtClean="0"/>
              <a:t>ampermetrede okunan değeri dönüştürme</a:t>
            </a:r>
            <a:r>
              <a:rPr lang="en-GB" sz="2000" smtClean="0"/>
              <a:t> </a:t>
            </a:r>
            <a:r>
              <a:rPr lang="tr-TR" sz="2000" smtClean="0"/>
              <a:t>oranı ile çarparak çekilen akımı</a:t>
            </a:r>
            <a:r>
              <a:rPr lang="en-GB" sz="2000" smtClean="0"/>
              <a:t> </a:t>
            </a:r>
            <a:r>
              <a:rPr lang="tr-TR" sz="2000" smtClean="0"/>
              <a:t>hesaplayınız.</a:t>
            </a:r>
          </a:p>
          <a:p>
            <a:endParaRPr lang="tr-TR" sz="2400" smtClean="0"/>
          </a:p>
          <a:p>
            <a:endParaRPr lang="tr-TR" sz="2400" smtClean="0"/>
          </a:p>
          <a:p>
            <a:endParaRPr lang="tr-TR" sz="2400" smtClean="0"/>
          </a:p>
          <a:p>
            <a:endParaRPr lang="tr-TR" sz="2400" smtClean="0"/>
          </a:p>
          <a:p>
            <a:endParaRPr lang="tr-TR" sz="2400" smtClean="0"/>
          </a:p>
          <a:p>
            <a:endParaRPr lang="tr-TR" sz="2400" smtClean="0"/>
          </a:p>
          <a:p>
            <a:endParaRPr lang="tr-TR" sz="2400" b="1" smtClean="0"/>
          </a:p>
        </p:txBody>
      </p:sp>
      <p:sp>
        <p:nvSpPr>
          <p:cNvPr id="157700" name="Slide Number Placeholder 4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CEC2AD0A-532C-4766-B52D-75279BF4FA5C}" type="slidenum">
              <a:rPr lang="en-US" sz="1000"/>
              <a:pPr algn="r"/>
              <a:t>145</a:t>
            </a:fld>
            <a:endParaRPr lang="en-US"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0795CAE0-2B2A-41BA-80D6-CE872C566491}" type="slidenum">
              <a:rPr lang="en-US"/>
              <a:pPr/>
              <a:t>146</a:t>
            </a:fld>
            <a:endParaRPr lang="en-US"/>
          </a:p>
        </p:txBody>
      </p:sp>
      <p:sp>
        <p:nvSpPr>
          <p:cNvPr id="158722" name="Rectangle 2"/>
          <p:cNvSpPr>
            <a:spLocks noGrp="1" noChangeArrowheads="1"/>
          </p:cNvSpPr>
          <p:nvPr>
            <p:ph type="title"/>
          </p:nvPr>
        </p:nvSpPr>
        <p:spPr>
          <a:xfrm>
            <a:off x="928688" y="0"/>
            <a:ext cx="7158037" cy="1412875"/>
          </a:xfrm>
        </p:spPr>
        <p:txBody>
          <a:bodyPr/>
          <a:lstStyle/>
          <a:p>
            <a:pPr eaLnBrk="1" hangingPunct="1"/>
            <a:r>
              <a:rPr lang="en-GB" sz="3600" b="1" smtClean="0"/>
              <a:t>UYGULAMA</a:t>
            </a:r>
            <a:r>
              <a:rPr lang="tr-TR" sz="3600" b="1" smtClean="0"/>
              <a:t> FAALİYETİ</a:t>
            </a:r>
          </a:p>
        </p:txBody>
      </p:sp>
      <p:sp>
        <p:nvSpPr>
          <p:cNvPr id="158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8688" y="1785938"/>
            <a:ext cx="7661275" cy="48768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sz="2400" smtClean="0"/>
              <a:t>  </a:t>
            </a:r>
          </a:p>
        </p:txBody>
      </p:sp>
      <p:pic>
        <p:nvPicPr>
          <p:cNvPr id="158724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43000" y="1928813"/>
            <a:ext cx="7313613" cy="3500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8725" name="Slide Number Placeholder 5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92D00547-962A-48A6-9D11-FC0F48682093}" type="slidenum">
              <a:rPr lang="en-US" sz="1000"/>
              <a:pPr algn="r"/>
              <a:t>146</a:t>
            </a:fld>
            <a:endParaRPr lang="en-US"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B5B1863B-5129-4725-8A9B-C33CBC35F2BD}" type="slidenum">
              <a:rPr lang="en-US"/>
              <a:pPr/>
              <a:t>147</a:t>
            </a:fld>
            <a:endParaRPr lang="en-US"/>
          </a:p>
        </p:txBody>
      </p:sp>
      <p:sp>
        <p:nvSpPr>
          <p:cNvPr id="159746" name="Rectangle 2"/>
          <p:cNvSpPr>
            <a:spLocks noGrp="1" noChangeArrowheads="1"/>
          </p:cNvSpPr>
          <p:nvPr>
            <p:ph type="title"/>
          </p:nvPr>
        </p:nvSpPr>
        <p:spPr>
          <a:xfrm>
            <a:off x="928688" y="0"/>
            <a:ext cx="7158037" cy="1412875"/>
          </a:xfrm>
        </p:spPr>
        <p:txBody>
          <a:bodyPr/>
          <a:lstStyle/>
          <a:p>
            <a:pPr eaLnBrk="1" hangingPunct="1"/>
            <a:r>
              <a:rPr lang="en-GB" sz="3600" b="1" smtClean="0"/>
              <a:t>UYGULAMA</a:t>
            </a:r>
            <a:r>
              <a:rPr lang="tr-TR" sz="3600" b="1" smtClean="0"/>
              <a:t> FAALİYETİ</a:t>
            </a:r>
          </a:p>
        </p:txBody>
      </p:sp>
      <p:sp>
        <p:nvSpPr>
          <p:cNvPr id="159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8688" y="1785938"/>
            <a:ext cx="7661275" cy="4876800"/>
          </a:xfrm>
        </p:spPr>
        <p:txBody>
          <a:bodyPr/>
          <a:lstStyle/>
          <a:p>
            <a:r>
              <a:rPr lang="tr-TR" sz="1800" smtClean="0"/>
              <a:t>Pens ampermetre ile akım ölçümünü devre bağlantısını yaparak gerçekleştirin.</a:t>
            </a:r>
          </a:p>
          <a:p>
            <a:r>
              <a:rPr lang="tr-TR" sz="1800" b="1" smtClean="0"/>
              <a:t>Malzeme listesi:</a:t>
            </a:r>
          </a:p>
        </p:txBody>
      </p:sp>
      <p:pic>
        <p:nvPicPr>
          <p:cNvPr id="159748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9363" y="4714875"/>
            <a:ext cx="4105275" cy="2019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9749" name="Slide Number Placeholder 5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00CD502C-FAE0-4F67-9790-D63E20A0D5FA}" type="slidenum">
              <a:rPr lang="en-US" sz="1000"/>
              <a:pPr algn="r"/>
              <a:t>147</a:t>
            </a:fld>
            <a:endParaRPr lang="en-US" sz="1000"/>
          </a:p>
        </p:txBody>
      </p:sp>
      <p:pic>
        <p:nvPicPr>
          <p:cNvPr id="159750" name="Picture 7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357313" y="2714625"/>
            <a:ext cx="7143750" cy="191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98348BE4-7FC7-459E-B69F-73E042CC8850}" type="slidenum">
              <a:rPr lang="en-US"/>
              <a:pPr/>
              <a:t>148</a:t>
            </a:fld>
            <a:endParaRPr lang="en-US"/>
          </a:p>
        </p:txBody>
      </p:sp>
      <p:sp>
        <p:nvSpPr>
          <p:cNvPr id="160770" name="Rectangle 2"/>
          <p:cNvSpPr>
            <a:spLocks noGrp="1" noChangeArrowheads="1"/>
          </p:cNvSpPr>
          <p:nvPr>
            <p:ph type="title"/>
          </p:nvPr>
        </p:nvSpPr>
        <p:spPr>
          <a:xfrm>
            <a:off x="928688" y="0"/>
            <a:ext cx="7158037" cy="1412875"/>
          </a:xfrm>
        </p:spPr>
        <p:txBody>
          <a:bodyPr/>
          <a:lstStyle/>
          <a:p>
            <a:pPr eaLnBrk="1" hangingPunct="1"/>
            <a:r>
              <a:rPr lang="en-GB" sz="3600" b="1" smtClean="0"/>
              <a:t>UYGULAMA</a:t>
            </a:r>
            <a:r>
              <a:rPr lang="tr-TR" sz="3600" b="1" smtClean="0"/>
              <a:t> FAALİYETİ</a:t>
            </a:r>
          </a:p>
        </p:txBody>
      </p:sp>
      <p:sp>
        <p:nvSpPr>
          <p:cNvPr id="159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8688" y="1785938"/>
            <a:ext cx="7661275" cy="4876800"/>
          </a:xfrm>
        </p:spPr>
        <p:txBody>
          <a:bodyPr/>
          <a:lstStyle/>
          <a:p>
            <a:r>
              <a:rPr lang="tr-TR" sz="2400" b="1" smtClean="0"/>
              <a:t>İşlem Basamakları</a:t>
            </a:r>
            <a:endParaRPr lang="en-GB" sz="2400" b="1" smtClean="0"/>
          </a:p>
          <a:p>
            <a:pPr lvl="1"/>
            <a:r>
              <a:rPr lang="tr-TR" sz="2000" smtClean="0"/>
              <a:t>Pens ampermetreyi ölçülecek</a:t>
            </a:r>
            <a:r>
              <a:rPr lang="en-GB" sz="2000" smtClean="0"/>
              <a:t> </a:t>
            </a:r>
            <a:r>
              <a:rPr lang="tr-TR" sz="2000" smtClean="0"/>
              <a:t>akım değerine uygun kademeye</a:t>
            </a:r>
            <a:r>
              <a:rPr lang="en-GB" sz="2000" smtClean="0"/>
              <a:t> </a:t>
            </a:r>
            <a:r>
              <a:rPr lang="tr-TR" sz="2000" smtClean="0"/>
              <a:t>alınız.</a:t>
            </a:r>
            <a:endParaRPr lang="en-GB" sz="2000" smtClean="0"/>
          </a:p>
          <a:p>
            <a:pPr lvl="1"/>
            <a:r>
              <a:rPr lang="tr-TR" sz="2000" smtClean="0"/>
              <a:t>Akımı ölçülecek iletkeni pens</a:t>
            </a:r>
            <a:r>
              <a:rPr lang="en-GB" sz="2000" smtClean="0"/>
              <a:t> </a:t>
            </a:r>
            <a:r>
              <a:rPr lang="tr-TR" sz="2000" smtClean="0"/>
              <a:t>içerisine al.</a:t>
            </a:r>
          </a:p>
          <a:p>
            <a:pPr lvl="1"/>
            <a:r>
              <a:rPr lang="tr-TR" sz="2000" smtClean="0"/>
              <a:t>Değeri okuyarak ölçüme son</a:t>
            </a:r>
            <a:r>
              <a:rPr lang="en-GB" sz="2000" smtClean="0"/>
              <a:t> </a:t>
            </a:r>
            <a:r>
              <a:rPr lang="tr-TR" sz="2000" smtClean="0"/>
              <a:t>ver.</a:t>
            </a:r>
            <a:endParaRPr lang="en-GB" sz="2000" smtClean="0"/>
          </a:p>
          <a:p>
            <a:r>
              <a:rPr lang="tr-TR" sz="2400" b="1" smtClean="0"/>
              <a:t>Öneriler</a:t>
            </a:r>
            <a:endParaRPr lang="en-GB" sz="2400" b="1" smtClean="0"/>
          </a:p>
          <a:p>
            <a:pPr lvl="1"/>
            <a:r>
              <a:rPr lang="tr-TR" sz="2000" smtClean="0"/>
              <a:t>Seçilecek kademe ölçülecek akım</a:t>
            </a:r>
            <a:r>
              <a:rPr lang="en-GB" sz="2000" smtClean="0"/>
              <a:t> </a:t>
            </a:r>
            <a:r>
              <a:rPr lang="tr-TR" sz="2000" smtClean="0"/>
              <a:t>değerinden küçük olmamasına dikkat ediniz.</a:t>
            </a:r>
            <a:endParaRPr lang="en-GB" sz="2000" smtClean="0"/>
          </a:p>
          <a:p>
            <a:pPr lvl="1"/>
            <a:r>
              <a:rPr lang="tr-TR" sz="2000" smtClean="0"/>
              <a:t>Pens içerisine yalnız akımı ölçülecek iletken</a:t>
            </a:r>
            <a:r>
              <a:rPr lang="en-GB" sz="2000" smtClean="0"/>
              <a:t> </a:t>
            </a:r>
            <a:r>
              <a:rPr lang="tr-TR" sz="2000" smtClean="0"/>
              <a:t>alınmalıdır.</a:t>
            </a:r>
          </a:p>
          <a:p>
            <a:endParaRPr lang="tr-TR" sz="2400" smtClean="0"/>
          </a:p>
          <a:p>
            <a:endParaRPr lang="tr-TR" sz="2400" b="1" smtClean="0"/>
          </a:p>
          <a:p>
            <a:endParaRPr lang="tr-TR" sz="2400" smtClean="0"/>
          </a:p>
          <a:p>
            <a:endParaRPr lang="tr-TR" sz="2400" b="1" smtClean="0"/>
          </a:p>
        </p:txBody>
      </p:sp>
      <p:sp>
        <p:nvSpPr>
          <p:cNvPr id="160772" name="Slide Number Placeholder 6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9FCF4F9E-EFE2-4BDF-86C5-423BE4FE8022}" type="slidenum">
              <a:rPr lang="en-US" sz="1000"/>
              <a:pPr algn="r"/>
              <a:t>148</a:t>
            </a:fld>
            <a:endParaRPr lang="en-US"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B684130E-D72C-4AE0-9950-7FBA983065DC}" type="slidenum">
              <a:rPr lang="en-US"/>
              <a:pPr/>
              <a:t>149</a:t>
            </a:fld>
            <a:endParaRPr lang="en-US"/>
          </a:p>
        </p:txBody>
      </p:sp>
      <p:sp>
        <p:nvSpPr>
          <p:cNvPr id="161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z="3600" b="1" smtClean="0"/>
              <a:t>ÖLÇME VE DEĞERLENDİRME</a:t>
            </a:r>
            <a:endParaRPr lang="en-US" sz="3600" smtClean="0"/>
          </a:p>
        </p:txBody>
      </p:sp>
      <p:sp>
        <p:nvSpPr>
          <p:cNvPr id="160771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tr-TR" sz="2000" b="1" dirty="0" smtClean="0"/>
              <a:t>ÖLÇME SORULARI</a:t>
            </a:r>
          </a:p>
          <a:p>
            <a:pPr>
              <a:defRPr/>
            </a:pPr>
            <a:r>
              <a:rPr lang="tr-TR" sz="2000" dirty="0" smtClean="0"/>
              <a:t>Aşağıda verilen soruları doğru ya da yanlış olarak cevaplayınız.</a:t>
            </a:r>
          </a:p>
          <a:p>
            <a:pPr lvl="1">
              <a:defRPr/>
            </a:pPr>
            <a:r>
              <a:rPr lang="tr-TR" sz="1600" dirty="0" smtClean="0">
                <a:ea typeface="+mn-ea"/>
                <a:cs typeface="+mn-cs"/>
              </a:rPr>
              <a:t>1. Elektrik akımının oluşabilmesi için elektron hareketinin oluşması gerekir.</a:t>
            </a:r>
          </a:p>
          <a:p>
            <a:pPr lvl="1">
              <a:defRPr/>
            </a:pPr>
            <a:r>
              <a:rPr lang="tr-TR" sz="1600" dirty="0" smtClean="0">
                <a:ea typeface="+mn-ea"/>
                <a:cs typeface="+mn-cs"/>
              </a:rPr>
              <a:t>2. Amperin üst katları </a:t>
            </a:r>
            <a:r>
              <a:rPr lang="el-GR" sz="1600" dirty="0" smtClean="0">
                <a:ea typeface="+mn-ea"/>
                <a:cs typeface="+mn-cs"/>
              </a:rPr>
              <a:t>μ</a:t>
            </a:r>
            <a:r>
              <a:rPr lang="tr-TR" sz="1600" dirty="0" smtClean="0">
                <a:ea typeface="+mn-ea"/>
                <a:cs typeface="+mn-cs"/>
              </a:rPr>
              <a:t>A ve mA’dir.</a:t>
            </a:r>
          </a:p>
          <a:p>
            <a:pPr lvl="1">
              <a:defRPr/>
            </a:pPr>
            <a:r>
              <a:rPr lang="tr-TR" sz="1600" dirty="0" smtClean="0">
                <a:ea typeface="+mn-ea"/>
                <a:cs typeface="+mn-cs"/>
              </a:rPr>
              <a:t>3. 1,25 kA, 12500 A’e eşittir.</a:t>
            </a:r>
          </a:p>
          <a:p>
            <a:pPr lvl="1">
              <a:defRPr/>
            </a:pPr>
            <a:r>
              <a:rPr lang="tr-TR" sz="1600" dirty="0" smtClean="0">
                <a:ea typeface="+mn-ea"/>
                <a:cs typeface="+mn-cs"/>
              </a:rPr>
              <a:t>4. Ampermetrelerin iç direncinin fazla olması, elektrik devrelerinde herhangi bir etkisi</a:t>
            </a:r>
            <a:r>
              <a:rPr lang="en-GB" sz="1600" dirty="0" smtClean="0">
                <a:ea typeface="+mn-ea"/>
                <a:cs typeface="+mn-cs"/>
              </a:rPr>
              <a:t> </a:t>
            </a:r>
            <a:r>
              <a:rPr lang="tr-TR" sz="1600" dirty="0" smtClean="0">
                <a:ea typeface="+mn-ea"/>
                <a:cs typeface="+mn-cs"/>
              </a:rPr>
              <a:t>olmaz.</a:t>
            </a:r>
          </a:p>
          <a:p>
            <a:pPr lvl="1">
              <a:defRPr/>
            </a:pPr>
            <a:r>
              <a:rPr lang="tr-TR" sz="1600" dirty="0" smtClean="0">
                <a:ea typeface="+mn-ea"/>
                <a:cs typeface="+mn-cs"/>
              </a:rPr>
              <a:t>5. Devre akımını ölçmek için ampermetreler devreye seri bağlanır.</a:t>
            </a:r>
          </a:p>
          <a:p>
            <a:pPr lvl="1">
              <a:defRPr/>
            </a:pPr>
            <a:r>
              <a:rPr lang="tr-TR" sz="1600" dirty="0" smtClean="0">
                <a:ea typeface="+mn-ea"/>
                <a:cs typeface="+mn-cs"/>
              </a:rPr>
              <a:t>6. Ampermetreler ölçme için gerekli enerjiyi ölçüm bağlantısı ile sağlar.</a:t>
            </a:r>
          </a:p>
          <a:p>
            <a:pPr lvl="1">
              <a:defRPr/>
            </a:pPr>
            <a:r>
              <a:rPr lang="tr-TR" sz="1600" dirty="0" smtClean="0">
                <a:ea typeface="+mn-ea"/>
                <a:cs typeface="+mn-cs"/>
              </a:rPr>
              <a:t>7. Pano tipi ampermetrelerde ölçüm için gerekli enerji, pil ile sağlanır.</a:t>
            </a:r>
          </a:p>
          <a:p>
            <a:pPr lvl="1">
              <a:defRPr/>
            </a:pPr>
            <a:r>
              <a:rPr lang="tr-TR" sz="1600" dirty="0" smtClean="0">
                <a:ea typeface="+mn-ea"/>
                <a:cs typeface="+mn-cs"/>
              </a:rPr>
              <a:t>8. Alternatif akımda yapılan ölçüm sonunda okunan değer, akımın etkin değeridir.</a:t>
            </a:r>
          </a:p>
        </p:txBody>
      </p:sp>
      <p:sp>
        <p:nvSpPr>
          <p:cNvPr id="161796" name="Slide Number Placeholder 5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43D9C4E9-75BF-4790-803C-DBF294FF7C79}" type="slidenum">
              <a:rPr lang="en-US" sz="1000"/>
              <a:pPr algn="r"/>
              <a:t>149</a:t>
            </a:fld>
            <a:endParaRPr lang="en-US"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9CFACB0C-B405-43D3-B0D6-33ECFE599AA4}" type="slidenum">
              <a:rPr lang="en-US"/>
              <a:pPr/>
              <a:t>150</a:t>
            </a:fld>
            <a:endParaRPr lang="en-US"/>
          </a:p>
        </p:txBody>
      </p:sp>
      <p:sp>
        <p:nvSpPr>
          <p:cNvPr id="162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z="3600" b="1" smtClean="0"/>
              <a:t>ÖLÇME VE DEĞERLENDİRME</a:t>
            </a:r>
            <a:endParaRPr lang="en-US" sz="3600" smtClean="0"/>
          </a:p>
        </p:txBody>
      </p:sp>
      <p:sp>
        <p:nvSpPr>
          <p:cNvPr id="161795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defRPr/>
            </a:pPr>
            <a:r>
              <a:rPr lang="tr-TR" sz="1600" dirty="0" smtClean="0">
                <a:ea typeface="+mn-ea"/>
                <a:cs typeface="+mn-cs"/>
              </a:rPr>
              <a:t>9. DC ölçmelerinde, analog ampermetreye bağlanan +, - uç bağlantılarının yanlış olması</a:t>
            </a:r>
            <a:r>
              <a:rPr lang="en-GB" sz="1600" dirty="0" smtClean="0">
                <a:ea typeface="+mn-ea"/>
                <a:cs typeface="+mn-cs"/>
              </a:rPr>
              <a:t> </a:t>
            </a:r>
            <a:r>
              <a:rPr lang="tr-TR" sz="1600" dirty="0" smtClean="0">
                <a:ea typeface="+mn-ea"/>
                <a:cs typeface="+mn-cs"/>
              </a:rPr>
              <a:t>durumunda ampermetre değer gösterir.</a:t>
            </a:r>
          </a:p>
          <a:p>
            <a:pPr lvl="1">
              <a:defRPr/>
            </a:pPr>
            <a:r>
              <a:rPr lang="tr-TR" sz="1600" dirty="0" smtClean="0">
                <a:ea typeface="+mn-ea"/>
                <a:cs typeface="+mn-cs"/>
              </a:rPr>
              <a:t>10. AA ampermetresi ile DC ölçüm yapıldığında akım değerinin negatif işaretli değeri</a:t>
            </a:r>
            <a:r>
              <a:rPr lang="en-GB" sz="1600" dirty="0" smtClean="0">
                <a:ea typeface="+mn-ea"/>
                <a:cs typeface="+mn-cs"/>
              </a:rPr>
              <a:t> </a:t>
            </a:r>
            <a:r>
              <a:rPr lang="tr-TR" sz="1600" dirty="0" smtClean="0">
                <a:ea typeface="+mn-ea"/>
                <a:cs typeface="+mn-cs"/>
              </a:rPr>
              <a:t>okunur.</a:t>
            </a:r>
          </a:p>
          <a:p>
            <a:pPr lvl="1">
              <a:defRPr/>
            </a:pPr>
            <a:r>
              <a:rPr lang="tr-TR" sz="1600" dirty="0" smtClean="0">
                <a:ea typeface="+mn-ea"/>
                <a:cs typeface="+mn-cs"/>
              </a:rPr>
              <a:t>11. Ölçü transformatörlerine yalnız ölçü aletleri bağlanır.</a:t>
            </a:r>
          </a:p>
          <a:p>
            <a:pPr lvl="1">
              <a:defRPr/>
            </a:pPr>
            <a:r>
              <a:rPr lang="tr-TR" sz="1600" dirty="0" smtClean="0">
                <a:ea typeface="+mn-ea"/>
                <a:cs typeface="+mn-cs"/>
              </a:rPr>
              <a:t>12. Bir ölçü transformatörüne birden fazla ölçü aleti bağlanabilir.</a:t>
            </a:r>
          </a:p>
          <a:p>
            <a:pPr lvl="1">
              <a:defRPr/>
            </a:pPr>
            <a:r>
              <a:rPr lang="tr-TR" sz="1600" dirty="0" smtClean="0">
                <a:ea typeface="+mn-ea"/>
                <a:cs typeface="+mn-cs"/>
              </a:rPr>
              <a:t>13. Ölçü transformatörlerinin sekonder uçlarından biri ve gövdesi mutlaka topraklanmalıdır.</a:t>
            </a:r>
          </a:p>
          <a:p>
            <a:pPr lvl="1">
              <a:defRPr/>
            </a:pPr>
            <a:r>
              <a:rPr lang="tr-TR" sz="1600" dirty="0" smtClean="0">
                <a:ea typeface="+mn-ea"/>
                <a:cs typeface="+mn-cs"/>
              </a:rPr>
              <a:t>14. Akım trafosunun primer uçları “k-l” dir.</a:t>
            </a:r>
          </a:p>
          <a:p>
            <a:pPr lvl="1">
              <a:defRPr/>
            </a:pPr>
            <a:r>
              <a:rPr lang="tr-TR" sz="1600" dirty="0" smtClean="0">
                <a:ea typeface="+mn-ea"/>
                <a:cs typeface="+mn-cs"/>
              </a:rPr>
              <a:t>15. Akım transformatörleri boşta çalıştırılabilir.</a:t>
            </a:r>
          </a:p>
          <a:p>
            <a:pPr lvl="1">
              <a:defRPr/>
            </a:pPr>
            <a:r>
              <a:rPr lang="tr-TR" sz="1600" dirty="0" smtClean="0">
                <a:ea typeface="+mn-ea"/>
                <a:cs typeface="+mn-cs"/>
              </a:rPr>
              <a:t>16. Pens ampermetreler yalnız akım ölçecek şekilde tasarlanmış ve üretilmiş ölçü aletleridir.</a:t>
            </a:r>
          </a:p>
          <a:p>
            <a:pPr lvl="1">
              <a:defRPr/>
            </a:pPr>
            <a:r>
              <a:rPr lang="tr-TR" sz="1600" dirty="0" smtClean="0">
                <a:ea typeface="+mn-ea"/>
                <a:cs typeface="+mn-cs"/>
              </a:rPr>
              <a:t>17. Pens ampermetrelerde, pens içerisinden biri birine eşit; ama zıt yönlü akım geçen iki</a:t>
            </a:r>
            <a:r>
              <a:rPr lang="en-GB" sz="1600" dirty="0" smtClean="0">
                <a:ea typeface="+mn-ea"/>
                <a:cs typeface="+mn-cs"/>
              </a:rPr>
              <a:t> </a:t>
            </a:r>
            <a:r>
              <a:rPr lang="tr-TR" sz="1600" dirty="0" smtClean="0">
                <a:ea typeface="+mn-ea"/>
                <a:cs typeface="+mn-cs"/>
              </a:rPr>
              <a:t>iletken ile yapılan ölçün sonucu sıfırdır.</a:t>
            </a:r>
          </a:p>
          <a:p>
            <a:pPr lvl="1">
              <a:defRPr/>
            </a:pPr>
            <a:r>
              <a:rPr lang="tr-TR" sz="1600" dirty="0" smtClean="0">
                <a:ea typeface="+mn-ea"/>
                <a:cs typeface="+mn-cs"/>
              </a:rPr>
              <a:t>18. Pens ampermetrelerin en önemli özelliği, hattı kesmeden akım değeri ölçebilmektir.</a:t>
            </a:r>
          </a:p>
        </p:txBody>
      </p:sp>
      <p:sp>
        <p:nvSpPr>
          <p:cNvPr id="162820" name="Slide Number Placeholder 4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76F8B8AD-2368-4F6C-A165-680130DB1FAB}" type="slidenum">
              <a:rPr lang="en-US" sz="1000"/>
              <a:pPr algn="r"/>
              <a:t>150</a:t>
            </a:fld>
            <a:endParaRPr lang="en-US"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7F534818-7380-48F6-BEB2-561D60AC8C12}" type="slidenum">
              <a:rPr lang="en-US"/>
              <a:pPr/>
              <a:t>151</a:t>
            </a:fld>
            <a:endParaRPr lang="en-US"/>
          </a:p>
        </p:txBody>
      </p:sp>
      <p:sp>
        <p:nvSpPr>
          <p:cNvPr id="163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z="3600" b="1" smtClean="0"/>
              <a:t>ÖLÇME VE DEĞERLENDİRME</a:t>
            </a:r>
            <a:endParaRPr lang="en-US" sz="3600" smtClean="0"/>
          </a:p>
        </p:txBody>
      </p:sp>
      <p:sp>
        <p:nvSpPr>
          <p:cNvPr id="163843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sz="2400" b="1" smtClean="0"/>
              <a:t>DEĞERLENDİRME</a:t>
            </a:r>
          </a:p>
          <a:p>
            <a:r>
              <a:rPr lang="tr-TR" sz="2400" smtClean="0"/>
              <a:t>Cevaplarınızı cevap anahtarı ile kontrol ediniz. Doğru ve yanlış cevaplarınızı</a:t>
            </a:r>
            <a:r>
              <a:rPr lang="en-GB" sz="2400" smtClean="0"/>
              <a:t> </a:t>
            </a:r>
            <a:r>
              <a:rPr lang="tr-TR" sz="2400" smtClean="0"/>
              <a:t>belirleyerek kendinizi değerlendiriniz. </a:t>
            </a:r>
            <a:endParaRPr lang="en-GB" sz="2400" smtClean="0"/>
          </a:p>
          <a:p>
            <a:r>
              <a:rPr lang="tr-TR" sz="2400" smtClean="0"/>
              <a:t>Cevaplarınız yanlış ise öğrenme faaliyetinin ilgili</a:t>
            </a:r>
            <a:r>
              <a:rPr lang="en-GB" sz="2400" smtClean="0"/>
              <a:t> </a:t>
            </a:r>
            <a:r>
              <a:rPr lang="tr-TR" sz="2400" smtClean="0"/>
              <a:t>bölümüne dönerek konuyu tekrar ediniz.</a:t>
            </a:r>
          </a:p>
        </p:txBody>
      </p:sp>
      <p:sp>
        <p:nvSpPr>
          <p:cNvPr id="163844" name="Slide Number Placeholder 4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FA50BF23-942A-4EFF-999A-89E1BEF161DF}" type="slidenum">
              <a:rPr lang="en-US" sz="1000"/>
              <a:pPr algn="r"/>
              <a:t>151</a:t>
            </a:fld>
            <a:endParaRPr lang="en-US"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316E7CB8-AE7C-406C-BCD1-FE8FEF4A4060}" type="slidenum">
              <a:rPr lang="en-US"/>
              <a:pPr/>
              <a:t>152</a:t>
            </a:fld>
            <a:endParaRPr lang="en-US"/>
          </a:p>
        </p:txBody>
      </p:sp>
      <p:sp>
        <p:nvSpPr>
          <p:cNvPr id="164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smtClean="0"/>
              <a:t>ÖĞRENME FAALİYETİ-6</a:t>
            </a:r>
            <a:endParaRPr lang="en-US" sz="3600" smtClean="0"/>
          </a:p>
        </p:txBody>
      </p:sp>
      <p:sp>
        <p:nvSpPr>
          <p:cNvPr id="16384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49325" y="1981200"/>
            <a:ext cx="7766050" cy="4114800"/>
          </a:xfrm>
        </p:spPr>
        <p:txBody>
          <a:bodyPr/>
          <a:lstStyle/>
          <a:p>
            <a:r>
              <a:rPr lang="en-US" sz="2000" b="1" smtClean="0"/>
              <a:t>AMAÇ</a:t>
            </a:r>
            <a:endParaRPr lang="tr-TR" sz="2000" b="1" smtClean="0"/>
          </a:p>
          <a:p>
            <a:pPr lvl="1"/>
            <a:r>
              <a:rPr lang="tr-TR" sz="2000" smtClean="0"/>
              <a:t>Değişik değerlerdeki gerilimi, uygun voltmetre ile gerekli bağlantıyı yaparak hatasız</a:t>
            </a:r>
            <a:r>
              <a:rPr lang="en-GB" sz="2000" smtClean="0"/>
              <a:t> </a:t>
            </a:r>
            <a:r>
              <a:rPr lang="tr-TR" sz="2000" smtClean="0"/>
              <a:t>ve tekniğine uygun ölçebileceksiniz.</a:t>
            </a:r>
            <a:endParaRPr lang="tr-TR" b="1" smtClean="0"/>
          </a:p>
          <a:p>
            <a:endParaRPr lang="tr-TR" sz="2800" b="1" smtClean="0"/>
          </a:p>
          <a:p>
            <a:r>
              <a:rPr lang="en-US" sz="2000" b="1" smtClean="0"/>
              <a:t>ARAŞTIRMA</a:t>
            </a:r>
          </a:p>
          <a:p>
            <a:pPr lvl="1"/>
            <a:r>
              <a:rPr lang="tr-TR" sz="2000" smtClean="0"/>
              <a:t>Gerilimi ölçmenin önemini, hangi değerdeki gerilimin nasıl ölçüleceğini, yüksek</a:t>
            </a:r>
            <a:r>
              <a:rPr lang="en-GB" sz="2000" smtClean="0"/>
              <a:t> </a:t>
            </a:r>
            <a:r>
              <a:rPr lang="tr-TR" sz="2000" smtClean="0"/>
              <a:t>gerilim değerlerinin ölçümündeki zorluk ve sakıncaları araştırarak bir rapor haline</a:t>
            </a:r>
            <a:r>
              <a:rPr lang="en-GB" sz="2000" smtClean="0"/>
              <a:t> </a:t>
            </a:r>
            <a:r>
              <a:rPr lang="tr-TR" sz="2000" smtClean="0"/>
              <a:t>getiriniz.</a:t>
            </a:r>
          </a:p>
          <a:p>
            <a:endParaRPr lang="en-US" sz="2000" smtClean="0"/>
          </a:p>
          <a:p>
            <a:endParaRPr lang="en-US" sz="2000" smtClean="0"/>
          </a:p>
          <a:p>
            <a:endParaRPr lang="en-US" sz="1800" smtClean="0"/>
          </a:p>
        </p:txBody>
      </p:sp>
      <p:sp>
        <p:nvSpPr>
          <p:cNvPr id="164868" name="Content Placeholder 6"/>
          <p:cNvSpPr>
            <a:spLocks noGrp="1"/>
          </p:cNvSpPr>
          <p:nvPr>
            <p:ph sz="quarter" idx="3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en-GB" smtClean="0"/>
              <a:t>  </a:t>
            </a:r>
            <a:endParaRPr lang="tr-TR" smtClean="0"/>
          </a:p>
        </p:txBody>
      </p:sp>
      <p:sp>
        <p:nvSpPr>
          <p:cNvPr id="164869" name="Slide Number Placeholder 9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D5677C01-027B-4F88-9F49-AC58E2226F8F}" type="slidenum">
              <a:rPr lang="en-US" sz="1000"/>
              <a:pPr algn="r"/>
              <a:t>152</a:t>
            </a:fld>
            <a:endParaRPr lang="en-US"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11F89F48-8D1E-4E9D-93AB-03748CACB9EE}" type="slidenum">
              <a:rPr lang="en-US"/>
              <a:pPr/>
              <a:t>153</a:t>
            </a:fld>
            <a:endParaRPr lang="en-US"/>
          </a:p>
        </p:txBody>
      </p:sp>
      <p:sp>
        <p:nvSpPr>
          <p:cNvPr id="165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z="3600" b="1" smtClean="0"/>
              <a:t>6. GERİLİM ÖLÇME</a:t>
            </a:r>
          </a:p>
        </p:txBody>
      </p:sp>
      <p:sp>
        <p:nvSpPr>
          <p:cNvPr id="164867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sz="1800" b="1" smtClean="0"/>
              <a:t>6.1. Gerilimin Tanımı</a:t>
            </a:r>
          </a:p>
          <a:p>
            <a:pPr lvl="1"/>
            <a:r>
              <a:rPr lang="tr-TR" sz="1600" smtClean="0"/>
              <a:t>Bir elektrik devresinde akımın geçişini sağlayan etki olup iki nokta arasındaki</a:t>
            </a:r>
            <a:r>
              <a:rPr lang="en-GB" sz="1600" smtClean="0"/>
              <a:t> </a:t>
            </a:r>
            <a:r>
              <a:rPr lang="tr-TR" sz="1600" smtClean="0"/>
              <a:t>potansiyel fark olarak ifade edilir. </a:t>
            </a:r>
            <a:endParaRPr lang="en-GB" sz="1600" smtClean="0"/>
          </a:p>
          <a:p>
            <a:pPr lvl="1"/>
            <a:r>
              <a:rPr lang="tr-TR" sz="1600" smtClean="0"/>
              <a:t>(</a:t>
            </a:r>
            <a:r>
              <a:rPr lang="tr-TR" sz="1600" b="1" smtClean="0"/>
              <a:t>V) harfi ile gösterilir. Gerilim birimi volttur.</a:t>
            </a:r>
          </a:p>
          <a:p>
            <a:pPr lvl="1"/>
            <a:r>
              <a:rPr lang="tr-TR" sz="1600" b="1" smtClean="0"/>
              <a:t>6.2. Voltmetrenin Yapısı ve Tanımı</a:t>
            </a:r>
          </a:p>
          <a:p>
            <a:pPr lvl="1"/>
            <a:r>
              <a:rPr lang="tr-TR" sz="1600" smtClean="0"/>
              <a:t>Elektrik devrelerinde gerilim ölçmeye yarayan ölçü aletlerine </a:t>
            </a:r>
            <a:r>
              <a:rPr lang="tr-TR" sz="1600" b="1" smtClean="0"/>
              <a:t>voltmetre </a:t>
            </a:r>
            <a:r>
              <a:rPr lang="tr-TR" sz="1600" smtClean="0"/>
              <a:t>denir.</a:t>
            </a:r>
          </a:p>
          <a:p>
            <a:pPr lvl="1"/>
            <a:r>
              <a:rPr lang="tr-TR" sz="1600" smtClean="0"/>
              <a:t>Voltmetreler devreye paralel bağlanır ve “</a:t>
            </a:r>
            <a:r>
              <a:rPr lang="tr-TR" sz="1600" b="1" smtClean="0"/>
              <a:t>V” harfi ile gösterilirler. </a:t>
            </a:r>
            <a:r>
              <a:rPr lang="tr-TR" sz="1600" smtClean="0"/>
              <a:t>Voltmetreler devreye</a:t>
            </a:r>
            <a:r>
              <a:rPr lang="en-GB" sz="1600" smtClean="0"/>
              <a:t> </a:t>
            </a:r>
            <a:r>
              <a:rPr lang="tr-TR" sz="1600" smtClean="0"/>
              <a:t>paralel olarak bağlandıklarından kaynağın veya devrenin gerilimini düşürecek kadar akım</a:t>
            </a:r>
            <a:r>
              <a:rPr lang="en-GB" sz="1600" smtClean="0"/>
              <a:t> </a:t>
            </a:r>
            <a:r>
              <a:rPr lang="tr-TR" sz="1600" smtClean="0"/>
              <a:t>çekmemelidirler. Bu da voltmetrelerin iç direncinin yüksek olmasını gerektirir. </a:t>
            </a:r>
            <a:endParaRPr lang="en-GB" sz="1600" smtClean="0"/>
          </a:p>
          <a:p>
            <a:pPr lvl="1"/>
            <a:r>
              <a:rPr lang="tr-TR" sz="1600" smtClean="0"/>
              <a:t>Elektrik</a:t>
            </a:r>
            <a:r>
              <a:rPr lang="en-GB" sz="1600" smtClean="0"/>
              <a:t> </a:t>
            </a:r>
            <a:r>
              <a:rPr lang="tr-TR" sz="1600" smtClean="0"/>
              <a:t>devrelerinde voltmetrenin yanlışlıkla seri bağlanması durumunda iç direnci çok fazla</a:t>
            </a:r>
            <a:r>
              <a:rPr lang="en-GB" sz="1600" smtClean="0"/>
              <a:t> </a:t>
            </a:r>
            <a:r>
              <a:rPr lang="tr-TR" sz="1600" smtClean="0"/>
              <a:t>olduğundan kaynak geriliminin büyük bir kısmı voltmetre üzerinde düşeceğinden alıcı</a:t>
            </a:r>
            <a:r>
              <a:rPr lang="en-GB" sz="1600" smtClean="0"/>
              <a:t> </a:t>
            </a:r>
            <a:r>
              <a:rPr lang="tr-TR" sz="1600" smtClean="0"/>
              <a:t>düzgün olarak çalışmaz. </a:t>
            </a:r>
            <a:endParaRPr lang="en-GB" sz="1600" smtClean="0"/>
          </a:p>
          <a:p>
            <a:pPr lvl="1"/>
            <a:r>
              <a:rPr lang="tr-TR" sz="1600" smtClean="0"/>
              <a:t>Eğer alıcı yüksek akımlı ise bu durumda voltmetre seri bağlanacak</a:t>
            </a:r>
            <a:r>
              <a:rPr lang="en-GB" sz="1600" smtClean="0"/>
              <a:t> </a:t>
            </a:r>
            <a:r>
              <a:rPr lang="tr-TR" sz="1600" smtClean="0"/>
              <a:t>olursa yanarak kullanılmaz hale gelebilir.</a:t>
            </a:r>
          </a:p>
        </p:txBody>
      </p:sp>
      <p:sp>
        <p:nvSpPr>
          <p:cNvPr id="165892" name="Slide Number Placeholder 4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6430AC35-94D1-4B81-B5A0-5043C75DDC71}" type="slidenum">
              <a:rPr lang="en-US" sz="1000"/>
              <a:pPr algn="r"/>
              <a:t>153</a:t>
            </a:fld>
            <a:endParaRPr lang="en-US"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447D7487-4B01-4725-83BA-F7AFD1E77CF4}" type="slidenum">
              <a:rPr lang="en-US"/>
              <a:pPr/>
              <a:t>154</a:t>
            </a:fld>
            <a:endParaRPr lang="en-US"/>
          </a:p>
        </p:txBody>
      </p:sp>
      <p:sp>
        <p:nvSpPr>
          <p:cNvPr id="166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z="3600" b="1" smtClean="0"/>
              <a:t>6. GERİLİM ÖLÇME</a:t>
            </a:r>
          </a:p>
        </p:txBody>
      </p:sp>
      <p:sp>
        <p:nvSpPr>
          <p:cNvPr id="165891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endParaRPr lang="en-GB" smtClean="0"/>
          </a:p>
          <a:p>
            <a:pPr>
              <a:buFont typeface="Wingdings" pitchFamily="2" charset="2"/>
              <a:buNone/>
            </a:pPr>
            <a:endParaRPr lang="en-GB" smtClean="0"/>
          </a:p>
          <a:p>
            <a:pPr>
              <a:buFont typeface="Wingdings" pitchFamily="2" charset="2"/>
              <a:buNone/>
            </a:pPr>
            <a:endParaRPr lang="en-GB" smtClean="0"/>
          </a:p>
          <a:p>
            <a:pPr>
              <a:buFont typeface="Wingdings" pitchFamily="2" charset="2"/>
              <a:buNone/>
            </a:pPr>
            <a:endParaRPr lang="en-GB" smtClean="0"/>
          </a:p>
          <a:p>
            <a:pPr>
              <a:buFont typeface="Wingdings" pitchFamily="2" charset="2"/>
              <a:buNone/>
            </a:pPr>
            <a:endParaRPr lang="en-GB" smtClean="0"/>
          </a:p>
          <a:p>
            <a:r>
              <a:rPr lang="tr-TR" sz="1600" b="1" smtClean="0"/>
              <a:t>6.3. Voltmetreyi Devreye Bağlamak ve Gerilim Ölçmek</a:t>
            </a:r>
          </a:p>
          <a:p>
            <a:pPr lvl="1"/>
            <a:r>
              <a:rPr lang="tr-TR" sz="1600" smtClean="0"/>
              <a:t>Gerilim ölçme işleminde en önemli noktalardan biri yapılacak gerilim ölçümüne</a:t>
            </a:r>
            <a:r>
              <a:rPr lang="en-GB" sz="1600" smtClean="0"/>
              <a:t> </a:t>
            </a:r>
            <a:r>
              <a:rPr lang="tr-TR" sz="1600" smtClean="0"/>
              <a:t>uygun voltmetre seçmektir. bu seçimim doğru yapılması, ölçümün doğruluğu, ölçüm yapan</a:t>
            </a:r>
            <a:r>
              <a:rPr lang="en-GB" sz="1600" smtClean="0"/>
              <a:t> </a:t>
            </a:r>
            <a:r>
              <a:rPr lang="tr-TR" sz="1600" smtClean="0"/>
              <a:t>kişinin ve ölçü aletinin güvenliği için önemlidir. </a:t>
            </a:r>
            <a:endParaRPr lang="en-GB" sz="1600" smtClean="0"/>
          </a:p>
          <a:p>
            <a:pPr lvl="1"/>
            <a:r>
              <a:rPr lang="tr-TR" sz="1600" smtClean="0"/>
              <a:t>Voltmetre seçimi yapılırken aşağıda</a:t>
            </a:r>
            <a:r>
              <a:rPr lang="en-GB" sz="1600" smtClean="0"/>
              <a:t> </a:t>
            </a:r>
            <a:r>
              <a:rPr lang="tr-TR" sz="1600" smtClean="0"/>
              <a:t>belirtilen hususlara kesinlikle dikkat edilmelidir:</a:t>
            </a:r>
          </a:p>
          <a:p>
            <a:pPr>
              <a:buFont typeface="Wingdings" pitchFamily="2" charset="2"/>
              <a:buNone/>
            </a:pPr>
            <a:endParaRPr lang="tr-TR" smtClean="0"/>
          </a:p>
        </p:txBody>
      </p:sp>
      <p:pic>
        <p:nvPicPr>
          <p:cNvPr id="16691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00125" y="2147888"/>
            <a:ext cx="6429375" cy="2562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6917" name="Slide Number Placeholder 6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9269F594-CA51-41FD-8279-C20AB51FE63B}" type="slidenum">
              <a:rPr lang="en-US" sz="1000"/>
              <a:pPr algn="r"/>
              <a:t>154</a:t>
            </a:fld>
            <a:endParaRPr lang="en-US"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87B0953E-C4C6-4B8C-BC34-328FFB73E80E}" type="slidenum">
              <a:rPr lang="en-US"/>
              <a:pPr/>
              <a:t>155</a:t>
            </a:fld>
            <a:endParaRPr lang="en-US"/>
          </a:p>
        </p:txBody>
      </p:sp>
      <p:sp>
        <p:nvSpPr>
          <p:cNvPr id="167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z="3600" b="1" smtClean="0"/>
              <a:t>6. GERİLİM ÖLÇME</a:t>
            </a:r>
          </a:p>
        </p:txBody>
      </p:sp>
      <p:sp>
        <p:nvSpPr>
          <p:cNvPr id="167939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sz="1600" b="1" smtClean="0"/>
              <a:t>Voltmetreler devreye paralel bağlanır.</a:t>
            </a:r>
          </a:p>
          <a:p>
            <a:r>
              <a:rPr lang="tr-TR" sz="1600" smtClean="0"/>
              <a:t>Gerilim çeşidine uygun(AC-DC) voltmetre seçilmelidir.</a:t>
            </a:r>
          </a:p>
          <a:p>
            <a:r>
              <a:rPr lang="tr-TR" sz="1600" smtClean="0"/>
              <a:t>Gerilimin ölçme sınırı ölçülecek gerilimin değerinden mutlaka büyük olmalıdır.</a:t>
            </a:r>
          </a:p>
          <a:p>
            <a:r>
              <a:rPr lang="tr-TR" sz="1600" smtClean="0"/>
              <a:t>Alternatif gerilim ölçmelerinde voltmetreye bağlanan giriş ve çıkış uçları farklılık</a:t>
            </a:r>
          </a:p>
          <a:p>
            <a:r>
              <a:rPr lang="tr-TR" sz="1600" smtClean="0"/>
              <a:t>göstermezken doğru akımda “+” ve “–“ uçlar doğru bağlanmalıdır. Aksi takdirdeanalog ölçü aletlerinde ibre ters sapar, dijital ölçü aletlerinde gerilim değeri önünde</a:t>
            </a:r>
            <a:r>
              <a:rPr lang="en-GB" sz="1600" smtClean="0"/>
              <a:t> </a:t>
            </a:r>
            <a:r>
              <a:rPr lang="tr-TR" sz="1600" smtClean="0"/>
              <a:t>(─) ifadesi görünür.</a:t>
            </a:r>
          </a:p>
          <a:p>
            <a:r>
              <a:rPr lang="tr-TR" sz="1600" smtClean="0"/>
              <a:t>Ölçülecek gerilim değerine uygun hassasiyet ve yapıya sahip voltmetre seçilmelidir.</a:t>
            </a:r>
          </a:p>
          <a:p>
            <a:r>
              <a:rPr lang="tr-TR" sz="1600" smtClean="0"/>
              <a:t>10 mV’luk gerilim, kV seviyesinde ölçüm yapan voltmetre ile ölçülemez.</a:t>
            </a:r>
          </a:p>
          <a:p>
            <a:r>
              <a:rPr lang="tr-TR" sz="1600" smtClean="0"/>
              <a:t>Voltmetre gerilimi ölçülecek kaynak veya alıcının uçlarına bağlanmalıdır.</a:t>
            </a:r>
          </a:p>
          <a:p>
            <a:r>
              <a:rPr lang="tr-TR" sz="1600" smtClean="0"/>
              <a:t>Enerji altında, sabit voltmetrelerin bağlantısı yapılmamalı ve yapılmış bağlantıya</a:t>
            </a:r>
            <a:r>
              <a:rPr lang="en-GB" sz="1600" smtClean="0"/>
              <a:t> </a:t>
            </a:r>
            <a:r>
              <a:rPr lang="tr-TR" sz="1600" smtClean="0"/>
              <a:t>müdahale edilmemelidir. Ancak taşınabilir ve problar vasıtası ile ölçüm yapılabilecek</a:t>
            </a:r>
            <a:r>
              <a:rPr lang="en-GB" sz="1600" smtClean="0"/>
              <a:t> </a:t>
            </a:r>
            <a:r>
              <a:rPr lang="tr-TR" sz="1600" smtClean="0"/>
              <a:t>voltmetreler ile gerekli önlemler alındıktan sonra ölçüm yapılabilir.</a:t>
            </a:r>
          </a:p>
        </p:txBody>
      </p:sp>
      <p:sp>
        <p:nvSpPr>
          <p:cNvPr id="167940" name="Slide Number Placeholder 4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A9C64798-8D43-4E75-8927-075399E72D1C}" type="slidenum">
              <a:rPr lang="en-US" sz="1000"/>
              <a:pPr algn="r"/>
              <a:t>155</a:t>
            </a:fld>
            <a:endParaRPr lang="en-US"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D3396E12-E407-4D9A-9861-CB8C5E08B679}" type="slidenum">
              <a:rPr lang="en-US"/>
              <a:pPr/>
              <a:t>156</a:t>
            </a:fld>
            <a:endParaRPr lang="en-US"/>
          </a:p>
        </p:txBody>
      </p:sp>
      <p:sp>
        <p:nvSpPr>
          <p:cNvPr id="168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z="3600" b="1" smtClean="0"/>
              <a:t>6. GERİLİM ÖLÇME</a:t>
            </a:r>
          </a:p>
        </p:txBody>
      </p:sp>
      <p:sp>
        <p:nvSpPr>
          <p:cNvPr id="168963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sz="1600" smtClean="0"/>
              <a:t>Aşağıda verilen şemaya göre gerekli voltmetre, araç ve gereçleri seçerek bağlantıyı</a:t>
            </a:r>
            <a:r>
              <a:rPr lang="en-GB" sz="1600" smtClean="0"/>
              <a:t> </a:t>
            </a:r>
            <a:r>
              <a:rPr lang="tr-TR" sz="1600" smtClean="0"/>
              <a:t>kurun. </a:t>
            </a:r>
            <a:endParaRPr lang="en-GB" sz="1600" smtClean="0"/>
          </a:p>
          <a:p>
            <a:r>
              <a:rPr lang="tr-TR" sz="1600" smtClean="0"/>
              <a:t>Öğretmeninizin gözetiminde devreye enerji vererek ayarlı güç kaynağı ile gerilimi</a:t>
            </a:r>
            <a:r>
              <a:rPr lang="en-GB" sz="1600" smtClean="0"/>
              <a:t> </a:t>
            </a:r>
            <a:r>
              <a:rPr lang="tr-TR" sz="1600" smtClean="0"/>
              <a:t>değiştiriniz. Voltmetrede okuduğunuz değerleri çizelgeye yazınız. Aynı bağlantıyı doğru</a:t>
            </a:r>
            <a:r>
              <a:rPr lang="en-GB" sz="1600" smtClean="0"/>
              <a:t> </a:t>
            </a:r>
            <a:r>
              <a:rPr lang="tr-TR" sz="1600" smtClean="0"/>
              <a:t>akım kaynağı ve voltmetresi kullanarak da yapıp bağlantı açısından bir fark olmadığını</a:t>
            </a:r>
            <a:r>
              <a:rPr lang="en-GB" sz="1600" smtClean="0"/>
              <a:t> </a:t>
            </a:r>
            <a:r>
              <a:rPr lang="tr-TR" sz="1600" smtClean="0"/>
              <a:t>görebilirsiniz.</a:t>
            </a:r>
          </a:p>
        </p:txBody>
      </p:sp>
      <p:sp>
        <p:nvSpPr>
          <p:cNvPr id="168964" name="Slide Number Placeholder 5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14BD3CE8-3EA5-437E-8D0B-463856DE94F9}" type="slidenum">
              <a:rPr lang="en-US" sz="1000"/>
              <a:pPr algn="r"/>
              <a:t>156</a:t>
            </a:fld>
            <a:endParaRPr lang="en-US" sz="1000"/>
          </a:p>
        </p:txBody>
      </p:sp>
      <p:pic>
        <p:nvPicPr>
          <p:cNvPr id="168965" name="Picture 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43000" y="3643313"/>
            <a:ext cx="4933950" cy="2724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8966" name="Rectangle 7"/>
          <p:cNvSpPr>
            <a:spLocks noChangeArrowheads="1"/>
          </p:cNvSpPr>
          <p:nvPr/>
        </p:nvSpPr>
        <p:spPr bwMode="auto">
          <a:xfrm>
            <a:off x="6215063" y="3571875"/>
            <a:ext cx="2643187" cy="92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tr-TR" b="1"/>
              <a:t>Resim 6.2. Voltmetrenin devreye bağlanması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89AEA633-BB53-4B10-8CA1-574E87BB6070}" type="slidenum">
              <a:rPr lang="en-US"/>
              <a:pPr/>
              <a:t>157</a:t>
            </a:fld>
            <a:endParaRPr lang="en-US"/>
          </a:p>
        </p:txBody>
      </p:sp>
      <p:sp>
        <p:nvSpPr>
          <p:cNvPr id="169986" name="Rectangle 2"/>
          <p:cNvSpPr>
            <a:spLocks noGrp="1" noChangeArrowheads="1"/>
          </p:cNvSpPr>
          <p:nvPr>
            <p:ph type="title"/>
          </p:nvPr>
        </p:nvSpPr>
        <p:spPr>
          <a:xfrm>
            <a:off x="928688" y="0"/>
            <a:ext cx="7158037" cy="1412875"/>
          </a:xfrm>
        </p:spPr>
        <p:txBody>
          <a:bodyPr/>
          <a:lstStyle/>
          <a:p>
            <a:pPr eaLnBrk="1" hangingPunct="1"/>
            <a:r>
              <a:rPr lang="en-GB" sz="3600" b="1" smtClean="0"/>
              <a:t>UYGULAMA</a:t>
            </a:r>
            <a:r>
              <a:rPr lang="tr-TR" sz="3600" b="1" smtClean="0"/>
              <a:t> FAALİYETİ</a:t>
            </a:r>
          </a:p>
        </p:txBody>
      </p:sp>
      <p:sp>
        <p:nvSpPr>
          <p:cNvPr id="169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8688" y="1785938"/>
            <a:ext cx="7661275" cy="48768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sz="2400" smtClean="0"/>
              <a:t>  </a:t>
            </a:r>
          </a:p>
        </p:txBody>
      </p:sp>
      <p:pic>
        <p:nvPicPr>
          <p:cNvPr id="16998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85813" y="2057400"/>
            <a:ext cx="6153150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9989" name="Slide Number Placeholder 5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10039E84-1431-49FB-9F08-B5AD0920CC4C}" type="slidenum">
              <a:rPr lang="en-US" sz="1000"/>
              <a:pPr algn="r"/>
              <a:t>157</a:t>
            </a:fld>
            <a:endParaRPr lang="en-US"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03CA0C05-8E38-42D6-A418-E695B4858F34}" type="slidenum">
              <a:rPr lang="en-US"/>
              <a:pPr/>
              <a:t>158</a:t>
            </a:fld>
            <a:endParaRPr lang="en-US"/>
          </a:p>
        </p:txBody>
      </p:sp>
      <p:sp>
        <p:nvSpPr>
          <p:cNvPr id="171010" name="Rectangle 2"/>
          <p:cNvSpPr>
            <a:spLocks noGrp="1" noChangeArrowheads="1"/>
          </p:cNvSpPr>
          <p:nvPr>
            <p:ph type="title"/>
          </p:nvPr>
        </p:nvSpPr>
        <p:spPr>
          <a:xfrm>
            <a:off x="928688" y="0"/>
            <a:ext cx="7158037" cy="1412875"/>
          </a:xfrm>
        </p:spPr>
        <p:txBody>
          <a:bodyPr/>
          <a:lstStyle/>
          <a:p>
            <a:pPr eaLnBrk="1" hangingPunct="1"/>
            <a:r>
              <a:rPr lang="en-GB" sz="3600" b="1" smtClean="0"/>
              <a:t>UYGULAMA</a:t>
            </a:r>
            <a:r>
              <a:rPr lang="tr-TR" sz="3600" b="1" smtClean="0"/>
              <a:t> FAALİYETİ</a:t>
            </a:r>
          </a:p>
        </p:txBody>
      </p:sp>
      <p:sp>
        <p:nvSpPr>
          <p:cNvPr id="171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8688" y="1785938"/>
            <a:ext cx="7661275" cy="48768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sz="2400" smtClean="0"/>
              <a:t>  </a:t>
            </a:r>
          </a:p>
        </p:txBody>
      </p:sp>
      <p:pic>
        <p:nvPicPr>
          <p:cNvPr id="17101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2925" y="2133600"/>
            <a:ext cx="8058150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1013" name="Slide Number Placeholder 4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8CEB2927-BFCF-4232-AD1D-17A06D47AD07}" type="slidenum">
              <a:rPr lang="en-US" sz="1000"/>
              <a:pPr algn="r"/>
              <a:t>158</a:t>
            </a:fld>
            <a:endParaRPr lang="en-US"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744040EC-259F-4E60-BB63-0C54411031BA}" type="slidenum">
              <a:rPr lang="en-US"/>
              <a:pPr/>
              <a:t>159</a:t>
            </a:fld>
            <a:endParaRPr lang="en-US"/>
          </a:p>
        </p:txBody>
      </p:sp>
      <p:sp>
        <p:nvSpPr>
          <p:cNvPr id="172034" name="Rectangle 2"/>
          <p:cNvSpPr>
            <a:spLocks noGrp="1" noChangeArrowheads="1"/>
          </p:cNvSpPr>
          <p:nvPr>
            <p:ph type="title"/>
          </p:nvPr>
        </p:nvSpPr>
        <p:spPr>
          <a:xfrm>
            <a:off x="928688" y="0"/>
            <a:ext cx="7158037" cy="1412875"/>
          </a:xfrm>
        </p:spPr>
        <p:txBody>
          <a:bodyPr/>
          <a:lstStyle/>
          <a:p>
            <a:pPr eaLnBrk="1" hangingPunct="1"/>
            <a:r>
              <a:rPr lang="en-GB" sz="3600" b="1" smtClean="0"/>
              <a:t>UYGULAMA</a:t>
            </a:r>
            <a:r>
              <a:rPr lang="tr-TR" sz="3600" b="1" smtClean="0"/>
              <a:t> FAALİYETİ</a:t>
            </a:r>
          </a:p>
        </p:txBody>
      </p:sp>
      <p:sp>
        <p:nvSpPr>
          <p:cNvPr id="171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8688" y="1785938"/>
            <a:ext cx="7661275" cy="4876800"/>
          </a:xfrm>
        </p:spPr>
        <p:txBody>
          <a:bodyPr/>
          <a:lstStyle/>
          <a:p>
            <a:r>
              <a:rPr lang="tr-TR" sz="2400" b="1" smtClean="0"/>
              <a:t>İşlem Basamakları</a:t>
            </a:r>
            <a:endParaRPr lang="en-GB" sz="2400" b="1" smtClean="0"/>
          </a:p>
          <a:p>
            <a:pPr lvl="1"/>
            <a:r>
              <a:rPr lang="tr-TR" sz="2000" smtClean="0"/>
              <a:t>Ölçülecek gerilime uygun</a:t>
            </a:r>
            <a:r>
              <a:rPr lang="en-GB" sz="2000" smtClean="0"/>
              <a:t> </a:t>
            </a:r>
            <a:r>
              <a:rPr lang="tr-TR" sz="2000" smtClean="0"/>
              <a:t>voltmetre ve devre elemanlarını</a:t>
            </a:r>
            <a:r>
              <a:rPr lang="en-GB" sz="2000" smtClean="0"/>
              <a:t> </a:t>
            </a:r>
            <a:r>
              <a:rPr lang="tr-TR" sz="2000" smtClean="0"/>
              <a:t>seçiniz.</a:t>
            </a:r>
            <a:endParaRPr lang="en-GB" sz="2000" smtClean="0"/>
          </a:p>
          <a:p>
            <a:pPr lvl="1"/>
            <a:r>
              <a:rPr lang="tr-TR" sz="2000" smtClean="0"/>
              <a:t>Analog voltmetre ile ölçüm</a:t>
            </a:r>
            <a:r>
              <a:rPr lang="en-GB" sz="2000" smtClean="0"/>
              <a:t> </a:t>
            </a:r>
            <a:r>
              <a:rPr lang="tr-TR" sz="2000" smtClean="0"/>
              <a:t>yapılacaksa sıfır ayarını yap.</a:t>
            </a:r>
            <a:endParaRPr lang="en-GB" sz="2000" smtClean="0"/>
          </a:p>
          <a:p>
            <a:pPr lvl="1"/>
            <a:r>
              <a:rPr lang="tr-TR" sz="2000" smtClean="0"/>
              <a:t>Voltmetreyi ölçülecek gerilim</a:t>
            </a:r>
            <a:r>
              <a:rPr lang="en-GB" sz="2000" smtClean="0"/>
              <a:t> </a:t>
            </a:r>
            <a:r>
              <a:rPr lang="tr-TR" sz="2000" smtClean="0"/>
              <a:t>değerine uygun kademeye getir.</a:t>
            </a:r>
            <a:endParaRPr lang="en-GB" sz="2000" smtClean="0"/>
          </a:p>
          <a:p>
            <a:pPr lvl="1"/>
            <a:r>
              <a:rPr lang="tr-TR" sz="2000" smtClean="0"/>
              <a:t>Voltmetrenin bağlantısını yap.</a:t>
            </a:r>
          </a:p>
          <a:p>
            <a:pPr lvl="1"/>
            <a:r>
              <a:rPr lang="tr-TR" sz="2000" smtClean="0"/>
              <a:t>Bağlantıyı kontrol ettikten sonra</a:t>
            </a:r>
            <a:r>
              <a:rPr lang="en-GB" sz="2000" smtClean="0"/>
              <a:t> </a:t>
            </a:r>
            <a:r>
              <a:rPr lang="tr-TR" sz="2000" smtClean="0"/>
              <a:t>devreye enerji ver.</a:t>
            </a:r>
            <a:endParaRPr lang="en-GB" sz="2000" smtClean="0"/>
          </a:p>
          <a:p>
            <a:pPr lvl="1"/>
            <a:r>
              <a:rPr lang="tr-TR" sz="2000" smtClean="0"/>
              <a:t>Varyak ile gerilim değerini</a:t>
            </a:r>
            <a:r>
              <a:rPr lang="en-GB" sz="2000" smtClean="0"/>
              <a:t> </a:t>
            </a:r>
            <a:r>
              <a:rPr lang="tr-TR" sz="2000" smtClean="0"/>
              <a:t>değiştirerek gerilim değerini ölç</a:t>
            </a:r>
            <a:r>
              <a:rPr lang="en-GB" sz="2000" smtClean="0"/>
              <a:t> </a:t>
            </a:r>
            <a:r>
              <a:rPr lang="tr-TR" sz="2000" smtClean="0"/>
              <a:t>ve çizelgeye yaz.</a:t>
            </a:r>
          </a:p>
          <a:p>
            <a:endParaRPr lang="tr-TR" sz="2400" smtClean="0"/>
          </a:p>
          <a:p>
            <a:endParaRPr lang="tr-TR" sz="2400" smtClean="0"/>
          </a:p>
          <a:p>
            <a:endParaRPr lang="tr-TR" sz="2400" b="1" smtClean="0"/>
          </a:p>
        </p:txBody>
      </p:sp>
      <p:sp>
        <p:nvSpPr>
          <p:cNvPr id="172036" name="Slide Number Placeholder 4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18D142A1-A2C2-4886-BD48-465EA46BA3BC}" type="slidenum">
              <a:rPr lang="en-US" sz="1000"/>
              <a:pPr algn="r"/>
              <a:t>159</a:t>
            </a:fld>
            <a:endParaRPr lang="en-US"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9A145BDB-4DB9-4F2F-BDCE-8D04575EA3B2}" type="slidenum">
              <a:rPr lang="en-US"/>
              <a:pPr/>
              <a:t>160</a:t>
            </a:fld>
            <a:endParaRPr lang="en-US"/>
          </a:p>
        </p:txBody>
      </p:sp>
      <p:sp>
        <p:nvSpPr>
          <p:cNvPr id="173058" name="Rectangle 2"/>
          <p:cNvSpPr>
            <a:spLocks noGrp="1" noChangeArrowheads="1"/>
          </p:cNvSpPr>
          <p:nvPr>
            <p:ph type="title"/>
          </p:nvPr>
        </p:nvSpPr>
        <p:spPr>
          <a:xfrm>
            <a:off x="928688" y="0"/>
            <a:ext cx="7158037" cy="1412875"/>
          </a:xfrm>
        </p:spPr>
        <p:txBody>
          <a:bodyPr/>
          <a:lstStyle/>
          <a:p>
            <a:pPr eaLnBrk="1" hangingPunct="1"/>
            <a:r>
              <a:rPr lang="en-GB" sz="3600" b="1" smtClean="0"/>
              <a:t>UYGULAMA</a:t>
            </a:r>
            <a:r>
              <a:rPr lang="tr-TR" sz="3600" b="1" smtClean="0"/>
              <a:t> FAALİYETİ</a:t>
            </a:r>
          </a:p>
        </p:txBody>
      </p:sp>
      <p:sp>
        <p:nvSpPr>
          <p:cNvPr id="172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8688" y="1785938"/>
            <a:ext cx="7661275" cy="4876800"/>
          </a:xfrm>
        </p:spPr>
        <p:txBody>
          <a:bodyPr/>
          <a:lstStyle/>
          <a:p>
            <a:r>
              <a:rPr lang="tr-TR" sz="2400" b="1" smtClean="0"/>
              <a:t>Öneriler</a:t>
            </a:r>
            <a:endParaRPr lang="en-GB" sz="2400" b="1" smtClean="0"/>
          </a:p>
          <a:p>
            <a:pPr lvl="1"/>
            <a:r>
              <a:rPr lang="tr-TR" sz="1800" smtClean="0"/>
              <a:t>Voltmetrenin ölçme sınırı, ölçülecek gerilim</a:t>
            </a:r>
            <a:r>
              <a:rPr lang="en-GB" sz="1800" smtClean="0"/>
              <a:t> </a:t>
            </a:r>
            <a:r>
              <a:rPr lang="tr-TR" sz="1800" smtClean="0"/>
              <a:t>değerinden küçük olmamalıdır.</a:t>
            </a:r>
          </a:p>
          <a:p>
            <a:pPr lvl="1"/>
            <a:r>
              <a:rPr lang="tr-TR" sz="1800" smtClean="0"/>
              <a:t> Voltmetre ölçüm yapılacak gerilim çeşidine</a:t>
            </a:r>
            <a:r>
              <a:rPr lang="en-GB" sz="1800" smtClean="0"/>
              <a:t> </a:t>
            </a:r>
            <a:r>
              <a:rPr lang="tr-TR" sz="1800" smtClean="0"/>
              <a:t>(AC-DC) uygun olmalıdır.</a:t>
            </a:r>
          </a:p>
          <a:p>
            <a:pPr lvl="1"/>
            <a:r>
              <a:rPr lang="tr-TR" sz="1800" smtClean="0"/>
              <a:t> Voltmetrenin hassasiyeti ölçülecek gerilim</a:t>
            </a:r>
            <a:r>
              <a:rPr lang="en-GB" sz="1800" smtClean="0"/>
              <a:t> </a:t>
            </a:r>
            <a:r>
              <a:rPr lang="tr-TR" sz="1800" smtClean="0"/>
              <a:t>değerine ve ölçüm amacına uygun olmalıdır.</a:t>
            </a:r>
            <a:endParaRPr lang="en-GB" sz="1800" smtClean="0"/>
          </a:p>
          <a:p>
            <a:pPr lvl="1"/>
            <a:r>
              <a:rPr lang="tr-TR" sz="1800" smtClean="0"/>
              <a:t>Sıfır ayarı yapılmazsa ölçme sonucunun</a:t>
            </a:r>
            <a:r>
              <a:rPr lang="en-GB" sz="1800" smtClean="0"/>
              <a:t> </a:t>
            </a:r>
            <a:r>
              <a:rPr lang="tr-TR" sz="1800" smtClean="0"/>
              <a:t>hatalı olacağını unutmayınız.</a:t>
            </a:r>
            <a:endParaRPr lang="en-GB" sz="1800" smtClean="0"/>
          </a:p>
          <a:p>
            <a:pPr lvl="1"/>
            <a:r>
              <a:rPr lang="sv-SE" sz="1800" smtClean="0"/>
              <a:t>Yanlış gerilim kademesinde ölçüm yapmak </a:t>
            </a:r>
            <a:r>
              <a:rPr lang="tr-TR" sz="1800" smtClean="0"/>
              <a:t>sonucun hatalı olmasının yanında, ölçü</a:t>
            </a:r>
            <a:r>
              <a:rPr lang="en-GB" sz="1800" smtClean="0"/>
              <a:t> </a:t>
            </a:r>
            <a:r>
              <a:rPr lang="tr-TR" sz="1800" smtClean="0"/>
              <a:t>aletine de zarar vereceğini unutmayınız.</a:t>
            </a:r>
            <a:endParaRPr lang="en-GB" sz="1800" smtClean="0"/>
          </a:p>
          <a:p>
            <a:pPr lvl="1"/>
            <a:r>
              <a:rPr lang="tr-TR" sz="1800" smtClean="0"/>
              <a:t>Voltmetreyi devreye paralel bağlayınız.</a:t>
            </a:r>
          </a:p>
          <a:p>
            <a:pPr lvl="1"/>
            <a:r>
              <a:rPr lang="tr-TR" sz="1800" smtClean="0"/>
              <a:t>Devrenize öğretmen gözetiminde enerji</a:t>
            </a:r>
            <a:r>
              <a:rPr lang="en-GB" sz="1800" smtClean="0"/>
              <a:t> </a:t>
            </a:r>
            <a:r>
              <a:rPr lang="tr-TR" sz="1800" smtClean="0"/>
              <a:t>veriniz.</a:t>
            </a:r>
            <a:endParaRPr lang="en-GB" sz="1800" smtClean="0"/>
          </a:p>
          <a:p>
            <a:pPr lvl="1"/>
            <a:r>
              <a:rPr lang="tr-TR" sz="1800" smtClean="0"/>
              <a:t>Analog ölçü aleti ile ölçüm yapılıyorsa</a:t>
            </a:r>
            <a:r>
              <a:rPr lang="en-GB" sz="1800" smtClean="0"/>
              <a:t> </a:t>
            </a:r>
            <a:r>
              <a:rPr lang="tr-TR" sz="1800" smtClean="0"/>
              <a:t>skaladaki ayna şeridinden faydalanınız.</a:t>
            </a:r>
          </a:p>
          <a:p>
            <a:pPr lvl="1"/>
            <a:endParaRPr lang="tr-TR" sz="1800" smtClean="0"/>
          </a:p>
          <a:p>
            <a:pPr lvl="1"/>
            <a:endParaRPr lang="tr-TR" sz="1800" smtClean="0"/>
          </a:p>
          <a:p>
            <a:pPr lvl="1"/>
            <a:endParaRPr lang="tr-TR" sz="1800" b="1" smtClean="0"/>
          </a:p>
        </p:txBody>
      </p:sp>
      <p:sp>
        <p:nvSpPr>
          <p:cNvPr id="173060" name="Slide Number Placeholder 5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8BA9A9E6-2F0E-46B5-B9DF-C5A92B06E301}" type="slidenum">
              <a:rPr lang="en-US" sz="1000"/>
              <a:pPr algn="r"/>
              <a:t>160</a:t>
            </a:fld>
            <a:endParaRPr lang="en-US"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CAC41082-39AB-436A-92C5-E780D7D67B7D}" type="slidenum">
              <a:rPr lang="en-US"/>
              <a:pPr/>
              <a:t>161</a:t>
            </a:fld>
            <a:endParaRPr lang="en-US"/>
          </a:p>
        </p:txBody>
      </p:sp>
      <p:sp>
        <p:nvSpPr>
          <p:cNvPr id="174082" name="Rectangle 2"/>
          <p:cNvSpPr>
            <a:spLocks noGrp="1" noChangeArrowheads="1"/>
          </p:cNvSpPr>
          <p:nvPr>
            <p:ph type="title"/>
          </p:nvPr>
        </p:nvSpPr>
        <p:spPr>
          <a:xfrm>
            <a:off x="928688" y="0"/>
            <a:ext cx="7158037" cy="1412875"/>
          </a:xfrm>
        </p:spPr>
        <p:txBody>
          <a:bodyPr/>
          <a:lstStyle/>
          <a:p>
            <a:pPr eaLnBrk="1" hangingPunct="1"/>
            <a:r>
              <a:rPr lang="en-GB" sz="3600" b="1" smtClean="0"/>
              <a:t>UYGULAMA</a:t>
            </a:r>
            <a:r>
              <a:rPr lang="tr-TR" sz="3600" b="1" smtClean="0"/>
              <a:t> FAALİYETİ</a:t>
            </a:r>
          </a:p>
        </p:txBody>
      </p:sp>
      <p:sp>
        <p:nvSpPr>
          <p:cNvPr id="174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8688" y="1785938"/>
            <a:ext cx="7661275" cy="48768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sz="2400" smtClean="0"/>
              <a:t>  </a:t>
            </a:r>
          </a:p>
        </p:txBody>
      </p:sp>
      <p:pic>
        <p:nvPicPr>
          <p:cNvPr id="174084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7213" y="2071688"/>
            <a:ext cx="8029575" cy="2914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4085" name="Slide Number Placeholder 4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85741047-CFF3-4106-96C3-482F26EB4F74}" type="slidenum">
              <a:rPr lang="en-US" sz="1000"/>
              <a:pPr algn="r"/>
              <a:t>161</a:t>
            </a:fld>
            <a:endParaRPr lang="en-US"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59004B16-163D-4950-A54B-BBE00A112F96}" type="slidenum">
              <a:rPr lang="en-US"/>
              <a:pPr/>
              <a:t>162</a:t>
            </a:fld>
            <a:endParaRPr lang="en-US"/>
          </a:p>
        </p:txBody>
      </p:sp>
      <p:sp>
        <p:nvSpPr>
          <p:cNvPr id="175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z="3600" b="1" smtClean="0"/>
              <a:t>ÖLÇME VE DEĞERLENDİRME</a:t>
            </a:r>
            <a:endParaRPr lang="en-US" sz="3600" smtClean="0"/>
          </a:p>
        </p:txBody>
      </p:sp>
      <p:sp>
        <p:nvSpPr>
          <p:cNvPr id="175107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sz="1800" b="1" smtClean="0"/>
              <a:t>ÖLÇME SORULARI</a:t>
            </a:r>
          </a:p>
          <a:p>
            <a:r>
              <a:rPr lang="tr-TR" sz="1800" smtClean="0"/>
              <a:t>Aşağıda verilen soruları doğru ya da yanlış olarak cevaplayınız.</a:t>
            </a:r>
          </a:p>
          <a:p>
            <a:r>
              <a:rPr lang="tr-TR" sz="1800" smtClean="0"/>
              <a:t>1. Elektik akımını oluşturan etkiye, gerilim denir.</a:t>
            </a:r>
          </a:p>
          <a:p>
            <a:r>
              <a:rPr lang="tr-TR" sz="1800" smtClean="0"/>
              <a:t>2. Voltmetreler devreye paralel bağlanır.</a:t>
            </a:r>
          </a:p>
          <a:p>
            <a:r>
              <a:rPr lang="tr-TR" sz="1800" smtClean="0"/>
              <a:t>3. Doğru gerilim ölçülürken ölçü aletinin “+”, “─” uçlar ters bağlanmamalıdır.</a:t>
            </a:r>
          </a:p>
          <a:p>
            <a:r>
              <a:rPr lang="tr-TR" sz="1800" smtClean="0"/>
              <a:t>4. Voltmetrenin ast ve üst katları küçükten büyüğe mV, </a:t>
            </a:r>
            <a:r>
              <a:rPr lang="el-GR" sz="1800" smtClean="0"/>
              <a:t>μ</a:t>
            </a:r>
            <a:r>
              <a:rPr lang="tr-TR" sz="1800" smtClean="0"/>
              <a:t>V, V , kV şeklinde sıralanır.</a:t>
            </a:r>
          </a:p>
          <a:p>
            <a:r>
              <a:rPr lang="tr-TR" sz="1800" smtClean="0"/>
              <a:t>5. Voltmetrelerin iç direnci küçüktür.</a:t>
            </a:r>
          </a:p>
          <a:p>
            <a:r>
              <a:rPr lang="tr-TR" sz="1800" smtClean="0"/>
              <a:t>6. Tüm voltmetreler ölçüm yapmak için gerekli enerjiyi ölçüm bağlantısından sağlarlar.</a:t>
            </a:r>
          </a:p>
          <a:p>
            <a:r>
              <a:rPr lang="tr-TR" sz="1800" smtClean="0"/>
              <a:t>7. Hem DA hem de AA’ı ölçen voltmetreler mevcuttur.</a:t>
            </a:r>
          </a:p>
          <a:p>
            <a:r>
              <a:rPr lang="tr-TR" sz="1800" smtClean="0"/>
              <a:t>8. 200,5 v yerine 200,55 v ölçen voltmetre daha hassastır.</a:t>
            </a:r>
          </a:p>
          <a:p>
            <a:r>
              <a:rPr lang="tr-TR" sz="1800" smtClean="0"/>
              <a:t>9. Dijital voltmetreler gerilimin etkin, analog voltmetreler gerilimin ortalama değerini</a:t>
            </a:r>
            <a:r>
              <a:rPr lang="en-GB" sz="1800" smtClean="0"/>
              <a:t> </a:t>
            </a:r>
            <a:r>
              <a:rPr lang="tr-TR" sz="1800" smtClean="0"/>
              <a:t>ölçer.</a:t>
            </a:r>
          </a:p>
        </p:txBody>
      </p:sp>
      <p:sp>
        <p:nvSpPr>
          <p:cNvPr id="175108" name="Slide Number Placeholder 6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B3847F1D-9853-4C38-8B22-776EBC195850}" type="slidenum">
              <a:rPr lang="en-US" sz="1000"/>
              <a:pPr algn="r"/>
              <a:t>162</a:t>
            </a:fld>
            <a:endParaRPr lang="en-US"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80EB6A10-FEC9-431C-ADB3-E34EDA412D62}" type="slidenum">
              <a:rPr lang="en-US"/>
              <a:pPr/>
              <a:t>163</a:t>
            </a:fld>
            <a:endParaRPr lang="en-US"/>
          </a:p>
        </p:txBody>
      </p:sp>
      <p:sp>
        <p:nvSpPr>
          <p:cNvPr id="176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z="3600" b="1" smtClean="0"/>
              <a:t>ÖLÇME VE DEĞERLENDİRME</a:t>
            </a:r>
            <a:endParaRPr lang="en-US" sz="3600" smtClean="0"/>
          </a:p>
        </p:txBody>
      </p:sp>
      <p:sp>
        <p:nvSpPr>
          <p:cNvPr id="176131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sz="2000" b="1" smtClean="0"/>
              <a:t>DEĞERLENDİRME</a:t>
            </a:r>
          </a:p>
          <a:p>
            <a:r>
              <a:rPr lang="tr-TR" sz="1800" smtClean="0"/>
              <a:t>Cevaplarınızı cevap anahtarı ile kontrol ediniz. Doğru ve yanlış cevaplarınızı</a:t>
            </a:r>
            <a:r>
              <a:rPr lang="en-GB" sz="1800" smtClean="0"/>
              <a:t> </a:t>
            </a:r>
            <a:r>
              <a:rPr lang="tr-TR" sz="1800" smtClean="0"/>
              <a:t>belirleyerek kendinizi değerlendiriniz. </a:t>
            </a:r>
            <a:endParaRPr lang="en-GB" sz="1800" smtClean="0"/>
          </a:p>
          <a:p>
            <a:r>
              <a:rPr lang="tr-TR" sz="1800" smtClean="0"/>
              <a:t>Cevaplarınız yanlış ise öğrenme faaliyetinin ilgili</a:t>
            </a:r>
            <a:r>
              <a:rPr lang="en-GB" sz="1800" smtClean="0"/>
              <a:t> </a:t>
            </a:r>
            <a:r>
              <a:rPr lang="tr-TR" sz="1800" smtClean="0"/>
              <a:t>bölümüne dönerek konuyu tekrar ediniz.</a:t>
            </a:r>
          </a:p>
        </p:txBody>
      </p:sp>
      <p:sp>
        <p:nvSpPr>
          <p:cNvPr id="176132" name="Slide Number Placeholder 4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A2571857-4FB8-4362-B542-F0B68BED5D31}" type="slidenum">
              <a:rPr lang="en-US" sz="1000"/>
              <a:pPr algn="r"/>
              <a:t>163</a:t>
            </a:fld>
            <a:endParaRPr lang="en-US"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7F376D43-55A2-489E-824C-AAFE979A654A}" type="slidenum">
              <a:rPr lang="en-US"/>
              <a:pPr/>
              <a:t>164</a:t>
            </a:fld>
            <a:endParaRPr lang="en-US"/>
          </a:p>
        </p:txBody>
      </p:sp>
      <p:sp>
        <p:nvSpPr>
          <p:cNvPr id="177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smtClean="0"/>
              <a:t>ÖĞRENME FAALİYETİ-7</a:t>
            </a:r>
            <a:endParaRPr lang="en-US" sz="3600" smtClean="0"/>
          </a:p>
        </p:txBody>
      </p:sp>
      <p:sp>
        <p:nvSpPr>
          <p:cNvPr id="17613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49325" y="1981200"/>
            <a:ext cx="7623175" cy="4114800"/>
          </a:xfrm>
        </p:spPr>
        <p:txBody>
          <a:bodyPr/>
          <a:lstStyle/>
          <a:p>
            <a:r>
              <a:rPr lang="en-US" sz="2000" b="1" smtClean="0"/>
              <a:t>AMAÇ</a:t>
            </a:r>
            <a:endParaRPr lang="tr-TR" sz="2000" b="1" smtClean="0"/>
          </a:p>
          <a:p>
            <a:pPr lvl="1"/>
            <a:r>
              <a:rPr lang="tr-TR" sz="1800" smtClean="0"/>
              <a:t>Değişik tipteki avometrelerle (multimetrelerle) gerekli bölüm ve kademe ayarlarını</a:t>
            </a:r>
            <a:r>
              <a:rPr lang="en-GB" sz="1800" smtClean="0"/>
              <a:t> </a:t>
            </a:r>
            <a:r>
              <a:rPr lang="tr-TR" sz="1800" smtClean="0"/>
              <a:t>yapıp uygun bağlantı şeklini kurarak akım, gerilim, direnç, endüktans ve kapasite değerlerini</a:t>
            </a:r>
            <a:r>
              <a:rPr lang="en-GB" sz="1800" smtClean="0"/>
              <a:t> </a:t>
            </a:r>
            <a:r>
              <a:rPr lang="tr-TR" sz="1800" smtClean="0"/>
              <a:t>hatasız ve tekniğine uygun olarak ölçebileceksiniz.</a:t>
            </a:r>
          </a:p>
          <a:p>
            <a:endParaRPr lang="tr-TR" sz="2800" b="1" smtClean="0"/>
          </a:p>
          <a:p>
            <a:r>
              <a:rPr lang="en-US" sz="2000" b="1" smtClean="0"/>
              <a:t>ARAŞTIRMA</a:t>
            </a:r>
          </a:p>
          <a:p>
            <a:pPr lvl="1"/>
            <a:r>
              <a:rPr lang="tr-TR" sz="1800" smtClean="0"/>
              <a:t>Avometrelerin yapı, şekil ve çeşitlerini araştırarak bir rapor haline getiriniz.</a:t>
            </a:r>
          </a:p>
          <a:p>
            <a:pPr lvl="1"/>
            <a:endParaRPr lang="en-US" sz="1600" smtClean="0"/>
          </a:p>
          <a:p>
            <a:endParaRPr lang="en-US" sz="2000" smtClean="0"/>
          </a:p>
          <a:p>
            <a:endParaRPr lang="en-US" sz="1800" smtClean="0"/>
          </a:p>
        </p:txBody>
      </p:sp>
      <p:sp>
        <p:nvSpPr>
          <p:cNvPr id="177156" name="Slide Number Placeholder 9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C72FD842-01DF-4D0D-99EC-A255CB5EA60C}" type="slidenum">
              <a:rPr lang="en-US" sz="1000"/>
              <a:pPr algn="r"/>
              <a:t>164</a:t>
            </a:fld>
            <a:endParaRPr lang="en-US"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15C0AE6B-3FD2-48C2-A180-579E627A455C}" type="slidenum">
              <a:rPr lang="en-US"/>
              <a:pPr/>
              <a:t>165</a:t>
            </a:fld>
            <a:endParaRPr lang="en-US"/>
          </a:p>
        </p:txBody>
      </p:sp>
      <p:sp>
        <p:nvSpPr>
          <p:cNvPr id="178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z="3600" b="1" smtClean="0"/>
              <a:t>7. AVOMETRELER</a:t>
            </a:r>
          </a:p>
        </p:txBody>
      </p:sp>
      <p:sp>
        <p:nvSpPr>
          <p:cNvPr id="177155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sz="1800" b="1" smtClean="0"/>
              <a:t>7.1. Ölçme İlkesi ve Kullanma Tekniği</a:t>
            </a:r>
          </a:p>
          <a:p>
            <a:pPr lvl="1"/>
            <a:r>
              <a:rPr lang="tr-TR" sz="1800" smtClean="0"/>
              <a:t>Akım, gerilim ve direnç değerini ölçen aletlere </a:t>
            </a:r>
            <a:r>
              <a:rPr lang="tr-TR" sz="1800" b="1" smtClean="0"/>
              <a:t>avometre denir.</a:t>
            </a:r>
            <a:endParaRPr lang="en-GB" sz="1800" b="1" smtClean="0"/>
          </a:p>
          <a:p>
            <a:pPr lvl="1"/>
            <a:r>
              <a:rPr lang="tr-TR" sz="1800" b="1" smtClean="0"/>
              <a:t> Avometrelerin analog</a:t>
            </a:r>
            <a:r>
              <a:rPr lang="en-GB" sz="1800" b="1" smtClean="0"/>
              <a:t> </a:t>
            </a:r>
            <a:r>
              <a:rPr lang="tr-TR" sz="1800" smtClean="0"/>
              <a:t>ve dijital tipleri mevcut olup analog olanları yapı olarak döner bobinli ölçü aletleridir.</a:t>
            </a:r>
          </a:p>
          <a:p>
            <a:pPr lvl="1"/>
            <a:r>
              <a:rPr lang="tr-TR" sz="1800" smtClean="0"/>
              <a:t>Avometre ile direnç değeri ölçülmeden önce sıfır ayarı yapılmalı ve daha sonra ölçüme</a:t>
            </a:r>
            <a:r>
              <a:rPr lang="en-GB" sz="1800" smtClean="0"/>
              <a:t> </a:t>
            </a:r>
            <a:r>
              <a:rPr lang="tr-TR" sz="1800" smtClean="0"/>
              <a:t>geçilmelidir. </a:t>
            </a:r>
            <a:endParaRPr lang="en-GB" sz="1800" smtClean="0"/>
          </a:p>
          <a:p>
            <a:pPr lvl="1"/>
            <a:r>
              <a:rPr lang="tr-TR" sz="1800" smtClean="0"/>
              <a:t>Dijital avometrelerin özellikle son zamanda çıkan modelleri akım, gerilim,</a:t>
            </a:r>
            <a:r>
              <a:rPr lang="en-GB" sz="1800" smtClean="0"/>
              <a:t> </a:t>
            </a:r>
            <a:r>
              <a:rPr lang="tr-TR" sz="1800" smtClean="0"/>
              <a:t>direnç yanında kapasite, endüktans, frekans, sıcaklık değerlerini ölçmek ile birlikte</a:t>
            </a:r>
            <a:r>
              <a:rPr lang="en-GB" sz="1800" smtClean="0"/>
              <a:t> </a:t>
            </a:r>
            <a:r>
              <a:rPr lang="nb-NO" sz="1800" smtClean="0"/>
              <a:t>transistörlerin uç tespitlerini de yapabilmektedir. Avometrelerin genellikle 2, 3, 4 prob </a:t>
            </a:r>
            <a:r>
              <a:rPr lang="tr-TR" sz="1800" smtClean="0"/>
              <a:t>bağlantı soketi bulunmaktadır. Soket sayısı arttıkça aletin özellikleri de artmaktadır. </a:t>
            </a:r>
            <a:endParaRPr lang="en-GB" sz="1800" smtClean="0"/>
          </a:p>
          <a:p>
            <a:pPr lvl="1"/>
            <a:r>
              <a:rPr lang="tr-TR" sz="1800" smtClean="0"/>
              <a:t>Ölçme</a:t>
            </a:r>
            <a:r>
              <a:rPr lang="en-GB" sz="1800" smtClean="0"/>
              <a:t> </a:t>
            </a:r>
            <a:r>
              <a:rPr lang="tr-TR" sz="1800" smtClean="0"/>
              <a:t>sırasında kolaylık sağlaması için siyah prob COM soketine, kırmızı prob ise ölçüm çeşidine</a:t>
            </a:r>
            <a:r>
              <a:rPr lang="en-GB" sz="1800" smtClean="0"/>
              <a:t> </a:t>
            </a:r>
            <a:r>
              <a:rPr lang="tr-TR" sz="1800" smtClean="0"/>
              <a:t>göre uygun sokete bağlanır.</a:t>
            </a:r>
          </a:p>
        </p:txBody>
      </p:sp>
      <p:sp>
        <p:nvSpPr>
          <p:cNvPr id="178180" name="Slide Number Placeholder 6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BB39D837-5253-4BD1-ACEB-414C28EE8A74}" type="slidenum">
              <a:rPr lang="en-US" sz="1000"/>
              <a:pPr algn="r"/>
              <a:t>165</a:t>
            </a:fld>
            <a:endParaRPr lang="en-US"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0C47E5D6-EE4E-4ADA-BE05-A544CE8A0AAD}" type="slidenum">
              <a:rPr lang="en-US"/>
              <a:pPr/>
              <a:t>166</a:t>
            </a:fld>
            <a:endParaRPr lang="en-US"/>
          </a:p>
        </p:txBody>
      </p:sp>
      <p:sp>
        <p:nvSpPr>
          <p:cNvPr id="179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z="3600" b="1" smtClean="0"/>
              <a:t>7. AVOMETRELER</a:t>
            </a:r>
          </a:p>
        </p:txBody>
      </p:sp>
      <p:sp>
        <p:nvSpPr>
          <p:cNvPr id="179203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en-GB" smtClean="0"/>
              <a:t>  </a:t>
            </a:r>
            <a:endParaRPr lang="tr-TR" smtClean="0"/>
          </a:p>
        </p:txBody>
      </p:sp>
      <p:pic>
        <p:nvPicPr>
          <p:cNvPr id="17920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0" y="2119313"/>
            <a:ext cx="3695700" cy="3238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9205" name="Slide Number Placeholder 5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B84CE19D-1B47-4B99-AB32-4EFB6FF80AE5}" type="slidenum">
              <a:rPr lang="en-US" sz="1000"/>
              <a:pPr algn="r"/>
              <a:t>166</a:t>
            </a:fld>
            <a:endParaRPr lang="en-US"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44719260-0091-4BAC-B7B3-771CC1EA2BAA}" type="slidenum">
              <a:rPr lang="en-US"/>
              <a:pPr/>
              <a:t>167</a:t>
            </a:fld>
            <a:endParaRPr lang="en-US"/>
          </a:p>
        </p:txBody>
      </p:sp>
      <p:sp>
        <p:nvSpPr>
          <p:cNvPr id="180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z="3600" b="1" smtClean="0"/>
              <a:t>7. AVOMETRELER</a:t>
            </a:r>
          </a:p>
        </p:txBody>
      </p:sp>
      <p:sp>
        <p:nvSpPr>
          <p:cNvPr id="179203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sz="1800" b="1" smtClean="0"/>
              <a:t>Avometre ile ölçüm yapılırken aşağıda belirtilen noktalara dikkat etmek gerekir:</a:t>
            </a:r>
          </a:p>
          <a:p>
            <a:pPr lvl="1"/>
            <a:r>
              <a:rPr lang="tr-TR" sz="1500" smtClean="0"/>
              <a:t> Ölçülecek büyüklüğün cinsine göre AC veya DC seçimi yapılmalıdır.</a:t>
            </a:r>
          </a:p>
          <a:p>
            <a:pPr lvl="1"/>
            <a:r>
              <a:rPr lang="tr-TR" sz="1500" smtClean="0"/>
              <a:t> Ölçülecek büyüklük avometrenin ölçme sınırından büyük olmamalıdır.</a:t>
            </a:r>
            <a:endParaRPr lang="en-GB" sz="1500" smtClean="0"/>
          </a:p>
          <a:p>
            <a:pPr lvl="1"/>
            <a:r>
              <a:rPr lang="tr-TR" sz="1500" smtClean="0"/>
              <a:t>Kademe anahtarı en doğru ölçme için ölçülecek büyüklüğe en yakın, ama küçük</a:t>
            </a:r>
            <a:r>
              <a:rPr lang="en-GB" sz="1500" smtClean="0"/>
              <a:t> </a:t>
            </a:r>
            <a:r>
              <a:rPr lang="tr-TR" sz="1500" smtClean="0"/>
              <a:t>olmayan kademeye getirilmelidir.</a:t>
            </a:r>
          </a:p>
          <a:p>
            <a:pPr lvl="1"/>
            <a:r>
              <a:rPr lang="tr-TR" sz="1500" smtClean="0"/>
              <a:t> Ölçülecek büyüklüğün değeri net olarak bilinmiyorsa kademe anahtarı en büyük</a:t>
            </a:r>
            <a:r>
              <a:rPr lang="en-GB" sz="1500" smtClean="0"/>
              <a:t> </a:t>
            </a:r>
            <a:r>
              <a:rPr lang="tr-TR" sz="1500" smtClean="0"/>
              <a:t>değere getirilmelidir.</a:t>
            </a:r>
          </a:p>
          <a:p>
            <a:pPr lvl="1"/>
            <a:r>
              <a:rPr lang="tr-TR" sz="1500" smtClean="0"/>
              <a:t> Avometre, ölçülecek büyüklüğün gerektirdiği bağlantı şekline göre bağlanmalıdır.</a:t>
            </a:r>
          </a:p>
          <a:p>
            <a:pPr lvl="1"/>
            <a:r>
              <a:rPr lang="tr-TR" sz="1500" smtClean="0"/>
              <a:t> DC ölçmelerinde ibre ters sapar ise uçlar ters çevrilmelidir.</a:t>
            </a:r>
          </a:p>
          <a:p>
            <a:pPr lvl="1"/>
            <a:r>
              <a:rPr lang="tr-TR" sz="1500" smtClean="0"/>
              <a:t> Ölçü aletinin ibresi çok az sapıyor veya değer ekranında “0” ibaresi varsa kademe</a:t>
            </a:r>
            <a:r>
              <a:rPr lang="en-GB" sz="1500" smtClean="0"/>
              <a:t> </a:t>
            </a:r>
            <a:r>
              <a:rPr lang="tr-TR" sz="1500" smtClean="0"/>
              <a:t>küçültülür.</a:t>
            </a:r>
          </a:p>
          <a:p>
            <a:pPr lvl="1"/>
            <a:r>
              <a:rPr lang="tr-TR" sz="1500" smtClean="0"/>
              <a:t>Değer ekranında “1” ibaresi varsa kademe büyültülmelidir.</a:t>
            </a:r>
          </a:p>
          <a:p>
            <a:pPr lvl="1"/>
            <a:r>
              <a:rPr lang="tr-TR" sz="1500" smtClean="0"/>
              <a:t> Ölçmede kolaylık sağlamak için kırmızı prob ölçme için uygun sokete, siyah prob ise</a:t>
            </a:r>
            <a:r>
              <a:rPr lang="en-GB" sz="1500" smtClean="0"/>
              <a:t> </a:t>
            </a:r>
            <a:r>
              <a:rPr lang="tr-TR" sz="1500" smtClean="0"/>
              <a:t>COM (ortak) soketine bağlanmalıdır.</a:t>
            </a:r>
          </a:p>
          <a:p>
            <a:pPr lvl="1"/>
            <a:r>
              <a:rPr lang="tr-TR" sz="1500" smtClean="0"/>
              <a:t> Yüksek değerli akım ölçümü yapılırken (10-20 A) siyah prob COM soketine, kırmızı</a:t>
            </a:r>
            <a:r>
              <a:rPr lang="en-GB" sz="1500" smtClean="0"/>
              <a:t> </a:t>
            </a:r>
            <a:r>
              <a:rPr lang="tr-TR" sz="1500" smtClean="0"/>
              <a:t>prob yüksek akım soketine bağlanır.</a:t>
            </a:r>
          </a:p>
          <a:p>
            <a:pPr lvl="1"/>
            <a:endParaRPr lang="en-GB" sz="1800" smtClean="0"/>
          </a:p>
          <a:p>
            <a:endParaRPr lang="tr-TR" sz="1800" smtClean="0"/>
          </a:p>
        </p:txBody>
      </p:sp>
      <p:sp>
        <p:nvSpPr>
          <p:cNvPr id="180228" name="Slide Number Placeholder 6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1B6C735E-155F-4861-8E9A-BE0E5FDA0C8D}" type="slidenum">
              <a:rPr lang="en-US" sz="1000"/>
              <a:pPr algn="r"/>
              <a:t>167</a:t>
            </a:fld>
            <a:endParaRPr lang="en-US"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118E9F04-D88F-4030-8E66-88C03C02E3C4}" type="slidenum">
              <a:rPr lang="en-US"/>
              <a:pPr/>
              <a:t>168</a:t>
            </a:fld>
            <a:endParaRPr lang="en-US"/>
          </a:p>
        </p:txBody>
      </p:sp>
      <p:sp>
        <p:nvSpPr>
          <p:cNvPr id="181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z="3600" b="1" smtClean="0"/>
              <a:t>7. AVOMETRELER</a:t>
            </a:r>
          </a:p>
        </p:txBody>
      </p:sp>
      <p:sp>
        <p:nvSpPr>
          <p:cNvPr id="180227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sz="1600" b="1" smtClean="0"/>
              <a:t>7.2. Analog Avometre ile Ölçüm Yapmak</a:t>
            </a:r>
          </a:p>
          <a:p>
            <a:pPr lvl="1"/>
            <a:r>
              <a:rPr lang="tr-TR" sz="1600" smtClean="0"/>
              <a:t>Analog veya dijital avometre ile ölçüm yapmak birbirinden farklı teknikler</a:t>
            </a:r>
            <a:r>
              <a:rPr lang="en-GB" sz="1600" smtClean="0"/>
              <a:t> </a:t>
            </a:r>
            <a:r>
              <a:rPr lang="tr-TR" sz="1600" smtClean="0"/>
              <a:t>gerektirmez.</a:t>
            </a:r>
            <a:endParaRPr lang="en-GB" sz="1600" smtClean="0"/>
          </a:p>
          <a:p>
            <a:pPr lvl="1"/>
            <a:r>
              <a:rPr lang="tr-TR" sz="1600" smtClean="0"/>
              <a:t> Aradaki fark yalnızca kademe seçimi ve analog avometrelerde skalanın tek</a:t>
            </a:r>
            <a:r>
              <a:rPr lang="en-GB" sz="1600" smtClean="0"/>
              <a:t> </a:t>
            </a:r>
            <a:r>
              <a:rPr lang="tr-TR" sz="1600" smtClean="0"/>
              <a:t>olmasından kaynaklanan okuma zorluğudur. Şekil 7.1.b’de görüldüğü gibi tek skalada birden</a:t>
            </a:r>
            <a:r>
              <a:rPr lang="en-GB" sz="1600" smtClean="0"/>
              <a:t> </a:t>
            </a:r>
            <a:r>
              <a:rPr lang="tr-TR" sz="1600" smtClean="0"/>
              <a:t>fazla taksimatlandırma yapılmış, her taksimatın yanına hangi büyüklüğün ölçülmesinde</a:t>
            </a:r>
            <a:r>
              <a:rPr lang="en-GB" sz="1600" smtClean="0"/>
              <a:t> </a:t>
            </a:r>
            <a:r>
              <a:rPr lang="tr-TR" sz="1600" smtClean="0"/>
              <a:t>kullanılacağı belirtilmiştir. </a:t>
            </a:r>
            <a:endParaRPr lang="en-GB" sz="1600" smtClean="0"/>
          </a:p>
          <a:p>
            <a:pPr lvl="1"/>
            <a:r>
              <a:rPr lang="tr-TR" sz="1600" smtClean="0"/>
              <a:t>Ölçülecek büyüklük uygun kademe seçildikten sonra yalnız ait</a:t>
            </a:r>
            <a:r>
              <a:rPr lang="en-GB" sz="1600" smtClean="0"/>
              <a:t> </a:t>
            </a:r>
            <a:r>
              <a:rPr lang="tr-TR" sz="1600" smtClean="0"/>
              <a:t>olduğu skala taksimatından okunmalıdır (</a:t>
            </a:r>
            <a:r>
              <a:rPr lang="el-GR" sz="1600" smtClean="0"/>
              <a:t>Ω,</a:t>
            </a:r>
            <a:r>
              <a:rPr lang="tr-TR" sz="1600" smtClean="0"/>
              <a:t>V,A gibi). Ayrıca aşağıdaki şekilde görüldü gibi,</a:t>
            </a:r>
            <a:r>
              <a:rPr lang="en-GB" sz="1600" smtClean="0"/>
              <a:t> </a:t>
            </a:r>
            <a:r>
              <a:rPr lang="tr-TR" sz="1600" smtClean="0"/>
              <a:t>skala taksimatının bölümlendirilmesinde aynı noktada alt alta birden fazla değer yazılmıştır.</a:t>
            </a:r>
          </a:p>
          <a:p>
            <a:pPr lvl="1"/>
            <a:r>
              <a:rPr lang="tr-TR" sz="1600" smtClean="0"/>
              <a:t>Bu değerler ölçülecek büyüklüğün kademesi değiştikçe, o kademe için skala taksimatındaki</a:t>
            </a:r>
            <a:r>
              <a:rPr lang="en-GB" sz="1600" smtClean="0"/>
              <a:t> </a:t>
            </a:r>
            <a:r>
              <a:rPr lang="tr-TR" sz="1600" smtClean="0"/>
              <a:t>noktanın yeni değeridir. </a:t>
            </a:r>
            <a:endParaRPr lang="en-GB" sz="1600" smtClean="0"/>
          </a:p>
          <a:p>
            <a:pPr lvl="1"/>
            <a:r>
              <a:rPr lang="tr-TR" sz="1600" smtClean="0"/>
              <a:t>Özetle skaladaki bir nokta gerilim ölçerken kademenin biri için 250</a:t>
            </a:r>
            <a:r>
              <a:rPr lang="en-GB" sz="1600" smtClean="0"/>
              <a:t> </a:t>
            </a:r>
            <a:r>
              <a:rPr lang="tr-TR" sz="1600" smtClean="0"/>
              <a:t>volta, aynı nokta daha küçük bir kademe için 50 volta karşılık gelir. Bu durum ölçülen</a:t>
            </a:r>
            <a:r>
              <a:rPr lang="en-GB" sz="1600" smtClean="0"/>
              <a:t> </a:t>
            </a:r>
            <a:r>
              <a:rPr lang="tr-TR" sz="1600" smtClean="0"/>
              <a:t>büyüklüğün kademeye göre hangi taksimattan ve hangi değer ile ölçüleceğinin doğru tespit</a:t>
            </a:r>
            <a:r>
              <a:rPr lang="en-GB" sz="1600" smtClean="0"/>
              <a:t> </a:t>
            </a:r>
            <a:r>
              <a:rPr lang="tr-TR" sz="1600" smtClean="0"/>
              <a:t>edilmesini gerektirir.</a:t>
            </a:r>
          </a:p>
        </p:txBody>
      </p:sp>
      <p:sp>
        <p:nvSpPr>
          <p:cNvPr id="181252" name="Slide Number Placeholder 4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28C5CBE9-CA56-416F-A878-FD7FF1DADB65}" type="slidenum">
              <a:rPr lang="en-US" sz="1000"/>
              <a:pPr algn="r"/>
              <a:t>168</a:t>
            </a:fld>
            <a:endParaRPr lang="en-US"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A94E0A53-111E-4F0E-880D-D68F10D6353F}" type="slidenum">
              <a:rPr lang="en-US"/>
              <a:pPr/>
              <a:t>169</a:t>
            </a:fld>
            <a:endParaRPr lang="en-US"/>
          </a:p>
        </p:txBody>
      </p:sp>
      <p:sp>
        <p:nvSpPr>
          <p:cNvPr id="182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z="3600" b="1" smtClean="0"/>
              <a:t>7. AVOMETRELER</a:t>
            </a:r>
          </a:p>
        </p:txBody>
      </p:sp>
      <p:sp>
        <p:nvSpPr>
          <p:cNvPr id="182275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en-GB" smtClean="0"/>
              <a:t>  </a:t>
            </a:r>
            <a:endParaRPr lang="tr-TR" smtClean="0"/>
          </a:p>
        </p:txBody>
      </p:sp>
      <p:pic>
        <p:nvPicPr>
          <p:cNvPr id="18227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2450" y="2147888"/>
            <a:ext cx="8039100" cy="335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2277" name="Slide Number Placeholder 4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1FC76B80-C64A-463F-9B93-B63848325137}" type="slidenum">
              <a:rPr lang="en-US" sz="1000"/>
              <a:pPr algn="r"/>
              <a:t>169</a:t>
            </a:fld>
            <a:endParaRPr lang="en-US"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010117A1-502B-4DE2-AF24-BB63DA382C4E}" type="slidenum">
              <a:rPr lang="en-US"/>
              <a:pPr/>
              <a:t>170</a:t>
            </a:fld>
            <a:endParaRPr lang="en-US"/>
          </a:p>
        </p:txBody>
      </p:sp>
      <p:sp>
        <p:nvSpPr>
          <p:cNvPr id="183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z="3600" b="1" smtClean="0"/>
              <a:t>7. AVOMETRELER</a:t>
            </a:r>
          </a:p>
        </p:txBody>
      </p:sp>
      <p:sp>
        <p:nvSpPr>
          <p:cNvPr id="183299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sz="2000" dirty="0" err="1" smtClean="0"/>
              <a:t>Analog</a:t>
            </a:r>
            <a:r>
              <a:rPr lang="tr-TR" sz="2000" dirty="0" smtClean="0"/>
              <a:t> ölçü aletlerinde seçilen kademe ile okunan değer arasında sonuca ulaşmak için</a:t>
            </a:r>
            <a:r>
              <a:rPr lang="en-GB" sz="2000" dirty="0" smtClean="0"/>
              <a:t> </a:t>
            </a:r>
            <a:r>
              <a:rPr lang="tr-TR" sz="2000" dirty="0" smtClean="0"/>
              <a:t>işlem yapmak gerekebilir. </a:t>
            </a:r>
            <a:endParaRPr lang="en-GB" sz="2000" dirty="0" smtClean="0"/>
          </a:p>
          <a:p>
            <a:r>
              <a:rPr lang="tr-TR" sz="2000" dirty="0" smtClean="0"/>
              <a:t>AC 1000 V kademesinde alternatif gerilim ölçülecek bir</a:t>
            </a:r>
            <a:r>
              <a:rPr lang="en-GB" sz="2000" dirty="0" smtClean="0"/>
              <a:t> </a:t>
            </a:r>
            <a:r>
              <a:rPr lang="tr-TR" sz="2000" dirty="0" err="1" smtClean="0"/>
              <a:t>avometrede</a:t>
            </a:r>
            <a:r>
              <a:rPr lang="tr-TR" sz="2000" dirty="0" smtClean="0"/>
              <a:t> ibre 4 rakamının üzerinde durmuş ise ölçülen büyüklüğün değeri skalanın en son</a:t>
            </a:r>
            <a:r>
              <a:rPr lang="en-GB" sz="2000" dirty="0" smtClean="0"/>
              <a:t> </a:t>
            </a:r>
            <a:r>
              <a:rPr lang="en-GB" sz="2000" dirty="0" smtClean="0"/>
              <a:t> </a:t>
            </a:r>
            <a:r>
              <a:rPr lang="tr-TR" sz="2000" dirty="0" smtClean="0"/>
              <a:t>değeri 10 yerine 1000 V kabul edildiğinde 4 değerinin de 400 V olması gerektiği orantı ile</a:t>
            </a:r>
            <a:r>
              <a:rPr lang="en-GB" sz="2000" dirty="0" smtClean="0"/>
              <a:t> </a:t>
            </a:r>
            <a:r>
              <a:rPr lang="tr-TR" sz="2000" dirty="0" smtClean="0"/>
              <a:t>hesaplanarak bulunur. </a:t>
            </a:r>
            <a:endParaRPr lang="en-GB" sz="2000" dirty="0" smtClean="0"/>
          </a:p>
          <a:p>
            <a:r>
              <a:rPr lang="tr-TR" sz="2000" dirty="0" smtClean="0"/>
              <a:t>Direnç ölçümü yapılırken ise X100 kademe seçiminde ibre </a:t>
            </a:r>
            <a:r>
              <a:rPr lang="el-GR" sz="2000" dirty="0" smtClean="0"/>
              <a:t>Ω</a:t>
            </a:r>
            <a:r>
              <a:rPr lang="en-GB" sz="2000" dirty="0" smtClean="0"/>
              <a:t> </a:t>
            </a:r>
            <a:r>
              <a:rPr lang="tr-TR" sz="2000" dirty="0" smtClean="0"/>
              <a:t>skalasında 10 rakamını gösteriyorsa sonuç 10X100 = 1000 </a:t>
            </a:r>
            <a:r>
              <a:rPr lang="el-GR" sz="2000" dirty="0" smtClean="0"/>
              <a:t>Ω = 1</a:t>
            </a:r>
            <a:r>
              <a:rPr lang="tr-TR" sz="2000" dirty="0" smtClean="0"/>
              <a:t>K</a:t>
            </a:r>
            <a:r>
              <a:rPr lang="el-GR" sz="2000" dirty="0" smtClean="0"/>
              <a:t>Ω </a:t>
            </a:r>
            <a:r>
              <a:rPr lang="tr-TR" sz="2000" dirty="0" smtClean="0"/>
              <a:t>şeklinde tespit edilir.</a:t>
            </a:r>
          </a:p>
        </p:txBody>
      </p:sp>
      <p:sp>
        <p:nvSpPr>
          <p:cNvPr id="183300" name="Slide Number Placeholder 6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30D00893-1CD1-499F-94EC-07BA02170A7C}" type="slidenum">
              <a:rPr lang="en-US" sz="1000"/>
              <a:pPr algn="r"/>
              <a:t>170</a:t>
            </a:fld>
            <a:endParaRPr lang="en-US"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063C9DCC-0E12-4D28-A488-8ADEF1166E1F}" type="slidenum">
              <a:rPr lang="en-US"/>
              <a:pPr/>
              <a:t>171</a:t>
            </a:fld>
            <a:endParaRPr lang="en-US"/>
          </a:p>
        </p:txBody>
      </p:sp>
      <p:sp>
        <p:nvSpPr>
          <p:cNvPr id="54374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tr-TR" sz="3600" b="1" smtClean="0"/>
              <a:t>7. AVOMETRELER</a:t>
            </a:r>
          </a:p>
        </p:txBody>
      </p:sp>
      <p:sp>
        <p:nvSpPr>
          <p:cNvPr id="543747" name="Content Placeholder 3"/>
          <p:cNvSpPr>
            <a:spLocks noGrp="1"/>
          </p:cNvSpPr>
          <p:nvPr>
            <p:ph idx="4294967295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en-GB" smtClean="0"/>
              <a:t>  </a:t>
            </a:r>
            <a:endParaRPr lang="tr-TR" smtClean="0"/>
          </a:p>
        </p:txBody>
      </p:sp>
      <p:pic>
        <p:nvPicPr>
          <p:cNvPr id="54374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14375" y="1881188"/>
            <a:ext cx="7600950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43749" name="Slide Number Placeholder 4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897D8622-01FA-439C-97C4-00035488CCE9}" type="slidenum">
              <a:rPr lang="en-US" sz="1000"/>
              <a:pPr algn="r"/>
              <a:t>171</a:t>
            </a:fld>
            <a:endParaRPr lang="en-US"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7C4C2B2E-2367-484A-AEDC-E2F3D0EE72A0}" type="slidenum">
              <a:rPr lang="en-US"/>
              <a:pPr/>
              <a:t>172</a:t>
            </a:fld>
            <a:endParaRPr lang="en-US"/>
          </a:p>
        </p:txBody>
      </p:sp>
      <p:sp>
        <p:nvSpPr>
          <p:cNvPr id="185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z="3600" b="1" smtClean="0"/>
              <a:t>7. AVOMETRELER</a:t>
            </a:r>
          </a:p>
        </p:txBody>
      </p:sp>
      <p:sp>
        <p:nvSpPr>
          <p:cNvPr id="185347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sz="1700" smtClean="0"/>
              <a:t>Dijital avometreler ile ölçüm yapmak daha kolaydır. Ancak bazı değerlerin</a:t>
            </a:r>
            <a:r>
              <a:rPr lang="en-GB" sz="1700" smtClean="0"/>
              <a:t> </a:t>
            </a:r>
            <a:r>
              <a:rPr lang="tr-TR" sz="1700" smtClean="0"/>
              <a:t>ölçülmesinde analog avometrelerdeki kadar hassas ölçüm yapılamaz. </a:t>
            </a:r>
            <a:endParaRPr lang="en-GB" sz="1700" smtClean="0"/>
          </a:p>
          <a:p>
            <a:r>
              <a:rPr lang="tr-TR" sz="1700" smtClean="0"/>
              <a:t>Dijital avometreler ile</a:t>
            </a:r>
            <a:r>
              <a:rPr lang="en-GB" sz="1700" smtClean="0"/>
              <a:t> </a:t>
            </a:r>
            <a:r>
              <a:rPr lang="tr-TR" sz="1700" smtClean="0"/>
              <a:t>ölçüm yapılırken değer ekranında görünen değer, ölçülen değerin kendisidir; ayrıca</a:t>
            </a:r>
            <a:r>
              <a:rPr lang="en-GB" sz="1700" smtClean="0"/>
              <a:t> </a:t>
            </a:r>
            <a:r>
              <a:rPr lang="tr-TR" sz="1700" smtClean="0"/>
              <a:t>hesaplama işlemi yapılmasını gerektirmez. </a:t>
            </a:r>
            <a:endParaRPr lang="en-GB" sz="1700" smtClean="0"/>
          </a:p>
          <a:p>
            <a:r>
              <a:rPr lang="tr-TR" sz="1700" smtClean="0"/>
              <a:t>Dijital avometrelerde direnç, endüktans ve</a:t>
            </a:r>
            <a:r>
              <a:rPr lang="en-GB" sz="1700" smtClean="0"/>
              <a:t> </a:t>
            </a:r>
            <a:r>
              <a:rPr lang="tr-TR" sz="1700" smtClean="0"/>
              <a:t>kapasite ölçümü aynen Lcrmetreler de olduğu gibi yapılır. Akım ve gerilim ölçerken, ACDC</a:t>
            </a:r>
            <a:r>
              <a:rPr lang="en-GB" sz="1700" smtClean="0"/>
              <a:t> </a:t>
            </a:r>
            <a:r>
              <a:rPr lang="tr-TR" sz="1700" smtClean="0"/>
              <a:t>seçimi kademe anahtarı ile uygun kademe seçimi yapılırken bazı avometrelerde ayrı bir</a:t>
            </a:r>
            <a:r>
              <a:rPr lang="en-GB" sz="1700" smtClean="0"/>
              <a:t> </a:t>
            </a:r>
            <a:r>
              <a:rPr lang="tr-TR" sz="1700" smtClean="0"/>
              <a:t>komütatör anahtar aracılığı ile yapılmaktadır (Resim 7.3.a). Ölçüm yapılırken bu seçim</a:t>
            </a:r>
            <a:r>
              <a:rPr lang="en-GB" sz="1700" smtClean="0"/>
              <a:t> </a:t>
            </a:r>
            <a:r>
              <a:rPr lang="tr-TR" sz="1700" smtClean="0"/>
              <a:t>unutulmamalıdır. </a:t>
            </a:r>
            <a:endParaRPr lang="en-GB" sz="1700" smtClean="0"/>
          </a:p>
          <a:p>
            <a:r>
              <a:rPr lang="tr-TR" sz="1700" smtClean="0"/>
              <a:t>Dijital avometrelerin bazılarında ölçülecek A, </a:t>
            </a:r>
            <a:r>
              <a:rPr lang="el-GR" sz="1700" smtClean="0"/>
              <a:t>Ω, </a:t>
            </a:r>
            <a:r>
              <a:rPr lang="tr-TR" sz="1700" smtClean="0"/>
              <a:t>V kısımları tek</a:t>
            </a:r>
            <a:r>
              <a:rPr lang="en-GB" sz="1700" smtClean="0"/>
              <a:t> </a:t>
            </a:r>
            <a:r>
              <a:rPr lang="tr-TR" sz="1700" smtClean="0"/>
              <a:t>kademelidir. Bu avometrelerde yanız ölçüm yapılacak kademenin seçilmesi yeterlidir (Resim</a:t>
            </a:r>
            <a:r>
              <a:rPr lang="en-GB" sz="1700" smtClean="0"/>
              <a:t> </a:t>
            </a:r>
            <a:r>
              <a:rPr lang="tr-TR" sz="1700" smtClean="0"/>
              <a:t>7.3.b).</a:t>
            </a:r>
          </a:p>
          <a:p>
            <a:r>
              <a:rPr lang="tr-TR" sz="1700" smtClean="0"/>
              <a:t>Avometreler ile direnç endüktans ve kapasite ölçümü aynen Lcrmetreler de olduğu</a:t>
            </a:r>
            <a:r>
              <a:rPr lang="en-GB" sz="1700" smtClean="0"/>
              <a:t> </a:t>
            </a:r>
            <a:r>
              <a:rPr lang="tr-TR" sz="1700" smtClean="0"/>
              <a:t>gibi yapılır. Bu bölümde bu ölçümler ile uygulama yapılmayacaktır. Bilgi tekrarı için</a:t>
            </a:r>
            <a:r>
              <a:rPr lang="en-GB" sz="1700" smtClean="0"/>
              <a:t> </a:t>
            </a:r>
            <a:r>
              <a:rPr lang="tr-TR" sz="1700" smtClean="0"/>
              <a:t>Öğrenme Faaliyeti 1-2-3’e bakınız.</a:t>
            </a:r>
          </a:p>
        </p:txBody>
      </p:sp>
      <p:sp>
        <p:nvSpPr>
          <p:cNvPr id="185348" name="Slide Number Placeholder 4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60A55F73-6056-46BD-8733-35686DAA858C}" type="slidenum">
              <a:rPr lang="en-US" sz="1000"/>
              <a:pPr algn="r"/>
              <a:t>172</a:t>
            </a:fld>
            <a:endParaRPr lang="en-US"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F1CD6F29-4577-482C-A04C-4497E5940346}" type="slidenum">
              <a:rPr lang="en-US"/>
              <a:pPr/>
              <a:t>173</a:t>
            </a:fld>
            <a:endParaRPr lang="en-US"/>
          </a:p>
        </p:txBody>
      </p:sp>
      <p:sp>
        <p:nvSpPr>
          <p:cNvPr id="186370" name="Rectangle 2"/>
          <p:cNvSpPr>
            <a:spLocks noGrp="1" noChangeArrowheads="1"/>
          </p:cNvSpPr>
          <p:nvPr>
            <p:ph type="title"/>
          </p:nvPr>
        </p:nvSpPr>
        <p:spPr>
          <a:xfrm>
            <a:off x="928688" y="0"/>
            <a:ext cx="7158037" cy="1412875"/>
          </a:xfrm>
        </p:spPr>
        <p:txBody>
          <a:bodyPr/>
          <a:lstStyle/>
          <a:p>
            <a:pPr eaLnBrk="1" hangingPunct="1"/>
            <a:r>
              <a:rPr lang="en-GB" sz="3600" b="1" smtClean="0"/>
              <a:t>UYGULAMA</a:t>
            </a:r>
            <a:r>
              <a:rPr lang="tr-TR" sz="3600" b="1" smtClean="0"/>
              <a:t> FAALİYETİ</a:t>
            </a:r>
          </a:p>
        </p:txBody>
      </p:sp>
      <p:sp>
        <p:nvSpPr>
          <p:cNvPr id="186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8688" y="1785938"/>
            <a:ext cx="7661275" cy="4876800"/>
          </a:xfrm>
        </p:spPr>
        <p:txBody>
          <a:bodyPr/>
          <a:lstStyle/>
          <a:p>
            <a:r>
              <a:rPr lang="tr-TR" sz="2400" smtClean="0"/>
              <a:t>Aşağıdaki tabloda verilen değerlerin ölçümünü dijital ve analog avometreler ile</a:t>
            </a:r>
            <a:r>
              <a:rPr lang="en-GB" sz="2400" smtClean="0"/>
              <a:t> </a:t>
            </a:r>
            <a:r>
              <a:rPr lang="tr-TR" sz="2400" smtClean="0"/>
              <a:t>aşağıdaki bağlantı şekillerine göre işlem basamakları ve önerileri takip ederek</a:t>
            </a:r>
            <a:r>
              <a:rPr lang="en-GB" sz="2400" smtClean="0"/>
              <a:t> </a:t>
            </a:r>
            <a:r>
              <a:rPr lang="tr-TR" sz="2400" smtClean="0"/>
              <a:t>gerçekleştiriniz. </a:t>
            </a:r>
            <a:endParaRPr lang="en-GB" sz="2400" smtClean="0"/>
          </a:p>
          <a:p>
            <a:endParaRPr lang="tr-TR" sz="2400" smtClean="0"/>
          </a:p>
        </p:txBody>
      </p:sp>
      <p:sp>
        <p:nvSpPr>
          <p:cNvPr id="186372" name="Slide Number Placeholder 5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F1CEA845-16AA-4481-808D-42808A09FB5F}" type="slidenum">
              <a:rPr lang="en-US" sz="1000"/>
              <a:pPr algn="r"/>
              <a:t>173</a:t>
            </a:fld>
            <a:endParaRPr lang="en-US" sz="1000"/>
          </a:p>
        </p:txBody>
      </p:sp>
      <p:pic>
        <p:nvPicPr>
          <p:cNvPr id="186373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28813" y="3714750"/>
            <a:ext cx="2314575" cy="1323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6374" name="Picture 7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072063" y="3643313"/>
            <a:ext cx="1800225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6C96ED44-DE96-484A-A105-19B0054C2A97}" type="slidenum">
              <a:rPr lang="en-US"/>
              <a:pPr/>
              <a:t>174</a:t>
            </a:fld>
            <a:endParaRPr lang="en-US"/>
          </a:p>
        </p:txBody>
      </p:sp>
      <p:sp>
        <p:nvSpPr>
          <p:cNvPr id="187394" name="Rectangle 2"/>
          <p:cNvSpPr>
            <a:spLocks noGrp="1" noChangeArrowheads="1"/>
          </p:cNvSpPr>
          <p:nvPr>
            <p:ph type="title"/>
          </p:nvPr>
        </p:nvSpPr>
        <p:spPr>
          <a:xfrm>
            <a:off x="928688" y="0"/>
            <a:ext cx="7158037" cy="1412875"/>
          </a:xfrm>
        </p:spPr>
        <p:txBody>
          <a:bodyPr/>
          <a:lstStyle/>
          <a:p>
            <a:pPr eaLnBrk="1" hangingPunct="1"/>
            <a:r>
              <a:rPr lang="en-GB" sz="3600" b="1" smtClean="0"/>
              <a:t>UYGULAMA</a:t>
            </a:r>
            <a:r>
              <a:rPr lang="tr-TR" sz="3600" b="1" smtClean="0"/>
              <a:t> FAALİYETİ</a:t>
            </a:r>
          </a:p>
        </p:txBody>
      </p:sp>
      <p:sp>
        <p:nvSpPr>
          <p:cNvPr id="187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8688" y="1785938"/>
            <a:ext cx="7661275" cy="48768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sz="2400" smtClean="0"/>
              <a:t>  </a:t>
            </a:r>
          </a:p>
        </p:txBody>
      </p:sp>
      <p:pic>
        <p:nvPicPr>
          <p:cNvPr id="18739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3413" y="1785938"/>
            <a:ext cx="7877175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7397" name="Slide Number Placeholder 5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1B9C45EC-1F7A-47E9-A946-5F6EB5CFBC76}" type="slidenum">
              <a:rPr lang="en-US" sz="1000"/>
              <a:pPr algn="r"/>
              <a:t>174</a:t>
            </a:fld>
            <a:endParaRPr lang="en-US"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D0915948-552E-4969-BCA5-432B862A1CE4}" type="slidenum">
              <a:rPr lang="en-US"/>
              <a:pPr/>
              <a:t>175</a:t>
            </a:fld>
            <a:endParaRPr lang="en-US"/>
          </a:p>
        </p:txBody>
      </p:sp>
      <p:sp>
        <p:nvSpPr>
          <p:cNvPr id="188418" name="Rectangle 2"/>
          <p:cNvSpPr>
            <a:spLocks noGrp="1" noChangeArrowheads="1"/>
          </p:cNvSpPr>
          <p:nvPr>
            <p:ph type="title"/>
          </p:nvPr>
        </p:nvSpPr>
        <p:spPr>
          <a:xfrm>
            <a:off x="928688" y="0"/>
            <a:ext cx="7158037" cy="1412875"/>
          </a:xfrm>
        </p:spPr>
        <p:txBody>
          <a:bodyPr/>
          <a:lstStyle/>
          <a:p>
            <a:pPr eaLnBrk="1" hangingPunct="1"/>
            <a:r>
              <a:rPr lang="en-GB" sz="3600" b="1" smtClean="0"/>
              <a:t>UYGULAMA</a:t>
            </a:r>
            <a:r>
              <a:rPr lang="tr-TR" sz="3600" b="1" smtClean="0"/>
              <a:t> FAALİYETİ</a:t>
            </a:r>
          </a:p>
        </p:txBody>
      </p:sp>
      <p:sp>
        <p:nvSpPr>
          <p:cNvPr id="188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8688" y="1785938"/>
            <a:ext cx="7661275" cy="48768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sz="2400" smtClean="0"/>
              <a:t>  </a:t>
            </a:r>
          </a:p>
        </p:txBody>
      </p:sp>
      <p:pic>
        <p:nvPicPr>
          <p:cNvPr id="18842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1500" y="1971675"/>
            <a:ext cx="8001000" cy="2914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8421" name="Slide Number Placeholder 4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45BFA105-35F6-4AF3-A6B1-9F8FBA7D5CE9}" type="slidenum">
              <a:rPr lang="en-US" sz="1000"/>
              <a:pPr algn="r"/>
              <a:t>175</a:t>
            </a:fld>
            <a:endParaRPr lang="en-US"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AE8C0AEF-537E-41EB-AB53-D3300DB87EE4}" type="slidenum">
              <a:rPr lang="en-US"/>
              <a:pPr/>
              <a:t>176</a:t>
            </a:fld>
            <a:endParaRPr lang="en-US"/>
          </a:p>
        </p:txBody>
      </p:sp>
      <p:sp>
        <p:nvSpPr>
          <p:cNvPr id="189442" name="Rectangle 2"/>
          <p:cNvSpPr>
            <a:spLocks noGrp="1" noChangeArrowheads="1"/>
          </p:cNvSpPr>
          <p:nvPr>
            <p:ph type="title"/>
          </p:nvPr>
        </p:nvSpPr>
        <p:spPr>
          <a:xfrm>
            <a:off x="928688" y="0"/>
            <a:ext cx="7158037" cy="1412875"/>
          </a:xfrm>
        </p:spPr>
        <p:txBody>
          <a:bodyPr/>
          <a:lstStyle/>
          <a:p>
            <a:pPr eaLnBrk="1" hangingPunct="1"/>
            <a:r>
              <a:rPr lang="en-GB" sz="3600" b="1" smtClean="0"/>
              <a:t>UYGULAMA</a:t>
            </a:r>
            <a:r>
              <a:rPr lang="tr-TR" sz="3600" b="1" smtClean="0"/>
              <a:t> FAALİYETİ</a:t>
            </a:r>
          </a:p>
        </p:txBody>
      </p:sp>
      <p:sp>
        <p:nvSpPr>
          <p:cNvPr id="188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8688" y="1785938"/>
            <a:ext cx="7661275" cy="4876800"/>
          </a:xfrm>
        </p:spPr>
        <p:txBody>
          <a:bodyPr/>
          <a:lstStyle/>
          <a:p>
            <a:r>
              <a:rPr lang="tr-TR" sz="2400" b="1" smtClean="0"/>
              <a:t>İşlem Basamakları</a:t>
            </a:r>
            <a:endParaRPr lang="en-GB" sz="2400" b="1" smtClean="0"/>
          </a:p>
          <a:p>
            <a:pPr lvl="1"/>
            <a:r>
              <a:rPr lang="tr-TR" sz="2000" smtClean="0"/>
              <a:t>Ölçülecek gerilimin çeşidine</a:t>
            </a:r>
            <a:r>
              <a:rPr lang="en-GB" sz="2000" smtClean="0"/>
              <a:t> </a:t>
            </a:r>
            <a:r>
              <a:rPr lang="tr-TR" sz="2000" smtClean="0"/>
              <a:t>göre kademe anahtarı AC veya</a:t>
            </a:r>
            <a:r>
              <a:rPr lang="en-GB" sz="2000" smtClean="0"/>
              <a:t> </a:t>
            </a:r>
            <a:r>
              <a:rPr lang="tr-TR" sz="2000" smtClean="0"/>
              <a:t>DC konumuna al.</a:t>
            </a:r>
            <a:endParaRPr lang="en-GB" sz="2000" b="1" smtClean="0"/>
          </a:p>
          <a:p>
            <a:pPr lvl="1"/>
            <a:r>
              <a:rPr lang="tr-TR" sz="2000" smtClean="0"/>
              <a:t>Avometreyi ölçülecek gerilim</a:t>
            </a:r>
            <a:r>
              <a:rPr lang="en-GB" sz="2000" smtClean="0"/>
              <a:t> </a:t>
            </a:r>
            <a:r>
              <a:rPr lang="tr-TR" sz="2000" smtClean="0"/>
              <a:t>değerine uygun kademeye getir.</a:t>
            </a:r>
            <a:endParaRPr lang="en-GB" sz="2000" smtClean="0"/>
          </a:p>
          <a:p>
            <a:pPr lvl="1"/>
            <a:r>
              <a:rPr lang="tr-TR" sz="2000" smtClean="0"/>
              <a:t>Gerilim değeri ölçülecek</a:t>
            </a:r>
            <a:r>
              <a:rPr lang="en-GB" sz="2000" smtClean="0"/>
              <a:t> </a:t>
            </a:r>
            <a:r>
              <a:rPr lang="tr-TR" sz="2000" smtClean="0"/>
              <a:t>noktalara avometre problarını</a:t>
            </a:r>
            <a:r>
              <a:rPr lang="en-GB" sz="2000" smtClean="0"/>
              <a:t> </a:t>
            </a:r>
            <a:r>
              <a:rPr lang="tr-TR" sz="2000" smtClean="0"/>
              <a:t>dokundurunuz.</a:t>
            </a:r>
            <a:endParaRPr lang="en-GB" sz="2000" smtClean="0"/>
          </a:p>
          <a:p>
            <a:pPr lvl="1"/>
            <a:r>
              <a:rPr lang="tr-TR" sz="2000" smtClean="0"/>
              <a:t>Ölçülen değeri değer</a:t>
            </a:r>
            <a:r>
              <a:rPr lang="en-GB" sz="2000" smtClean="0"/>
              <a:t> </a:t>
            </a:r>
            <a:r>
              <a:rPr lang="tr-TR" sz="2000" smtClean="0"/>
              <a:t>ekranından veya skaladan</a:t>
            </a:r>
            <a:r>
              <a:rPr lang="en-GB" sz="2000" smtClean="0"/>
              <a:t> </a:t>
            </a:r>
            <a:r>
              <a:rPr lang="tr-TR" sz="2000" smtClean="0"/>
              <a:t>okuyunuz.</a:t>
            </a:r>
          </a:p>
          <a:p>
            <a:pPr lvl="1"/>
            <a:r>
              <a:rPr lang="tr-TR" sz="2000" smtClean="0"/>
              <a:t>Ölçülecek akımın çeşidine göre</a:t>
            </a:r>
            <a:r>
              <a:rPr lang="en-GB" sz="2000" smtClean="0"/>
              <a:t> </a:t>
            </a:r>
            <a:r>
              <a:rPr lang="de-DE" sz="2000" smtClean="0"/>
              <a:t>kademe anahtarı AC veya DC </a:t>
            </a:r>
            <a:r>
              <a:rPr lang="tr-TR" sz="2000" smtClean="0"/>
              <a:t>konumuna alınız.</a:t>
            </a:r>
            <a:endParaRPr lang="en-GB" sz="2000" smtClean="0"/>
          </a:p>
          <a:p>
            <a:pPr lvl="1"/>
            <a:r>
              <a:rPr lang="tr-TR" sz="2000" smtClean="0"/>
              <a:t>Avometreyi ölçülecek akım</a:t>
            </a:r>
            <a:r>
              <a:rPr lang="en-GB" sz="2000" smtClean="0"/>
              <a:t> </a:t>
            </a:r>
            <a:r>
              <a:rPr lang="tr-TR" sz="2000" smtClean="0"/>
              <a:t>değerine uygun kademeye getir.</a:t>
            </a:r>
          </a:p>
          <a:p>
            <a:endParaRPr lang="tr-TR" sz="2400" smtClean="0"/>
          </a:p>
          <a:p>
            <a:endParaRPr lang="tr-TR" sz="2400" smtClean="0"/>
          </a:p>
          <a:p>
            <a:endParaRPr lang="tr-TR" sz="2400" smtClean="0"/>
          </a:p>
          <a:p>
            <a:endParaRPr lang="tr-TR" sz="2400" smtClean="0"/>
          </a:p>
        </p:txBody>
      </p:sp>
      <p:sp>
        <p:nvSpPr>
          <p:cNvPr id="189444" name="Slide Number Placeholder 4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F8B934C2-14C5-485F-BA98-640C3A967172}" type="slidenum">
              <a:rPr lang="en-US" sz="1000"/>
              <a:pPr algn="r"/>
              <a:t>176</a:t>
            </a:fld>
            <a:endParaRPr lang="en-US"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A5BE0F6B-794A-40ED-BE16-15643F573484}" type="slidenum">
              <a:rPr lang="en-US"/>
              <a:pPr/>
              <a:t>177</a:t>
            </a:fld>
            <a:endParaRPr lang="en-US"/>
          </a:p>
        </p:txBody>
      </p:sp>
      <p:sp>
        <p:nvSpPr>
          <p:cNvPr id="190466" name="Rectangle 2"/>
          <p:cNvSpPr>
            <a:spLocks noGrp="1" noChangeArrowheads="1"/>
          </p:cNvSpPr>
          <p:nvPr>
            <p:ph type="title"/>
          </p:nvPr>
        </p:nvSpPr>
        <p:spPr>
          <a:xfrm>
            <a:off x="928688" y="0"/>
            <a:ext cx="7158037" cy="1412875"/>
          </a:xfrm>
        </p:spPr>
        <p:txBody>
          <a:bodyPr/>
          <a:lstStyle/>
          <a:p>
            <a:pPr eaLnBrk="1" hangingPunct="1"/>
            <a:r>
              <a:rPr lang="en-GB" sz="3600" b="1" smtClean="0"/>
              <a:t>UYGULAMA</a:t>
            </a:r>
            <a:r>
              <a:rPr lang="tr-TR" sz="3600" b="1" smtClean="0"/>
              <a:t> FAALİYETİ</a:t>
            </a:r>
          </a:p>
        </p:txBody>
      </p:sp>
      <p:sp>
        <p:nvSpPr>
          <p:cNvPr id="189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8688" y="1785938"/>
            <a:ext cx="7661275" cy="4876800"/>
          </a:xfrm>
        </p:spPr>
        <p:txBody>
          <a:bodyPr/>
          <a:lstStyle/>
          <a:p>
            <a:pPr lvl="1"/>
            <a:r>
              <a:rPr lang="tr-TR" sz="2000" smtClean="0"/>
              <a:t>Ölçülecek akım </a:t>
            </a:r>
            <a:r>
              <a:rPr lang="el-GR" sz="2000" smtClean="0"/>
              <a:t>μ</a:t>
            </a:r>
            <a:r>
              <a:rPr lang="tr-TR" sz="2000" smtClean="0"/>
              <a:t>A, mA</a:t>
            </a:r>
            <a:r>
              <a:rPr lang="en-GB" sz="2000" smtClean="0"/>
              <a:t> </a:t>
            </a:r>
            <a:r>
              <a:rPr lang="tr-TR" sz="2000" smtClean="0"/>
              <a:t>düzeyinden büyük ise kademe</a:t>
            </a:r>
            <a:r>
              <a:rPr lang="en-GB" sz="2000" smtClean="0"/>
              <a:t> </a:t>
            </a:r>
            <a:r>
              <a:rPr lang="tr-TR" sz="2000" smtClean="0"/>
              <a:t>anahtarını </a:t>
            </a:r>
            <a:r>
              <a:rPr lang="tr-TR" sz="2000" b="1" smtClean="0"/>
              <a:t>Amper kademesine</a:t>
            </a:r>
            <a:r>
              <a:rPr lang="en-GB" sz="2000" b="1" smtClean="0"/>
              <a:t> </a:t>
            </a:r>
            <a:r>
              <a:rPr lang="es-ES" sz="2000" smtClean="0"/>
              <a:t>al ve probu yüksek akım </a:t>
            </a:r>
            <a:r>
              <a:rPr lang="tr-TR" sz="2000" smtClean="0"/>
              <a:t>soketine bağla.</a:t>
            </a:r>
            <a:endParaRPr lang="en-GB" sz="2000" smtClean="0"/>
          </a:p>
          <a:p>
            <a:pPr lvl="1"/>
            <a:r>
              <a:rPr lang="tr-TR" sz="2000" smtClean="0"/>
              <a:t>Avometrenin prob uçlarını, seri</a:t>
            </a:r>
            <a:r>
              <a:rPr lang="en-GB" sz="2000" smtClean="0"/>
              <a:t> </a:t>
            </a:r>
            <a:r>
              <a:rPr lang="tr-TR" sz="2000" smtClean="0"/>
              <a:t>bağlantı oluşturacak şekilde</a:t>
            </a:r>
            <a:r>
              <a:rPr lang="en-GB" sz="2000" smtClean="0"/>
              <a:t> </a:t>
            </a:r>
            <a:r>
              <a:rPr lang="tr-TR" sz="2000" smtClean="0"/>
              <a:t>yap.</a:t>
            </a:r>
            <a:endParaRPr lang="en-GB" sz="2000" smtClean="0"/>
          </a:p>
          <a:p>
            <a:pPr lvl="1"/>
            <a:r>
              <a:rPr lang="tr-TR" sz="2000" smtClean="0"/>
              <a:t>Avometrenin skalası veya değer</a:t>
            </a:r>
            <a:r>
              <a:rPr lang="en-GB" sz="2000" smtClean="0"/>
              <a:t> </a:t>
            </a:r>
            <a:r>
              <a:rPr lang="tr-TR" sz="2000" smtClean="0"/>
              <a:t>ekranından ölçülen akım</a:t>
            </a:r>
            <a:r>
              <a:rPr lang="en-GB" sz="2000" smtClean="0"/>
              <a:t> </a:t>
            </a:r>
            <a:r>
              <a:rPr lang="tr-TR" sz="2000" smtClean="0"/>
              <a:t>miktarını oku.</a:t>
            </a:r>
            <a:endParaRPr lang="en-GB" sz="2000" smtClean="0"/>
          </a:p>
          <a:p>
            <a:pPr lvl="1"/>
            <a:r>
              <a:rPr lang="tr-TR" sz="2000" smtClean="0"/>
              <a:t>Ölçülecek frekans değerinin</a:t>
            </a:r>
            <a:r>
              <a:rPr lang="en-GB" sz="2000" smtClean="0"/>
              <a:t> </a:t>
            </a:r>
            <a:r>
              <a:rPr lang="tr-TR" sz="2000" smtClean="0"/>
              <a:t>avometrenin ölçme sınırına</a:t>
            </a:r>
            <a:r>
              <a:rPr lang="en-GB" sz="2000" smtClean="0"/>
              <a:t> </a:t>
            </a:r>
            <a:r>
              <a:rPr lang="tr-TR" sz="2000" smtClean="0"/>
              <a:t>uygunluğunu kontrol ediniz.</a:t>
            </a:r>
            <a:endParaRPr lang="en-GB" sz="2000" smtClean="0"/>
          </a:p>
          <a:p>
            <a:pPr lvl="1"/>
            <a:r>
              <a:rPr lang="tr-TR" sz="2000" smtClean="0"/>
              <a:t>Avometreyi frekans kademesine</a:t>
            </a:r>
            <a:r>
              <a:rPr lang="en-GB" sz="2000" smtClean="0"/>
              <a:t> </a:t>
            </a:r>
            <a:r>
              <a:rPr lang="tr-TR" sz="2000" smtClean="0"/>
              <a:t>al.</a:t>
            </a:r>
            <a:endParaRPr lang="en-GB" sz="2000" smtClean="0"/>
          </a:p>
          <a:p>
            <a:pPr lvl="1"/>
            <a:r>
              <a:rPr lang="tr-TR" sz="2000" smtClean="0"/>
              <a:t>Avometre problarını frekans</a:t>
            </a:r>
            <a:r>
              <a:rPr lang="en-GB" sz="2000" smtClean="0"/>
              <a:t> </a:t>
            </a:r>
            <a:r>
              <a:rPr lang="tr-TR" sz="2000" smtClean="0"/>
              <a:t>ölçümü yapılacak devre veya</a:t>
            </a:r>
            <a:r>
              <a:rPr lang="en-GB" sz="2000" smtClean="0"/>
              <a:t> </a:t>
            </a:r>
            <a:r>
              <a:rPr lang="tr-TR" sz="2000" smtClean="0"/>
              <a:t>kaynağa bağla.</a:t>
            </a:r>
            <a:endParaRPr lang="en-GB" sz="2000" smtClean="0"/>
          </a:p>
          <a:p>
            <a:pPr lvl="1"/>
            <a:r>
              <a:rPr lang="tr-TR" sz="2000" smtClean="0"/>
              <a:t>Frekans değerini skala veya</a:t>
            </a:r>
            <a:r>
              <a:rPr lang="en-GB" sz="2000" smtClean="0"/>
              <a:t> </a:t>
            </a:r>
            <a:r>
              <a:rPr lang="tr-TR" sz="2000" smtClean="0"/>
              <a:t>değer ekranından oku.</a:t>
            </a:r>
          </a:p>
          <a:p>
            <a:pPr lvl="2"/>
            <a:endParaRPr lang="tr-TR" sz="2000" smtClean="0"/>
          </a:p>
          <a:p>
            <a:endParaRPr lang="tr-TR" sz="2400" smtClean="0"/>
          </a:p>
          <a:p>
            <a:endParaRPr lang="tr-TR" sz="2400" smtClean="0"/>
          </a:p>
          <a:p>
            <a:endParaRPr lang="tr-TR" sz="2400" smtClean="0"/>
          </a:p>
          <a:p>
            <a:endParaRPr lang="tr-TR" sz="2400" smtClean="0"/>
          </a:p>
        </p:txBody>
      </p:sp>
      <p:sp>
        <p:nvSpPr>
          <p:cNvPr id="190468" name="Slide Number Placeholder 4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5A6F65CA-0A28-43F2-9DA4-1AA8309A3B21}" type="slidenum">
              <a:rPr lang="en-US" sz="1000"/>
              <a:pPr algn="r"/>
              <a:t>177</a:t>
            </a:fld>
            <a:endParaRPr lang="en-US"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8A2AE6B8-BD82-451D-816A-AAE625758AB2}" type="slidenum">
              <a:rPr lang="en-US"/>
              <a:pPr/>
              <a:t>178</a:t>
            </a:fld>
            <a:endParaRPr lang="en-US"/>
          </a:p>
        </p:txBody>
      </p:sp>
      <p:sp>
        <p:nvSpPr>
          <p:cNvPr id="191490" name="Rectangle 2"/>
          <p:cNvSpPr>
            <a:spLocks noGrp="1" noChangeArrowheads="1"/>
          </p:cNvSpPr>
          <p:nvPr>
            <p:ph type="title"/>
          </p:nvPr>
        </p:nvSpPr>
        <p:spPr>
          <a:xfrm>
            <a:off x="928688" y="0"/>
            <a:ext cx="7158037" cy="1412875"/>
          </a:xfrm>
        </p:spPr>
        <p:txBody>
          <a:bodyPr/>
          <a:lstStyle/>
          <a:p>
            <a:pPr eaLnBrk="1" hangingPunct="1"/>
            <a:r>
              <a:rPr lang="en-GB" sz="3600" b="1" smtClean="0"/>
              <a:t>UYGULAMA</a:t>
            </a:r>
            <a:r>
              <a:rPr lang="tr-TR" sz="3600" b="1" smtClean="0"/>
              <a:t> FAALİYETİ</a:t>
            </a:r>
          </a:p>
        </p:txBody>
      </p:sp>
      <p:sp>
        <p:nvSpPr>
          <p:cNvPr id="190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8688" y="1785938"/>
            <a:ext cx="7661275" cy="4876800"/>
          </a:xfrm>
        </p:spPr>
        <p:txBody>
          <a:bodyPr/>
          <a:lstStyle/>
          <a:p>
            <a:r>
              <a:rPr lang="tr-TR" sz="2400" b="1" smtClean="0"/>
              <a:t>Öneriler</a:t>
            </a:r>
            <a:endParaRPr lang="en-GB" sz="2400" b="1" smtClean="0"/>
          </a:p>
          <a:p>
            <a:pPr lvl="1"/>
            <a:r>
              <a:rPr lang="tr-TR" sz="1700" smtClean="0"/>
              <a:t>Avometrelerin ölçtüğü büyüklükler,</a:t>
            </a:r>
            <a:r>
              <a:rPr lang="en-GB" sz="1700" smtClean="0"/>
              <a:t> </a:t>
            </a:r>
            <a:r>
              <a:rPr lang="tr-TR" sz="1700" smtClean="0"/>
              <a:t>kademe sayıları ve kademe değerleri biri</a:t>
            </a:r>
            <a:r>
              <a:rPr lang="en-GB" sz="1700" smtClean="0"/>
              <a:t> </a:t>
            </a:r>
            <a:r>
              <a:rPr lang="tr-TR" sz="1700" smtClean="0"/>
              <a:t>birinden farklı olabilir.</a:t>
            </a:r>
            <a:endParaRPr lang="en-GB" sz="1700" smtClean="0"/>
          </a:p>
          <a:p>
            <a:pPr lvl="1"/>
            <a:r>
              <a:rPr lang="tr-TR" sz="1700" smtClean="0"/>
              <a:t>Avometrelerde AC-DC seçimi kademe</a:t>
            </a:r>
            <a:r>
              <a:rPr lang="en-GB" sz="1700" smtClean="0"/>
              <a:t> </a:t>
            </a:r>
            <a:r>
              <a:rPr lang="tr-TR" sz="1700" smtClean="0"/>
              <a:t>seçimi ile yapılabildiği gibi özellikle dijital</a:t>
            </a:r>
            <a:r>
              <a:rPr lang="en-GB" sz="1700" smtClean="0"/>
              <a:t> </a:t>
            </a:r>
            <a:r>
              <a:rPr lang="tr-TR" sz="1700" smtClean="0"/>
              <a:t>avometrelerde AC-DC seçimi için ayrı bir</a:t>
            </a:r>
            <a:r>
              <a:rPr lang="en-GB" sz="1700" smtClean="0"/>
              <a:t> </a:t>
            </a:r>
            <a:r>
              <a:rPr lang="tr-TR" sz="1700" smtClean="0"/>
              <a:t>komütatör anahtarı bulunur.</a:t>
            </a:r>
          </a:p>
          <a:p>
            <a:pPr lvl="1"/>
            <a:r>
              <a:rPr lang="tr-TR" sz="1700" smtClean="0"/>
              <a:t> AC-DC seçiminin yanlış yapılması ölçülen</a:t>
            </a:r>
            <a:r>
              <a:rPr lang="en-GB" sz="1700" smtClean="0"/>
              <a:t> </a:t>
            </a:r>
            <a:r>
              <a:rPr lang="tr-TR" sz="1700" smtClean="0"/>
              <a:t>değerin yanlış tespit edilmesine neden olur.</a:t>
            </a:r>
          </a:p>
          <a:p>
            <a:pPr lvl="1"/>
            <a:r>
              <a:rPr lang="tr-TR" sz="1700" smtClean="0"/>
              <a:t>Gerilim ölçümünde seçilecek kademe</a:t>
            </a:r>
            <a:r>
              <a:rPr lang="en-GB" sz="1700" smtClean="0"/>
              <a:t> </a:t>
            </a:r>
            <a:r>
              <a:rPr lang="tr-TR" sz="1700" smtClean="0"/>
              <a:t>kesinlikle ölçülecek gerilim değerinden</a:t>
            </a:r>
            <a:r>
              <a:rPr lang="en-GB" sz="1700" smtClean="0"/>
              <a:t> </a:t>
            </a:r>
            <a:r>
              <a:rPr lang="tr-TR" sz="1700" smtClean="0"/>
              <a:t>küçük olmamalıdır.</a:t>
            </a:r>
          </a:p>
          <a:p>
            <a:pPr lvl="1"/>
            <a:r>
              <a:rPr lang="tr-TR" sz="1700" smtClean="0"/>
              <a:t> Ölçülecek gerilim değerinin ölçü aletinin</a:t>
            </a:r>
            <a:r>
              <a:rPr lang="en-GB" sz="1700" smtClean="0"/>
              <a:t> </a:t>
            </a:r>
            <a:r>
              <a:rPr lang="tr-TR" sz="1700" smtClean="0"/>
              <a:t>ölçme sınırında olduğunu biliyor; ancak tam</a:t>
            </a:r>
            <a:r>
              <a:rPr lang="en-GB" sz="1700" smtClean="0"/>
              <a:t> </a:t>
            </a:r>
            <a:r>
              <a:rPr lang="tr-TR" sz="1700" smtClean="0"/>
              <a:t>değerini kestiremiyorsanız en büyük</a:t>
            </a:r>
            <a:r>
              <a:rPr lang="en-GB" sz="1700" smtClean="0"/>
              <a:t> </a:t>
            </a:r>
            <a:r>
              <a:rPr lang="tr-TR" sz="1700" smtClean="0"/>
              <a:t>kademeyi seçerek ölçüme başlayın,</a:t>
            </a:r>
            <a:r>
              <a:rPr lang="en-GB" sz="1700" smtClean="0"/>
              <a:t> </a:t>
            </a:r>
            <a:r>
              <a:rPr lang="tr-TR" sz="1700" smtClean="0"/>
              <a:t>gerekiyorsa kademeyi küçültün.</a:t>
            </a:r>
          </a:p>
          <a:p>
            <a:pPr lvl="1"/>
            <a:r>
              <a:rPr lang="tr-TR" sz="1700" smtClean="0"/>
              <a:t>AC-DC seçimi kademe anahtarı ile</a:t>
            </a:r>
          </a:p>
          <a:p>
            <a:pPr lvl="1"/>
            <a:r>
              <a:rPr lang="tr-TR" sz="1700" smtClean="0"/>
              <a:t>yapılıyorsa, gerilime uygun kademe</a:t>
            </a:r>
          </a:p>
          <a:p>
            <a:pPr lvl="1"/>
            <a:r>
              <a:rPr lang="tr-TR" sz="1700" smtClean="0"/>
              <a:t>seçilmelidir.</a:t>
            </a:r>
          </a:p>
          <a:p>
            <a:endParaRPr lang="tr-TR" sz="2400" smtClean="0"/>
          </a:p>
          <a:p>
            <a:endParaRPr lang="tr-TR" sz="2400" b="1" smtClean="0"/>
          </a:p>
        </p:txBody>
      </p:sp>
      <p:sp>
        <p:nvSpPr>
          <p:cNvPr id="191492" name="Slide Number Placeholder 4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277421AC-7B75-4ED2-A929-30592305F40D}" type="slidenum">
              <a:rPr lang="en-US" sz="1000"/>
              <a:pPr algn="r"/>
              <a:t>178</a:t>
            </a:fld>
            <a:endParaRPr lang="en-US"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7FBCC915-295E-4431-BFDD-490061062C52}" type="slidenum">
              <a:rPr lang="en-US"/>
              <a:pPr/>
              <a:t>179</a:t>
            </a:fld>
            <a:endParaRPr lang="en-US"/>
          </a:p>
        </p:txBody>
      </p:sp>
      <p:sp>
        <p:nvSpPr>
          <p:cNvPr id="192514" name="Rectangle 2"/>
          <p:cNvSpPr>
            <a:spLocks noGrp="1" noChangeArrowheads="1"/>
          </p:cNvSpPr>
          <p:nvPr>
            <p:ph type="title"/>
          </p:nvPr>
        </p:nvSpPr>
        <p:spPr>
          <a:xfrm>
            <a:off x="928688" y="0"/>
            <a:ext cx="7158037" cy="1412875"/>
          </a:xfrm>
        </p:spPr>
        <p:txBody>
          <a:bodyPr/>
          <a:lstStyle/>
          <a:p>
            <a:pPr eaLnBrk="1" hangingPunct="1"/>
            <a:r>
              <a:rPr lang="en-GB" sz="3600" b="1" smtClean="0"/>
              <a:t>UYGULAMA</a:t>
            </a:r>
            <a:r>
              <a:rPr lang="tr-TR" sz="3600" b="1" smtClean="0"/>
              <a:t> FAALİYETİ</a:t>
            </a:r>
          </a:p>
        </p:txBody>
      </p:sp>
      <p:sp>
        <p:nvSpPr>
          <p:cNvPr id="1914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8688" y="1785938"/>
            <a:ext cx="7661275" cy="4876800"/>
          </a:xfrm>
        </p:spPr>
        <p:txBody>
          <a:bodyPr/>
          <a:lstStyle/>
          <a:p>
            <a:pPr lvl="1"/>
            <a:r>
              <a:rPr lang="tr-TR" sz="2000" smtClean="0"/>
              <a:t>Gerilim ölçmelerinin tamamını</a:t>
            </a:r>
            <a:r>
              <a:rPr lang="en-GB" sz="2000" smtClean="0"/>
              <a:t> </a:t>
            </a:r>
            <a:r>
              <a:rPr lang="tr-TR" sz="2000" smtClean="0"/>
              <a:t>öğretmeninizin gözetiminde yapınız.</a:t>
            </a:r>
          </a:p>
          <a:p>
            <a:pPr lvl="1"/>
            <a:r>
              <a:rPr lang="tr-TR" sz="2000" smtClean="0"/>
              <a:t>Ölçüm yaparken probların metal kısmına</a:t>
            </a:r>
            <a:r>
              <a:rPr lang="en-GB" sz="2000" smtClean="0"/>
              <a:t> </a:t>
            </a:r>
            <a:r>
              <a:rPr lang="tr-TR" sz="2000" smtClean="0"/>
              <a:t>kesinlikle dokunmayınız.</a:t>
            </a:r>
          </a:p>
          <a:p>
            <a:pPr lvl="1"/>
            <a:r>
              <a:rPr lang="tr-TR" sz="2000" smtClean="0"/>
              <a:t>Prob uçları kademe seçimi kontrol</a:t>
            </a:r>
            <a:r>
              <a:rPr lang="en-GB" sz="2000" smtClean="0"/>
              <a:t> </a:t>
            </a:r>
            <a:r>
              <a:rPr lang="tr-TR" sz="2000" smtClean="0"/>
              <a:t>edildikten sonra bağlanmalıdır.</a:t>
            </a:r>
          </a:p>
          <a:p>
            <a:pPr lvl="1"/>
            <a:r>
              <a:rPr lang="tr-TR" sz="2000" smtClean="0"/>
              <a:t>Gerilim ölçerken avometre uçları paralel</a:t>
            </a:r>
            <a:r>
              <a:rPr lang="en-GB" sz="2000" smtClean="0"/>
              <a:t> </a:t>
            </a:r>
            <a:r>
              <a:rPr lang="tr-TR" sz="2000" smtClean="0"/>
              <a:t>olarak bağlanmalıdır.</a:t>
            </a:r>
          </a:p>
          <a:p>
            <a:pPr lvl="1"/>
            <a:r>
              <a:rPr lang="tr-TR" sz="2000" smtClean="0"/>
              <a:t>Analog avometre ile DC gerilim ölçülecek</a:t>
            </a:r>
            <a:r>
              <a:rPr lang="en-GB" sz="2000" smtClean="0"/>
              <a:t> </a:t>
            </a:r>
            <a:r>
              <a:rPr lang="tr-TR" sz="2000" smtClean="0"/>
              <a:t>ise ölçü aletinin probları bağlanırken + ve ─</a:t>
            </a:r>
            <a:r>
              <a:rPr lang="en-GB" sz="2000" smtClean="0"/>
              <a:t> </a:t>
            </a:r>
            <a:r>
              <a:rPr lang="tr-TR" sz="2000" smtClean="0"/>
              <a:t>uçlar doğru bağlanmalıdır. Aksi durumda</a:t>
            </a:r>
            <a:r>
              <a:rPr lang="en-GB" sz="2000" smtClean="0"/>
              <a:t> </a:t>
            </a:r>
            <a:r>
              <a:rPr lang="tr-TR" sz="2000" smtClean="0"/>
              <a:t>ibre ters sapar.</a:t>
            </a:r>
            <a:endParaRPr lang="en-GB" sz="2000" smtClean="0"/>
          </a:p>
          <a:p>
            <a:pPr lvl="1"/>
            <a:r>
              <a:rPr lang="tr-TR" sz="2000" smtClean="0"/>
              <a:t>Analog avometrelerde skaladan okunan</a:t>
            </a:r>
            <a:r>
              <a:rPr lang="en-GB" sz="2000" smtClean="0"/>
              <a:t> </a:t>
            </a:r>
            <a:r>
              <a:rPr lang="tr-TR" sz="2000" smtClean="0"/>
              <a:t>değer ile kademe arasında işlem yapılması</a:t>
            </a:r>
            <a:r>
              <a:rPr lang="en-GB" sz="2000" smtClean="0"/>
              <a:t> </a:t>
            </a:r>
            <a:r>
              <a:rPr lang="tr-TR" sz="2000" smtClean="0"/>
              <a:t>gerektiğini unutmayınız.</a:t>
            </a:r>
          </a:p>
          <a:p>
            <a:pPr lvl="1"/>
            <a:r>
              <a:rPr lang="tr-TR" sz="2000" smtClean="0"/>
              <a:t>Analog avometrelerde skaladan daha doğru</a:t>
            </a:r>
            <a:r>
              <a:rPr lang="en-GB" sz="2000" smtClean="0"/>
              <a:t> </a:t>
            </a:r>
            <a:r>
              <a:rPr lang="tr-TR" sz="2000" smtClean="0"/>
              <a:t>ölçme yapmak için skaladaki şerit aynadan</a:t>
            </a:r>
            <a:r>
              <a:rPr lang="en-GB" sz="2000" smtClean="0"/>
              <a:t> </a:t>
            </a:r>
            <a:r>
              <a:rPr lang="tr-TR" sz="2000" smtClean="0"/>
              <a:t>faydalanınız.</a:t>
            </a:r>
          </a:p>
          <a:p>
            <a:pPr lvl="1"/>
            <a:endParaRPr lang="tr-TR" sz="2000" smtClean="0"/>
          </a:p>
        </p:txBody>
      </p:sp>
      <p:sp>
        <p:nvSpPr>
          <p:cNvPr id="192516" name="Slide Number Placeholder 4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12EBF46E-3A36-4903-A5BB-C0FE8565E12B}" type="slidenum">
              <a:rPr lang="en-US" sz="1000"/>
              <a:pPr algn="r"/>
              <a:t>179</a:t>
            </a:fld>
            <a:endParaRPr lang="en-US"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6C9BD644-3C0C-4C55-9B38-DD22A72A3EB9}" type="slidenum">
              <a:rPr lang="en-US"/>
              <a:pPr/>
              <a:t>180</a:t>
            </a:fld>
            <a:endParaRPr lang="en-US"/>
          </a:p>
        </p:txBody>
      </p:sp>
      <p:sp>
        <p:nvSpPr>
          <p:cNvPr id="193538" name="Rectangle 2"/>
          <p:cNvSpPr>
            <a:spLocks noGrp="1" noChangeArrowheads="1"/>
          </p:cNvSpPr>
          <p:nvPr>
            <p:ph type="title"/>
          </p:nvPr>
        </p:nvSpPr>
        <p:spPr>
          <a:xfrm>
            <a:off x="928688" y="0"/>
            <a:ext cx="7158037" cy="1412875"/>
          </a:xfrm>
        </p:spPr>
        <p:txBody>
          <a:bodyPr/>
          <a:lstStyle/>
          <a:p>
            <a:pPr eaLnBrk="1" hangingPunct="1"/>
            <a:r>
              <a:rPr lang="en-GB" sz="3600" b="1" smtClean="0"/>
              <a:t>UYGULAMA</a:t>
            </a:r>
            <a:r>
              <a:rPr lang="tr-TR" sz="3600" b="1" smtClean="0"/>
              <a:t> FAALİYETİ</a:t>
            </a:r>
          </a:p>
        </p:txBody>
      </p:sp>
      <p:sp>
        <p:nvSpPr>
          <p:cNvPr id="192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8688" y="1785938"/>
            <a:ext cx="7661275" cy="4876800"/>
          </a:xfrm>
        </p:spPr>
        <p:txBody>
          <a:bodyPr/>
          <a:lstStyle/>
          <a:p>
            <a:pPr lvl="1"/>
            <a:r>
              <a:rPr lang="tr-TR" sz="1800" smtClean="0"/>
              <a:t>Avometrelerde AC-DC seçimi kademe</a:t>
            </a:r>
            <a:r>
              <a:rPr lang="en-GB" sz="1800" smtClean="0"/>
              <a:t> </a:t>
            </a:r>
            <a:r>
              <a:rPr lang="tr-TR" sz="1800" smtClean="0"/>
              <a:t>seçimi ile yapılabildiği gibi özellikle dijital</a:t>
            </a:r>
            <a:r>
              <a:rPr lang="en-GB" sz="1800" smtClean="0"/>
              <a:t> </a:t>
            </a:r>
            <a:r>
              <a:rPr lang="tr-TR" sz="1800" smtClean="0"/>
              <a:t>avometrelerde AC-DC seçimi için ayrı bir</a:t>
            </a:r>
            <a:r>
              <a:rPr lang="en-GB" sz="1800" smtClean="0"/>
              <a:t> </a:t>
            </a:r>
            <a:r>
              <a:rPr lang="tr-TR" sz="1800" smtClean="0"/>
              <a:t>komütatör anahtarı bulunur.</a:t>
            </a:r>
          </a:p>
          <a:p>
            <a:pPr lvl="1"/>
            <a:r>
              <a:rPr lang="tr-TR" sz="1800" smtClean="0"/>
              <a:t>AC-DC seçiminin yanlış yapılması ölçülen</a:t>
            </a:r>
            <a:r>
              <a:rPr lang="en-GB" sz="1800" smtClean="0"/>
              <a:t> </a:t>
            </a:r>
            <a:r>
              <a:rPr lang="tr-TR" sz="1800" smtClean="0"/>
              <a:t>değerin yanlış tespit edilmesine neden olur.</a:t>
            </a:r>
            <a:endParaRPr lang="en-GB" sz="1800" smtClean="0"/>
          </a:p>
          <a:p>
            <a:pPr lvl="1"/>
            <a:r>
              <a:rPr lang="tr-TR" sz="1800" smtClean="0"/>
              <a:t>Akım ölçümünde seçilecek kademe</a:t>
            </a:r>
            <a:r>
              <a:rPr lang="en-GB" sz="1800" smtClean="0"/>
              <a:t> </a:t>
            </a:r>
            <a:r>
              <a:rPr lang="tr-TR" sz="1800" smtClean="0"/>
              <a:t>kesinlikle ölçülecek gerilim değerinden</a:t>
            </a:r>
            <a:r>
              <a:rPr lang="en-GB" sz="1800" smtClean="0"/>
              <a:t> </a:t>
            </a:r>
            <a:r>
              <a:rPr lang="tr-TR" sz="1800" smtClean="0"/>
              <a:t>küçük olmamalıdır.</a:t>
            </a:r>
          </a:p>
          <a:p>
            <a:pPr lvl="1"/>
            <a:r>
              <a:rPr lang="tr-TR" sz="1800" smtClean="0"/>
              <a:t> AC-DC seçimi kademe anahtarı ile</a:t>
            </a:r>
            <a:r>
              <a:rPr lang="en-GB" sz="1800" smtClean="0"/>
              <a:t> </a:t>
            </a:r>
            <a:r>
              <a:rPr lang="tr-TR" sz="1800" smtClean="0"/>
              <a:t>yapılıyorsa akıma uygun kademe</a:t>
            </a:r>
            <a:r>
              <a:rPr lang="en-GB" sz="1800" smtClean="0"/>
              <a:t> </a:t>
            </a:r>
            <a:r>
              <a:rPr lang="tr-TR" sz="1800" smtClean="0"/>
              <a:t>seçilmelidir.</a:t>
            </a:r>
            <a:endParaRPr lang="en-GB" sz="1800" smtClean="0"/>
          </a:p>
          <a:p>
            <a:pPr lvl="1"/>
            <a:r>
              <a:rPr lang="tr-TR" sz="1800" smtClean="0"/>
              <a:t>Akım ölçmelerinizin tamamını,</a:t>
            </a:r>
            <a:r>
              <a:rPr lang="en-GB" sz="1800" smtClean="0"/>
              <a:t> </a:t>
            </a:r>
            <a:r>
              <a:rPr lang="tr-TR" sz="1800" smtClean="0"/>
              <a:t>öğretmeninizin gözetiminde yapınız.</a:t>
            </a:r>
          </a:p>
          <a:p>
            <a:pPr lvl="1"/>
            <a:r>
              <a:rPr lang="tr-TR" sz="1800" smtClean="0"/>
              <a:t> Ölçüm yaparken probların metal kısmına</a:t>
            </a:r>
            <a:r>
              <a:rPr lang="en-GB" sz="1800" smtClean="0"/>
              <a:t> </a:t>
            </a:r>
            <a:r>
              <a:rPr lang="tr-TR" sz="1800" smtClean="0"/>
              <a:t>kesinlikle dokunmayınız.</a:t>
            </a:r>
          </a:p>
          <a:p>
            <a:pPr lvl="1"/>
            <a:r>
              <a:rPr lang="tr-TR" sz="1800" smtClean="0"/>
              <a:t> Amper düzeyindeki akımlar ölçülürken</a:t>
            </a:r>
            <a:r>
              <a:rPr lang="en-GB" sz="1800" smtClean="0"/>
              <a:t> </a:t>
            </a:r>
            <a:r>
              <a:rPr lang="tr-TR" sz="1800" smtClean="0"/>
              <a:t>problardan birinin COM bağlantı</a:t>
            </a:r>
            <a:r>
              <a:rPr lang="en-GB" sz="1800" smtClean="0"/>
              <a:t> </a:t>
            </a:r>
            <a:r>
              <a:rPr lang="tr-TR" sz="1800" smtClean="0"/>
              <a:t>noktasında, diğer probun yüksek akım</a:t>
            </a:r>
            <a:r>
              <a:rPr lang="en-GB" sz="1800" smtClean="0"/>
              <a:t> </a:t>
            </a:r>
            <a:r>
              <a:rPr lang="tr-TR" sz="1800" smtClean="0"/>
              <a:t>soketine bağlı olması gerektiğini</a:t>
            </a:r>
            <a:r>
              <a:rPr lang="en-GB" sz="1800" smtClean="0"/>
              <a:t> </a:t>
            </a:r>
            <a:r>
              <a:rPr lang="tr-TR" sz="1800" smtClean="0"/>
              <a:t>unutmayınız.</a:t>
            </a:r>
          </a:p>
          <a:p>
            <a:endParaRPr lang="tr-TR" sz="2400" smtClean="0"/>
          </a:p>
          <a:p>
            <a:endParaRPr lang="tr-TR" sz="2400" smtClean="0"/>
          </a:p>
        </p:txBody>
      </p:sp>
      <p:sp>
        <p:nvSpPr>
          <p:cNvPr id="193540" name="Slide Number Placeholder 4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9FC8F7EA-B5D2-42A1-B2E2-263D6B89DE06}" type="slidenum">
              <a:rPr lang="en-US" sz="1000"/>
              <a:pPr algn="r"/>
              <a:t>180</a:t>
            </a:fld>
            <a:endParaRPr lang="en-US"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DCE97119-EA1A-49A9-AA01-5A5B6E878253}" type="slidenum">
              <a:rPr lang="en-US"/>
              <a:pPr/>
              <a:t>181</a:t>
            </a:fld>
            <a:endParaRPr lang="en-US"/>
          </a:p>
        </p:txBody>
      </p:sp>
      <p:sp>
        <p:nvSpPr>
          <p:cNvPr id="194562" name="Rectangle 2"/>
          <p:cNvSpPr>
            <a:spLocks noGrp="1" noChangeArrowheads="1"/>
          </p:cNvSpPr>
          <p:nvPr>
            <p:ph type="title"/>
          </p:nvPr>
        </p:nvSpPr>
        <p:spPr>
          <a:xfrm>
            <a:off x="928688" y="0"/>
            <a:ext cx="7158037" cy="1412875"/>
          </a:xfrm>
        </p:spPr>
        <p:txBody>
          <a:bodyPr/>
          <a:lstStyle/>
          <a:p>
            <a:pPr eaLnBrk="1" hangingPunct="1"/>
            <a:r>
              <a:rPr lang="en-GB" sz="3600" b="1" smtClean="0"/>
              <a:t>UYGULAMA</a:t>
            </a:r>
            <a:r>
              <a:rPr lang="tr-TR" sz="3600" b="1" smtClean="0"/>
              <a:t> FAALİYETİ</a:t>
            </a:r>
          </a:p>
        </p:txBody>
      </p:sp>
      <p:sp>
        <p:nvSpPr>
          <p:cNvPr id="192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8688" y="1785938"/>
            <a:ext cx="7661275" cy="4876800"/>
          </a:xfrm>
        </p:spPr>
        <p:txBody>
          <a:bodyPr/>
          <a:lstStyle/>
          <a:p>
            <a:pPr lvl="1"/>
            <a:r>
              <a:rPr lang="tr-TR" sz="2000" smtClean="0"/>
              <a:t>Prob uçları kademe seçimi kontrol</a:t>
            </a:r>
            <a:r>
              <a:rPr lang="en-GB" sz="2000" smtClean="0"/>
              <a:t> </a:t>
            </a:r>
            <a:r>
              <a:rPr lang="tr-TR" sz="2000" smtClean="0"/>
              <a:t>edildikten sonra bağlanmalıdır.</a:t>
            </a:r>
            <a:endParaRPr lang="en-GB" sz="2000" smtClean="0"/>
          </a:p>
          <a:p>
            <a:pPr lvl="1"/>
            <a:r>
              <a:rPr lang="tr-TR" sz="2000" smtClean="0"/>
              <a:t>Analog avometrelerde skaladan okunan</a:t>
            </a:r>
            <a:r>
              <a:rPr lang="en-GB" sz="2000" smtClean="0"/>
              <a:t> </a:t>
            </a:r>
            <a:r>
              <a:rPr lang="tr-TR" sz="2000" smtClean="0"/>
              <a:t>değer ile kademe arasında işlem yapılması</a:t>
            </a:r>
            <a:r>
              <a:rPr lang="en-GB" sz="2000" smtClean="0"/>
              <a:t> </a:t>
            </a:r>
            <a:r>
              <a:rPr lang="tr-TR" sz="2000" smtClean="0"/>
              <a:t>gerektiğini unutmayınız.</a:t>
            </a:r>
          </a:p>
          <a:p>
            <a:pPr lvl="1"/>
            <a:r>
              <a:rPr lang="tr-TR" sz="2000" smtClean="0"/>
              <a:t>Analog avometrelerde skaladan daha doğru</a:t>
            </a:r>
            <a:r>
              <a:rPr lang="en-GB" sz="2000" smtClean="0"/>
              <a:t> </a:t>
            </a:r>
            <a:r>
              <a:rPr lang="tr-TR" sz="2000" smtClean="0"/>
              <a:t>ölçme yapmak için skaladaki şerit aynadan</a:t>
            </a:r>
            <a:r>
              <a:rPr lang="en-GB" sz="2000" smtClean="0"/>
              <a:t> </a:t>
            </a:r>
            <a:r>
              <a:rPr lang="tr-TR" sz="2000" smtClean="0"/>
              <a:t>faydalanınız.</a:t>
            </a:r>
          </a:p>
          <a:p>
            <a:pPr lvl="1"/>
            <a:endParaRPr lang="tr-TR" sz="2000" smtClean="0"/>
          </a:p>
          <a:p>
            <a:pPr lvl="1"/>
            <a:endParaRPr lang="tr-TR" sz="2000" smtClean="0"/>
          </a:p>
          <a:p>
            <a:pPr lvl="1"/>
            <a:endParaRPr lang="tr-TR" sz="2000" smtClean="0"/>
          </a:p>
        </p:txBody>
      </p:sp>
      <p:sp>
        <p:nvSpPr>
          <p:cNvPr id="194564" name="Slide Number Placeholder 4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22C6AEB5-96E0-41D5-AEF2-460D678E67C3}" type="slidenum">
              <a:rPr lang="en-US" sz="1000"/>
              <a:pPr algn="r"/>
              <a:t>181</a:t>
            </a:fld>
            <a:endParaRPr lang="en-US"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D3C44A82-DF5F-4EEB-B23C-91327CDB0D96}" type="slidenum">
              <a:rPr lang="en-US"/>
              <a:pPr/>
              <a:t>182</a:t>
            </a:fld>
            <a:endParaRPr lang="en-US"/>
          </a:p>
        </p:txBody>
      </p:sp>
      <p:sp>
        <p:nvSpPr>
          <p:cNvPr id="195586" name="Rectangle 2"/>
          <p:cNvSpPr>
            <a:spLocks noGrp="1" noChangeArrowheads="1"/>
          </p:cNvSpPr>
          <p:nvPr>
            <p:ph type="title"/>
          </p:nvPr>
        </p:nvSpPr>
        <p:spPr>
          <a:xfrm>
            <a:off x="928688" y="0"/>
            <a:ext cx="7158037" cy="1412875"/>
          </a:xfrm>
        </p:spPr>
        <p:txBody>
          <a:bodyPr/>
          <a:lstStyle/>
          <a:p>
            <a:pPr eaLnBrk="1" hangingPunct="1"/>
            <a:r>
              <a:rPr lang="en-GB" sz="3600" b="1" smtClean="0"/>
              <a:t>UYGULAMA</a:t>
            </a:r>
            <a:r>
              <a:rPr lang="tr-TR" sz="3600" b="1" smtClean="0"/>
              <a:t> FAALİYETİ</a:t>
            </a:r>
          </a:p>
        </p:txBody>
      </p:sp>
      <p:sp>
        <p:nvSpPr>
          <p:cNvPr id="195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8688" y="1785938"/>
            <a:ext cx="7661275" cy="48768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sz="2400" smtClean="0"/>
              <a:t>  </a:t>
            </a:r>
          </a:p>
        </p:txBody>
      </p:sp>
      <p:pic>
        <p:nvPicPr>
          <p:cNvPr id="19558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7250" y="1857375"/>
            <a:ext cx="6072188" cy="4814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5589" name="Slide Number Placeholder 4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026E994F-C05F-4BDF-B360-3EDD72CD8AFE}" type="slidenum">
              <a:rPr lang="en-US" sz="1000"/>
              <a:pPr algn="r"/>
              <a:t>182</a:t>
            </a:fld>
            <a:endParaRPr lang="en-US"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06348DBD-9F78-4590-9763-1EF0EF179077}" type="slidenum">
              <a:rPr lang="en-US"/>
              <a:pPr/>
              <a:t>183</a:t>
            </a:fld>
            <a:endParaRPr lang="en-US"/>
          </a:p>
        </p:txBody>
      </p:sp>
      <p:sp>
        <p:nvSpPr>
          <p:cNvPr id="196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z="3600" b="1" smtClean="0"/>
              <a:t>ÖLÇME VE DEĞERLENDİRME</a:t>
            </a:r>
            <a:endParaRPr lang="en-US" sz="3600" smtClean="0"/>
          </a:p>
        </p:txBody>
      </p:sp>
      <p:sp>
        <p:nvSpPr>
          <p:cNvPr id="196611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sz="1600" b="1" smtClean="0"/>
              <a:t>ÖLÇME SORULARI</a:t>
            </a:r>
          </a:p>
          <a:p>
            <a:r>
              <a:rPr lang="tr-TR" sz="1600" smtClean="0"/>
              <a:t>Aşağıda verilen soruları doğru ya da yanlış olarak cevaplayınız.</a:t>
            </a:r>
          </a:p>
          <a:p>
            <a:r>
              <a:rPr lang="tr-TR" sz="1600" smtClean="0"/>
              <a:t>1. Avometreler ile direnç ölçmek Lcrmetre ile direnç ölçmeden çok farklı teknikler</a:t>
            </a:r>
            <a:r>
              <a:rPr lang="en-GB" sz="1600" smtClean="0"/>
              <a:t> </a:t>
            </a:r>
            <a:r>
              <a:rPr lang="tr-TR" sz="1600" smtClean="0"/>
              <a:t>gerektirir.</a:t>
            </a:r>
          </a:p>
          <a:p>
            <a:r>
              <a:rPr lang="tr-TR" sz="1600" smtClean="0"/>
              <a:t>2. Dijital avometrelerde endüktans ve kapasite ölçümü prob bağlantısı ile yapılır.</a:t>
            </a:r>
          </a:p>
          <a:p>
            <a:r>
              <a:rPr lang="tr-TR" sz="1600" smtClean="0"/>
              <a:t>3. Dijital ve analog avometrelerin her ikisi de enerji kaynağı olarak pil kullanır.</a:t>
            </a:r>
          </a:p>
          <a:p>
            <a:r>
              <a:rPr lang="tr-TR" sz="1600" smtClean="0"/>
              <a:t>4. DC gerilim ölçülürken analog avometrenin “+”, “─” uçlar ters bağlanabilir.</a:t>
            </a:r>
          </a:p>
          <a:p>
            <a:r>
              <a:rPr lang="tr-TR" sz="1600" smtClean="0"/>
              <a:t>5. Bütün avometrelerin DC-AC akım seçimi kademe anahtarından yapılır.</a:t>
            </a:r>
          </a:p>
          <a:p>
            <a:r>
              <a:rPr lang="tr-TR" sz="1600" smtClean="0"/>
              <a:t>6. Avometreler ile her seviyedeki akım ölçülebilir.</a:t>
            </a:r>
          </a:p>
          <a:p>
            <a:r>
              <a:rPr lang="tr-TR" sz="1600" smtClean="0"/>
              <a:t>7. Analog avometrelerin pili sökülse bile gerilim ölçümü yapılabilir.</a:t>
            </a:r>
          </a:p>
          <a:p>
            <a:r>
              <a:rPr lang="tr-TR" sz="1600" smtClean="0"/>
              <a:t>8. Avometrelerde amper seviyesinde akım ölçülürken probların avometre bağlantı noktaları</a:t>
            </a:r>
            <a:r>
              <a:rPr lang="en-GB" sz="1600" smtClean="0"/>
              <a:t> </a:t>
            </a:r>
            <a:r>
              <a:rPr lang="tr-TR" sz="1600" smtClean="0"/>
              <a:t>değişir.</a:t>
            </a:r>
          </a:p>
          <a:p>
            <a:r>
              <a:rPr lang="tr-TR" sz="1600" smtClean="0"/>
              <a:t>9. Dijital avometrelerin sıcaklık ölçen modelleri mevcuttur.</a:t>
            </a:r>
          </a:p>
          <a:p>
            <a:r>
              <a:rPr lang="tr-TR" sz="1600" smtClean="0"/>
              <a:t>10. Ölçülecek gerilim seviyesi avometrenin ölçme sınırı içerisinde, ancak değeri tam</a:t>
            </a:r>
            <a:r>
              <a:rPr lang="en-GB" sz="1600" smtClean="0"/>
              <a:t> </a:t>
            </a:r>
            <a:r>
              <a:rPr lang="tr-TR" sz="1600" smtClean="0"/>
              <a:t>bilinmiyorsa en küçük kademeden ölçüme başlanır.</a:t>
            </a:r>
          </a:p>
          <a:p>
            <a:r>
              <a:rPr lang="tr-TR" sz="1600" smtClean="0"/>
              <a:t>11. Bütün avometreler ölçüm bittikten sonra KAPALI konuma getirilmelidir.</a:t>
            </a:r>
          </a:p>
        </p:txBody>
      </p:sp>
      <p:sp>
        <p:nvSpPr>
          <p:cNvPr id="196612" name="Slide Number Placeholder 5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2A067E02-12CF-4E41-A994-190B75F6E80C}" type="slidenum">
              <a:rPr lang="en-US" sz="1000"/>
              <a:pPr algn="r"/>
              <a:t>183</a:t>
            </a:fld>
            <a:endParaRPr lang="en-US"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D693331A-FAA5-4E26-9058-3F8EA9B8AA89}" type="slidenum">
              <a:rPr lang="en-US"/>
              <a:pPr/>
              <a:t>184</a:t>
            </a:fld>
            <a:endParaRPr lang="en-US"/>
          </a:p>
        </p:txBody>
      </p:sp>
      <p:sp>
        <p:nvSpPr>
          <p:cNvPr id="197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z="3600" b="1" smtClean="0"/>
              <a:t>ÖLÇME VE DEĞERLENDİRME</a:t>
            </a:r>
            <a:endParaRPr lang="en-US" sz="3600" smtClean="0"/>
          </a:p>
        </p:txBody>
      </p:sp>
      <p:sp>
        <p:nvSpPr>
          <p:cNvPr id="197635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smtClean="0"/>
              <a:t>DEĞERLENDİRME</a:t>
            </a:r>
          </a:p>
          <a:p>
            <a:r>
              <a:rPr lang="tr-TR" sz="1800" smtClean="0"/>
              <a:t>Cevaplarınızı cevap anahtarı ile kontrol ediniz. Doğru ve yanlış cevaplarınızı</a:t>
            </a:r>
            <a:r>
              <a:rPr lang="en-GB" sz="1800" smtClean="0"/>
              <a:t> </a:t>
            </a:r>
            <a:r>
              <a:rPr lang="tr-TR" sz="1800" smtClean="0"/>
              <a:t>belirleyerek kendinizi değerlendiriniz. </a:t>
            </a:r>
            <a:endParaRPr lang="en-GB" sz="1800" smtClean="0"/>
          </a:p>
          <a:p>
            <a:endParaRPr lang="en-GB" sz="1800" smtClean="0"/>
          </a:p>
          <a:p>
            <a:r>
              <a:rPr lang="tr-TR" sz="1800" smtClean="0"/>
              <a:t>Cevaplarınız yanlış ise öğrenme faaliyetinin ilgili</a:t>
            </a:r>
            <a:r>
              <a:rPr lang="en-GB" sz="1800" smtClean="0"/>
              <a:t> </a:t>
            </a:r>
            <a:r>
              <a:rPr lang="tr-TR" sz="1800" smtClean="0"/>
              <a:t>bölümüne dönerek konuyu tekrar ediniz.</a:t>
            </a:r>
          </a:p>
        </p:txBody>
      </p:sp>
      <p:sp>
        <p:nvSpPr>
          <p:cNvPr id="197636" name="Slide Number Placeholder 5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3A879E9A-7123-4E7A-BE73-791EB94BF52A}" type="slidenum">
              <a:rPr lang="en-US" sz="1000"/>
              <a:pPr algn="r"/>
              <a:t>184</a:t>
            </a:fld>
            <a:endParaRPr lang="en-US"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9AE4F299-7E55-4356-9C30-AE1BA06040B3}" type="slidenum">
              <a:rPr lang="en-US"/>
              <a:pPr/>
              <a:t>185</a:t>
            </a:fld>
            <a:endParaRPr lang="en-US"/>
          </a:p>
        </p:txBody>
      </p:sp>
      <p:sp>
        <p:nvSpPr>
          <p:cNvPr id="198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smtClean="0"/>
              <a:t>ÖĞRENME FAALİYETİ-8</a:t>
            </a:r>
            <a:endParaRPr lang="en-US" sz="3600" smtClean="0"/>
          </a:p>
        </p:txBody>
      </p:sp>
      <p:sp>
        <p:nvSpPr>
          <p:cNvPr id="19661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49325" y="1981200"/>
            <a:ext cx="7766050" cy="4114800"/>
          </a:xfrm>
        </p:spPr>
        <p:txBody>
          <a:bodyPr/>
          <a:lstStyle/>
          <a:p>
            <a:r>
              <a:rPr lang="en-US" sz="2000" b="1" smtClean="0"/>
              <a:t>AMAÇ</a:t>
            </a:r>
            <a:endParaRPr lang="tr-TR" sz="2000" b="1" smtClean="0"/>
          </a:p>
          <a:p>
            <a:pPr lvl="1"/>
            <a:r>
              <a:rPr lang="tr-TR" sz="2000" smtClean="0"/>
              <a:t>Frekansmetre bağlantısını yaparak frekans ölçümlerini hatasız yapabileceksiniz.</a:t>
            </a:r>
            <a:endParaRPr lang="tr-TR" sz="2000" b="1" smtClean="0"/>
          </a:p>
          <a:p>
            <a:endParaRPr lang="tr-TR" sz="2800" b="1" smtClean="0"/>
          </a:p>
          <a:p>
            <a:r>
              <a:rPr lang="en-US" sz="2000" b="1" smtClean="0"/>
              <a:t>ARAŞTIRMA</a:t>
            </a:r>
            <a:endParaRPr lang="en-US" sz="2000" smtClean="0"/>
          </a:p>
          <a:p>
            <a:pPr lvl="1"/>
            <a:r>
              <a:rPr lang="tr-TR" sz="2000" smtClean="0"/>
              <a:t>Frekansmetrelerin yapı ve çeşitleri ile frekans ölçümünün önemini araştırarak bir rapor</a:t>
            </a:r>
            <a:r>
              <a:rPr lang="en-GB" sz="2000" smtClean="0"/>
              <a:t> </a:t>
            </a:r>
            <a:r>
              <a:rPr lang="tr-TR" sz="2000" smtClean="0"/>
              <a:t>haline getiriniz.</a:t>
            </a:r>
          </a:p>
          <a:p>
            <a:pPr lvl="1"/>
            <a:endParaRPr lang="en-US" sz="2000" smtClean="0"/>
          </a:p>
          <a:p>
            <a:pPr lvl="1"/>
            <a:endParaRPr lang="en-US" sz="2000" smtClean="0"/>
          </a:p>
        </p:txBody>
      </p:sp>
      <p:sp>
        <p:nvSpPr>
          <p:cNvPr id="198660" name="Content Placeholder 5"/>
          <p:cNvSpPr>
            <a:spLocks noGrp="1"/>
          </p:cNvSpPr>
          <p:nvPr>
            <p:ph sz="quarter" idx="2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en-GB" smtClean="0"/>
              <a:t>  </a:t>
            </a:r>
            <a:endParaRPr lang="tr-TR" smtClean="0"/>
          </a:p>
        </p:txBody>
      </p:sp>
      <p:sp>
        <p:nvSpPr>
          <p:cNvPr id="198661" name="Content Placeholder 6"/>
          <p:cNvSpPr>
            <a:spLocks noGrp="1"/>
          </p:cNvSpPr>
          <p:nvPr>
            <p:ph sz="quarter" idx="3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en-GB" smtClean="0"/>
              <a:t>  </a:t>
            </a:r>
            <a:endParaRPr lang="tr-TR" smtClean="0"/>
          </a:p>
        </p:txBody>
      </p:sp>
      <p:sp>
        <p:nvSpPr>
          <p:cNvPr id="198662" name="Slide Number Placeholder 10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6FE02C77-C5A2-479B-B153-E4E8DC843270}" type="slidenum">
              <a:rPr lang="en-US" sz="1000"/>
              <a:pPr algn="r"/>
              <a:t>185</a:t>
            </a:fld>
            <a:endParaRPr lang="en-US"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0D2676CC-9FD3-42C5-9B6B-D68D0D17162D}" type="slidenum">
              <a:rPr lang="en-US"/>
              <a:pPr/>
              <a:t>186</a:t>
            </a:fld>
            <a:endParaRPr lang="en-US"/>
          </a:p>
        </p:txBody>
      </p:sp>
      <p:sp>
        <p:nvSpPr>
          <p:cNvPr id="199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z="3600" b="1" smtClean="0"/>
              <a:t>8. FREKANS ÖLÇME</a:t>
            </a:r>
          </a:p>
        </p:txBody>
      </p:sp>
      <p:sp>
        <p:nvSpPr>
          <p:cNvPr id="197635" name="Content Placeholder 3"/>
          <p:cNvSpPr>
            <a:spLocks noGrp="1"/>
          </p:cNvSpPr>
          <p:nvPr>
            <p:ph idx="1"/>
          </p:nvPr>
        </p:nvSpPr>
        <p:spPr>
          <a:xfrm>
            <a:off x="1000125" y="2000250"/>
            <a:ext cx="7661275" cy="4114800"/>
          </a:xfrm>
        </p:spPr>
        <p:txBody>
          <a:bodyPr/>
          <a:lstStyle/>
          <a:p>
            <a:r>
              <a:rPr lang="tr-TR" sz="2000" b="1" smtClean="0"/>
              <a:t>8.1. Frekansın Tanımı</a:t>
            </a:r>
          </a:p>
          <a:p>
            <a:pPr lvl="1"/>
            <a:r>
              <a:rPr lang="tr-TR" sz="1800" smtClean="0"/>
              <a:t>Frekans, yönü ve şiddeti değişen alternatif akım için geçerli bir terimdir. Doğru</a:t>
            </a:r>
            <a:r>
              <a:rPr lang="en-GB" sz="1800" smtClean="0"/>
              <a:t> </a:t>
            </a:r>
            <a:r>
              <a:rPr lang="tr-TR" sz="1800" smtClean="0"/>
              <a:t>akımda yön ve şiddette bir değişme olmadığı için frekansta sıfırdır. Burada alternatif akımı</a:t>
            </a:r>
            <a:r>
              <a:rPr lang="en-GB" sz="1800" smtClean="0"/>
              <a:t> </a:t>
            </a:r>
            <a:r>
              <a:rPr lang="tr-TR" sz="1800" smtClean="0"/>
              <a:t>yapısını inceleyerek frekans tanımına geçelim.</a:t>
            </a:r>
          </a:p>
          <a:p>
            <a:pPr lvl="1"/>
            <a:r>
              <a:rPr lang="tr-TR" sz="1800" b="1" smtClean="0"/>
              <a:t>Saykıl: </a:t>
            </a:r>
            <a:r>
              <a:rPr lang="tr-TR" sz="1800" smtClean="0"/>
              <a:t>Alternatif akım veya gerilim sıfırdan başlar, maksimum değerini alır ve sıfıra</a:t>
            </a:r>
            <a:r>
              <a:rPr lang="en-GB" sz="1800" smtClean="0"/>
              <a:t> </a:t>
            </a:r>
            <a:r>
              <a:rPr lang="tr-TR" sz="1800" smtClean="0"/>
              <a:t>döner, ters yönde de aynı işlem gerçekleşerek tekrar başlangıç noktası sıfıra döner.</a:t>
            </a:r>
          </a:p>
          <a:p>
            <a:pPr lvl="1"/>
            <a:r>
              <a:rPr lang="tr-TR" sz="1800" smtClean="0"/>
              <a:t>Akım veya gerilimin her iki yöndeki bütün değerleri almasına saykıl denir.</a:t>
            </a:r>
          </a:p>
          <a:p>
            <a:pPr lvl="1"/>
            <a:r>
              <a:rPr lang="tr-TR" sz="1800" smtClean="0"/>
              <a:t> </a:t>
            </a:r>
            <a:r>
              <a:rPr lang="tr-TR" sz="1800" b="1" smtClean="0"/>
              <a:t>Alternans: </a:t>
            </a:r>
            <a:r>
              <a:rPr lang="tr-TR" sz="1800" smtClean="0"/>
              <a:t>Her bir yarım saykıla alternans denir. Gerilim veya akımın aldığı değerler</a:t>
            </a:r>
            <a:r>
              <a:rPr lang="en-GB" sz="1800" smtClean="0"/>
              <a:t> </a:t>
            </a:r>
            <a:r>
              <a:rPr lang="tr-TR" sz="1800" smtClean="0"/>
              <a:t>bulundukları bölgelere göre pozitif ve negatif olarak adlandırılır.</a:t>
            </a:r>
          </a:p>
          <a:p>
            <a:pPr lvl="1"/>
            <a:r>
              <a:rPr lang="tr-TR" sz="1800" smtClean="0"/>
              <a:t> </a:t>
            </a:r>
            <a:r>
              <a:rPr lang="tr-TR" sz="1800" b="1" smtClean="0"/>
              <a:t>Peryot: </a:t>
            </a:r>
            <a:r>
              <a:rPr lang="tr-TR" sz="1800" smtClean="0"/>
              <a:t>Bir saykılın tamamlanması için geçen zamana peryot denir. “T” harfi ile</a:t>
            </a:r>
            <a:r>
              <a:rPr lang="en-GB" sz="1800" smtClean="0"/>
              <a:t> </a:t>
            </a:r>
            <a:r>
              <a:rPr lang="tr-TR" sz="1800" smtClean="0"/>
              <a:t>gösterilir. Bu tanımlar şekil 8.1’deki sinüsoydal eğri üzerinde gösterilmiştir.</a:t>
            </a:r>
          </a:p>
        </p:txBody>
      </p:sp>
      <p:sp>
        <p:nvSpPr>
          <p:cNvPr id="199684" name="Slide Number Placeholder 6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F1411DD8-917F-4801-A7CE-8AD02743543F}" type="slidenum">
              <a:rPr lang="en-US" sz="1000"/>
              <a:pPr algn="r"/>
              <a:t>186</a:t>
            </a:fld>
            <a:endParaRPr lang="en-US"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D8087E1D-1233-4420-A919-D257F61CCFA0}" type="slidenum">
              <a:rPr lang="en-US"/>
              <a:pPr/>
              <a:t>187</a:t>
            </a:fld>
            <a:endParaRPr lang="en-US"/>
          </a:p>
        </p:txBody>
      </p:sp>
      <p:sp>
        <p:nvSpPr>
          <p:cNvPr id="200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z="3600" b="1" smtClean="0"/>
              <a:t>8. FREKANS ÖLÇME</a:t>
            </a:r>
          </a:p>
        </p:txBody>
      </p:sp>
      <p:sp>
        <p:nvSpPr>
          <p:cNvPr id="200707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en-GB" smtClean="0"/>
              <a:t>  </a:t>
            </a:r>
            <a:endParaRPr lang="tr-TR" smtClean="0"/>
          </a:p>
        </p:txBody>
      </p:sp>
      <p:pic>
        <p:nvPicPr>
          <p:cNvPr id="20070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00188" y="1952625"/>
            <a:ext cx="5492750" cy="3262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0709" name="Slide Number Placeholder 5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064C223A-D427-4CC8-8A09-8B7D42B86AD5}" type="slidenum">
              <a:rPr lang="en-US" sz="1000"/>
              <a:pPr algn="r"/>
              <a:t>187</a:t>
            </a:fld>
            <a:endParaRPr lang="en-US"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847DE99B-CF5E-4ACC-BDE5-94DAE2DDDB74}" type="slidenum">
              <a:rPr lang="en-US"/>
              <a:pPr/>
              <a:t>188</a:t>
            </a:fld>
            <a:endParaRPr lang="en-US"/>
          </a:p>
        </p:txBody>
      </p:sp>
      <p:sp>
        <p:nvSpPr>
          <p:cNvPr id="201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z="3600" b="1" smtClean="0"/>
              <a:t>8. FREKANS ÖLÇME</a:t>
            </a:r>
          </a:p>
        </p:txBody>
      </p:sp>
      <p:sp>
        <p:nvSpPr>
          <p:cNvPr id="201731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sz="1800" b="1" smtClean="0"/>
              <a:t>Frekans: </a:t>
            </a:r>
            <a:r>
              <a:rPr lang="tr-TR" sz="1800" smtClean="0"/>
              <a:t>Bir saniyede oluşan saykıl sayısına frekans denir. “f” harfi ile gösterilir.</a:t>
            </a:r>
          </a:p>
          <a:p>
            <a:r>
              <a:rPr lang="tr-TR" sz="1800" smtClean="0"/>
              <a:t>Frekansın birimi hertz’dir. AC ‘nın frekansı, gerilimi üreten alternatörün devir sayısı</a:t>
            </a:r>
            <a:r>
              <a:rPr lang="en-GB" sz="1800" smtClean="0"/>
              <a:t> </a:t>
            </a:r>
            <a:r>
              <a:rPr lang="tr-TR" sz="1800" smtClean="0"/>
              <a:t>ve kutup sayısına bağlıdır. Dünyada genelde ülkelerin şebeke frekansları 50 veya 60</a:t>
            </a:r>
            <a:r>
              <a:rPr lang="en-GB" sz="1800" smtClean="0"/>
              <a:t> </a:t>
            </a:r>
            <a:r>
              <a:rPr lang="tr-TR" sz="1800" smtClean="0"/>
              <a:t>Hz olup ülkemizdeki frekans değeri 50 Hz’dir. 50 hz lık frekans, 1 saniyede 50</a:t>
            </a:r>
            <a:r>
              <a:rPr lang="en-GB" sz="1800" smtClean="0"/>
              <a:t> </a:t>
            </a:r>
            <a:r>
              <a:rPr lang="tr-TR" sz="1800" smtClean="0"/>
              <a:t>saykılın oluşması anlamına gelir (Şekil 8.2).</a:t>
            </a:r>
          </a:p>
        </p:txBody>
      </p:sp>
      <p:sp>
        <p:nvSpPr>
          <p:cNvPr id="201732" name="Slide Number Placeholder 6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AE5472F2-CC01-41AE-8294-659A9AF62E3A}" type="slidenum">
              <a:rPr lang="en-US" sz="1000"/>
              <a:pPr algn="r"/>
              <a:t>188</a:t>
            </a:fld>
            <a:endParaRPr lang="en-US" sz="1000"/>
          </a:p>
        </p:txBody>
      </p:sp>
      <p:pic>
        <p:nvPicPr>
          <p:cNvPr id="201733" name="Picture 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28813" y="4071938"/>
            <a:ext cx="5429250" cy="1817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1734" name="Rectangle 7"/>
          <p:cNvSpPr>
            <a:spLocks noChangeArrowheads="1"/>
          </p:cNvSpPr>
          <p:nvPr/>
        </p:nvSpPr>
        <p:spPr bwMode="auto">
          <a:xfrm>
            <a:off x="2286000" y="5854700"/>
            <a:ext cx="4572000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tr-TR" b="1"/>
              <a:t>Şekil 8.2: 50 Hz’lik şebekede 1 sn oluşan saykılların görünümü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12648CF5-1C0B-40A8-8A9E-E670F616C6EC}" type="slidenum">
              <a:rPr lang="en-US"/>
              <a:pPr/>
              <a:t>189</a:t>
            </a:fld>
            <a:endParaRPr lang="en-US"/>
          </a:p>
        </p:txBody>
      </p:sp>
      <p:sp>
        <p:nvSpPr>
          <p:cNvPr id="202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z="3600" b="1" smtClean="0"/>
              <a:t>8. FREKANS ÖLÇME</a:t>
            </a:r>
          </a:p>
        </p:txBody>
      </p:sp>
      <p:sp>
        <p:nvSpPr>
          <p:cNvPr id="202755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sz="1800" smtClean="0"/>
              <a:t>Peryodu bilinen bir alternatif akımın frekansı,</a:t>
            </a:r>
            <a:endParaRPr lang="en-GB" sz="1800" smtClean="0"/>
          </a:p>
          <a:p>
            <a:pPr>
              <a:buFont typeface="Wingdings" pitchFamily="2" charset="2"/>
              <a:buNone/>
            </a:pPr>
            <a:endParaRPr lang="en-GB" sz="1800" smtClean="0"/>
          </a:p>
          <a:p>
            <a:pPr>
              <a:buFont typeface="Wingdings" pitchFamily="2" charset="2"/>
              <a:buNone/>
            </a:pPr>
            <a:r>
              <a:rPr lang="da-DK" sz="1800" i="1" smtClean="0"/>
              <a:t>formülü ile hesaplanabildiği </a:t>
            </a:r>
            <a:r>
              <a:rPr lang="tr-TR" sz="1800" smtClean="0"/>
              <a:t>gibi frekansmetre ile direkt olarak da</a:t>
            </a:r>
            <a:endParaRPr lang="en-US" sz="1800" smtClean="0"/>
          </a:p>
          <a:p>
            <a:pPr>
              <a:buFont typeface="Wingdings" pitchFamily="2" charset="2"/>
              <a:buNone/>
            </a:pPr>
            <a:r>
              <a:rPr lang="tr-TR" sz="1800" smtClean="0"/>
              <a:t>ölçülebilir.</a:t>
            </a:r>
          </a:p>
          <a:p>
            <a:r>
              <a:rPr lang="tr-TR" sz="1800" b="1" smtClean="0"/>
              <a:t>Örnek: Peryodu 0,01 saniye olan alternatif akımın frekans değerini hesaplayınız.</a:t>
            </a:r>
            <a:endParaRPr lang="en-GB" sz="1800" b="1" smtClean="0"/>
          </a:p>
          <a:p>
            <a:endParaRPr lang="en-GB" sz="1800" b="1" i="1" smtClean="0"/>
          </a:p>
          <a:p>
            <a:endParaRPr lang="tr-TR" sz="1800" i="1" smtClean="0"/>
          </a:p>
          <a:p>
            <a:r>
              <a:rPr lang="tr-TR" sz="1800" smtClean="0"/>
              <a:t>olarak frekans değeri hesaplanır</a:t>
            </a:r>
            <a:r>
              <a:rPr lang="tr-TR" smtClean="0"/>
              <a:t>.</a:t>
            </a:r>
          </a:p>
        </p:txBody>
      </p:sp>
      <p:sp>
        <p:nvSpPr>
          <p:cNvPr id="202756" name="Slide Number Placeholder 6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5F804C30-F52D-40AC-A66B-BF2A0BD63E6E}" type="slidenum">
              <a:rPr lang="en-US" sz="1000"/>
              <a:pPr algn="r"/>
              <a:t>189</a:t>
            </a:fld>
            <a:endParaRPr lang="en-US" sz="1000"/>
          </a:p>
        </p:txBody>
      </p:sp>
      <p:pic>
        <p:nvPicPr>
          <p:cNvPr id="202757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43625" y="1643063"/>
            <a:ext cx="1071563" cy="1101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2758" name="Picture 7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14563" y="3857625"/>
            <a:ext cx="2500312" cy="841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2E17FB80-492E-4015-85DD-646AF33A1F47}" type="slidenum">
              <a:rPr lang="en-US"/>
              <a:pPr/>
              <a:t>190</a:t>
            </a:fld>
            <a:endParaRPr lang="en-US"/>
          </a:p>
        </p:txBody>
      </p:sp>
      <p:sp>
        <p:nvSpPr>
          <p:cNvPr id="203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z="3600" b="1" smtClean="0"/>
              <a:t>8. FREKANS ÖLÇME</a:t>
            </a:r>
          </a:p>
        </p:txBody>
      </p:sp>
      <p:sp>
        <p:nvSpPr>
          <p:cNvPr id="201731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sz="2000" b="1" smtClean="0"/>
              <a:t>8.2. Frekans Metrenin Yapısı ve Çeşitleri</a:t>
            </a:r>
          </a:p>
          <a:p>
            <a:pPr lvl="1"/>
            <a:r>
              <a:rPr lang="tr-TR" sz="2000" smtClean="0"/>
              <a:t>Elektrik devrelerinde frekans, frekansmetreler ile ölçülür. Frekansmetreler devreye</a:t>
            </a:r>
            <a:r>
              <a:rPr lang="en-GB" sz="2000" smtClean="0"/>
              <a:t> </a:t>
            </a:r>
            <a:r>
              <a:rPr lang="tr-TR" sz="2000" smtClean="0"/>
              <a:t>paralel bağlanır ve frekansmetrenin gösterdiği değer bir saniyedeki saykıl sayısıdır.</a:t>
            </a:r>
          </a:p>
          <a:p>
            <a:pPr lvl="1"/>
            <a:r>
              <a:rPr lang="tr-TR" sz="2000" smtClean="0"/>
              <a:t>Frekansmetreler yapı olarak analog, dijital ve dilli olmak üzere sınıflara ayrılır. Analog ve</a:t>
            </a:r>
            <a:r>
              <a:rPr lang="en-GB" sz="2000" smtClean="0"/>
              <a:t> </a:t>
            </a:r>
            <a:r>
              <a:rPr lang="tr-TR" sz="2000" smtClean="0"/>
              <a:t>dijital frekansmetrelerin yapısı diğer ölçü aletleri ile aynı olup dilli frekansmetrelerde skala</a:t>
            </a:r>
            <a:r>
              <a:rPr lang="en-GB" sz="2000" smtClean="0"/>
              <a:t> </a:t>
            </a:r>
            <a:r>
              <a:rPr lang="tr-TR" sz="2000" smtClean="0"/>
              <a:t>ve değer ekranı yerine belirli frekans değerlerini temsil eden metal çubukların titreşimi ile</a:t>
            </a:r>
            <a:r>
              <a:rPr lang="en-GB" sz="2000" smtClean="0"/>
              <a:t> </a:t>
            </a:r>
            <a:r>
              <a:rPr lang="tr-TR" sz="2000" smtClean="0"/>
              <a:t>frekans değeri tespit edilir. </a:t>
            </a:r>
            <a:endParaRPr lang="en-GB" sz="2000" smtClean="0"/>
          </a:p>
          <a:p>
            <a:pPr lvl="1"/>
            <a:r>
              <a:rPr lang="tr-TR" sz="2000" smtClean="0"/>
              <a:t>Resim 8.1’de çeşitli frekansmetreler görülmektedir.</a:t>
            </a:r>
          </a:p>
        </p:txBody>
      </p:sp>
      <p:sp>
        <p:nvSpPr>
          <p:cNvPr id="203780" name="Slide Number Placeholder 4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77A29089-65DA-40BE-BCF6-3F971894E143}" type="slidenum">
              <a:rPr lang="en-US" sz="1000"/>
              <a:pPr algn="r"/>
              <a:t>190</a:t>
            </a:fld>
            <a:endParaRPr lang="en-US"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13D05FD9-44E9-4C91-AD0B-CEB81077FEF2}" type="slidenum">
              <a:rPr lang="en-US"/>
              <a:pPr/>
              <a:t>191</a:t>
            </a:fld>
            <a:endParaRPr lang="en-US"/>
          </a:p>
        </p:txBody>
      </p:sp>
      <p:sp>
        <p:nvSpPr>
          <p:cNvPr id="55193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928688" y="0"/>
            <a:ext cx="7158037" cy="1412875"/>
          </a:xfrm>
        </p:spPr>
        <p:txBody>
          <a:bodyPr/>
          <a:lstStyle/>
          <a:p>
            <a:r>
              <a:rPr lang="en-GB" sz="3600" b="1" smtClean="0"/>
              <a:t>UYGULAMA</a:t>
            </a:r>
            <a:r>
              <a:rPr lang="tr-TR" sz="3600" b="1" smtClean="0"/>
              <a:t> FAALİYETİ</a:t>
            </a:r>
          </a:p>
        </p:txBody>
      </p:sp>
      <p:sp>
        <p:nvSpPr>
          <p:cNvPr id="55193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928688" y="1700213"/>
            <a:ext cx="7661275" cy="4819650"/>
          </a:xfrm>
        </p:spPr>
        <p:txBody>
          <a:bodyPr/>
          <a:lstStyle/>
          <a:p>
            <a:r>
              <a:rPr lang="en-GB" sz="1800" smtClean="0"/>
              <a:t>Sinyal jeneratörüne frekansmetreyi bağlayarak değişik frekans değerleri için ölçümleri gerçekleştirerek verilen tabloya değerleri kaydediniz.</a:t>
            </a:r>
          </a:p>
          <a:p>
            <a:r>
              <a:rPr lang="en-GB" sz="1800" b="1" smtClean="0"/>
              <a:t>Malzeme listesi:</a:t>
            </a:r>
          </a:p>
          <a:p>
            <a:pPr>
              <a:buFont typeface="Wingdings" pitchFamily="2" charset="2"/>
              <a:buNone/>
            </a:pPr>
            <a:endParaRPr lang="en-GB" sz="1600" b="1" smtClean="0"/>
          </a:p>
          <a:p>
            <a:pPr>
              <a:buFont typeface="Wingdings" pitchFamily="2" charset="2"/>
              <a:buNone/>
            </a:pPr>
            <a:endParaRPr lang="en-GB" sz="1600" b="1" smtClean="0"/>
          </a:p>
          <a:p>
            <a:pPr>
              <a:buFont typeface="Wingdings" pitchFamily="2" charset="2"/>
              <a:buNone/>
            </a:pPr>
            <a:endParaRPr lang="en-GB" sz="1600" b="1" smtClean="0"/>
          </a:p>
          <a:p>
            <a:pPr>
              <a:buFont typeface="Wingdings" pitchFamily="2" charset="2"/>
              <a:buNone/>
            </a:pPr>
            <a:endParaRPr lang="en-GB" sz="1600" b="1" smtClean="0"/>
          </a:p>
          <a:p>
            <a:pPr>
              <a:buFont typeface="Wingdings" pitchFamily="2" charset="2"/>
              <a:buNone/>
            </a:pPr>
            <a:r>
              <a:rPr lang="en-GB" sz="1600" b="1" smtClean="0"/>
              <a:t>Tablo 8.1: Frekans ölçme, uygulamasında kullanılacak malzemelerin listesi</a:t>
            </a:r>
          </a:p>
          <a:p>
            <a:pPr>
              <a:buFont typeface="Wingdings" pitchFamily="2" charset="2"/>
              <a:buNone/>
            </a:pPr>
            <a:endParaRPr lang="en-GB" sz="1600" b="1" smtClean="0"/>
          </a:p>
          <a:p>
            <a:pPr>
              <a:buFont typeface="Wingdings" pitchFamily="2" charset="2"/>
              <a:buNone/>
            </a:pPr>
            <a:endParaRPr lang="en-GB" sz="1600" b="1" smtClean="0"/>
          </a:p>
          <a:p>
            <a:pPr>
              <a:buFont typeface="Wingdings" pitchFamily="2" charset="2"/>
              <a:buNone/>
            </a:pPr>
            <a:endParaRPr lang="en-GB" sz="1600" b="1" smtClean="0"/>
          </a:p>
          <a:p>
            <a:pPr>
              <a:buFont typeface="Wingdings" pitchFamily="2" charset="2"/>
              <a:buNone/>
            </a:pPr>
            <a:r>
              <a:rPr lang="en-GB" sz="1600" b="1" smtClean="0"/>
              <a:t>Şekil 8.3: </a:t>
            </a:r>
          </a:p>
          <a:p>
            <a:pPr>
              <a:buFont typeface="Wingdings" pitchFamily="2" charset="2"/>
              <a:buNone/>
            </a:pPr>
            <a:r>
              <a:rPr lang="en-GB" sz="1600" b="1" smtClean="0"/>
              <a:t>Frekansmetrenin bağlantısı</a:t>
            </a:r>
            <a:endParaRPr lang="en-GB" sz="1600" smtClean="0"/>
          </a:p>
          <a:p>
            <a:pPr>
              <a:buFont typeface="Wingdings" pitchFamily="2" charset="2"/>
              <a:buNone/>
            </a:pPr>
            <a:endParaRPr lang="en-GB" sz="1600" smtClean="0"/>
          </a:p>
          <a:p>
            <a:endParaRPr lang="en-GB" sz="1600" smtClean="0"/>
          </a:p>
          <a:p>
            <a:endParaRPr lang="en-GB" sz="1800" smtClean="0"/>
          </a:p>
          <a:p>
            <a:pPr eaLnBrk="1" hangingPunct="1">
              <a:buFont typeface="Wingdings" pitchFamily="2" charset="2"/>
              <a:buNone/>
            </a:pPr>
            <a:endParaRPr lang="en-GB" sz="1800" smtClean="0"/>
          </a:p>
        </p:txBody>
      </p:sp>
      <p:sp>
        <p:nvSpPr>
          <p:cNvPr id="551940" name="Slide Number Placeholder 8"/>
          <p:cNvSpPr txBox="1">
            <a:spLocks noGrp="1"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D044F7F3-0059-4E49-87B3-01FC8D5F0557}" type="slidenum">
              <a:rPr lang="en-US" sz="1000"/>
              <a:pPr algn="r"/>
              <a:t>191</a:t>
            </a:fld>
            <a:endParaRPr lang="en-US" sz="1000"/>
          </a:p>
        </p:txBody>
      </p:sp>
      <p:pic>
        <p:nvPicPr>
          <p:cNvPr id="551941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2988" y="2997200"/>
            <a:ext cx="6423025" cy="1046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51942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067175" y="4327525"/>
            <a:ext cx="4173538" cy="253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9A27D-C6E5-444E-82F5-70752DD1E9FB}" type="slidenum">
              <a:rPr lang="en-US"/>
              <a:pPr/>
              <a:t>192</a:t>
            </a:fld>
            <a:endParaRPr lang="en-US"/>
          </a:p>
        </p:txBody>
      </p:sp>
      <p:sp>
        <p:nvSpPr>
          <p:cNvPr id="553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b="1" smtClean="0"/>
              <a:t>UYGULAMA</a:t>
            </a:r>
            <a:r>
              <a:rPr lang="tr-TR" sz="3600" b="1" smtClean="0"/>
              <a:t> FAALİYETİ</a:t>
            </a:r>
            <a:endParaRPr lang="en-US" sz="3600" b="1" smtClean="0"/>
          </a:p>
        </p:txBody>
      </p:sp>
      <p:graphicFrame>
        <p:nvGraphicFramePr>
          <p:cNvPr id="553987" name="Group 3"/>
          <p:cNvGraphicFramePr>
            <a:graphicFrameLocks noGrp="1"/>
          </p:cNvGraphicFramePr>
          <p:nvPr>
            <p:ph idx="1"/>
          </p:nvPr>
        </p:nvGraphicFramePr>
        <p:xfrm>
          <a:off x="949325" y="1981200"/>
          <a:ext cx="7661275" cy="3597276"/>
        </p:xfrm>
        <a:graphic>
          <a:graphicData uri="http://schemas.openxmlformats.org/drawingml/2006/table">
            <a:tbl>
              <a:tblPr/>
              <a:tblGrid>
                <a:gridCol w="3830638"/>
                <a:gridCol w="3830637"/>
              </a:tblGrid>
              <a:tr h="2952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İşlem Basamakları</a:t>
                      </a: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Öneriler</a:t>
                      </a: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239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Ölçülecek frekans değerine uygun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ölçme sınırına sahip frekansmetre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ve frekans jeneratörünü temin et.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Çok yüksek frekanslar için özel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frekansmetreler kullanmak gerekebilir.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223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Frekansmetreyi, frekans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jeneratörünün çıkışına bağla.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Analog avometrelerde frekans ölçme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konumu bulunmayabilir.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239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Frekans jeneratörünün çıkış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frekansını değiştirerek çıkışdaki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frekans değerini oku.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Frekans ölçümü yapılırken avometre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devreye paralel bağlanmalıdır.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223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Okunan frekans değerini verilen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çizelgeye kaydederek peryotlarını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hesapla.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Yaptığınız ölçümlerde okuyamadığınız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frekans değerlerini öğretmeniniz ile tekrar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ölçünüz.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0F77B3F3-9A35-4799-8EC6-F372CB01859C}" type="slidenum">
              <a:rPr lang="en-US"/>
              <a:pPr/>
              <a:t>193</a:t>
            </a:fld>
            <a:endParaRPr lang="en-US"/>
          </a:p>
        </p:txBody>
      </p:sp>
      <p:sp>
        <p:nvSpPr>
          <p:cNvPr id="555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b="1" smtClean="0"/>
              <a:t>UYGULAMA</a:t>
            </a:r>
            <a:r>
              <a:rPr lang="tr-TR" sz="3600" b="1" smtClean="0"/>
              <a:t> FAALİYETİ</a:t>
            </a:r>
            <a:endParaRPr lang="en-US" sz="3600" b="1" smtClean="0"/>
          </a:p>
        </p:txBody>
      </p:sp>
      <p:sp>
        <p:nvSpPr>
          <p:cNvPr id="55501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49325" y="1557338"/>
            <a:ext cx="7799388" cy="5300662"/>
          </a:xfrm>
        </p:spPr>
        <p:txBody>
          <a:bodyPr/>
          <a:lstStyle/>
          <a:p>
            <a:r>
              <a:rPr lang="en-US" sz="1600" b="1" smtClean="0"/>
              <a:t>Deneyden alınan değerler</a:t>
            </a:r>
          </a:p>
          <a:p>
            <a:endParaRPr lang="en-US" sz="1600" b="1" smtClean="0"/>
          </a:p>
          <a:p>
            <a:endParaRPr lang="en-US" sz="1600" b="1" smtClean="0"/>
          </a:p>
          <a:p>
            <a:pPr>
              <a:buFont typeface="Wingdings" pitchFamily="2" charset="2"/>
              <a:buNone/>
            </a:pPr>
            <a:endParaRPr lang="en-US" sz="1400" b="1" smtClean="0"/>
          </a:p>
          <a:p>
            <a:pPr>
              <a:buFont typeface="Wingdings" pitchFamily="2" charset="2"/>
              <a:buNone/>
            </a:pPr>
            <a:endParaRPr lang="en-US" sz="1400" b="1" smtClean="0"/>
          </a:p>
          <a:p>
            <a:pPr>
              <a:buFont typeface="Wingdings" pitchFamily="2" charset="2"/>
              <a:buNone/>
            </a:pPr>
            <a:endParaRPr lang="en-US" sz="1400" b="1" smtClean="0"/>
          </a:p>
          <a:p>
            <a:pPr>
              <a:buFont typeface="Wingdings" pitchFamily="2" charset="2"/>
              <a:buNone/>
            </a:pPr>
            <a:endParaRPr lang="en-US" sz="1400" b="1" smtClean="0"/>
          </a:p>
          <a:p>
            <a:pPr>
              <a:buFont typeface="Wingdings" pitchFamily="2" charset="2"/>
              <a:buNone/>
            </a:pPr>
            <a:endParaRPr lang="en-US" sz="1400" b="1" smtClean="0"/>
          </a:p>
          <a:p>
            <a:pPr>
              <a:buFont typeface="Wingdings" pitchFamily="2" charset="2"/>
              <a:buNone/>
            </a:pPr>
            <a:endParaRPr lang="en-US" sz="1400" b="1" smtClean="0"/>
          </a:p>
          <a:p>
            <a:pPr>
              <a:buFont typeface="Wingdings" pitchFamily="2" charset="2"/>
              <a:buNone/>
            </a:pPr>
            <a:endParaRPr lang="en-US" sz="1400" b="1" smtClean="0"/>
          </a:p>
          <a:p>
            <a:pPr>
              <a:buFont typeface="Wingdings" pitchFamily="2" charset="2"/>
              <a:buNone/>
            </a:pPr>
            <a:endParaRPr lang="en-US" sz="1400" b="1" smtClean="0"/>
          </a:p>
          <a:p>
            <a:pPr>
              <a:buFont typeface="Wingdings" pitchFamily="2" charset="2"/>
              <a:buNone/>
            </a:pPr>
            <a:endParaRPr lang="en-US" sz="1400" b="1" smtClean="0"/>
          </a:p>
          <a:p>
            <a:pPr>
              <a:buFont typeface="Wingdings" pitchFamily="2" charset="2"/>
              <a:buNone/>
            </a:pPr>
            <a:endParaRPr lang="en-US" sz="1400" b="1" smtClean="0"/>
          </a:p>
          <a:p>
            <a:pPr>
              <a:buFont typeface="Wingdings" pitchFamily="2" charset="2"/>
              <a:buNone/>
            </a:pPr>
            <a:endParaRPr lang="en-US" sz="1400" b="1" smtClean="0"/>
          </a:p>
          <a:p>
            <a:pPr>
              <a:buFont typeface="Wingdings" pitchFamily="2" charset="2"/>
              <a:buNone/>
            </a:pPr>
            <a:endParaRPr lang="en-US" sz="1400" b="1" smtClean="0"/>
          </a:p>
          <a:p>
            <a:pPr>
              <a:buFont typeface="Wingdings" pitchFamily="2" charset="2"/>
              <a:buNone/>
            </a:pPr>
            <a:endParaRPr lang="en-US" sz="1400" b="1" smtClean="0"/>
          </a:p>
          <a:p>
            <a:pPr>
              <a:buFont typeface="Wingdings" pitchFamily="2" charset="2"/>
              <a:buNone/>
            </a:pPr>
            <a:endParaRPr lang="en-US" sz="1400" b="1" smtClean="0"/>
          </a:p>
          <a:p>
            <a:pPr>
              <a:buFont typeface="Wingdings" pitchFamily="2" charset="2"/>
              <a:buNone/>
            </a:pPr>
            <a:endParaRPr lang="en-US" sz="1400" b="1" smtClean="0"/>
          </a:p>
          <a:p>
            <a:pPr>
              <a:buFont typeface="Wingdings" pitchFamily="2" charset="2"/>
              <a:buNone/>
            </a:pPr>
            <a:r>
              <a:rPr lang="en-US" sz="1400" b="1" smtClean="0"/>
              <a:t>Tablo 8.2: Frekans ölçme, uygulamasında alınan değerler tablosu</a:t>
            </a:r>
            <a:endParaRPr lang="en-US" sz="1400" smtClean="0"/>
          </a:p>
          <a:p>
            <a:pPr>
              <a:buFont typeface="Wingdings" pitchFamily="2" charset="2"/>
              <a:buNone/>
            </a:pPr>
            <a:endParaRPr lang="en-US" sz="1400" smtClean="0"/>
          </a:p>
          <a:p>
            <a:endParaRPr lang="en-US" sz="1600" smtClean="0"/>
          </a:p>
        </p:txBody>
      </p:sp>
      <p:pic>
        <p:nvPicPr>
          <p:cNvPr id="555012" name="Picture 4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900113" y="1989138"/>
            <a:ext cx="6911975" cy="3975100"/>
          </a:xfrm>
          <a:noFill/>
          <a:ln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578290DA-E06B-4BB9-9B51-688E69450EE1}" type="slidenum">
              <a:rPr lang="en-US"/>
              <a:pPr/>
              <a:t>194</a:t>
            </a:fld>
            <a:endParaRPr lang="en-US"/>
          </a:p>
        </p:txBody>
      </p:sp>
      <p:sp>
        <p:nvSpPr>
          <p:cNvPr id="556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z="3600" b="1" smtClean="0"/>
              <a:t>ÖLÇME VE DEĞERLENDİRME</a:t>
            </a:r>
            <a:endParaRPr lang="en-US" sz="3600" b="1" smtClean="0"/>
          </a:p>
        </p:txBody>
      </p:sp>
      <p:sp>
        <p:nvSpPr>
          <p:cNvPr id="556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sz="2000" b="1" smtClean="0"/>
              <a:t>ÖLÇME SORULARI</a:t>
            </a:r>
          </a:p>
          <a:p>
            <a:pPr lvl="1">
              <a:lnSpc>
                <a:spcPct val="80000"/>
              </a:lnSpc>
              <a:buFont typeface="Wingdings" pitchFamily="2" charset="2"/>
              <a:buNone/>
            </a:pPr>
            <a:r>
              <a:rPr lang="en-US" sz="1800" smtClean="0"/>
              <a:t>Aşağıda verilen soruları doğru ya da yanlış olarak cevaplayınız.</a:t>
            </a:r>
          </a:p>
          <a:p>
            <a:pPr lvl="1">
              <a:lnSpc>
                <a:spcPct val="80000"/>
              </a:lnSpc>
            </a:pPr>
            <a:r>
              <a:rPr lang="en-US" sz="1800" b="1" smtClean="0"/>
              <a:t>1. </a:t>
            </a:r>
            <a:r>
              <a:rPr lang="en-US" sz="1800" smtClean="0"/>
              <a:t>Frekans değişimi elektrik ve elektronik devrelerde herhangi bir değişiklik meydana</a:t>
            </a:r>
          </a:p>
          <a:p>
            <a:pPr lvl="1">
              <a:lnSpc>
                <a:spcPct val="80000"/>
              </a:lnSpc>
            </a:pPr>
            <a:r>
              <a:rPr lang="en-US" sz="1800" smtClean="0"/>
              <a:t>getirmez.</a:t>
            </a:r>
          </a:p>
          <a:p>
            <a:pPr lvl="1">
              <a:lnSpc>
                <a:spcPct val="80000"/>
              </a:lnSpc>
            </a:pPr>
            <a:r>
              <a:rPr lang="en-US" sz="1800" b="1" smtClean="0"/>
              <a:t>2. </a:t>
            </a:r>
            <a:r>
              <a:rPr lang="en-US" sz="1800" smtClean="0"/>
              <a:t>Dünyadaki değişik ülkelerde değişik frekans değerleri kullanılır.</a:t>
            </a:r>
          </a:p>
          <a:p>
            <a:pPr lvl="1">
              <a:lnSpc>
                <a:spcPct val="80000"/>
              </a:lnSpc>
            </a:pPr>
            <a:r>
              <a:rPr lang="en-US" sz="1800" b="1" smtClean="0"/>
              <a:t>3. </a:t>
            </a:r>
            <a:r>
              <a:rPr lang="en-US" sz="1800" smtClean="0"/>
              <a:t>Frekansmetreler devreye paralel bağlanır.</a:t>
            </a:r>
          </a:p>
          <a:p>
            <a:pPr lvl="1">
              <a:lnSpc>
                <a:spcPct val="80000"/>
              </a:lnSpc>
            </a:pPr>
            <a:r>
              <a:rPr lang="en-US" sz="1800" b="1" smtClean="0"/>
              <a:t>4. </a:t>
            </a:r>
            <a:r>
              <a:rPr lang="en-US" sz="1800" smtClean="0"/>
              <a:t>Dilli frekansmetreler ile çok geniş frekans aralıkları ölçülebilir.</a:t>
            </a:r>
          </a:p>
          <a:p>
            <a:pPr lvl="1">
              <a:lnSpc>
                <a:spcPct val="80000"/>
              </a:lnSpc>
            </a:pPr>
            <a:r>
              <a:rPr lang="en-US" sz="1800" b="1" smtClean="0"/>
              <a:t>5. </a:t>
            </a:r>
            <a:r>
              <a:rPr lang="en-US" sz="1800" smtClean="0"/>
              <a:t>Frekansmetrenin gösterdiği değer saniyedeki saykıl sayısına eşittir.</a:t>
            </a:r>
          </a:p>
          <a:p>
            <a:pPr lvl="1">
              <a:lnSpc>
                <a:spcPct val="80000"/>
              </a:lnSpc>
            </a:pPr>
            <a:r>
              <a:rPr lang="en-US" sz="1800" b="1" smtClean="0"/>
              <a:t>6. </a:t>
            </a:r>
            <a:r>
              <a:rPr lang="en-US" sz="1800" smtClean="0"/>
              <a:t>DC akımda frekans değeri sıfıra eşittir.</a:t>
            </a:r>
          </a:p>
          <a:p>
            <a:pPr lvl="1">
              <a:lnSpc>
                <a:spcPct val="80000"/>
              </a:lnSpc>
            </a:pPr>
            <a:r>
              <a:rPr lang="en-US" sz="1800" b="1" smtClean="0"/>
              <a:t>7. </a:t>
            </a:r>
            <a:r>
              <a:rPr lang="en-US" sz="1800" smtClean="0"/>
              <a:t>Saykılın tamamlanması için akım veya gerilimin yalnız pozitif değer alması yeterlidir.</a:t>
            </a:r>
          </a:p>
          <a:p>
            <a:pPr lvl="1">
              <a:lnSpc>
                <a:spcPct val="80000"/>
              </a:lnSpc>
            </a:pPr>
            <a:r>
              <a:rPr lang="en-US" sz="1800" b="1" smtClean="0"/>
              <a:t>8. </a:t>
            </a:r>
            <a:r>
              <a:rPr lang="en-US" sz="1800" smtClean="0"/>
              <a:t>Peryot kısaltılırsa frekans değeri artar.</a:t>
            </a:r>
          </a:p>
          <a:p>
            <a:pPr>
              <a:lnSpc>
                <a:spcPct val="80000"/>
              </a:lnSpc>
            </a:pPr>
            <a:endParaRPr lang="en-US" sz="2000" smtClean="0"/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C7B0776A-9938-4119-A850-A0FE4B7656CB}" type="slidenum">
              <a:rPr lang="en-US"/>
              <a:pPr/>
              <a:t>195</a:t>
            </a:fld>
            <a:endParaRPr lang="en-US"/>
          </a:p>
        </p:txBody>
      </p:sp>
      <p:sp>
        <p:nvSpPr>
          <p:cNvPr id="557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z="3600" b="1" smtClean="0"/>
              <a:t>ÖLÇME VE DEĞERLENDİRME</a:t>
            </a:r>
            <a:endParaRPr lang="en-US" sz="3600" b="1" smtClean="0"/>
          </a:p>
        </p:txBody>
      </p:sp>
      <p:sp>
        <p:nvSpPr>
          <p:cNvPr id="557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b="1" smtClean="0"/>
              <a:t>DEĞERLENDİRME</a:t>
            </a:r>
          </a:p>
          <a:p>
            <a:pPr>
              <a:buFont typeface="Wingdings" pitchFamily="2" charset="2"/>
              <a:buNone/>
            </a:pPr>
            <a:endParaRPr lang="en-US" sz="1800" b="1" smtClean="0"/>
          </a:p>
          <a:p>
            <a:pPr lvl="1"/>
            <a:r>
              <a:rPr lang="en-US" sz="1600" smtClean="0"/>
              <a:t>Cevaplarınızı cevap anahtarı ile kontrol ediniz. Doğru ve yanlış cevaplarınızı belirleyerek kendinizi değerlendiriniz. Cevaplarınız yanlış ise öğrenme faaliyetinin ilgili bölümüne dönerek konuyu tekrar ediniz.</a:t>
            </a:r>
          </a:p>
          <a:p>
            <a:endParaRPr lang="en-US" sz="1800" smtClean="0"/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DECE544F-1F48-4AD3-B4D0-C085A2A7DE92}" type="slidenum">
              <a:rPr lang="en-US"/>
              <a:pPr/>
              <a:t>196</a:t>
            </a:fld>
            <a:endParaRPr lang="en-US"/>
          </a:p>
        </p:txBody>
      </p:sp>
      <p:sp>
        <p:nvSpPr>
          <p:cNvPr id="558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smtClean="0"/>
              <a:t>ÖĞRENME FAALİYETİ-9</a:t>
            </a:r>
          </a:p>
        </p:txBody>
      </p:sp>
      <p:sp>
        <p:nvSpPr>
          <p:cNvPr id="558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1800" b="1" smtClean="0"/>
              <a:t>Ama</a:t>
            </a:r>
            <a:r>
              <a:rPr lang="tr-TR" sz="1800" b="1" smtClean="0"/>
              <a:t>ç</a:t>
            </a:r>
            <a:endParaRPr lang="en-US" sz="1800" b="1" smtClean="0"/>
          </a:p>
          <a:p>
            <a:pPr lvl="1">
              <a:lnSpc>
                <a:spcPct val="90000"/>
              </a:lnSpc>
            </a:pPr>
            <a:r>
              <a:rPr lang="en-US" sz="1600" smtClean="0"/>
              <a:t>Farklı metotlara göre, gerekli bağlantıyı yaparak iş ve güç ölçümlerini hatasız</a:t>
            </a:r>
            <a:r>
              <a:rPr lang="tr-TR" sz="1600" smtClean="0"/>
              <a:t> </a:t>
            </a:r>
            <a:r>
              <a:rPr lang="en-US" sz="1600" smtClean="0"/>
              <a:t>yapabileceksiniz.</a:t>
            </a:r>
            <a:endParaRPr lang="tr-TR" sz="1600" smtClean="0"/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endParaRPr lang="tr-TR" sz="1600" smtClean="0"/>
          </a:p>
          <a:p>
            <a:pPr>
              <a:lnSpc>
                <a:spcPct val="90000"/>
              </a:lnSpc>
            </a:pPr>
            <a:r>
              <a:rPr lang="tr-TR" sz="1800" b="1" smtClean="0"/>
              <a:t>Araştırma</a:t>
            </a:r>
            <a:endParaRPr lang="en-US" sz="1800" b="1" smtClean="0"/>
          </a:p>
          <a:p>
            <a:pPr lvl="1">
              <a:lnSpc>
                <a:spcPct val="90000"/>
              </a:lnSpc>
            </a:pPr>
            <a:r>
              <a:rPr lang="en-US" sz="1600" smtClean="0"/>
              <a:t>Elektrik devrelerinde güç ölçümünün önemini, alıcıların gücünü etkileyen faktörleri, iş</a:t>
            </a:r>
            <a:r>
              <a:rPr lang="tr-TR" sz="1600" smtClean="0"/>
              <a:t> </a:t>
            </a:r>
            <a:r>
              <a:rPr lang="en-US" sz="1600" smtClean="0"/>
              <a:t>ölçümünde kullanılan sayaçların çeşit ve bağlantıları ile harcanan elektrik enerjisinin</a:t>
            </a:r>
            <a:r>
              <a:rPr lang="tr-TR" sz="1600" smtClean="0"/>
              <a:t> </a:t>
            </a:r>
            <a:r>
              <a:rPr lang="en-US" sz="1600" smtClean="0"/>
              <a:t>farklı tarifeler üzerinden fiyatlandırılmasının avantaj ve dezavantajlarını araştırarak bir</a:t>
            </a:r>
            <a:r>
              <a:rPr lang="tr-TR" sz="1600" smtClean="0"/>
              <a:t> </a:t>
            </a:r>
            <a:r>
              <a:rPr lang="en-US" sz="1600" smtClean="0"/>
              <a:t>rapor haline getiriniz.</a:t>
            </a:r>
          </a:p>
          <a:p>
            <a:pPr>
              <a:lnSpc>
                <a:spcPct val="90000"/>
              </a:lnSpc>
            </a:pPr>
            <a:endParaRPr lang="en-US" sz="18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139D15F0-1FA7-4CC6-9400-48AEA3873F7F}" type="slidenum">
              <a:rPr lang="en-US"/>
              <a:pPr/>
              <a:t>197</a:t>
            </a:fld>
            <a:endParaRPr lang="en-US"/>
          </a:p>
        </p:txBody>
      </p:sp>
      <p:sp>
        <p:nvSpPr>
          <p:cNvPr id="559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sz="3600" b="1" smtClean="0"/>
              <a:t>9. İŞ VE GÜÇ ÖLÇME</a:t>
            </a:r>
            <a:endParaRPr lang="en-US" sz="3600" b="1" smtClean="0"/>
          </a:p>
        </p:txBody>
      </p:sp>
      <p:sp>
        <p:nvSpPr>
          <p:cNvPr id="5591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1600" b="1" smtClean="0"/>
              <a:t>9.1. Güç Ölçme</a:t>
            </a:r>
          </a:p>
          <a:p>
            <a:pPr lvl="1">
              <a:lnSpc>
                <a:spcPct val="90000"/>
              </a:lnSpc>
            </a:pPr>
            <a:r>
              <a:rPr lang="en-US" sz="1600" smtClean="0"/>
              <a:t>Elektrik enerjisi ile çalışan alıcıya elektrik enerjisi uygulandığında ısı, ışık, hareket vb.</a:t>
            </a:r>
            <a:r>
              <a:rPr lang="tr-TR" sz="1600" smtClean="0"/>
              <a:t> </a:t>
            </a:r>
            <a:r>
              <a:rPr lang="en-US" sz="1600" smtClean="0"/>
              <a:t>şekilde iş elde edilir. Elektrik enerjisi bir iş yaptırdığına göre bir güce sahiptir. Buradan da</a:t>
            </a:r>
            <a:r>
              <a:rPr lang="tr-TR" sz="1600" smtClean="0"/>
              <a:t> </a:t>
            </a:r>
            <a:r>
              <a:rPr lang="en-US" sz="1600" smtClean="0"/>
              <a:t>görüldüğü gibi birim zamanda yapılan işe </a:t>
            </a:r>
            <a:r>
              <a:rPr lang="en-US" sz="1600" b="1" smtClean="0"/>
              <a:t>güç </a:t>
            </a:r>
            <a:r>
              <a:rPr lang="en-US" sz="1600" smtClean="0"/>
              <a:t>denir. Gücün birimi watt’tır. Bu güç devreye</a:t>
            </a:r>
            <a:r>
              <a:rPr lang="tr-TR" sz="1600" smtClean="0"/>
              <a:t> </a:t>
            </a:r>
            <a:r>
              <a:rPr lang="en-US" sz="1600" smtClean="0"/>
              <a:t>uygulanan gerilim ve çekilen akımla doğru orantılıdır. Elektriksel güç:</a:t>
            </a:r>
            <a:endParaRPr lang="tr-TR" sz="1600" smtClean="0"/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endParaRPr lang="en-US" sz="1600" smtClean="0"/>
          </a:p>
          <a:p>
            <a:pPr lvl="2">
              <a:lnSpc>
                <a:spcPct val="90000"/>
              </a:lnSpc>
            </a:pPr>
            <a:r>
              <a:rPr lang="en-US" sz="1600" b="1" smtClean="0"/>
              <a:t>P = V x I </a:t>
            </a:r>
            <a:r>
              <a:rPr lang="en-US" sz="1600" smtClean="0"/>
              <a:t>şeklinde ifade edilir.</a:t>
            </a:r>
          </a:p>
          <a:p>
            <a:pPr lvl="2">
              <a:lnSpc>
                <a:spcPct val="90000"/>
              </a:lnSpc>
            </a:pPr>
            <a:r>
              <a:rPr lang="en-US" sz="1600" smtClean="0"/>
              <a:t>P= Elektriksel güç (watt), V= Gerilim (Volt), I= Akım (Amper)</a:t>
            </a:r>
            <a:endParaRPr lang="tr-TR" sz="1600" smtClean="0"/>
          </a:p>
          <a:p>
            <a:pPr lvl="2">
              <a:lnSpc>
                <a:spcPct val="90000"/>
              </a:lnSpc>
              <a:buFont typeface="Wingdings" pitchFamily="2" charset="2"/>
              <a:buNone/>
            </a:pPr>
            <a:endParaRPr lang="en-US" sz="1600" smtClean="0"/>
          </a:p>
          <a:p>
            <a:pPr lvl="2">
              <a:lnSpc>
                <a:spcPct val="90000"/>
              </a:lnSpc>
            </a:pPr>
            <a:r>
              <a:rPr lang="en-US" sz="1600" b="1" smtClean="0"/>
              <a:t>Örnek: </a:t>
            </a:r>
            <a:r>
              <a:rPr lang="en-US" sz="1600" smtClean="0"/>
              <a:t>220 volt gerilimle çalışan bir ütü 4.8 amper akım çekmektedir, bu ütünün gücünü</a:t>
            </a:r>
            <a:r>
              <a:rPr lang="tr-TR" sz="1600" smtClean="0"/>
              <a:t> </a:t>
            </a:r>
            <a:r>
              <a:rPr lang="en-US" sz="1600" smtClean="0"/>
              <a:t>hesaplayınız.</a:t>
            </a:r>
          </a:p>
          <a:p>
            <a:pPr lvl="3">
              <a:lnSpc>
                <a:spcPct val="90000"/>
              </a:lnSpc>
            </a:pPr>
            <a:r>
              <a:rPr lang="en-US" sz="1600" smtClean="0"/>
              <a:t>P= V x I = 220 x 4,8 = 1056 watt</a:t>
            </a:r>
            <a:endParaRPr lang="tr-TR" sz="1600" smtClean="0"/>
          </a:p>
          <a:p>
            <a:pPr lvl="3">
              <a:lnSpc>
                <a:spcPct val="90000"/>
              </a:lnSpc>
              <a:buFont typeface="Wingdings" pitchFamily="2" charset="2"/>
              <a:buNone/>
            </a:pPr>
            <a:endParaRPr lang="en-US" sz="1600" smtClean="0"/>
          </a:p>
          <a:p>
            <a:pPr lvl="1">
              <a:lnSpc>
                <a:spcPct val="90000"/>
              </a:lnSpc>
            </a:pPr>
            <a:r>
              <a:rPr lang="en-US" sz="1600" smtClean="0"/>
              <a:t>Alıcılar genellikle standart gerilimlerde çalıştıklarından aynı gerilimle çalışan</a:t>
            </a:r>
            <a:r>
              <a:rPr lang="tr-TR" sz="1600" smtClean="0"/>
              <a:t> </a:t>
            </a:r>
            <a:r>
              <a:rPr lang="en-US" sz="1600" smtClean="0"/>
              <a:t>alıcılardan fazla akım çeken daha fazla güç harcayacaktır.</a:t>
            </a:r>
          </a:p>
          <a:p>
            <a:pPr>
              <a:lnSpc>
                <a:spcPct val="90000"/>
              </a:lnSpc>
            </a:pPr>
            <a:endParaRPr lang="en-US" sz="16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54EC416E-41BE-47A7-8123-2783E198EFA7}" type="slidenum">
              <a:rPr lang="en-US"/>
              <a:pPr/>
              <a:t>198</a:t>
            </a:fld>
            <a:endParaRPr lang="en-US"/>
          </a:p>
        </p:txBody>
      </p:sp>
      <p:sp>
        <p:nvSpPr>
          <p:cNvPr id="560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sz="3600" b="1" smtClean="0"/>
              <a:t>9. İŞ VE GÜÇ ÖLÇME</a:t>
            </a:r>
            <a:endParaRPr lang="en-US" sz="3600" b="1" smtClean="0"/>
          </a:p>
        </p:txBody>
      </p:sp>
      <p:sp>
        <p:nvSpPr>
          <p:cNvPr id="56013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49325" y="1981200"/>
            <a:ext cx="7726363" cy="41148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1600" b="1" smtClean="0"/>
              <a:t>9.1.1. Ampermetre ve Voltmetre Yardımı ile Güç Ölçmek</a:t>
            </a:r>
          </a:p>
          <a:p>
            <a:pPr lvl="1">
              <a:lnSpc>
                <a:spcPct val="80000"/>
              </a:lnSpc>
            </a:pPr>
            <a:r>
              <a:rPr lang="en-US" sz="1600" b="1" smtClean="0"/>
              <a:t>P = V x I </a:t>
            </a:r>
            <a:r>
              <a:rPr lang="en-US" sz="1600" smtClean="0"/>
              <a:t>formülünde görüldüğü gibi elektrik devrelerinde akım ve gerilimin çarpımı</a:t>
            </a:r>
            <a:r>
              <a:rPr lang="tr-TR" sz="1600" smtClean="0"/>
              <a:t> </a:t>
            </a:r>
            <a:r>
              <a:rPr lang="en-US" sz="1600" smtClean="0"/>
              <a:t>elektriksel gücü verir. Burada elektrik devresinin çektiği gücün bulunabilmesi için akım ve</a:t>
            </a:r>
            <a:r>
              <a:rPr lang="tr-TR" sz="1600" smtClean="0"/>
              <a:t> </a:t>
            </a:r>
            <a:r>
              <a:rPr lang="en-US" sz="1600" smtClean="0"/>
              <a:t>gerilim değerlerinin ölçülmesi gereklidir. Ancak, alternatif akımda omik dirençlerin çektiği</a:t>
            </a:r>
            <a:r>
              <a:rPr lang="tr-TR" sz="1600" smtClean="0"/>
              <a:t> </a:t>
            </a:r>
            <a:r>
              <a:rPr lang="en-US" sz="1600" smtClean="0"/>
              <a:t>güç aktif, bobin ve kondansatörlerin çektiği güç reaktiftir. (Bu konu ileriki modüllerde</a:t>
            </a:r>
            <a:r>
              <a:rPr lang="tr-TR" sz="1600" smtClean="0"/>
              <a:t> </a:t>
            </a:r>
            <a:r>
              <a:rPr lang="en-US" sz="1600" smtClean="0"/>
              <a:t>detaylı olarak işlenecektir). Bu yüzden </a:t>
            </a:r>
            <a:r>
              <a:rPr lang="en-US" sz="1600" b="1" smtClean="0"/>
              <a:t>P= V x I </a:t>
            </a:r>
            <a:r>
              <a:rPr lang="en-US" sz="1600" smtClean="0"/>
              <a:t>formülü ile gücün hesaplanması, yalnız DC</a:t>
            </a:r>
            <a:r>
              <a:rPr lang="tr-TR" sz="1600" smtClean="0"/>
              <a:t> </a:t>
            </a:r>
            <a:r>
              <a:rPr lang="en-US" sz="1600" smtClean="0"/>
              <a:t>devrelerde ve omik dirençli AC devrelerinde mümkündür.</a:t>
            </a:r>
            <a:endParaRPr lang="tr-TR" sz="1600" smtClean="0"/>
          </a:p>
          <a:p>
            <a:pPr lvl="1">
              <a:lnSpc>
                <a:spcPct val="80000"/>
              </a:lnSpc>
            </a:pPr>
            <a:endParaRPr lang="tr-TR" sz="1600" smtClean="0"/>
          </a:p>
          <a:p>
            <a:pPr lvl="1">
              <a:lnSpc>
                <a:spcPct val="80000"/>
              </a:lnSpc>
            </a:pPr>
            <a:endParaRPr lang="tr-TR" sz="1400" smtClean="0"/>
          </a:p>
          <a:p>
            <a:pPr lvl="1">
              <a:lnSpc>
                <a:spcPct val="80000"/>
              </a:lnSpc>
              <a:buFont typeface="Wingdings" pitchFamily="2" charset="2"/>
              <a:buNone/>
            </a:pPr>
            <a:endParaRPr lang="tr-TR" sz="1400" b="1" smtClean="0"/>
          </a:p>
          <a:p>
            <a:pPr lvl="1">
              <a:lnSpc>
                <a:spcPct val="80000"/>
              </a:lnSpc>
              <a:buFont typeface="Wingdings" pitchFamily="2" charset="2"/>
              <a:buNone/>
            </a:pPr>
            <a:endParaRPr lang="tr-TR" sz="1400" b="1" smtClean="0"/>
          </a:p>
          <a:p>
            <a:pPr lvl="1">
              <a:lnSpc>
                <a:spcPct val="80000"/>
              </a:lnSpc>
              <a:buFont typeface="Wingdings" pitchFamily="2" charset="2"/>
              <a:buNone/>
            </a:pPr>
            <a:endParaRPr lang="tr-TR" sz="1400" b="1" smtClean="0"/>
          </a:p>
          <a:p>
            <a:pPr lvl="1">
              <a:lnSpc>
                <a:spcPct val="80000"/>
              </a:lnSpc>
              <a:buFont typeface="Wingdings" pitchFamily="2" charset="2"/>
              <a:buNone/>
            </a:pPr>
            <a:endParaRPr lang="tr-TR" sz="1400" b="1" smtClean="0"/>
          </a:p>
          <a:p>
            <a:pPr lvl="1">
              <a:lnSpc>
                <a:spcPct val="80000"/>
              </a:lnSpc>
              <a:buFont typeface="Wingdings" pitchFamily="2" charset="2"/>
              <a:buNone/>
            </a:pPr>
            <a:endParaRPr lang="tr-TR" sz="1400" b="1" smtClean="0"/>
          </a:p>
          <a:p>
            <a:pPr lvl="1">
              <a:lnSpc>
                <a:spcPct val="80000"/>
              </a:lnSpc>
              <a:buFont typeface="Wingdings" pitchFamily="2" charset="2"/>
              <a:buNone/>
            </a:pPr>
            <a:endParaRPr lang="tr-TR" sz="1400" b="1" smtClean="0"/>
          </a:p>
          <a:p>
            <a:pPr lvl="1">
              <a:lnSpc>
                <a:spcPct val="80000"/>
              </a:lnSpc>
              <a:buFont typeface="Wingdings" pitchFamily="2" charset="2"/>
              <a:buNone/>
            </a:pPr>
            <a:r>
              <a:rPr lang="tr-TR" sz="1400" b="1" smtClean="0"/>
              <a:t>	</a:t>
            </a:r>
          </a:p>
          <a:p>
            <a:pPr lvl="1">
              <a:lnSpc>
                <a:spcPct val="80000"/>
              </a:lnSpc>
              <a:buFont typeface="Wingdings" pitchFamily="2" charset="2"/>
              <a:buNone/>
            </a:pPr>
            <a:endParaRPr lang="tr-TR" sz="1400" b="1" smtClean="0"/>
          </a:p>
          <a:p>
            <a:pPr lvl="1">
              <a:lnSpc>
                <a:spcPct val="80000"/>
              </a:lnSpc>
              <a:buFont typeface="Wingdings" pitchFamily="2" charset="2"/>
              <a:buNone/>
            </a:pPr>
            <a:endParaRPr lang="tr-TR" sz="1400" b="1" smtClean="0"/>
          </a:p>
          <a:p>
            <a:pPr lvl="1">
              <a:lnSpc>
                <a:spcPct val="80000"/>
              </a:lnSpc>
              <a:buFont typeface="Wingdings" pitchFamily="2" charset="2"/>
              <a:buNone/>
            </a:pPr>
            <a:endParaRPr lang="tr-TR" sz="1400" b="1" smtClean="0"/>
          </a:p>
          <a:p>
            <a:pPr lvl="1">
              <a:lnSpc>
                <a:spcPct val="80000"/>
              </a:lnSpc>
              <a:buFont typeface="Wingdings" pitchFamily="2" charset="2"/>
              <a:buNone/>
            </a:pPr>
            <a:r>
              <a:rPr lang="tr-TR" sz="1400" b="1" smtClean="0"/>
              <a:t>		</a:t>
            </a:r>
            <a:r>
              <a:rPr lang="en-US" sz="1400" b="1" smtClean="0"/>
              <a:t>Şekil 9.1: Ampermetre voltmetre ile güç ölçme</a:t>
            </a:r>
            <a:endParaRPr lang="en-US" sz="1400" smtClean="0"/>
          </a:p>
          <a:p>
            <a:pPr lvl="1">
              <a:lnSpc>
                <a:spcPct val="80000"/>
              </a:lnSpc>
            </a:pPr>
            <a:endParaRPr lang="en-US" sz="1400" smtClean="0"/>
          </a:p>
          <a:p>
            <a:pPr>
              <a:lnSpc>
                <a:spcPct val="80000"/>
              </a:lnSpc>
            </a:pPr>
            <a:endParaRPr lang="en-US" sz="1600" smtClean="0"/>
          </a:p>
        </p:txBody>
      </p:sp>
      <p:pic>
        <p:nvPicPr>
          <p:cNvPr id="560132" name="Picture 4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2411413" y="4005263"/>
            <a:ext cx="3754437" cy="1836737"/>
          </a:xfrm>
          <a:ln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5FE34BD8-E021-4121-A28E-035483DECB36}" type="slidenum">
              <a:rPr lang="en-US"/>
              <a:pPr/>
              <a:t>199</a:t>
            </a:fld>
            <a:endParaRPr lang="en-US"/>
          </a:p>
        </p:txBody>
      </p:sp>
      <p:sp>
        <p:nvSpPr>
          <p:cNvPr id="561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sz="3600" b="1" smtClean="0"/>
              <a:t>9. İŞ VE GÜÇ ÖLÇME</a:t>
            </a:r>
            <a:endParaRPr lang="en-US" sz="3600" b="1" smtClean="0"/>
          </a:p>
        </p:txBody>
      </p:sp>
      <p:sp>
        <p:nvSpPr>
          <p:cNvPr id="561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sz="1800" b="1" smtClean="0"/>
              <a:t>9.1.2. Wattmetrelerin Yapısı ve Çeşitleri</a:t>
            </a:r>
          </a:p>
          <a:p>
            <a:pPr lvl="1">
              <a:lnSpc>
                <a:spcPct val="80000"/>
              </a:lnSpc>
            </a:pPr>
            <a:r>
              <a:rPr lang="en-US" sz="1800" smtClean="0"/>
              <a:t>Doğrudan doğruya güç ölçen aletlere </a:t>
            </a:r>
            <a:r>
              <a:rPr lang="en-US" sz="1800" b="1" smtClean="0"/>
              <a:t>wattmetre </a:t>
            </a:r>
            <a:r>
              <a:rPr lang="en-US" sz="1800" smtClean="0"/>
              <a:t>denir. Wattmetrelerin dijital ve</a:t>
            </a:r>
            <a:r>
              <a:rPr lang="tr-TR" sz="1800" smtClean="0"/>
              <a:t> </a:t>
            </a:r>
            <a:r>
              <a:rPr lang="en-US" sz="1800" smtClean="0"/>
              <a:t>analog tipleri bulunmakta olup seviye olarak genelde W ve KW seviyelerinde</a:t>
            </a:r>
            <a:r>
              <a:rPr lang="tr-TR" sz="1800" smtClean="0"/>
              <a:t> </a:t>
            </a:r>
            <a:r>
              <a:rPr lang="en-US" sz="1800" smtClean="0"/>
              <a:t>sınıflandırılırlar. Wattmetreler ile doğru ve alternatif akımda güç ölçülebilir. Ancak AC ve</a:t>
            </a:r>
            <a:r>
              <a:rPr lang="tr-TR" sz="1800" smtClean="0"/>
              <a:t> </a:t>
            </a:r>
            <a:r>
              <a:rPr lang="en-US" sz="1800" smtClean="0"/>
              <a:t>DC wattmetre seçimine, AC ve DC’de güç ölçebilen wattmetre de ise AC-DC kademe</a:t>
            </a:r>
            <a:r>
              <a:rPr lang="tr-TR" sz="1800" smtClean="0"/>
              <a:t> </a:t>
            </a:r>
            <a:r>
              <a:rPr lang="en-US" sz="1800" smtClean="0"/>
              <a:t>seçimine dikkat edilmelidir. Güç akım ve gerilimin çarpımına eşit olduğundan wattmetreye</a:t>
            </a:r>
            <a:r>
              <a:rPr lang="tr-TR" sz="1800" smtClean="0"/>
              <a:t> </a:t>
            </a:r>
            <a:r>
              <a:rPr lang="en-US" sz="1800" smtClean="0"/>
              <a:t>alıcının akım ve gerilim değerleri aynı anda girilmelidir. Bu gereksinim wattmetrenin akım</a:t>
            </a:r>
            <a:r>
              <a:rPr lang="tr-TR" sz="1800" smtClean="0"/>
              <a:t> </a:t>
            </a:r>
            <a:r>
              <a:rPr lang="en-US" sz="1800" smtClean="0"/>
              <a:t>bobini güç ölçümü yapılacak devreye seri, gerilim bobini paralel olacak şekilde bağlanarak</a:t>
            </a:r>
            <a:r>
              <a:rPr lang="tr-TR" sz="1800" smtClean="0"/>
              <a:t> </a:t>
            </a:r>
            <a:r>
              <a:rPr lang="en-US" sz="1800" smtClean="0"/>
              <a:t>karşılanır. Wattmetrelerde küçük güç ölçülecekse akım bobininin sonra, büyük güç ölçülecek</a:t>
            </a:r>
            <a:r>
              <a:rPr lang="tr-TR" sz="1800" smtClean="0"/>
              <a:t> </a:t>
            </a:r>
            <a:r>
              <a:rPr lang="en-US" sz="1800" smtClean="0"/>
              <a:t>ise akım bobininin önce bağlanması ölçme hatasını azaltacaktır.</a:t>
            </a:r>
            <a:endParaRPr lang="tr-TR" sz="1800" smtClean="0"/>
          </a:p>
          <a:p>
            <a:pPr>
              <a:lnSpc>
                <a:spcPct val="80000"/>
              </a:lnSpc>
            </a:pPr>
            <a:endParaRPr lang="en-US" sz="1800" smtClean="0"/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E4CDC783-CC15-406F-988D-2AB57009F164}" type="slidenum">
              <a:rPr lang="en-US"/>
              <a:pPr/>
              <a:t>200</a:t>
            </a:fld>
            <a:endParaRPr lang="en-US"/>
          </a:p>
        </p:txBody>
      </p:sp>
      <p:sp>
        <p:nvSpPr>
          <p:cNvPr id="562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sz="3600" b="1" smtClean="0"/>
              <a:t>9. İŞ VE GÜÇ ÖLÇME</a:t>
            </a:r>
            <a:endParaRPr lang="en-US" sz="3600" b="1" smtClean="0"/>
          </a:p>
        </p:txBody>
      </p:sp>
      <p:sp>
        <p:nvSpPr>
          <p:cNvPr id="56217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49325" y="1981200"/>
            <a:ext cx="7367588" cy="4114800"/>
          </a:xfrm>
        </p:spPr>
        <p:txBody>
          <a:bodyPr/>
          <a:lstStyle/>
          <a:p>
            <a:pPr lvl="1">
              <a:buFont typeface="Wingdings" pitchFamily="2" charset="2"/>
              <a:buNone/>
            </a:pPr>
            <a:endParaRPr lang="tr-TR" sz="1400" b="1" smtClean="0"/>
          </a:p>
          <a:p>
            <a:pPr lvl="1">
              <a:buFont typeface="Wingdings" pitchFamily="2" charset="2"/>
              <a:buNone/>
            </a:pPr>
            <a:endParaRPr lang="tr-TR" sz="1400" b="1" smtClean="0"/>
          </a:p>
          <a:p>
            <a:pPr lvl="1">
              <a:buFont typeface="Wingdings" pitchFamily="2" charset="2"/>
              <a:buNone/>
            </a:pPr>
            <a:endParaRPr lang="tr-TR" sz="1400" b="1" smtClean="0"/>
          </a:p>
          <a:p>
            <a:pPr lvl="1">
              <a:buFont typeface="Wingdings" pitchFamily="2" charset="2"/>
              <a:buNone/>
            </a:pPr>
            <a:endParaRPr lang="tr-TR" sz="1400" b="1" smtClean="0"/>
          </a:p>
          <a:p>
            <a:pPr lvl="1">
              <a:buFont typeface="Wingdings" pitchFamily="2" charset="2"/>
              <a:buNone/>
            </a:pPr>
            <a:endParaRPr lang="tr-TR" sz="1400" b="1" smtClean="0"/>
          </a:p>
          <a:p>
            <a:pPr lvl="1">
              <a:buFont typeface="Wingdings" pitchFamily="2" charset="2"/>
              <a:buNone/>
            </a:pPr>
            <a:endParaRPr lang="tr-TR" sz="1400" b="1" smtClean="0"/>
          </a:p>
          <a:p>
            <a:pPr lvl="1">
              <a:buFont typeface="Wingdings" pitchFamily="2" charset="2"/>
              <a:buNone/>
            </a:pPr>
            <a:endParaRPr lang="tr-TR" sz="1400" b="1" smtClean="0"/>
          </a:p>
          <a:p>
            <a:pPr lvl="1">
              <a:buFont typeface="Wingdings" pitchFamily="2" charset="2"/>
              <a:buNone/>
            </a:pPr>
            <a:endParaRPr lang="tr-TR" sz="1400" b="1" smtClean="0"/>
          </a:p>
          <a:p>
            <a:pPr lvl="1">
              <a:buFont typeface="Wingdings" pitchFamily="2" charset="2"/>
              <a:buNone/>
            </a:pPr>
            <a:endParaRPr lang="tr-TR" sz="1400" b="1" smtClean="0"/>
          </a:p>
          <a:p>
            <a:pPr lvl="1">
              <a:buFont typeface="Wingdings" pitchFamily="2" charset="2"/>
              <a:buNone/>
            </a:pPr>
            <a:endParaRPr lang="tr-TR" sz="1400" b="1" smtClean="0"/>
          </a:p>
          <a:p>
            <a:pPr lvl="1">
              <a:buFont typeface="Wingdings" pitchFamily="2" charset="2"/>
              <a:buNone/>
            </a:pPr>
            <a:endParaRPr lang="tr-TR" sz="1400" b="1" smtClean="0"/>
          </a:p>
          <a:p>
            <a:pPr lvl="1">
              <a:buFont typeface="Wingdings" pitchFamily="2" charset="2"/>
              <a:buNone/>
            </a:pPr>
            <a:endParaRPr lang="tr-TR" sz="1400" b="1" smtClean="0"/>
          </a:p>
          <a:p>
            <a:pPr lvl="1">
              <a:buFont typeface="Wingdings" pitchFamily="2" charset="2"/>
              <a:buNone/>
            </a:pPr>
            <a:r>
              <a:rPr lang="tr-TR" sz="1400" b="1" smtClean="0"/>
              <a:t>			</a:t>
            </a:r>
            <a:r>
              <a:rPr lang="en-US" sz="1400" b="1" smtClean="0"/>
              <a:t>Şekil 9.2: Wattmetre ve devreye bağlanması</a:t>
            </a:r>
            <a:endParaRPr lang="en-US" sz="1400" smtClean="0"/>
          </a:p>
          <a:p>
            <a:pPr>
              <a:buFont typeface="Wingdings" pitchFamily="2" charset="2"/>
              <a:buNone/>
            </a:pPr>
            <a:endParaRPr lang="en-US" sz="1400" smtClean="0"/>
          </a:p>
        </p:txBody>
      </p:sp>
      <p:pic>
        <p:nvPicPr>
          <p:cNvPr id="562180" name="Picture 4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2627313" y="2636838"/>
            <a:ext cx="3754437" cy="1727200"/>
          </a:xfrm>
          <a:noFill/>
          <a:ln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F538E58C-4299-4EB5-8D7A-8B785C1EFC37}" type="slidenum">
              <a:rPr lang="en-US"/>
              <a:pPr/>
              <a:t>201</a:t>
            </a:fld>
            <a:endParaRPr lang="en-US"/>
          </a:p>
        </p:txBody>
      </p:sp>
      <p:sp>
        <p:nvSpPr>
          <p:cNvPr id="563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sz="3600" b="1" smtClean="0"/>
              <a:t>9. İŞ VE GÜÇ ÖLÇME</a:t>
            </a:r>
            <a:endParaRPr lang="en-US" sz="3600" b="1" smtClean="0"/>
          </a:p>
        </p:txBody>
      </p:sp>
      <p:sp>
        <p:nvSpPr>
          <p:cNvPr id="563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sz="1600" b="1" smtClean="0"/>
              <a:t>9.2. İş Ölçmek</a:t>
            </a:r>
          </a:p>
          <a:p>
            <a:pPr lvl="1">
              <a:lnSpc>
                <a:spcPct val="80000"/>
              </a:lnSpc>
            </a:pPr>
            <a:r>
              <a:rPr lang="en-US" sz="1600" smtClean="0"/>
              <a:t>Elektrik enerjisinin zaman içerisinde kullanımı işi oluşturur. </a:t>
            </a:r>
            <a:r>
              <a:rPr lang="en-US" sz="1600" i="1" smtClean="0"/>
              <a:t>W </a:t>
            </a:r>
            <a:r>
              <a:rPr lang="en-US" sz="1600" smtClean="0"/>
              <a:t>= </a:t>
            </a:r>
            <a:r>
              <a:rPr lang="en-US" sz="1600" i="1" smtClean="0"/>
              <a:t>P</a:t>
            </a:r>
            <a:r>
              <a:rPr lang="en-US" sz="1600" smtClean="0"/>
              <a:t>.</a:t>
            </a:r>
            <a:r>
              <a:rPr lang="en-US" sz="1600" i="1" smtClean="0"/>
              <a:t>t </a:t>
            </a:r>
            <a:r>
              <a:rPr lang="en-US" sz="1600" smtClean="0"/>
              <a:t>formülü ile iş</a:t>
            </a:r>
            <a:r>
              <a:rPr lang="tr-TR" sz="1600" smtClean="0"/>
              <a:t> </a:t>
            </a:r>
            <a:r>
              <a:rPr lang="en-US" sz="1600" smtClean="0"/>
              <a:t>hesaplanır. Elektriksel işi ölçen aletlere elektrik sayaçları denir. Elektrik sayaçları abonenin</a:t>
            </a:r>
            <a:r>
              <a:rPr lang="tr-TR" sz="1600" smtClean="0"/>
              <a:t> </a:t>
            </a:r>
            <a:r>
              <a:rPr lang="en-US" sz="1600" smtClean="0"/>
              <a:t>harcadıkları elektrik enerjisini kilowatt saat (</a:t>
            </a:r>
            <a:r>
              <a:rPr lang="en-US" sz="1600" b="1" smtClean="0"/>
              <a:t>KWh</a:t>
            </a:r>
            <a:r>
              <a:rPr lang="en-US" sz="1600" smtClean="0"/>
              <a:t>) olarak ölçer.</a:t>
            </a:r>
            <a:endParaRPr lang="tr-TR" sz="1600" smtClean="0"/>
          </a:p>
          <a:p>
            <a:pPr lvl="1">
              <a:lnSpc>
                <a:spcPct val="80000"/>
              </a:lnSpc>
              <a:buFont typeface="Wingdings" pitchFamily="2" charset="2"/>
              <a:buNone/>
            </a:pPr>
            <a:endParaRPr lang="en-US" sz="1600" smtClean="0"/>
          </a:p>
          <a:p>
            <a:pPr lvl="1">
              <a:lnSpc>
                <a:spcPct val="80000"/>
              </a:lnSpc>
            </a:pPr>
            <a:r>
              <a:rPr lang="en-US" sz="1600" b="1" smtClean="0"/>
              <a:t>9.2.1. Sayaçların Yapısı ve Çeşitleri</a:t>
            </a:r>
          </a:p>
          <a:p>
            <a:pPr lvl="2">
              <a:lnSpc>
                <a:spcPct val="80000"/>
              </a:lnSpc>
            </a:pPr>
            <a:r>
              <a:rPr lang="en-US" sz="1600" smtClean="0"/>
              <a:t>Elektrik sayaçları, harcanan elektrik enerjisini KWh cinsinden ölçen, bir ve üç fazlı</a:t>
            </a:r>
            <a:r>
              <a:rPr lang="tr-TR" sz="1600" smtClean="0"/>
              <a:t> </a:t>
            </a:r>
            <a:r>
              <a:rPr lang="en-US" sz="1600" smtClean="0"/>
              <a:t>alternatif akım devrelerinde kullanılan indüksiyon tipi ve elektronik tip olarak üretilen ölçü</a:t>
            </a:r>
            <a:r>
              <a:rPr lang="tr-TR" sz="1600" smtClean="0"/>
              <a:t> </a:t>
            </a:r>
            <a:r>
              <a:rPr lang="en-US" sz="1600" smtClean="0"/>
              <a:t>aletleridir. Günümüzde elektronik elektrik sayaçları olarak isimlendirilen elektrik sayaçları,</a:t>
            </a:r>
            <a:r>
              <a:rPr lang="tr-TR" sz="1600" smtClean="0"/>
              <a:t> </a:t>
            </a:r>
            <a:r>
              <a:rPr lang="en-US" sz="1600" smtClean="0"/>
              <a:t>günün farklı saatlerinde ve hafta sonları farklı ücretlendirme yapabildiklerinden kullanımı</a:t>
            </a:r>
            <a:r>
              <a:rPr lang="tr-TR" sz="1600" smtClean="0"/>
              <a:t> </a:t>
            </a:r>
            <a:r>
              <a:rPr lang="en-US" sz="1600" smtClean="0"/>
              <a:t>zorunlu koşulmuştur. Analog sayaçlarda akım ve gerilim bobini mevcut olup sayaca bağlı</a:t>
            </a:r>
            <a:r>
              <a:rPr lang="tr-TR" sz="1600" smtClean="0"/>
              <a:t> </a:t>
            </a:r>
            <a:r>
              <a:rPr lang="en-US" sz="1600" smtClean="0"/>
              <a:t>devreden akım geçtiğinde oluşan manyetik alan sayaç içerisindeki alüminyum diskin</a:t>
            </a:r>
            <a:r>
              <a:rPr lang="tr-TR" sz="1600" smtClean="0"/>
              <a:t> </a:t>
            </a:r>
            <a:r>
              <a:rPr lang="en-US" sz="1600" smtClean="0"/>
              <a:t>dönmesini sağlar. Diskteki hareket bağlı olduğu bir numaratöre</a:t>
            </a:r>
            <a:r>
              <a:rPr lang="tr-TR" sz="1600" smtClean="0"/>
              <a:t> </a:t>
            </a:r>
            <a:r>
              <a:rPr lang="en-US" sz="1600" smtClean="0"/>
              <a:t>aktarılır, böylece harcanan</a:t>
            </a:r>
            <a:r>
              <a:rPr lang="tr-TR" sz="1600" smtClean="0"/>
              <a:t> </a:t>
            </a:r>
            <a:r>
              <a:rPr lang="en-US" sz="1600" smtClean="0"/>
              <a:t>elektrik enerjisi miktarı numaratör ile ifade edilir. Elektronik sayaçlarda ölçülen iş dijital bir</a:t>
            </a:r>
            <a:r>
              <a:rPr lang="tr-TR" sz="1600" smtClean="0"/>
              <a:t> </a:t>
            </a:r>
            <a:r>
              <a:rPr lang="en-US" sz="1600" smtClean="0"/>
              <a:t>ekrandan okunur. Bu sayaçlarda ölçülen değer, tarih, gerçek zaman saati dönüşümlü olarak</a:t>
            </a:r>
            <a:r>
              <a:rPr lang="tr-TR" sz="1600" smtClean="0"/>
              <a:t> </a:t>
            </a:r>
            <a:r>
              <a:rPr lang="en-US" sz="1600" smtClean="0"/>
              <a:t>dijital ekranda ifade edilir. Elektronik sayaçlar farklı tarifeler üzerinden ücretlendirme</a:t>
            </a:r>
            <a:r>
              <a:rPr lang="tr-TR" sz="1600" smtClean="0"/>
              <a:t> </a:t>
            </a:r>
            <a:r>
              <a:rPr lang="en-US" sz="1600" smtClean="0"/>
              <a:t>yapmanın yanında optik port vasıtası ile okuma kolaylığı saylamaktadır. Kalibrasyona</a:t>
            </a:r>
            <a:r>
              <a:rPr lang="tr-TR" sz="1600" smtClean="0"/>
              <a:t> </a:t>
            </a:r>
            <a:r>
              <a:rPr lang="en-US" sz="1600" smtClean="0"/>
              <a:t>analog sayaçlara göre daha az ihtiyaç göstermektedir.</a:t>
            </a:r>
          </a:p>
          <a:p>
            <a:pPr lvl="2">
              <a:lnSpc>
                <a:spcPct val="80000"/>
              </a:lnSpc>
            </a:pPr>
            <a:endParaRPr lang="en-US" sz="1600" smtClean="0"/>
          </a:p>
          <a:p>
            <a:pPr>
              <a:lnSpc>
                <a:spcPct val="80000"/>
              </a:lnSpc>
            </a:pPr>
            <a:endParaRPr lang="en-US" sz="16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0C75D5B2-589A-4030-BA5B-15A2BE47F3DE}" type="slidenum">
              <a:rPr lang="en-US"/>
              <a:pPr/>
              <a:t>202</a:t>
            </a:fld>
            <a:endParaRPr lang="en-US"/>
          </a:p>
        </p:txBody>
      </p:sp>
      <p:sp>
        <p:nvSpPr>
          <p:cNvPr id="564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sz="3600" b="1" smtClean="0"/>
              <a:t>9. İŞ VE GÜÇ ÖLÇME</a:t>
            </a:r>
            <a:endParaRPr lang="en-US" sz="3600" b="1" smtClean="0"/>
          </a:p>
        </p:txBody>
      </p:sp>
      <p:sp>
        <p:nvSpPr>
          <p:cNvPr id="56422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endParaRPr lang="tr-TR" sz="1400" b="1" smtClean="0"/>
          </a:p>
          <a:p>
            <a:pPr>
              <a:buFont typeface="Wingdings" pitchFamily="2" charset="2"/>
              <a:buNone/>
            </a:pPr>
            <a:endParaRPr lang="tr-TR" sz="1400" b="1" smtClean="0"/>
          </a:p>
          <a:p>
            <a:pPr>
              <a:buFont typeface="Wingdings" pitchFamily="2" charset="2"/>
              <a:buNone/>
            </a:pPr>
            <a:r>
              <a:rPr lang="en-US" sz="1400" b="1" smtClean="0"/>
              <a:t>Resim 9.1: </a:t>
            </a:r>
            <a:endParaRPr lang="tr-TR" sz="1400" b="1" smtClean="0"/>
          </a:p>
          <a:p>
            <a:pPr>
              <a:buFont typeface="Wingdings" pitchFamily="2" charset="2"/>
              <a:buNone/>
            </a:pPr>
            <a:r>
              <a:rPr lang="en-US" sz="1400" b="1" smtClean="0"/>
              <a:t>Analog ve elektronik sayaçlar</a:t>
            </a:r>
          </a:p>
          <a:p>
            <a:pPr>
              <a:buFont typeface="Wingdings" pitchFamily="2" charset="2"/>
              <a:buNone/>
            </a:pPr>
            <a:endParaRPr lang="tr-TR" sz="1400" b="1" smtClean="0"/>
          </a:p>
          <a:p>
            <a:pPr>
              <a:buFont typeface="Wingdings" pitchFamily="2" charset="2"/>
              <a:buNone/>
            </a:pPr>
            <a:endParaRPr lang="tr-TR" sz="1400" b="1" smtClean="0"/>
          </a:p>
          <a:p>
            <a:pPr>
              <a:buFont typeface="Wingdings" pitchFamily="2" charset="2"/>
              <a:buNone/>
            </a:pPr>
            <a:endParaRPr lang="tr-TR" sz="1400" b="1" smtClean="0"/>
          </a:p>
          <a:p>
            <a:pPr>
              <a:buFont typeface="Wingdings" pitchFamily="2" charset="2"/>
              <a:buNone/>
            </a:pPr>
            <a:endParaRPr lang="tr-TR" sz="1400" b="1" smtClean="0"/>
          </a:p>
          <a:p>
            <a:pPr>
              <a:buFont typeface="Wingdings" pitchFamily="2" charset="2"/>
              <a:buNone/>
            </a:pPr>
            <a:endParaRPr lang="tr-TR" sz="1400" b="1" smtClean="0"/>
          </a:p>
          <a:p>
            <a:pPr>
              <a:buFont typeface="Wingdings" pitchFamily="2" charset="2"/>
              <a:buNone/>
            </a:pPr>
            <a:r>
              <a:rPr lang="en-US" sz="1400" b="1" smtClean="0"/>
              <a:t>Şekil 9.3: </a:t>
            </a:r>
            <a:endParaRPr lang="tr-TR" sz="1400" b="1" smtClean="0"/>
          </a:p>
          <a:p>
            <a:pPr>
              <a:buFont typeface="Wingdings" pitchFamily="2" charset="2"/>
              <a:buNone/>
            </a:pPr>
            <a:r>
              <a:rPr lang="en-US" sz="1400" b="1" smtClean="0"/>
              <a:t>Sayaç bağlantı şeması</a:t>
            </a:r>
            <a:endParaRPr lang="en-US" sz="1400" smtClean="0"/>
          </a:p>
          <a:p>
            <a:pPr>
              <a:buFont typeface="Wingdings" pitchFamily="2" charset="2"/>
              <a:buNone/>
            </a:pPr>
            <a:endParaRPr lang="en-US" sz="1400" smtClean="0"/>
          </a:p>
        </p:txBody>
      </p:sp>
      <p:pic>
        <p:nvPicPr>
          <p:cNvPr id="564228" name="Picture 4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3779838" y="1484313"/>
            <a:ext cx="2508250" cy="1687512"/>
          </a:xfrm>
          <a:noFill/>
          <a:ln/>
        </p:spPr>
      </p:pic>
      <p:pic>
        <p:nvPicPr>
          <p:cNvPr id="564229" name="Picture 5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3276600" y="3644900"/>
            <a:ext cx="4895850" cy="2801938"/>
          </a:xfrm>
          <a:noFill/>
          <a:ln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AA7C8153-0B06-49CE-982B-D90BF6DB04D8}" type="slidenum">
              <a:rPr lang="en-US"/>
              <a:pPr/>
              <a:t>203</a:t>
            </a:fld>
            <a:endParaRPr lang="en-US"/>
          </a:p>
        </p:txBody>
      </p:sp>
      <p:sp>
        <p:nvSpPr>
          <p:cNvPr id="565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b="1" smtClean="0"/>
              <a:t>UYGULAMA</a:t>
            </a:r>
            <a:r>
              <a:rPr lang="tr-TR" sz="3600" b="1" smtClean="0"/>
              <a:t> FAALİYETİ</a:t>
            </a:r>
            <a:endParaRPr lang="en-US" sz="3600" b="1" smtClean="0"/>
          </a:p>
        </p:txBody>
      </p:sp>
      <p:sp>
        <p:nvSpPr>
          <p:cNvPr id="565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sz="2000" smtClean="0"/>
              <a:t>Aşağıdaki tabloda verilen malzemeleri temin ettikten ve şemaya göre devre</a:t>
            </a:r>
            <a:r>
              <a:rPr lang="tr-TR" sz="2000" smtClean="0"/>
              <a:t> </a:t>
            </a:r>
            <a:r>
              <a:rPr lang="en-US" sz="2000" smtClean="0"/>
              <a:t>bağlantısını kurduktan sonra reostanın direncini azaltarak her</a:t>
            </a:r>
            <a:r>
              <a:rPr lang="tr-TR" sz="2000" smtClean="0"/>
              <a:t> </a:t>
            </a:r>
            <a:r>
              <a:rPr lang="en-US" sz="2000" smtClean="0"/>
              <a:t>akım değeri için çekilen gücü</a:t>
            </a:r>
            <a:r>
              <a:rPr lang="tr-TR" sz="2000" smtClean="0"/>
              <a:t> </a:t>
            </a:r>
            <a:r>
              <a:rPr lang="en-US" sz="2000" smtClean="0"/>
              <a:t>hesaplayınız.</a:t>
            </a:r>
            <a:endParaRPr lang="tr-TR" sz="2000" smtClean="0"/>
          </a:p>
          <a:p>
            <a:pPr>
              <a:lnSpc>
                <a:spcPct val="80000"/>
              </a:lnSpc>
            </a:pPr>
            <a:endParaRPr lang="en-US" sz="2000" smtClean="0"/>
          </a:p>
          <a:p>
            <a:pPr lvl="1">
              <a:lnSpc>
                <a:spcPct val="80000"/>
              </a:lnSpc>
            </a:pPr>
            <a:r>
              <a:rPr lang="en-US" sz="1800" b="1" smtClean="0"/>
              <a:t>Malzeme listesi:</a:t>
            </a:r>
          </a:p>
          <a:p>
            <a:pPr lvl="1">
              <a:lnSpc>
                <a:spcPct val="80000"/>
              </a:lnSpc>
              <a:buFont typeface="Wingdings" pitchFamily="2" charset="2"/>
              <a:buNone/>
            </a:pPr>
            <a:r>
              <a:rPr lang="tr-TR" sz="1800" b="1" smtClean="0"/>
              <a:t>	</a:t>
            </a:r>
            <a:r>
              <a:rPr lang="en-US" sz="1800" b="1" smtClean="0"/>
              <a:t>Malzemenin adı </a:t>
            </a:r>
            <a:r>
              <a:rPr lang="tr-TR" sz="1800" b="1" smtClean="0"/>
              <a:t>		</a:t>
            </a:r>
            <a:r>
              <a:rPr lang="en-US" sz="1800" b="1" smtClean="0"/>
              <a:t>Malzemenin özellikleri</a:t>
            </a:r>
          </a:p>
          <a:p>
            <a:pPr lvl="2">
              <a:lnSpc>
                <a:spcPct val="80000"/>
              </a:lnSpc>
            </a:pPr>
            <a:r>
              <a:rPr lang="en-US" sz="1600" smtClean="0"/>
              <a:t>1 Ampermetre </a:t>
            </a:r>
            <a:r>
              <a:rPr lang="tr-TR" sz="1600" smtClean="0"/>
              <a:t>		</a:t>
            </a:r>
            <a:r>
              <a:rPr lang="en-US" sz="1600" smtClean="0"/>
              <a:t>DC - (0-5 A)</a:t>
            </a:r>
          </a:p>
          <a:p>
            <a:pPr lvl="2">
              <a:lnSpc>
                <a:spcPct val="80000"/>
              </a:lnSpc>
            </a:pPr>
            <a:r>
              <a:rPr lang="en-US" sz="1600" smtClean="0"/>
              <a:t>2 Voltmetre </a:t>
            </a:r>
            <a:r>
              <a:rPr lang="tr-TR" sz="1600" smtClean="0"/>
              <a:t>		</a:t>
            </a:r>
            <a:r>
              <a:rPr lang="en-US" sz="1600" smtClean="0"/>
              <a:t>DC - (500 V)</a:t>
            </a:r>
          </a:p>
          <a:p>
            <a:pPr lvl="2">
              <a:lnSpc>
                <a:spcPct val="80000"/>
              </a:lnSpc>
            </a:pPr>
            <a:r>
              <a:rPr lang="en-US" sz="1600" smtClean="0"/>
              <a:t>3 DC güç kaynağı </a:t>
            </a:r>
            <a:r>
              <a:rPr lang="tr-TR" sz="1600" smtClean="0"/>
              <a:t>	</a:t>
            </a:r>
            <a:r>
              <a:rPr lang="en-US" sz="1600" smtClean="0"/>
              <a:t>DC, 0-220 V, 5A</a:t>
            </a:r>
          </a:p>
          <a:p>
            <a:pPr lvl="2">
              <a:lnSpc>
                <a:spcPct val="80000"/>
              </a:lnSpc>
            </a:pPr>
            <a:r>
              <a:rPr lang="en-US" sz="1600" smtClean="0"/>
              <a:t>4 Bağlantı kabloları </a:t>
            </a:r>
            <a:r>
              <a:rPr lang="tr-TR" sz="1600" smtClean="0"/>
              <a:t>	</a:t>
            </a:r>
            <a:r>
              <a:rPr lang="en-US" sz="1600" smtClean="0"/>
              <a:t>Değişik uzunlukta</a:t>
            </a:r>
          </a:p>
          <a:p>
            <a:pPr lvl="2">
              <a:lnSpc>
                <a:spcPct val="80000"/>
              </a:lnSpc>
            </a:pPr>
            <a:r>
              <a:rPr lang="en-US" sz="1600" smtClean="0"/>
              <a:t>5 Reosta </a:t>
            </a:r>
            <a:r>
              <a:rPr lang="tr-TR" sz="1600" smtClean="0"/>
              <a:t>		</a:t>
            </a:r>
            <a:r>
              <a:rPr lang="en-US" sz="1600" smtClean="0"/>
              <a:t>100 Ω, 2 A</a:t>
            </a:r>
            <a:endParaRPr lang="tr-TR" sz="1600" smtClean="0"/>
          </a:p>
          <a:p>
            <a:pPr lvl="1">
              <a:lnSpc>
                <a:spcPct val="80000"/>
              </a:lnSpc>
              <a:buFont typeface="Wingdings" pitchFamily="2" charset="2"/>
              <a:buNone/>
            </a:pPr>
            <a:endParaRPr lang="en-US" sz="1800" smtClean="0"/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tr-TR" sz="1600" b="1" smtClean="0"/>
              <a:t>	</a:t>
            </a:r>
            <a:r>
              <a:rPr lang="en-US" sz="1600" b="1" smtClean="0"/>
              <a:t>Tablo 9.1: Ampermetre voltmetre ile güç ölçme , uygulamasında kullanılacak</a:t>
            </a:r>
            <a:r>
              <a:rPr lang="tr-TR" sz="1600" b="1" smtClean="0"/>
              <a:t> </a:t>
            </a:r>
            <a:r>
              <a:rPr lang="en-US" sz="1600" b="1" smtClean="0"/>
              <a:t>Malzemelerin</a:t>
            </a:r>
            <a:r>
              <a:rPr lang="tr-TR" sz="1600" b="1" smtClean="0"/>
              <a:t> </a:t>
            </a:r>
            <a:r>
              <a:rPr lang="en-US" sz="1600" b="1" smtClean="0"/>
              <a:t>listesi</a:t>
            </a:r>
            <a:endParaRPr lang="en-US" sz="1600" smtClean="0"/>
          </a:p>
          <a:p>
            <a:pPr>
              <a:lnSpc>
                <a:spcPct val="80000"/>
              </a:lnSpc>
            </a:pPr>
            <a:endParaRPr lang="en-US" sz="16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738A4-BF92-4DA1-8B0E-25DEBE2D9AC1}" type="slidenum">
              <a:rPr lang="en-US"/>
              <a:pPr/>
              <a:t>204</a:t>
            </a:fld>
            <a:endParaRPr lang="en-US"/>
          </a:p>
        </p:txBody>
      </p:sp>
      <p:sp>
        <p:nvSpPr>
          <p:cNvPr id="566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b="1" smtClean="0"/>
              <a:t>UYGULAMA</a:t>
            </a:r>
            <a:r>
              <a:rPr lang="tr-TR" sz="3600" b="1" smtClean="0"/>
              <a:t> FAALİYETİ</a:t>
            </a:r>
            <a:endParaRPr lang="en-US" sz="3600" b="1" smtClean="0"/>
          </a:p>
        </p:txBody>
      </p:sp>
      <p:graphicFrame>
        <p:nvGraphicFramePr>
          <p:cNvPr id="566275" name="Group 3"/>
          <p:cNvGraphicFramePr>
            <a:graphicFrameLocks noGrp="1"/>
          </p:cNvGraphicFramePr>
          <p:nvPr>
            <p:ph idx="1"/>
          </p:nvPr>
        </p:nvGraphicFramePr>
        <p:xfrm>
          <a:off x="949325" y="1981200"/>
          <a:ext cx="7661275" cy="4357625"/>
        </p:xfrm>
        <a:graphic>
          <a:graphicData uri="http://schemas.openxmlformats.org/drawingml/2006/table">
            <a:tbl>
              <a:tblPr/>
              <a:tblGrid>
                <a:gridCol w="3830638"/>
                <a:gridCol w="3830637"/>
              </a:tblGrid>
              <a:tr h="3476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İşlem Basamakları</a:t>
                      </a: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Öneriler</a:t>
                      </a: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683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Tabloda verilen malzemeleri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belirtilen özelliklerde temin et.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Ampermetre ve voltmetrenin ölçme sınırı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yapılacak ölçüme uygun olmalıdır.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398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Yukarıda verilen devre bağlantı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şemasını kur.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Devrede alıcının çektiği akım yüksek ise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ampermetre önce çekilen akım küçük ise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voltmetre önce bağlanmalıdır.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429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Devredeki ölçü aletleri ve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alıcının bağlantısını kontrol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ederek devreye enerji ver.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Reostanın direnci başlangıçta en yüksek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değerinde olmalıdır.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Devreye mutlaka öğretmeninizin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gözetiminde enerji verin.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413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Reostanın direncini belirli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aralıklar ile azaltarak akım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gerilim değerlerini not et.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Akım ve gerilim değerlerini Tablo 9.2’ye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kaydediniz.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Kaynaktan çekilen akım ampermetre ve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reostanın sınır değerlerini geçmemelidir.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92E7F5-7139-41C8-ABBC-F5BEDEAF61B2}" type="slidenum">
              <a:rPr lang="en-US"/>
              <a:pPr/>
              <a:t>205</a:t>
            </a:fld>
            <a:endParaRPr lang="en-US"/>
          </a:p>
        </p:txBody>
      </p:sp>
      <p:sp>
        <p:nvSpPr>
          <p:cNvPr id="567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b="1" smtClean="0"/>
              <a:t>UYGULAMA</a:t>
            </a:r>
            <a:r>
              <a:rPr lang="tr-TR" sz="3600" b="1" smtClean="0"/>
              <a:t> FAALİYETİ</a:t>
            </a:r>
            <a:endParaRPr lang="en-US" sz="3600" b="1" smtClean="0"/>
          </a:p>
        </p:txBody>
      </p:sp>
      <p:graphicFrame>
        <p:nvGraphicFramePr>
          <p:cNvPr id="567299" name="Group 3"/>
          <p:cNvGraphicFramePr>
            <a:graphicFrameLocks noGrp="1"/>
          </p:cNvGraphicFramePr>
          <p:nvPr>
            <p:ph idx="1"/>
          </p:nvPr>
        </p:nvGraphicFramePr>
        <p:xfrm>
          <a:off x="949325" y="1981200"/>
          <a:ext cx="7661275" cy="2237423"/>
        </p:xfrm>
        <a:graphic>
          <a:graphicData uri="http://schemas.openxmlformats.org/drawingml/2006/table">
            <a:tbl>
              <a:tblPr/>
              <a:tblGrid>
                <a:gridCol w="3830638"/>
                <a:gridCol w="3830637"/>
              </a:tblGrid>
              <a:tr h="3476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İşlem Basamakları</a:t>
                      </a: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Öneriler</a:t>
                      </a: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683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Gerekli değerleri aldıktan sonra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devrenin enerjisini keserek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malzemeleri kaldırınız.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􀂾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398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Aldığınız değerleri ve güç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formülünü kullanarak reostanın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hangi akım değerinde ne kadar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güç çektiğini hesapla.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Hesaplama için P = U x I formülünü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kullanın.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9F3DE49D-3652-43E8-B852-C05C4AE5AAD4}" type="slidenum">
              <a:rPr lang="en-US"/>
              <a:pPr/>
              <a:t>206</a:t>
            </a:fld>
            <a:endParaRPr lang="en-US"/>
          </a:p>
        </p:txBody>
      </p:sp>
      <p:sp>
        <p:nvSpPr>
          <p:cNvPr id="568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b="1" smtClean="0"/>
              <a:t>UYGULAMA</a:t>
            </a:r>
            <a:r>
              <a:rPr lang="tr-TR" sz="3600" b="1" smtClean="0"/>
              <a:t> FAALİYETİ</a:t>
            </a:r>
            <a:endParaRPr lang="en-US" sz="3600" b="1" smtClean="0"/>
          </a:p>
        </p:txBody>
      </p:sp>
      <p:sp>
        <p:nvSpPr>
          <p:cNvPr id="56832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49325" y="1981200"/>
            <a:ext cx="7870825" cy="4616450"/>
          </a:xfrm>
        </p:spPr>
        <p:txBody>
          <a:bodyPr/>
          <a:lstStyle/>
          <a:p>
            <a:r>
              <a:rPr lang="en-US" sz="1600" b="1" smtClean="0"/>
              <a:t>Deneyde alınan değerler:</a:t>
            </a:r>
          </a:p>
          <a:p>
            <a:pPr>
              <a:buFont typeface="Wingdings" pitchFamily="2" charset="2"/>
              <a:buNone/>
            </a:pPr>
            <a:endParaRPr lang="tr-TR" sz="1600" b="1" smtClean="0"/>
          </a:p>
          <a:p>
            <a:pPr>
              <a:buFont typeface="Wingdings" pitchFamily="2" charset="2"/>
              <a:buNone/>
            </a:pPr>
            <a:endParaRPr lang="tr-TR" sz="1600" b="1" smtClean="0"/>
          </a:p>
          <a:p>
            <a:pPr>
              <a:buFont typeface="Wingdings" pitchFamily="2" charset="2"/>
              <a:buNone/>
            </a:pPr>
            <a:endParaRPr lang="tr-TR" sz="1600" b="1" smtClean="0"/>
          </a:p>
          <a:p>
            <a:pPr>
              <a:buFont typeface="Wingdings" pitchFamily="2" charset="2"/>
              <a:buNone/>
            </a:pPr>
            <a:endParaRPr lang="tr-TR" sz="1600" b="1" smtClean="0"/>
          </a:p>
          <a:p>
            <a:pPr>
              <a:buFont typeface="Wingdings" pitchFamily="2" charset="2"/>
              <a:buNone/>
            </a:pPr>
            <a:endParaRPr lang="tr-TR" sz="1600" b="1" smtClean="0"/>
          </a:p>
          <a:p>
            <a:pPr>
              <a:buFont typeface="Wingdings" pitchFamily="2" charset="2"/>
              <a:buNone/>
            </a:pPr>
            <a:endParaRPr lang="tr-TR" sz="1600" b="1" smtClean="0"/>
          </a:p>
          <a:p>
            <a:pPr>
              <a:buFont typeface="Wingdings" pitchFamily="2" charset="2"/>
              <a:buNone/>
            </a:pPr>
            <a:endParaRPr lang="tr-TR" sz="1600" b="1" smtClean="0"/>
          </a:p>
          <a:p>
            <a:pPr>
              <a:buFont typeface="Wingdings" pitchFamily="2" charset="2"/>
              <a:buNone/>
            </a:pPr>
            <a:endParaRPr lang="tr-TR" sz="1600" b="1" smtClean="0"/>
          </a:p>
          <a:p>
            <a:pPr>
              <a:buFont typeface="Wingdings" pitchFamily="2" charset="2"/>
              <a:buNone/>
            </a:pPr>
            <a:endParaRPr lang="tr-TR" sz="1600" b="1" smtClean="0"/>
          </a:p>
          <a:p>
            <a:pPr>
              <a:buFont typeface="Wingdings" pitchFamily="2" charset="2"/>
              <a:buNone/>
            </a:pPr>
            <a:r>
              <a:rPr lang="tr-TR" sz="1600" b="1" smtClean="0"/>
              <a:t>	</a:t>
            </a:r>
            <a:r>
              <a:rPr lang="en-US" sz="1600" b="1" smtClean="0"/>
              <a:t>Tablo 9.2: Ampermetre voltmetre ile güç ölçme , uygulamasından</a:t>
            </a:r>
            <a:endParaRPr lang="tr-TR" sz="1600" b="1" smtClean="0"/>
          </a:p>
          <a:p>
            <a:pPr>
              <a:buFont typeface="Wingdings" pitchFamily="2" charset="2"/>
              <a:buNone/>
            </a:pPr>
            <a:r>
              <a:rPr lang="tr-TR" sz="1600" b="1" smtClean="0"/>
              <a:t>	</a:t>
            </a:r>
            <a:r>
              <a:rPr lang="en-US" sz="1600" b="1" smtClean="0"/>
              <a:t>alınan değerler tablosu</a:t>
            </a:r>
            <a:endParaRPr lang="en-US" sz="1600" smtClean="0"/>
          </a:p>
          <a:p>
            <a:endParaRPr lang="en-US" sz="1600" smtClean="0"/>
          </a:p>
        </p:txBody>
      </p:sp>
      <p:graphicFrame>
        <p:nvGraphicFramePr>
          <p:cNvPr id="568324" name="Group 4"/>
          <p:cNvGraphicFramePr>
            <a:graphicFrameLocks noGrp="1"/>
          </p:cNvGraphicFramePr>
          <p:nvPr>
            <p:ph sz="half" idx="2"/>
          </p:nvPr>
        </p:nvGraphicFramePr>
        <p:xfrm>
          <a:off x="1187450" y="2420938"/>
          <a:ext cx="7488238" cy="2084832"/>
        </p:xfrm>
        <a:graphic>
          <a:graphicData uri="http://schemas.openxmlformats.org/drawingml/2006/table">
            <a:tbl>
              <a:tblPr/>
              <a:tblGrid>
                <a:gridCol w="1871663"/>
                <a:gridCol w="1873250"/>
                <a:gridCol w="1871662"/>
                <a:gridCol w="1871663"/>
              </a:tblGrid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Alıcı</a:t>
                      </a: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Gerilim(V)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Akım (A)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Açıklama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0038">
                <a:tc rowSpan="5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100 Ω’ lık reosta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tr-T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tr-T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tr-T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0038"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tr-T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tr-T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tr-T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0038"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tr-T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tr-T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tr-T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0038"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tr-T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tr-T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tr-T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0038"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tr-T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tr-T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tr-T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05A491EA-B25F-4BBA-B405-D705C105793B}" type="slidenum">
              <a:rPr lang="en-US"/>
              <a:pPr/>
              <a:t>207</a:t>
            </a:fld>
            <a:endParaRPr lang="en-US"/>
          </a:p>
        </p:txBody>
      </p:sp>
      <p:sp>
        <p:nvSpPr>
          <p:cNvPr id="569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b="1" smtClean="0"/>
              <a:t>UYGULAMA</a:t>
            </a:r>
            <a:r>
              <a:rPr lang="tr-TR" sz="3600" b="1" smtClean="0"/>
              <a:t> FAALİYETİ</a:t>
            </a:r>
            <a:endParaRPr lang="en-US" sz="3600" b="1" smtClean="0"/>
          </a:p>
        </p:txBody>
      </p:sp>
      <p:sp>
        <p:nvSpPr>
          <p:cNvPr id="569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400" smtClean="0"/>
              <a:t>Aşağıda verilen bağlantı şemasına göre devrenin bağlantısını kurarak alıcıların</a:t>
            </a:r>
            <a:r>
              <a:rPr lang="tr-TR" sz="2400" smtClean="0"/>
              <a:t> </a:t>
            </a:r>
            <a:r>
              <a:rPr lang="en-US" sz="2400" smtClean="0"/>
              <a:t>harcadıkları gücü ölçünüz.</a:t>
            </a:r>
            <a:endParaRPr lang="tr-TR" sz="2400" smtClean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sz="2400" smtClean="0"/>
          </a:p>
          <a:p>
            <a:pPr lvl="1">
              <a:lnSpc>
                <a:spcPct val="90000"/>
              </a:lnSpc>
            </a:pPr>
            <a:r>
              <a:rPr lang="en-US" sz="2000" b="1" smtClean="0"/>
              <a:t>Malzeme listesi:</a:t>
            </a:r>
          </a:p>
          <a:p>
            <a:pPr lvl="2">
              <a:lnSpc>
                <a:spcPct val="90000"/>
              </a:lnSpc>
              <a:buFont typeface="Wingdings" pitchFamily="2" charset="2"/>
              <a:buNone/>
            </a:pPr>
            <a:r>
              <a:rPr lang="en-US" sz="1800" b="1" smtClean="0"/>
              <a:t>Malzemenin adı </a:t>
            </a:r>
            <a:r>
              <a:rPr lang="tr-TR" sz="1800" b="1" smtClean="0"/>
              <a:t>			</a:t>
            </a:r>
            <a:r>
              <a:rPr lang="en-US" sz="1800" b="1" smtClean="0"/>
              <a:t>Malzemenin özellikleri</a:t>
            </a:r>
          </a:p>
          <a:p>
            <a:pPr lvl="2">
              <a:lnSpc>
                <a:spcPct val="90000"/>
              </a:lnSpc>
            </a:pPr>
            <a:r>
              <a:rPr lang="en-US" sz="1800" smtClean="0"/>
              <a:t>1 Wattmetre </a:t>
            </a:r>
            <a:r>
              <a:rPr lang="tr-TR" sz="1800" smtClean="0"/>
              <a:t>			</a:t>
            </a:r>
            <a:r>
              <a:rPr lang="en-US" sz="1800" smtClean="0"/>
              <a:t>1000 w</a:t>
            </a:r>
          </a:p>
          <a:p>
            <a:pPr lvl="2">
              <a:lnSpc>
                <a:spcPct val="90000"/>
              </a:lnSpc>
            </a:pPr>
            <a:r>
              <a:rPr lang="en-US" sz="1800" smtClean="0"/>
              <a:t>2 Lamba grubu </a:t>
            </a:r>
            <a:r>
              <a:rPr lang="tr-TR" sz="1800" smtClean="0"/>
              <a:t>		</a:t>
            </a:r>
            <a:r>
              <a:rPr lang="en-US" sz="1800" smtClean="0"/>
              <a:t>3 X 100 w</a:t>
            </a:r>
          </a:p>
          <a:p>
            <a:pPr lvl="2">
              <a:lnSpc>
                <a:spcPct val="90000"/>
              </a:lnSpc>
            </a:pPr>
            <a:r>
              <a:rPr lang="en-US" sz="1800" smtClean="0"/>
              <a:t>3 AC güç kaynağı </a:t>
            </a:r>
            <a:r>
              <a:rPr lang="tr-TR" sz="1800" smtClean="0"/>
              <a:t>		</a:t>
            </a:r>
            <a:r>
              <a:rPr lang="en-US" sz="1800" smtClean="0"/>
              <a:t>AC, 0-220 V, 5A</a:t>
            </a:r>
          </a:p>
          <a:p>
            <a:pPr lvl="2">
              <a:lnSpc>
                <a:spcPct val="90000"/>
              </a:lnSpc>
            </a:pPr>
            <a:r>
              <a:rPr lang="en-US" sz="1800" smtClean="0"/>
              <a:t>4 Bağlantı kabloları </a:t>
            </a:r>
            <a:r>
              <a:rPr lang="tr-TR" sz="1800" smtClean="0"/>
              <a:t>		</a:t>
            </a:r>
            <a:r>
              <a:rPr lang="en-US" sz="1800" smtClean="0"/>
              <a:t>Değişik uzunlukta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tr-TR" sz="1400" b="1" smtClean="0"/>
              <a:t>		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tr-TR" sz="1400" b="1" smtClean="0"/>
              <a:t>		</a:t>
            </a:r>
            <a:r>
              <a:rPr lang="en-US" sz="1400" b="1" smtClean="0"/>
              <a:t>Tablo 9.3: Wattmetre ile güç ölçme, uygulamasında kullanılacak </a:t>
            </a:r>
            <a:r>
              <a:rPr lang="tr-TR" sz="1400" b="1" smtClean="0"/>
              <a:t>	</a:t>
            </a:r>
            <a:r>
              <a:rPr lang="en-US" sz="1400" b="1" smtClean="0"/>
              <a:t>malzemelerin listesi</a:t>
            </a:r>
            <a:endParaRPr lang="en-US" sz="1400" smtClean="0"/>
          </a:p>
          <a:p>
            <a:pPr>
              <a:lnSpc>
                <a:spcPct val="90000"/>
              </a:lnSpc>
            </a:pPr>
            <a:endParaRPr lang="en-US" sz="14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F3619-A980-425B-8B8E-FC4692D213F0}" type="slidenum">
              <a:rPr lang="en-US"/>
              <a:pPr/>
              <a:t>208</a:t>
            </a:fld>
            <a:endParaRPr lang="en-US"/>
          </a:p>
        </p:txBody>
      </p:sp>
      <p:sp>
        <p:nvSpPr>
          <p:cNvPr id="570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b="1" smtClean="0"/>
              <a:t>UYGULAMA</a:t>
            </a:r>
            <a:r>
              <a:rPr lang="tr-TR" sz="3600" b="1" smtClean="0"/>
              <a:t> FAALİYETİ</a:t>
            </a:r>
            <a:endParaRPr lang="en-US" sz="3600" b="1" smtClean="0"/>
          </a:p>
        </p:txBody>
      </p:sp>
      <p:graphicFrame>
        <p:nvGraphicFramePr>
          <p:cNvPr id="570371" name="Group 3"/>
          <p:cNvGraphicFramePr>
            <a:graphicFrameLocks noGrp="1"/>
          </p:cNvGraphicFramePr>
          <p:nvPr>
            <p:ph idx="1"/>
          </p:nvPr>
        </p:nvGraphicFramePr>
        <p:xfrm>
          <a:off x="949325" y="1981200"/>
          <a:ext cx="7661275" cy="4562412"/>
        </p:xfrm>
        <a:graphic>
          <a:graphicData uri="http://schemas.openxmlformats.org/drawingml/2006/table">
            <a:tbl>
              <a:tblPr/>
              <a:tblGrid>
                <a:gridCol w="3830638"/>
                <a:gridCol w="3830637"/>
              </a:tblGrid>
              <a:tr h="3286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İşlem Basamakları</a:t>
                      </a: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Öneriler</a:t>
                      </a: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318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Ölçülecek güç değerine uygun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ölçme sınırına sahip wattmetre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ve frekans jeneratörünü temin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et.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Ölçülecek güç wattmetrenin ölçme sınırını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aşıyorsa ölçü aleti zarar görebilir.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 ve DC güç ölçümlerinde uygun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wattmetre kullanınız ya da wattmetrenin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kademe seçimini uygun yapınız.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890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Devrenin bağlantısını şemaya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uygun olarak yap.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Yapılan bağlantıyı enerji vermeden mutlaka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kontrol ediniz.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429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Devreye enerji vererek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lambaları sıra ile devreye al.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Devreye enerjiyi mutlaka öğretmeninizin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kontrolünde veriniz.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413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Okunan güç değerini verilen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çizelgeye kaydet.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Yaptığınız ölçümlerde alıcı (lamba) sayısı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artıkça çekilen güç değerinin artışını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yorumlayınız.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B1F8F24A-AC7B-4F63-8B75-F8E1A3BAC9CC}" type="slidenum">
              <a:rPr lang="en-US"/>
              <a:pPr/>
              <a:t>209</a:t>
            </a:fld>
            <a:endParaRPr lang="en-US"/>
          </a:p>
        </p:txBody>
      </p:sp>
      <p:sp>
        <p:nvSpPr>
          <p:cNvPr id="571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b="1" smtClean="0"/>
              <a:t>UYGULAMA</a:t>
            </a:r>
            <a:r>
              <a:rPr lang="tr-TR" sz="3600" b="1" smtClean="0"/>
              <a:t> FAALİYETİ</a:t>
            </a:r>
            <a:endParaRPr lang="en-US" sz="3600" b="1" smtClean="0"/>
          </a:p>
        </p:txBody>
      </p:sp>
      <p:sp>
        <p:nvSpPr>
          <p:cNvPr id="571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smtClean="0"/>
              <a:t>Analog ve elektronik sayaçların bağlantılarını aşağıda verilen şemaya göre yaparak</a:t>
            </a:r>
            <a:r>
              <a:rPr lang="tr-TR" sz="1800" smtClean="0"/>
              <a:t> </a:t>
            </a:r>
            <a:r>
              <a:rPr lang="en-US" sz="1800" smtClean="0"/>
              <a:t>alıcıların harcadığı elektrik enerjisini ölçünüz.</a:t>
            </a:r>
            <a:endParaRPr lang="tr-TR" sz="1800" smtClean="0"/>
          </a:p>
          <a:p>
            <a:endParaRPr lang="en-US" sz="1800" smtClean="0"/>
          </a:p>
          <a:p>
            <a:pPr lvl="1"/>
            <a:r>
              <a:rPr lang="en-US" sz="1800" b="1" smtClean="0"/>
              <a:t>Malzeme listesi:</a:t>
            </a:r>
          </a:p>
          <a:p>
            <a:pPr lvl="1">
              <a:buFont typeface="Wingdings" pitchFamily="2" charset="2"/>
              <a:buNone/>
            </a:pPr>
            <a:r>
              <a:rPr lang="tr-TR" sz="1800" b="1" smtClean="0"/>
              <a:t>	</a:t>
            </a:r>
            <a:r>
              <a:rPr lang="en-US" sz="1800" b="1" smtClean="0"/>
              <a:t>Malzemenin adı </a:t>
            </a:r>
            <a:r>
              <a:rPr lang="tr-TR" sz="1800" b="1" smtClean="0"/>
              <a:t>		</a:t>
            </a:r>
            <a:r>
              <a:rPr lang="en-US" sz="1800" b="1" smtClean="0"/>
              <a:t>Malzemenin özellikleri</a:t>
            </a:r>
          </a:p>
          <a:p>
            <a:pPr lvl="2"/>
            <a:r>
              <a:rPr lang="en-US" sz="1800" smtClean="0"/>
              <a:t>1 Analog sayaç </a:t>
            </a:r>
            <a:r>
              <a:rPr lang="tr-TR" sz="1800" smtClean="0"/>
              <a:t>	</a:t>
            </a:r>
            <a:r>
              <a:rPr lang="en-US" sz="1800" smtClean="0"/>
              <a:t>1 fazlı</a:t>
            </a:r>
          </a:p>
          <a:p>
            <a:pPr lvl="2"/>
            <a:r>
              <a:rPr lang="en-US" sz="1800" smtClean="0"/>
              <a:t>2 Dijital sayaç </a:t>
            </a:r>
            <a:r>
              <a:rPr lang="tr-TR" sz="1800" smtClean="0"/>
              <a:t>	</a:t>
            </a:r>
            <a:r>
              <a:rPr lang="en-US" sz="1800" smtClean="0"/>
              <a:t>1 fazlı</a:t>
            </a:r>
          </a:p>
          <a:p>
            <a:pPr lvl="2"/>
            <a:r>
              <a:rPr lang="en-US" sz="1800" smtClean="0"/>
              <a:t>3 Lamba grubu </a:t>
            </a:r>
            <a:r>
              <a:rPr lang="tr-TR" sz="1800" smtClean="0"/>
              <a:t>	</a:t>
            </a:r>
            <a:r>
              <a:rPr lang="en-US" sz="1800" smtClean="0"/>
              <a:t>3 X 100 w</a:t>
            </a:r>
          </a:p>
          <a:p>
            <a:pPr lvl="2"/>
            <a:r>
              <a:rPr lang="en-US" sz="1800" smtClean="0"/>
              <a:t>4 Bağlantı kabloları </a:t>
            </a:r>
            <a:r>
              <a:rPr lang="tr-TR" sz="1800" smtClean="0"/>
              <a:t>	</a:t>
            </a:r>
            <a:r>
              <a:rPr lang="en-US" sz="1800" smtClean="0"/>
              <a:t>Değişik uzunlukta</a:t>
            </a:r>
            <a:endParaRPr lang="tr-TR" sz="1800" smtClean="0"/>
          </a:p>
          <a:p>
            <a:pPr lvl="2">
              <a:buFont typeface="Wingdings" pitchFamily="2" charset="2"/>
              <a:buNone/>
            </a:pPr>
            <a:endParaRPr lang="en-US" sz="1800" smtClean="0"/>
          </a:p>
          <a:p>
            <a:pPr>
              <a:buFont typeface="Wingdings" pitchFamily="2" charset="2"/>
              <a:buNone/>
            </a:pPr>
            <a:r>
              <a:rPr lang="tr-TR" sz="2000" b="1" smtClean="0"/>
              <a:t>	</a:t>
            </a:r>
            <a:r>
              <a:rPr lang="en-US" sz="1600" b="1" smtClean="0"/>
              <a:t>Tablo 9.4: Sayaç ile iş ölçme, uygulamasında kullanılacak malzemelerin listesi</a:t>
            </a:r>
            <a:endParaRPr lang="en-US" sz="1600" smtClean="0"/>
          </a:p>
          <a:p>
            <a:pPr>
              <a:buFont typeface="Wingdings" pitchFamily="2" charset="2"/>
              <a:buNone/>
            </a:pPr>
            <a:endParaRPr lang="en-US" sz="16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C8599-E4AD-4B63-A777-E31980CE3E5F}" type="slidenum">
              <a:rPr lang="en-US"/>
              <a:pPr/>
              <a:t>210</a:t>
            </a:fld>
            <a:endParaRPr lang="en-US"/>
          </a:p>
        </p:txBody>
      </p:sp>
      <p:sp>
        <p:nvSpPr>
          <p:cNvPr id="572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b="1" smtClean="0"/>
              <a:t>UYGULAMA</a:t>
            </a:r>
            <a:r>
              <a:rPr lang="tr-TR" sz="3600" b="1" smtClean="0"/>
              <a:t> FAALİYETİ</a:t>
            </a:r>
            <a:endParaRPr lang="en-US" sz="3600" b="1" smtClean="0"/>
          </a:p>
        </p:txBody>
      </p:sp>
      <p:graphicFrame>
        <p:nvGraphicFramePr>
          <p:cNvPr id="572419" name="Group 3"/>
          <p:cNvGraphicFramePr>
            <a:graphicFrameLocks noGrp="1"/>
          </p:cNvGraphicFramePr>
          <p:nvPr>
            <p:ph idx="1"/>
          </p:nvPr>
        </p:nvGraphicFramePr>
        <p:xfrm>
          <a:off x="949325" y="1981200"/>
          <a:ext cx="7661275" cy="4244722"/>
        </p:xfrm>
        <a:graphic>
          <a:graphicData uri="http://schemas.openxmlformats.org/drawingml/2006/table">
            <a:tbl>
              <a:tblPr/>
              <a:tblGrid>
                <a:gridCol w="3830638"/>
                <a:gridCol w="3830637"/>
              </a:tblGrid>
              <a:tr h="3476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İşlem Basamakları</a:t>
                      </a: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Öneriler</a:t>
                      </a: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683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Önce analog sayacın akım ve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gerilim bobin bağlantısını yap.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Analog sayaçlarda akım bobininin uçları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yanlış bağlanmamalıdır. Ters bağlantıda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sayaç diski ters döner.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398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Bağlantıyı kontrol ederek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devreye enerji ver.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Devreye enerjiyi mutlaka öğretmeninizin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kontrolünde veriniz.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429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Elektronik sayaç bağlantısını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yap.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Elektronik sayaçlar ile analog sayaçlar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arasında bağlantı olarak fark yoktur.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413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Bağlantıyı kontrol ederek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devreye enerji veriniz.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Devreye enerjiyi mutlaka öğretmeninizin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kontrolünde veriniz.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6B0C538F-031C-4E7F-B1FC-29FA59A69FA2}" type="slidenum">
              <a:rPr lang="en-US"/>
              <a:pPr/>
              <a:t>211</a:t>
            </a:fld>
            <a:endParaRPr lang="en-US"/>
          </a:p>
        </p:txBody>
      </p:sp>
      <p:sp>
        <p:nvSpPr>
          <p:cNvPr id="573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z="3600" b="1" smtClean="0"/>
              <a:t>ÖLÇME VE DEĞERLENDİRME</a:t>
            </a:r>
            <a:endParaRPr lang="en-US" sz="3600" b="1" smtClean="0"/>
          </a:p>
        </p:txBody>
      </p:sp>
      <p:sp>
        <p:nvSpPr>
          <p:cNvPr id="573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sz="1800" b="1" smtClean="0"/>
              <a:t>ÖLÇME SORULARI</a:t>
            </a:r>
          </a:p>
          <a:p>
            <a:pPr lvl="1">
              <a:lnSpc>
                <a:spcPct val="80000"/>
              </a:lnSpc>
            </a:pPr>
            <a:r>
              <a:rPr lang="en-US" sz="1800" smtClean="0"/>
              <a:t>Aşağıda verilen soruları doğru ya da yanlış olarak cevaplayınız.</a:t>
            </a:r>
          </a:p>
          <a:p>
            <a:pPr lvl="2">
              <a:lnSpc>
                <a:spcPct val="80000"/>
              </a:lnSpc>
            </a:pPr>
            <a:r>
              <a:rPr lang="en-US" sz="1600" b="1" smtClean="0"/>
              <a:t>1. </a:t>
            </a:r>
            <a:r>
              <a:rPr lang="en-US" sz="1600" smtClean="0"/>
              <a:t>Elektrik devrelerinde harcanan güç akım ve gerilimle doğru orantılıdır.</a:t>
            </a:r>
          </a:p>
          <a:p>
            <a:pPr lvl="2">
              <a:lnSpc>
                <a:spcPct val="80000"/>
              </a:lnSpc>
            </a:pPr>
            <a:r>
              <a:rPr lang="en-US" sz="1600" b="1" smtClean="0"/>
              <a:t>2. </a:t>
            </a:r>
            <a:r>
              <a:rPr lang="en-US" sz="1600" smtClean="0"/>
              <a:t>Wattmetreler ölçüm yapabilmek için akım ve gerilim değerine ihtiyaç duyar.</a:t>
            </a:r>
          </a:p>
          <a:p>
            <a:pPr lvl="2">
              <a:lnSpc>
                <a:spcPct val="80000"/>
              </a:lnSpc>
            </a:pPr>
            <a:r>
              <a:rPr lang="en-US" sz="1600" b="1" smtClean="0"/>
              <a:t>3. </a:t>
            </a:r>
            <a:r>
              <a:rPr lang="en-US" sz="1600" smtClean="0"/>
              <a:t>Wattmetreler reaktif güç ölçer.</a:t>
            </a:r>
          </a:p>
          <a:p>
            <a:pPr lvl="2">
              <a:lnSpc>
                <a:spcPct val="80000"/>
              </a:lnSpc>
            </a:pPr>
            <a:r>
              <a:rPr lang="en-US" sz="1600" b="1" smtClean="0"/>
              <a:t>4. </a:t>
            </a:r>
            <a:r>
              <a:rPr lang="en-US" sz="1600" smtClean="0"/>
              <a:t>Küçük güçler ölçülürken akım bobinin uçları sonra bağlanmalıdır.</a:t>
            </a:r>
          </a:p>
          <a:p>
            <a:pPr lvl="2">
              <a:lnSpc>
                <a:spcPct val="80000"/>
              </a:lnSpc>
            </a:pPr>
            <a:r>
              <a:rPr lang="en-US" sz="1600" b="1" smtClean="0"/>
              <a:t>5. </a:t>
            </a:r>
            <a:r>
              <a:rPr lang="en-US" sz="1600" smtClean="0"/>
              <a:t>Analog sayaçlar ile farklı tarifeler üzerinden ücretlendirme yapılabilir.</a:t>
            </a:r>
          </a:p>
          <a:p>
            <a:pPr lvl="2">
              <a:lnSpc>
                <a:spcPct val="80000"/>
              </a:lnSpc>
            </a:pPr>
            <a:r>
              <a:rPr lang="en-US" sz="1600" b="1" smtClean="0"/>
              <a:t>6. </a:t>
            </a:r>
            <a:r>
              <a:rPr lang="en-US" sz="1600" smtClean="0"/>
              <a:t>Analog sayaçlarda akım ve gerilim bobini olmak üzere iki bobin bulunur.</a:t>
            </a:r>
          </a:p>
          <a:p>
            <a:pPr lvl="2">
              <a:lnSpc>
                <a:spcPct val="80000"/>
              </a:lnSpc>
            </a:pPr>
            <a:r>
              <a:rPr lang="en-US" sz="1600" b="1" smtClean="0"/>
              <a:t>7. </a:t>
            </a:r>
            <a:r>
              <a:rPr lang="en-US" sz="1600" smtClean="0"/>
              <a:t>Analog sayaçlarda akım bobini uçlarının ters bağlanması herhangi bir sorun oluşturmaz.</a:t>
            </a:r>
          </a:p>
          <a:p>
            <a:pPr lvl="2">
              <a:lnSpc>
                <a:spcPct val="80000"/>
              </a:lnSpc>
            </a:pPr>
            <a:r>
              <a:rPr lang="en-US" sz="1600" b="1" smtClean="0"/>
              <a:t>8. </a:t>
            </a:r>
            <a:r>
              <a:rPr lang="en-US" sz="1600" smtClean="0"/>
              <a:t>Sayaçlar elektriksel işi ölçer.</a:t>
            </a:r>
          </a:p>
          <a:p>
            <a:pPr lvl="2">
              <a:lnSpc>
                <a:spcPct val="80000"/>
              </a:lnSpc>
            </a:pPr>
            <a:r>
              <a:rPr lang="en-US" sz="1600" b="1" smtClean="0"/>
              <a:t>9. </a:t>
            </a:r>
            <a:r>
              <a:rPr lang="en-US" sz="1600" smtClean="0"/>
              <a:t>Bir fazlı sayaçlar ile üç fazlı sayaçlar arasında bağlantı ve yapı farkı yoktur.</a:t>
            </a:r>
          </a:p>
          <a:p>
            <a:pPr lvl="2">
              <a:lnSpc>
                <a:spcPct val="80000"/>
              </a:lnSpc>
            </a:pPr>
            <a:r>
              <a:rPr lang="en-US" sz="1600" b="1" smtClean="0"/>
              <a:t>10. </a:t>
            </a:r>
            <a:r>
              <a:rPr lang="en-US" sz="1600" smtClean="0"/>
              <a:t>Sayaçlar her akım değeri için uzun süre iş ölçümü yapabilir.</a:t>
            </a:r>
          </a:p>
          <a:p>
            <a:pPr lvl="2">
              <a:lnSpc>
                <a:spcPct val="80000"/>
              </a:lnSpc>
            </a:pPr>
            <a:endParaRPr lang="en-US" sz="16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3C5AE548-88F3-47F4-91B1-EC79F655A62F}" type="slidenum">
              <a:rPr lang="en-US"/>
              <a:pPr/>
              <a:t>212</a:t>
            </a:fld>
            <a:endParaRPr lang="en-US"/>
          </a:p>
        </p:txBody>
      </p:sp>
      <p:sp>
        <p:nvSpPr>
          <p:cNvPr id="574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z="3600" b="1" smtClean="0"/>
              <a:t>ÖLÇME VE DEĞERLENDİRME</a:t>
            </a:r>
            <a:endParaRPr lang="en-US" sz="3600" b="1" smtClean="0"/>
          </a:p>
        </p:txBody>
      </p:sp>
      <p:sp>
        <p:nvSpPr>
          <p:cNvPr id="574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b="1" smtClean="0"/>
              <a:t>DEĞERLENDİRME</a:t>
            </a:r>
          </a:p>
          <a:p>
            <a:pPr lvl="1"/>
            <a:r>
              <a:rPr lang="en-US" sz="1800" smtClean="0"/>
              <a:t>Cevaplarınızı cevap anahtarı ile kontrol ediniz. Doğru ve yanlış cevaplarınızı</a:t>
            </a:r>
            <a:r>
              <a:rPr lang="tr-TR" sz="1800" smtClean="0"/>
              <a:t> </a:t>
            </a:r>
            <a:r>
              <a:rPr lang="en-US" sz="1800" smtClean="0"/>
              <a:t>belirleyerek kendinizi değerlendiriniz. Cevaplarınız yanlış ise öğrenme faaliyetinin ilgili</a:t>
            </a:r>
            <a:r>
              <a:rPr lang="tr-TR" sz="1800" smtClean="0"/>
              <a:t> </a:t>
            </a:r>
            <a:r>
              <a:rPr lang="en-US" sz="1800" smtClean="0"/>
              <a:t>bölümüne dönerek konuyu tekrar ediniz.</a:t>
            </a:r>
          </a:p>
          <a:p>
            <a:endParaRPr lang="en-US" sz="1800" smtClean="0"/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F5A2417C-DC84-4509-9A5E-E2B133C3D362}" type="slidenum">
              <a:rPr lang="en-US"/>
              <a:pPr/>
              <a:t>213</a:t>
            </a:fld>
            <a:endParaRPr lang="en-US"/>
          </a:p>
        </p:txBody>
      </p:sp>
      <p:sp>
        <p:nvSpPr>
          <p:cNvPr id="575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smtClean="0"/>
              <a:t>ÖĞRENME FAALİYETİ-10</a:t>
            </a:r>
          </a:p>
        </p:txBody>
      </p:sp>
      <p:sp>
        <p:nvSpPr>
          <p:cNvPr id="5754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tr-TR" sz="1800" b="1" smtClean="0"/>
              <a:t>Amaç</a:t>
            </a:r>
          </a:p>
          <a:p>
            <a:pPr lvl="1">
              <a:lnSpc>
                <a:spcPct val="90000"/>
              </a:lnSpc>
            </a:pPr>
            <a:r>
              <a:rPr lang="en-US" sz="1800" smtClean="0"/>
              <a:t>Osilaskop ile gerekli ayarlamaları yaparak gerilim ve frekans ölçümlerini hatasız</a:t>
            </a:r>
            <a:r>
              <a:rPr lang="tr-TR" sz="1800" smtClean="0"/>
              <a:t> </a:t>
            </a:r>
            <a:r>
              <a:rPr lang="en-US" sz="1800" smtClean="0"/>
              <a:t>yapabileceksiniz.</a:t>
            </a:r>
            <a:endParaRPr lang="tr-TR" sz="1800" smtClean="0"/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endParaRPr lang="tr-TR" sz="1800" smtClean="0"/>
          </a:p>
          <a:p>
            <a:pPr>
              <a:lnSpc>
                <a:spcPct val="90000"/>
              </a:lnSpc>
            </a:pPr>
            <a:r>
              <a:rPr lang="tr-TR" sz="1800" b="1" smtClean="0"/>
              <a:t>Araştırma</a:t>
            </a:r>
            <a:endParaRPr lang="en-US" sz="1800" b="1" smtClean="0"/>
          </a:p>
          <a:p>
            <a:pPr lvl="1">
              <a:lnSpc>
                <a:spcPct val="90000"/>
              </a:lnSpc>
            </a:pPr>
            <a:r>
              <a:rPr lang="en-US" sz="1800" smtClean="0"/>
              <a:t>Osilaskop çeşitlerini ve özelliklerini, osilaskoplar ile yapılabilecek ölçümler ve</a:t>
            </a:r>
            <a:r>
              <a:rPr lang="tr-TR" sz="1800" smtClean="0"/>
              <a:t> </a:t>
            </a:r>
            <a:r>
              <a:rPr lang="en-US" sz="1800" smtClean="0"/>
              <a:t>osiloskopun ölçü aletlerine göre kazandırdığı avantajları araştırarak rapor haline</a:t>
            </a:r>
            <a:r>
              <a:rPr lang="tr-TR" sz="1800" smtClean="0"/>
              <a:t> </a:t>
            </a:r>
            <a:r>
              <a:rPr lang="en-US" sz="1800" smtClean="0"/>
              <a:t>getiriniz.</a:t>
            </a:r>
          </a:p>
          <a:p>
            <a:pPr>
              <a:lnSpc>
                <a:spcPct val="90000"/>
              </a:lnSpc>
            </a:pPr>
            <a:endParaRPr lang="en-US" sz="1800" smtClean="0"/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C2A4C7A9-9A30-49B9-BAD1-BC47AD6F83F4}" type="slidenum">
              <a:rPr lang="en-US"/>
              <a:pPr/>
              <a:t>214</a:t>
            </a:fld>
            <a:endParaRPr lang="en-US"/>
          </a:p>
        </p:txBody>
      </p:sp>
      <p:sp>
        <p:nvSpPr>
          <p:cNvPr id="576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z="3600" b="1" smtClean="0"/>
              <a:t>10. OSİLASKOP</a:t>
            </a:r>
            <a:endParaRPr lang="en-US" sz="3600" b="1" smtClean="0"/>
          </a:p>
        </p:txBody>
      </p:sp>
      <p:sp>
        <p:nvSpPr>
          <p:cNvPr id="576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sz="1800" b="1" smtClean="0"/>
              <a:t>10.1. Osilaskobun Tanıtılması</a:t>
            </a:r>
          </a:p>
          <a:p>
            <a:pPr lvl="1">
              <a:lnSpc>
                <a:spcPct val="80000"/>
              </a:lnSpc>
            </a:pPr>
            <a:r>
              <a:rPr lang="en-US" sz="1800" smtClean="0"/>
              <a:t>Elektriksel büyüklükleri ölçen aletleri, ölçtükleri büyüklükleri sayısal veya analog</a:t>
            </a:r>
            <a:r>
              <a:rPr lang="tr-TR" sz="1800" smtClean="0"/>
              <a:t> </a:t>
            </a:r>
            <a:r>
              <a:rPr lang="en-US" sz="1600" smtClean="0"/>
              <a:t>olarak ifade ederler. Osilaskoplar ise ölçtüğü büyüklüğün dalga şeklini göstererek</a:t>
            </a:r>
            <a:r>
              <a:rPr lang="tr-TR" sz="1600" smtClean="0"/>
              <a:t> </a:t>
            </a:r>
            <a:r>
              <a:rPr lang="en-US" sz="1600" smtClean="0"/>
              <a:t>maksimum değerini ölçer. Örneğin, bir voltmetre ile ölçülen 12 V AC gerilim osilaskop ile</a:t>
            </a:r>
            <a:r>
              <a:rPr lang="tr-TR" sz="1600" smtClean="0"/>
              <a:t> </a:t>
            </a:r>
            <a:r>
              <a:rPr lang="en-US" sz="1600" smtClean="0"/>
              <a:t>ölçüldüğünde yaklaşık 16,97 V gibi bir değer okunur. Bu değerlerin farklı olmasının sebebi</a:t>
            </a:r>
            <a:r>
              <a:rPr lang="tr-TR" sz="1600" smtClean="0"/>
              <a:t> </a:t>
            </a:r>
            <a:r>
              <a:rPr lang="en-US" sz="1600" smtClean="0"/>
              <a:t>ölçü aletlerinin AC’de etkin değeri, osiloskobun ise AC’nin maksimum değerini ölçmesidir.</a:t>
            </a:r>
            <a:r>
              <a:rPr lang="tr-TR" sz="1600" smtClean="0"/>
              <a:t> </a:t>
            </a:r>
            <a:r>
              <a:rPr lang="en-US" sz="1600" smtClean="0"/>
              <a:t>Osilaskoplar, diğer ölçü aletlerine göre daha pahalı olmalarına karşılık bir sistemdeki</a:t>
            </a:r>
            <a:r>
              <a:rPr lang="tr-TR" sz="1600" smtClean="0"/>
              <a:t> </a:t>
            </a:r>
            <a:r>
              <a:rPr lang="en-US" sz="1600" smtClean="0"/>
              <a:t>arızanın tespiti osilaskoplar ile daha kolaydır. Çünkü televizyon veya daha karmaşık</a:t>
            </a:r>
            <a:r>
              <a:rPr lang="tr-TR" sz="1600" smtClean="0"/>
              <a:t> </a:t>
            </a:r>
            <a:r>
              <a:rPr lang="en-US" sz="1600" smtClean="0"/>
              <a:t>sistemlerin belirli nokta ve katlardaki çıkışları sabittir ve bu çıkışlar sisteme ait kataloglarda</a:t>
            </a:r>
            <a:r>
              <a:rPr lang="tr-TR" sz="1600" smtClean="0"/>
              <a:t> </a:t>
            </a:r>
            <a:r>
              <a:rPr lang="en-US" sz="1600" smtClean="0"/>
              <a:t>nokta nokta belirtilir. Osilaskop ile yapılan ölçümlerde katalogdan farklı çıkış veren katta</a:t>
            </a:r>
            <a:r>
              <a:rPr lang="tr-TR" sz="1600" smtClean="0"/>
              <a:t> </a:t>
            </a:r>
            <a:r>
              <a:rPr lang="en-US" sz="1600" smtClean="0"/>
              <a:t>arıza var demektir. Resim 10.1’de değişik osilaskoplar görünmektedir.</a:t>
            </a:r>
          </a:p>
          <a:p>
            <a:pPr>
              <a:lnSpc>
                <a:spcPct val="80000"/>
              </a:lnSpc>
            </a:pPr>
            <a:endParaRPr lang="en-US" sz="1800" smtClean="0"/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8EFB553C-D4A4-4A92-BA7D-35918DCBDEB6}" type="slidenum">
              <a:rPr lang="en-US"/>
              <a:pPr/>
              <a:t>215</a:t>
            </a:fld>
            <a:endParaRPr lang="en-US"/>
          </a:p>
        </p:txBody>
      </p:sp>
      <p:sp>
        <p:nvSpPr>
          <p:cNvPr id="577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z="3600" b="1" smtClean="0"/>
              <a:t>10. OSİLASKOP</a:t>
            </a:r>
            <a:endParaRPr lang="en-US" sz="3600" b="1" smtClean="0"/>
          </a:p>
        </p:txBody>
      </p:sp>
      <p:sp>
        <p:nvSpPr>
          <p:cNvPr id="57753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49325" y="1981200"/>
            <a:ext cx="7726363" cy="4114800"/>
          </a:xfrm>
        </p:spPr>
        <p:txBody>
          <a:bodyPr/>
          <a:lstStyle/>
          <a:p>
            <a:pPr>
              <a:lnSpc>
                <a:spcPct val="80000"/>
              </a:lnSpc>
            </a:pPr>
            <a:endParaRPr lang="tr-TR" sz="1000" b="1" smtClean="0"/>
          </a:p>
          <a:p>
            <a:pPr>
              <a:lnSpc>
                <a:spcPct val="80000"/>
              </a:lnSpc>
            </a:pPr>
            <a:endParaRPr lang="tr-TR" sz="1000" b="1" smtClean="0"/>
          </a:p>
          <a:p>
            <a:pPr>
              <a:lnSpc>
                <a:spcPct val="80000"/>
              </a:lnSpc>
            </a:pPr>
            <a:endParaRPr lang="tr-TR" sz="1000" b="1" smtClean="0"/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endParaRPr lang="tr-TR" sz="1000" b="1" smtClean="0"/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endParaRPr lang="tr-TR" sz="1000" b="1" smtClean="0"/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endParaRPr lang="tr-TR" sz="1000" b="1" smtClean="0"/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endParaRPr lang="tr-TR" sz="1000" b="1" smtClean="0"/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endParaRPr lang="tr-TR" sz="1000" b="1" smtClean="0"/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endParaRPr lang="tr-TR" sz="1000" b="1" smtClean="0"/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tr-TR" sz="1000" b="1" smtClean="0"/>
              <a:t>				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tr-TR" sz="1000" b="1" smtClean="0"/>
              <a:t>				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tr-TR" sz="1400" b="1" smtClean="0"/>
              <a:t>				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tr-TR" sz="1400" b="1" smtClean="0"/>
              <a:t>				</a:t>
            </a:r>
            <a:r>
              <a:rPr lang="en-US" sz="1400" b="1" smtClean="0"/>
              <a:t>Resim 10.1: Osilaskoplar</a:t>
            </a:r>
            <a:endParaRPr lang="tr-TR" sz="1400" b="1" smtClean="0"/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endParaRPr lang="en-US" sz="1400" b="1" smtClean="0"/>
          </a:p>
          <a:p>
            <a:pPr lvl="1">
              <a:lnSpc>
                <a:spcPct val="80000"/>
              </a:lnSpc>
            </a:pPr>
            <a:r>
              <a:rPr lang="en-US" sz="1400" smtClean="0"/>
              <a:t>Osilaskopların dijital ve analog çeşitleri mevcuttur. Standart olarak iki kanallı olan bu</a:t>
            </a:r>
            <a:r>
              <a:rPr lang="tr-TR" sz="1400" smtClean="0"/>
              <a:t> </a:t>
            </a:r>
            <a:r>
              <a:rPr lang="en-US" sz="1400" smtClean="0"/>
              <a:t>cihazların daha fazla kanala sahip olan modelleri de bulunmaktadır. Örneğin; 3 kanallı, 8</a:t>
            </a:r>
            <a:r>
              <a:rPr lang="tr-TR" sz="1400" smtClean="0"/>
              <a:t> </a:t>
            </a:r>
            <a:r>
              <a:rPr lang="en-US" sz="1400" smtClean="0"/>
              <a:t>ışınlı, 200 Mhz lık bir osilaskop ile 3 kanaldan sinyal girilip, bu sinyaller ve tabi tutulduğu</a:t>
            </a:r>
            <a:r>
              <a:rPr lang="tr-TR" sz="1400" smtClean="0"/>
              <a:t> </a:t>
            </a:r>
            <a:r>
              <a:rPr lang="en-US" sz="1400" smtClean="0"/>
              <a:t>işlemler sonucunda oluşan 8 değer aynı anda görüntülenebilir ve 200 Mhz kadar olan</a:t>
            </a:r>
            <a:r>
              <a:rPr lang="tr-TR" sz="1400" smtClean="0"/>
              <a:t> </a:t>
            </a:r>
            <a:r>
              <a:rPr lang="en-US" sz="1400" smtClean="0"/>
              <a:t>sinyaller ölçebilir. Son üretilen dijital osilaskoplar ile ölçülen büyüklük renkli olarak</a:t>
            </a:r>
            <a:r>
              <a:rPr lang="tr-TR" sz="1400" smtClean="0"/>
              <a:t> </a:t>
            </a:r>
            <a:r>
              <a:rPr lang="en-US" sz="1400" smtClean="0"/>
              <a:t>izlenebilmekte, ölçülen değer hafızaya alınıp bilgisayara aktarılabilmektedir (Resim 10.2) .</a:t>
            </a:r>
          </a:p>
          <a:p>
            <a:pPr lvl="1">
              <a:lnSpc>
                <a:spcPct val="80000"/>
              </a:lnSpc>
            </a:pPr>
            <a:endParaRPr lang="en-US" sz="1400" smtClean="0"/>
          </a:p>
          <a:p>
            <a:pPr>
              <a:lnSpc>
                <a:spcPct val="80000"/>
              </a:lnSpc>
            </a:pPr>
            <a:endParaRPr lang="en-US" sz="1000" smtClean="0"/>
          </a:p>
        </p:txBody>
      </p:sp>
      <p:pic>
        <p:nvPicPr>
          <p:cNvPr id="577540" name="Picture 4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16013" y="1557338"/>
            <a:ext cx="6985000" cy="2344737"/>
          </a:xfrm>
          <a:noFill/>
          <a:ln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7CB7311B-BFE0-4DDE-99F8-1EA92B4FD032}" type="slidenum">
              <a:rPr lang="en-US"/>
              <a:pPr/>
              <a:t>216</a:t>
            </a:fld>
            <a:endParaRPr lang="en-US"/>
          </a:p>
        </p:txBody>
      </p:sp>
      <p:sp>
        <p:nvSpPr>
          <p:cNvPr id="578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z="3600" b="1" smtClean="0"/>
              <a:t>10. OSİLASKOP</a:t>
            </a:r>
            <a:endParaRPr lang="en-US" sz="3600" b="1" smtClean="0"/>
          </a:p>
        </p:txBody>
      </p:sp>
      <p:sp>
        <p:nvSpPr>
          <p:cNvPr id="57856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49325" y="1981200"/>
            <a:ext cx="7439025" cy="4114800"/>
          </a:xfrm>
        </p:spPr>
        <p:txBody>
          <a:bodyPr/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tr-TR" sz="1400" b="1" smtClean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tr-TR" sz="1400" b="1" smtClean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tr-TR" sz="1400" b="1" smtClean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tr-TR" sz="1400" b="1" smtClean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tr-TR" sz="1400" b="1" smtClean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tr-TR" sz="1400" b="1" smtClean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tr-TR" sz="1400" b="1" smtClean="0"/>
              <a:t>	</a:t>
            </a:r>
            <a:r>
              <a:rPr lang="en-US" sz="1400" b="1" smtClean="0"/>
              <a:t>Resim 10.2: Osilaskopda yapılan bazı ölçümler ve bilgisayar ortamına</a:t>
            </a:r>
            <a:endParaRPr lang="tr-TR" sz="1400" b="1" smtClean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tr-TR" sz="1400" b="1" smtClean="0"/>
              <a:t>	</a:t>
            </a:r>
            <a:r>
              <a:rPr lang="en-US" sz="1400" b="1" smtClean="0"/>
              <a:t>aktarılmış hali</a:t>
            </a:r>
            <a:endParaRPr lang="tr-TR" sz="1400" b="1" smtClean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sz="1400" b="1" smtClean="0"/>
          </a:p>
          <a:p>
            <a:pPr>
              <a:lnSpc>
                <a:spcPct val="90000"/>
              </a:lnSpc>
            </a:pPr>
            <a:r>
              <a:rPr lang="en-US" sz="1600" b="1" smtClean="0"/>
              <a:t>10.2. Osilaskop ile Aşağıdaki Değerler Ölçülebilir</a:t>
            </a:r>
          </a:p>
          <a:p>
            <a:pPr lvl="1">
              <a:lnSpc>
                <a:spcPct val="90000"/>
              </a:lnSpc>
            </a:pPr>
            <a:r>
              <a:rPr lang="en-US" sz="1400" smtClean="0"/>
              <a:t>􀂾 AC ve DC gerilim değerleri</a:t>
            </a:r>
          </a:p>
          <a:p>
            <a:pPr lvl="1">
              <a:lnSpc>
                <a:spcPct val="90000"/>
              </a:lnSpc>
            </a:pPr>
            <a:r>
              <a:rPr lang="en-US" sz="1400" smtClean="0"/>
              <a:t>􀂾 Değişen elektriksel büyüklüklerin dalga şekilleri</a:t>
            </a:r>
          </a:p>
          <a:p>
            <a:pPr lvl="1">
              <a:lnSpc>
                <a:spcPct val="90000"/>
              </a:lnSpc>
            </a:pPr>
            <a:r>
              <a:rPr lang="en-US" sz="1400" smtClean="0"/>
              <a:t>􀂾 Devreden geçen akım</a:t>
            </a:r>
          </a:p>
          <a:p>
            <a:pPr lvl="1">
              <a:lnSpc>
                <a:spcPct val="90000"/>
              </a:lnSpc>
            </a:pPr>
            <a:r>
              <a:rPr lang="en-US" sz="1400" smtClean="0"/>
              <a:t>􀂾 Faz farkı</a:t>
            </a:r>
          </a:p>
          <a:p>
            <a:pPr lvl="1">
              <a:lnSpc>
                <a:spcPct val="90000"/>
              </a:lnSpc>
            </a:pPr>
            <a:r>
              <a:rPr lang="en-US" sz="1400" smtClean="0"/>
              <a:t>􀂾 Frekans</a:t>
            </a:r>
          </a:p>
          <a:p>
            <a:pPr lvl="1">
              <a:lnSpc>
                <a:spcPct val="90000"/>
              </a:lnSpc>
            </a:pPr>
            <a:r>
              <a:rPr lang="en-US" sz="1400" smtClean="0"/>
              <a:t>􀂾 Diyot, transistör gibi yarı iletken elemanların karakteristikleri</a:t>
            </a:r>
          </a:p>
          <a:p>
            <a:pPr lvl="1">
              <a:lnSpc>
                <a:spcPct val="90000"/>
              </a:lnSpc>
            </a:pPr>
            <a:r>
              <a:rPr lang="en-US" sz="1400" smtClean="0"/>
              <a:t>􀂾 Kondansatörün şarj ve deşarj eğrileri</a:t>
            </a:r>
          </a:p>
          <a:p>
            <a:pPr>
              <a:lnSpc>
                <a:spcPct val="90000"/>
              </a:lnSpc>
            </a:pPr>
            <a:endParaRPr lang="en-US" sz="1600" smtClean="0"/>
          </a:p>
        </p:txBody>
      </p:sp>
      <p:pic>
        <p:nvPicPr>
          <p:cNvPr id="578564" name="Picture 4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827088" y="1773238"/>
            <a:ext cx="7200900" cy="1428750"/>
          </a:xfrm>
          <a:noFill/>
          <a:ln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7B25BDD9-7CE1-4983-88E9-A57002538577}" type="slidenum">
              <a:rPr lang="en-US"/>
              <a:pPr/>
              <a:t>217</a:t>
            </a:fld>
            <a:endParaRPr lang="en-US"/>
          </a:p>
        </p:txBody>
      </p:sp>
      <p:sp>
        <p:nvSpPr>
          <p:cNvPr id="579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z="3600" b="1" smtClean="0"/>
              <a:t>10. OSİLASKOP</a:t>
            </a:r>
            <a:endParaRPr lang="en-US" sz="3600" b="1" smtClean="0"/>
          </a:p>
        </p:txBody>
      </p:sp>
      <p:sp>
        <p:nvSpPr>
          <p:cNvPr id="5795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1800" smtClean="0"/>
              <a:t>Test sinyali osiloskopun test sinyalinden alınır. Genellikle 1 KHz frekanslı ve 0,2-2 V</a:t>
            </a:r>
            <a:r>
              <a:rPr lang="tr-TR" sz="1800" smtClean="0"/>
              <a:t> </a:t>
            </a:r>
            <a:r>
              <a:rPr lang="en-US" sz="1800" smtClean="0"/>
              <a:t>gerilime sahip bir osilatör sinyalidir. Kondansatör, direnç, diyot ve transistör gibi elektronik</a:t>
            </a:r>
            <a:r>
              <a:rPr lang="tr-TR" sz="1800" smtClean="0"/>
              <a:t> </a:t>
            </a:r>
            <a:r>
              <a:rPr lang="en-US" sz="1800" smtClean="0"/>
              <a:t>elemanların sağlamlık kontrolünde kullanılacağı gibi harici sinyal jeneratörünün olmadığı</a:t>
            </a:r>
            <a:r>
              <a:rPr lang="tr-TR" sz="1800" smtClean="0"/>
              <a:t> </a:t>
            </a:r>
            <a:r>
              <a:rPr lang="en-US" sz="1800" smtClean="0"/>
              <a:t>durumlarda bu sinyal kullanılabilir.</a:t>
            </a:r>
          </a:p>
          <a:p>
            <a:pPr>
              <a:lnSpc>
                <a:spcPct val="90000"/>
              </a:lnSpc>
            </a:pPr>
            <a:endParaRPr lang="tr-TR" sz="1800" smtClean="0"/>
          </a:p>
          <a:p>
            <a:pPr>
              <a:lnSpc>
                <a:spcPct val="90000"/>
              </a:lnSpc>
            </a:pPr>
            <a:r>
              <a:rPr lang="en-US" sz="1800" smtClean="0"/>
              <a:t>Osilaskop ile doğru ve güvenli ölçüm yapabilmek için komütatör, anahtar ve prob</a:t>
            </a:r>
            <a:r>
              <a:rPr lang="tr-TR" sz="1800" smtClean="0"/>
              <a:t> </a:t>
            </a:r>
            <a:r>
              <a:rPr lang="en-US" sz="1800" smtClean="0"/>
              <a:t>bağlantı şekillerinin tam olarak bilinmesi gereklidir.</a:t>
            </a:r>
          </a:p>
          <a:p>
            <a:pPr>
              <a:lnSpc>
                <a:spcPct val="90000"/>
              </a:lnSpc>
            </a:pPr>
            <a:endParaRPr lang="en-US" sz="18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A2607BD5-8137-43F9-8418-E0AA1BA23CF7}" type="slidenum">
              <a:rPr lang="en-US"/>
              <a:pPr/>
              <a:t>218</a:t>
            </a:fld>
            <a:endParaRPr lang="en-US"/>
          </a:p>
        </p:txBody>
      </p:sp>
      <p:sp>
        <p:nvSpPr>
          <p:cNvPr id="580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z="3600" b="1" smtClean="0"/>
              <a:t>10. OSİLASKOP</a:t>
            </a:r>
            <a:endParaRPr lang="en-US" sz="3600" b="1" smtClean="0"/>
          </a:p>
        </p:txBody>
      </p:sp>
      <p:sp>
        <p:nvSpPr>
          <p:cNvPr id="5806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400" b="1" smtClean="0"/>
              <a:t>10.3. Osilaskop ile Ölçüm Yapmak</a:t>
            </a:r>
          </a:p>
          <a:p>
            <a:pPr lvl="1">
              <a:lnSpc>
                <a:spcPct val="90000"/>
              </a:lnSpc>
            </a:pPr>
            <a:r>
              <a:rPr lang="en-US" sz="2000" smtClean="0"/>
              <a:t>Osilaskop ile ölçüm yapmaya geçmeden önce, osiloskopu ölçmeye hazırlamak</a:t>
            </a:r>
            <a:r>
              <a:rPr lang="tr-TR" sz="2000" smtClean="0"/>
              <a:t> </a:t>
            </a:r>
            <a:r>
              <a:rPr lang="en-US" sz="2000" smtClean="0"/>
              <a:t>gerekir. Bunun için:</a:t>
            </a:r>
          </a:p>
          <a:p>
            <a:pPr lvl="2">
              <a:lnSpc>
                <a:spcPct val="90000"/>
              </a:lnSpc>
            </a:pPr>
            <a:r>
              <a:rPr lang="en-US" sz="1800" smtClean="0"/>
              <a:t>Osilaskop besleme kablosu uygun gerilime bağlanır.</a:t>
            </a:r>
          </a:p>
          <a:p>
            <a:pPr lvl="2">
              <a:lnSpc>
                <a:spcPct val="90000"/>
              </a:lnSpc>
            </a:pPr>
            <a:r>
              <a:rPr lang="en-US" sz="1800" smtClean="0"/>
              <a:t>POWER on/off düğmesine basılarak osilaskop açılır.</a:t>
            </a:r>
          </a:p>
          <a:p>
            <a:pPr lvl="2">
              <a:lnSpc>
                <a:spcPct val="90000"/>
              </a:lnSpc>
            </a:pPr>
            <a:r>
              <a:rPr lang="en-US" sz="1800" smtClean="0"/>
              <a:t>INTEN düğmesi ile ekrandaki işaretin parlaklığı ayarlanır.</a:t>
            </a:r>
          </a:p>
          <a:p>
            <a:pPr lvl="2">
              <a:lnSpc>
                <a:spcPct val="90000"/>
              </a:lnSpc>
            </a:pPr>
            <a:r>
              <a:rPr lang="en-US" sz="1800" smtClean="0"/>
              <a:t>FOCUS düğmesi ile ekrandaki işaretin netliği ayarlanır.</a:t>
            </a:r>
          </a:p>
          <a:p>
            <a:pPr lvl="2">
              <a:lnSpc>
                <a:spcPct val="90000"/>
              </a:lnSpc>
            </a:pPr>
            <a:r>
              <a:rPr lang="en-US" sz="1800" smtClean="0"/>
              <a:t>Eğer ekrandaki işaret sağa veya sola kaymışsa X-POS düğmesi ile işaret ekranı</a:t>
            </a:r>
            <a:r>
              <a:rPr lang="tr-TR" sz="1800" smtClean="0"/>
              <a:t> </a:t>
            </a:r>
            <a:r>
              <a:rPr lang="en-US" sz="1800" smtClean="0"/>
              <a:t>ortalayacak şekilde ayarlanır.</a:t>
            </a:r>
          </a:p>
          <a:p>
            <a:pPr lvl="2">
              <a:lnSpc>
                <a:spcPct val="90000"/>
              </a:lnSpc>
            </a:pPr>
            <a:r>
              <a:rPr lang="en-US" sz="1800" smtClean="0"/>
              <a:t>Eğer ekrandaki işaret aşağı veya yukarı kaymış ise Y-POS düğmesi ile işaret akranı</a:t>
            </a:r>
            <a:r>
              <a:rPr lang="tr-TR" sz="1800" smtClean="0"/>
              <a:t> </a:t>
            </a:r>
            <a:r>
              <a:rPr lang="en-US" sz="1800" smtClean="0"/>
              <a:t>ortalayacak şekilde ayarlanır.</a:t>
            </a:r>
          </a:p>
          <a:p>
            <a:pPr>
              <a:lnSpc>
                <a:spcPct val="90000"/>
              </a:lnSpc>
            </a:pPr>
            <a:endParaRPr lang="tr-TR" sz="2400" smtClean="0"/>
          </a:p>
          <a:p>
            <a:pPr lvl="2">
              <a:lnSpc>
                <a:spcPct val="90000"/>
              </a:lnSpc>
              <a:buFont typeface="Wingdings" pitchFamily="2" charset="2"/>
              <a:buNone/>
            </a:pPr>
            <a:r>
              <a:rPr lang="en-US" sz="1800" smtClean="0"/>
              <a:t>Bu ayarlar yapıldıktan sonra ölçümlere geçilmelidir.</a:t>
            </a:r>
          </a:p>
          <a:p>
            <a:pPr>
              <a:lnSpc>
                <a:spcPct val="90000"/>
              </a:lnSpc>
            </a:pPr>
            <a:endParaRPr lang="en-US" sz="18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1A1B9884-89F0-497A-8A79-7EB23591A4F9}" type="slidenum">
              <a:rPr lang="en-US"/>
              <a:pPr/>
              <a:t>219</a:t>
            </a:fld>
            <a:endParaRPr lang="en-US"/>
          </a:p>
        </p:txBody>
      </p:sp>
      <p:sp>
        <p:nvSpPr>
          <p:cNvPr id="581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z="3600" b="1" smtClean="0"/>
              <a:t>10. OSİLASKOP</a:t>
            </a:r>
            <a:endParaRPr lang="en-US" sz="3600" b="1" smtClean="0"/>
          </a:p>
        </p:txBody>
      </p:sp>
      <p:sp>
        <p:nvSpPr>
          <p:cNvPr id="5816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b="1" smtClean="0"/>
              <a:t>10.4. Gerilim Ölçmek</a:t>
            </a:r>
          </a:p>
          <a:p>
            <a:pPr lvl="1"/>
            <a:r>
              <a:rPr lang="en-US" sz="1800" smtClean="0"/>
              <a:t>Osilaskop ile alternatif akım doru akım ve yüksek frekanslı sinyaller maksimum 400</a:t>
            </a:r>
            <a:r>
              <a:rPr lang="tr-TR" sz="1800" smtClean="0"/>
              <a:t> </a:t>
            </a:r>
            <a:r>
              <a:rPr lang="en-US" sz="1800" smtClean="0"/>
              <a:t>V’a kadar ölçülebilir. Osilaskop ile gerilim ölçme işleminde VOLTS/DIV anahtarı ölçülecek</a:t>
            </a:r>
            <a:r>
              <a:rPr lang="tr-TR" sz="1800" smtClean="0"/>
              <a:t> </a:t>
            </a:r>
            <a:r>
              <a:rPr lang="en-US" sz="1800" smtClean="0"/>
              <a:t>gerilime uygun konuma getirilir. Hangi girişten ölçüm yapılacaksa o giriş için AC-DC</a:t>
            </a:r>
            <a:r>
              <a:rPr lang="tr-TR" sz="1800" smtClean="0"/>
              <a:t> </a:t>
            </a:r>
            <a:r>
              <a:rPr lang="en-US" sz="1800" smtClean="0"/>
              <a:t>seçimi yapılır. Osilaskop uçları gerilim ölçülecek uçlara bağlanır. Ekrandaki gerilimin</a:t>
            </a:r>
            <a:r>
              <a:rPr lang="tr-TR" sz="1800" smtClean="0"/>
              <a:t> </a:t>
            </a:r>
            <a:r>
              <a:rPr lang="en-US" sz="1800" smtClean="0"/>
              <a:t>genliği rahat okunabileceği değere kadar VOLTS/ DIV kademesi ayarlanır. Ekrandaki</a:t>
            </a:r>
            <a:r>
              <a:rPr lang="tr-TR" sz="1800" smtClean="0"/>
              <a:t> </a:t>
            </a:r>
            <a:r>
              <a:rPr lang="en-US" sz="1800" smtClean="0"/>
              <a:t>görüntü hareketli, yani kayıyor ise TİME/DIV anahtarı ile ekrandaki görüntü sabitlenir. Bu</a:t>
            </a:r>
            <a:r>
              <a:rPr lang="tr-TR" sz="1800" smtClean="0"/>
              <a:t> </a:t>
            </a:r>
            <a:r>
              <a:rPr lang="en-US" sz="1800" smtClean="0"/>
              <a:t>işlemler yapıldıktan sonra gerilimin osilaskopta meydana getirdiği sinyalin yüksekliği (H)</a:t>
            </a:r>
            <a:r>
              <a:rPr lang="tr-TR" sz="1800" smtClean="0"/>
              <a:t> </a:t>
            </a:r>
            <a:r>
              <a:rPr lang="en-US" sz="1800" smtClean="0"/>
              <a:t>tespit edilir. Bu andaki VOLTS/ DIV anahtarının gösterdiği değer (D) V/cm veya mV/cm</a:t>
            </a:r>
            <a:r>
              <a:rPr lang="tr-TR" sz="1800" smtClean="0"/>
              <a:t> </a:t>
            </a:r>
            <a:r>
              <a:rPr lang="en-US" sz="1800" smtClean="0"/>
              <a:t>cinsinden okunur. Bu değerler yardımı ile ölçülen gerilimin değeri aşağıdaki gibi hesaplanır.</a:t>
            </a:r>
          </a:p>
          <a:p>
            <a:endParaRPr lang="en-US" sz="18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5BAAFCA6-4270-4A2D-8C29-9F5187294EB0}" type="slidenum">
              <a:rPr lang="en-US"/>
              <a:pPr/>
              <a:t>220</a:t>
            </a:fld>
            <a:endParaRPr lang="en-US"/>
          </a:p>
        </p:txBody>
      </p:sp>
      <p:sp>
        <p:nvSpPr>
          <p:cNvPr id="582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z="3600" b="1" smtClean="0"/>
              <a:t>10. OSİLASKOP</a:t>
            </a:r>
            <a:endParaRPr lang="en-US" sz="3600" b="1" smtClean="0"/>
          </a:p>
        </p:txBody>
      </p:sp>
      <p:sp>
        <p:nvSpPr>
          <p:cNvPr id="5826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1800" b="1" smtClean="0"/>
              <a:t>Utt = H (cm) x D (V/cm) Volt, Um = Utt (V) / 2 Volt, U = 0,707 x Um</a:t>
            </a:r>
            <a:r>
              <a:rPr lang="tr-TR" sz="1800" b="1" smtClean="0"/>
              <a:t> </a:t>
            </a:r>
            <a:r>
              <a:rPr lang="en-US" sz="1800" smtClean="0"/>
              <a:t>Volttur.</a:t>
            </a:r>
            <a:endParaRPr lang="tr-TR" sz="1800" smtClean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sz="1800" smtClean="0"/>
          </a:p>
          <a:p>
            <a:pPr>
              <a:lnSpc>
                <a:spcPct val="90000"/>
              </a:lnSpc>
            </a:pPr>
            <a:r>
              <a:rPr lang="en-US" sz="1800" smtClean="0"/>
              <a:t>Burada:</a:t>
            </a:r>
          </a:p>
          <a:p>
            <a:pPr lvl="1">
              <a:lnSpc>
                <a:spcPct val="90000"/>
              </a:lnSpc>
            </a:pPr>
            <a:r>
              <a:rPr lang="en-US" sz="1600" b="1" smtClean="0"/>
              <a:t>Utt</a:t>
            </a:r>
            <a:r>
              <a:rPr lang="en-US" sz="1600" smtClean="0"/>
              <a:t>: Ölçülen gerilimin tepeden tepeye değeri. </a:t>
            </a:r>
            <a:r>
              <a:rPr lang="en-US" sz="1600" b="1" smtClean="0"/>
              <a:t>Um</a:t>
            </a:r>
            <a:r>
              <a:rPr lang="en-US" sz="1600" smtClean="0"/>
              <a:t>: Ölçülen gerilimin maksimum</a:t>
            </a:r>
            <a:r>
              <a:rPr lang="tr-TR" sz="1600" smtClean="0"/>
              <a:t> </a:t>
            </a:r>
            <a:r>
              <a:rPr lang="en-US" sz="1600" smtClean="0"/>
              <a:t>değeri.</a:t>
            </a:r>
            <a:endParaRPr lang="tr-TR" sz="1600" smtClean="0"/>
          </a:p>
          <a:p>
            <a:pPr lvl="1">
              <a:lnSpc>
                <a:spcPct val="90000"/>
              </a:lnSpc>
            </a:pPr>
            <a:r>
              <a:rPr lang="en-US" sz="1600" smtClean="0"/>
              <a:t> </a:t>
            </a:r>
            <a:r>
              <a:rPr lang="en-US" sz="1600" b="1" smtClean="0"/>
              <a:t>U </a:t>
            </a:r>
            <a:r>
              <a:rPr lang="en-US" sz="1600" smtClean="0"/>
              <a:t>: Ölçülen gerilimin etkin değerdir.</a:t>
            </a:r>
            <a:endParaRPr lang="tr-TR" sz="1600" smtClean="0"/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endParaRPr lang="en-US" sz="1600" smtClean="0"/>
          </a:p>
          <a:p>
            <a:pPr>
              <a:lnSpc>
                <a:spcPct val="90000"/>
              </a:lnSpc>
            </a:pPr>
            <a:r>
              <a:rPr lang="en-US" sz="1800" smtClean="0"/>
              <a:t>AC gerilim ölçülmüş ise hesaplanan bu değerin maksimum değer olduğu</a:t>
            </a:r>
            <a:r>
              <a:rPr lang="tr-TR" sz="1800" smtClean="0"/>
              <a:t> </a:t>
            </a:r>
            <a:r>
              <a:rPr lang="en-US" sz="1800" smtClean="0"/>
              <a:t>unutulmamalıdır.</a:t>
            </a:r>
          </a:p>
          <a:p>
            <a:pPr>
              <a:lnSpc>
                <a:spcPct val="90000"/>
              </a:lnSpc>
            </a:pPr>
            <a:endParaRPr lang="en-US" sz="18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4B58253A-4D36-4509-A786-EF63B65A716D}" type="slidenum">
              <a:rPr lang="en-US"/>
              <a:pPr/>
              <a:t>221</a:t>
            </a:fld>
            <a:endParaRPr lang="en-US"/>
          </a:p>
        </p:txBody>
      </p:sp>
      <p:sp>
        <p:nvSpPr>
          <p:cNvPr id="583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z="3600" b="1" smtClean="0"/>
              <a:t>10. OSİLASKOP</a:t>
            </a:r>
            <a:endParaRPr lang="en-US" sz="3600" b="1" smtClean="0"/>
          </a:p>
        </p:txBody>
      </p:sp>
      <p:sp>
        <p:nvSpPr>
          <p:cNvPr id="58368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71550" y="1989138"/>
            <a:ext cx="7488238" cy="4114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1600" b="1" smtClean="0"/>
              <a:t>Örnek:</a:t>
            </a:r>
            <a:endParaRPr lang="tr-TR" sz="1600" b="1" smtClean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tr-TR" sz="1400" b="1" smtClean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tr-TR" sz="1400" b="1" smtClean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tr-TR" sz="1400" b="1" smtClean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tr-TR" sz="1400" b="1" smtClean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tr-TR" sz="1400" b="1" smtClean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tr-TR" sz="1400" b="1" smtClean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tr-TR" sz="1400" b="1" smtClean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tr-TR" sz="1400" b="1" smtClean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tr-TR" sz="1400" b="1" smtClean="0"/>
              <a:t>		</a:t>
            </a:r>
            <a:r>
              <a:rPr lang="en-US" sz="1400" b="1" smtClean="0"/>
              <a:t>Resim 10.3: Ölçülen gerilim değerinin ekrandaki görüntüsü ve volt/dıv</a:t>
            </a:r>
            <a:endParaRPr lang="tr-TR" sz="1400" b="1" smtClean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tr-TR" sz="1400" b="1" smtClean="0"/>
              <a:t>		</a:t>
            </a:r>
            <a:r>
              <a:rPr lang="en-US" sz="1400" b="1" smtClean="0"/>
              <a:t>anahtarının konumu</a:t>
            </a:r>
            <a:endParaRPr lang="tr-TR" sz="1400" b="1" smtClean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sz="1400" b="1" smtClean="0"/>
          </a:p>
          <a:p>
            <a:pPr lvl="1">
              <a:lnSpc>
                <a:spcPct val="90000"/>
              </a:lnSpc>
            </a:pPr>
            <a:r>
              <a:rPr lang="en-US" sz="1400" smtClean="0"/>
              <a:t>Resim 10.3’te görüldüğü gibi osilaskopta ölçülmek istenen gerilimin yüksekliği H=6,6</a:t>
            </a:r>
            <a:r>
              <a:rPr lang="tr-TR" sz="1400" smtClean="0"/>
              <a:t> </a:t>
            </a:r>
            <a:r>
              <a:rPr lang="en-US" sz="1400" smtClean="0"/>
              <a:t>cm VOLT/DIV anahtarının konumu D=5 Volttur.</a:t>
            </a:r>
          </a:p>
          <a:p>
            <a:pPr>
              <a:lnSpc>
                <a:spcPct val="90000"/>
              </a:lnSpc>
            </a:pPr>
            <a:endParaRPr lang="en-US" sz="1600" smtClean="0"/>
          </a:p>
        </p:txBody>
      </p:sp>
      <p:pic>
        <p:nvPicPr>
          <p:cNvPr id="583684" name="Picture 4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2987675" y="1844675"/>
            <a:ext cx="3754438" cy="2152650"/>
          </a:xfrm>
          <a:noFill/>
          <a:ln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7A371065-9B90-489E-A5CC-6606A7F40AA3}" type="slidenum">
              <a:rPr lang="en-US"/>
              <a:pPr/>
              <a:t>222</a:t>
            </a:fld>
            <a:endParaRPr lang="en-US"/>
          </a:p>
        </p:txBody>
      </p:sp>
      <p:sp>
        <p:nvSpPr>
          <p:cNvPr id="584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z="3600" b="1" smtClean="0"/>
              <a:t>10. OSİLASKOP</a:t>
            </a:r>
            <a:endParaRPr lang="en-US" sz="3600" b="1" smtClean="0"/>
          </a:p>
        </p:txBody>
      </p:sp>
      <p:sp>
        <p:nvSpPr>
          <p:cNvPr id="5847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1800" b="1" smtClean="0"/>
              <a:t>10.5. Frekans Ölçmek</a:t>
            </a:r>
            <a:endParaRPr lang="tr-TR" sz="1800" b="1" smtClean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sz="1800" b="1" smtClean="0"/>
          </a:p>
          <a:p>
            <a:pPr lvl="1">
              <a:lnSpc>
                <a:spcPct val="90000"/>
              </a:lnSpc>
            </a:pPr>
            <a:r>
              <a:rPr lang="en-US" sz="1600" smtClean="0"/>
              <a:t>Her osiloskopun bir frekans ölçme sınırı vardır. Yüksek frekanslar ölçülürken bu</a:t>
            </a:r>
            <a:r>
              <a:rPr lang="tr-TR" sz="1600" smtClean="0"/>
              <a:t> </a:t>
            </a:r>
            <a:r>
              <a:rPr lang="en-US" sz="1600" smtClean="0"/>
              <a:t>sınıra dikkat edilmelidir. Ölçülecek frekans değerine uygun osilaskop seçildikten sonra</a:t>
            </a:r>
            <a:r>
              <a:rPr lang="tr-TR" sz="1600" smtClean="0"/>
              <a:t> </a:t>
            </a:r>
            <a:r>
              <a:rPr lang="en-US" sz="1600" smtClean="0"/>
              <a:t>frekans ölçülecek noktaya osilaskop bağlantısı yapılır. Ekrandaki frekans genliği rahat</a:t>
            </a:r>
            <a:r>
              <a:rPr lang="tr-TR" sz="1600" smtClean="0"/>
              <a:t> </a:t>
            </a:r>
            <a:r>
              <a:rPr lang="en-US" sz="1600" smtClean="0"/>
              <a:t>okunana kadar VOLTS/DIV kademesi küçültülür veya büyültülür. Ekrandaki sinyal hareketli</a:t>
            </a:r>
            <a:r>
              <a:rPr lang="tr-TR" sz="1600" smtClean="0"/>
              <a:t> </a:t>
            </a:r>
            <a:r>
              <a:rPr lang="en-US" sz="1600" smtClean="0"/>
              <a:t>ise TIME/DIV anahtarı ile uygun kademe seçilerek sinyal sabitlenir. Bu anda ekrandaki bir</a:t>
            </a:r>
            <a:r>
              <a:rPr lang="tr-TR" sz="1600" smtClean="0"/>
              <a:t> </a:t>
            </a:r>
            <a:r>
              <a:rPr lang="en-US" sz="1600" smtClean="0"/>
              <a:t>peryodun boyu (L), ekrandaki karelerden faydalanılarak tespit edilir. Bu anda TIME/DIV</a:t>
            </a:r>
            <a:r>
              <a:rPr lang="tr-TR" sz="1600" smtClean="0"/>
              <a:t> </a:t>
            </a:r>
            <a:r>
              <a:rPr lang="en-US" sz="1600" smtClean="0"/>
              <a:t>anahtarının seçilmiş olan değeri (TC) s/cm, ms/cm veya μs/cm cinsinden tespit edilir.</a:t>
            </a:r>
          </a:p>
          <a:p>
            <a:pPr lvl="1">
              <a:lnSpc>
                <a:spcPct val="90000"/>
              </a:lnSpc>
            </a:pPr>
            <a:endParaRPr lang="en-US" sz="1600" smtClean="0"/>
          </a:p>
          <a:p>
            <a:pPr>
              <a:lnSpc>
                <a:spcPct val="90000"/>
              </a:lnSpc>
            </a:pPr>
            <a:endParaRPr lang="en-US" sz="16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82023F2D-6E10-443A-8906-2A914AC2C4A9}" type="slidenum">
              <a:rPr lang="en-US"/>
              <a:pPr/>
              <a:t>223</a:t>
            </a:fld>
            <a:endParaRPr lang="en-US"/>
          </a:p>
        </p:txBody>
      </p:sp>
      <p:sp>
        <p:nvSpPr>
          <p:cNvPr id="585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z="3600" b="1" smtClean="0"/>
              <a:t>10. OSİLASKOP</a:t>
            </a:r>
            <a:endParaRPr lang="en-US" sz="3600" b="1" smtClean="0"/>
          </a:p>
        </p:txBody>
      </p:sp>
      <p:sp>
        <p:nvSpPr>
          <p:cNvPr id="585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1800" smtClean="0"/>
              <a:t>Bu</a:t>
            </a:r>
            <a:r>
              <a:rPr lang="tr-TR" sz="1800" smtClean="0"/>
              <a:t> </a:t>
            </a:r>
            <a:r>
              <a:rPr lang="en-US" sz="1800" smtClean="0"/>
              <a:t>değerler vasıtası ile ölçülen frekans değeri aşağıdaki gibi tespit edilir.</a:t>
            </a:r>
          </a:p>
          <a:p>
            <a:pPr lvl="1">
              <a:lnSpc>
                <a:spcPct val="90000"/>
              </a:lnSpc>
            </a:pPr>
            <a:r>
              <a:rPr lang="en-US" sz="1600" b="1" smtClean="0"/>
              <a:t>T= L (cm) x Tc (s/sn) saniye</a:t>
            </a:r>
          </a:p>
          <a:p>
            <a:pPr lvl="1">
              <a:lnSpc>
                <a:spcPct val="90000"/>
              </a:lnSpc>
            </a:pPr>
            <a:r>
              <a:rPr lang="en-US" sz="1600" b="1" smtClean="0"/>
              <a:t>F= 1 / T Hz</a:t>
            </a:r>
          </a:p>
          <a:p>
            <a:pPr>
              <a:lnSpc>
                <a:spcPct val="90000"/>
              </a:lnSpc>
            </a:pPr>
            <a:endParaRPr lang="tr-TR" sz="1800" smtClean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tr-TR" sz="1800" smtClean="0"/>
          </a:p>
          <a:p>
            <a:pPr>
              <a:lnSpc>
                <a:spcPct val="90000"/>
              </a:lnSpc>
            </a:pPr>
            <a:r>
              <a:rPr lang="en-US" sz="1800" smtClean="0"/>
              <a:t>Burada :</a:t>
            </a:r>
          </a:p>
          <a:p>
            <a:pPr lvl="1">
              <a:lnSpc>
                <a:spcPct val="90000"/>
              </a:lnSpc>
            </a:pPr>
            <a:r>
              <a:rPr lang="en-US" sz="1600" b="1" smtClean="0"/>
              <a:t>T: </a:t>
            </a:r>
            <a:r>
              <a:rPr lang="en-US" sz="1600" smtClean="0"/>
              <a:t>Ölçülen gerilimin peryodu</a:t>
            </a:r>
          </a:p>
          <a:p>
            <a:pPr lvl="1">
              <a:lnSpc>
                <a:spcPct val="90000"/>
              </a:lnSpc>
            </a:pPr>
            <a:r>
              <a:rPr lang="en-US" sz="1600" b="1" smtClean="0"/>
              <a:t>F: </a:t>
            </a:r>
            <a:r>
              <a:rPr lang="en-US" sz="1600" smtClean="0"/>
              <a:t>Ölçülen gerilimin frekansıdır.</a:t>
            </a:r>
          </a:p>
          <a:p>
            <a:pPr>
              <a:lnSpc>
                <a:spcPct val="90000"/>
              </a:lnSpc>
            </a:pPr>
            <a:endParaRPr lang="en-US" sz="18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8410C799-2FBF-476F-BC49-C1B9FE9F89FA}" type="slidenum">
              <a:rPr lang="en-US"/>
              <a:pPr/>
              <a:t>224</a:t>
            </a:fld>
            <a:endParaRPr lang="en-US"/>
          </a:p>
        </p:txBody>
      </p:sp>
      <p:sp>
        <p:nvSpPr>
          <p:cNvPr id="586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z="3600" b="1" smtClean="0"/>
              <a:t>10. OSİLASKOP</a:t>
            </a:r>
            <a:endParaRPr lang="en-US" sz="3600" b="1" smtClean="0"/>
          </a:p>
        </p:txBody>
      </p:sp>
      <p:sp>
        <p:nvSpPr>
          <p:cNvPr id="58675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49325" y="1981200"/>
            <a:ext cx="7367588" cy="4114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1600" b="1" smtClean="0"/>
              <a:t>Örnek: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tr-TR" sz="1600" b="1" smtClean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tr-TR" sz="1600" b="1" smtClean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tr-TR" sz="1600" b="1" smtClean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tr-TR" sz="1600" b="1" smtClean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tr-TR" sz="1600" b="1" smtClean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1400" b="1" smtClean="0"/>
              <a:t>Resim 10.4: Ölçülen frekans değerinin </a:t>
            </a:r>
            <a:endParaRPr lang="tr-TR" sz="1400" b="1" smtClean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1400" b="1" smtClean="0"/>
              <a:t>ekrandaki görüntüsü ve</a:t>
            </a:r>
            <a:endParaRPr lang="tr-TR" sz="1400" b="1" smtClean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1400" b="1" smtClean="0"/>
              <a:t>TIME/DIV anahtarının konumu</a:t>
            </a:r>
            <a:endParaRPr lang="en-US" sz="1400" smtClean="0"/>
          </a:p>
          <a:p>
            <a:pPr>
              <a:lnSpc>
                <a:spcPct val="90000"/>
              </a:lnSpc>
            </a:pPr>
            <a:endParaRPr lang="en-US" sz="1400" smtClean="0"/>
          </a:p>
        </p:txBody>
      </p:sp>
      <p:pic>
        <p:nvPicPr>
          <p:cNvPr id="586756" name="Picture 4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4427538" y="2349500"/>
            <a:ext cx="3409950" cy="3994150"/>
          </a:xfrm>
          <a:noFill/>
          <a:ln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801886C3-8DE6-4E30-988D-AD9E0DB5E9AB}" type="slidenum">
              <a:rPr lang="en-US"/>
              <a:pPr/>
              <a:t>225</a:t>
            </a:fld>
            <a:endParaRPr lang="en-US"/>
          </a:p>
        </p:txBody>
      </p:sp>
      <p:sp>
        <p:nvSpPr>
          <p:cNvPr id="587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z="3600" b="1" smtClean="0"/>
              <a:t>10. OSİLASKOP</a:t>
            </a:r>
            <a:endParaRPr lang="en-US" sz="3600" b="1" smtClean="0"/>
          </a:p>
        </p:txBody>
      </p:sp>
      <p:sp>
        <p:nvSpPr>
          <p:cNvPr id="587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1800" smtClean="0"/>
              <a:t>Resim 10.4’te görüldüğü gibi ölçülen frekansın ekrandaki bir peryodunun boyu L= 2,3</a:t>
            </a:r>
            <a:r>
              <a:rPr lang="tr-TR" sz="1800" smtClean="0"/>
              <a:t> </a:t>
            </a:r>
            <a:r>
              <a:rPr lang="en-US" sz="1800" smtClean="0"/>
              <a:t>cm dir. TIME/DIV anahtarıda Tc= 50 μs/cm konumundadır.</a:t>
            </a:r>
          </a:p>
          <a:p>
            <a:pPr>
              <a:lnSpc>
                <a:spcPct val="90000"/>
              </a:lnSpc>
            </a:pPr>
            <a:endParaRPr lang="tr-TR" sz="1800" smtClean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tr-TR" sz="1800" smtClean="0"/>
          </a:p>
          <a:p>
            <a:pPr>
              <a:lnSpc>
                <a:spcPct val="90000"/>
              </a:lnSpc>
            </a:pPr>
            <a:r>
              <a:rPr lang="en-US" sz="1800" smtClean="0"/>
              <a:t>Buna göre ölçülen frekans değeri:</a:t>
            </a:r>
          </a:p>
          <a:p>
            <a:pPr lvl="1">
              <a:lnSpc>
                <a:spcPct val="90000"/>
              </a:lnSpc>
            </a:pPr>
            <a:r>
              <a:rPr lang="en-US" sz="1600" smtClean="0"/>
              <a:t>T= L (cm) x Tc (μs/cm) = 2,3 x 50 =115 μs = 115 x 10 -6 saniye</a:t>
            </a:r>
          </a:p>
          <a:p>
            <a:pPr lvl="1">
              <a:lnSpc>
                <a:spcPct val="90000"/>
              </a:lnSpc>
            </a:pPr>
            <a:r>
              <a:rPr lang="en-US" sz="1600" smtClean="0"/>
              <a:t>f = 1 / T = 1 / 115 x 10 -6 = 8695,65 Hz = 8,69565 KHz olarak bulunur.</a:t>
            </a:r>
          </a:p>
          <a:p>
            <a:pPr>
              <a:lnSpc>
                <a:spcPct val="90000"/>
              </a:lnSpc>
            </a:pPr>
            <a:endParaRPr lang="en-US" sz="18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1D3B525C-D0BF-4F8B-80F1-0D4390F8A589}" type="slidenum">
              <a:rPr lang="en-US"/>
              <a:pPr/>
              <a:t>226</a:t>
            </a:fld>
            <a:endParaRPr lang="en-US"/>
          </a:p>
        </p:txBody>
      </p:sp>
      <p:sp>
        <p:nvSpPr>
          <p:cNvPr id="588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z="3600" b="1" smtClean="0"/>
              <a:t>UYGULAMA FAALİYETİ</a:t>
            </a:r>
            <a:endParaRPr lang="en-US" sz="3600" smtClean="0"/>
          </a:p>
        </p:txBody>
      </p:sp>
      <p:sp>
        <p:nvSpPr>
          <p:cNvPr id="588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sz="1800" b="1" smtClean="0"/>
              <a:t>Ölçülen gerilim değeri:</a:t>
            </a:r>
          </a:p>
          <a:p>
            <a:pPr lvl="1">
              <a:lnSpc>
                <a:spcPct val="80000"/>
              </a:lnSpc>
            </a:pPr>
            <a:r>
              <a:rPr lang="en-US" sz="1600" b="1" smtClean="0"/>
              <a:t>Vtt </a:t>
            </a:r>
            <a:r>
              <a:rPr lang="en-US" sz="1600" smtClean="0"/>
              <a:t>= H (cm) x D (v/cm)</a:t>
            </a:r>
          </a:p>
          <a:p>
            <a:pPr lvl="1">
              <a:lnSpc>
                <a:spcPct val="80000"/>
              </a:lnSpc>
            </a:pPr>
            <a:r>
              <a:rPr lang="en-US" sz="1600" b="1" smtClean="0"/>
              <a:t>Vtt </a:t>
            </a:r>
            <a:r>
              <a:rPr lang="en-US" sz="1600" smtClean="0"/>
              <a:t>= 6,6 x 5 = 33 V</a:t>
            </a:r>
          </a:p>
          <a:p>
            <a:pPr lvl="1">
              <a:lnSpc>
                <a:spcPct val="80000"/>
              </a:lnSpc>
            </a:pPr>
            <a:r>
              <a:rPr lang="en-US" sz="1600" b="1" smtClean="0"/>
              <a:t>Vm </a:t>
            </a:r>
            <a:r>
              <a:rPr lang="en-US" sz="1600" smtClean="0"/>
              <a:t>= Vtt / 2 = 33 /2 = 16,5 V</a:t>
            </a:r>
          </a:p>
          <a:p>
            <a:pPr lvl="1">
              <a:lnSpc>
                <a:spcPct val="80000"/>
              </a:lnSpc>
            </a:pPr>
            <a:r>
              <a:rPr lang="en-US" sz="1600" smtClean="0"/>
              <a:t>V = 0,707 x Vm = 0,707 x 16,5 = 11,66 V olarak bulunur</a:t>
            </a:r>
            <a:r>
              <a:rPr lang="en-US" sz="2000" smtClean="0"/>
              <a:t>.</a:t>
            </a:r>
            <a:endParaRPr lang="tr-TR" sz="2000" smtClean="0"/>
          </a:p>
          <a:p>
            <a:pPr lvl="1">
              <a:lnSpc>
                <a:spcPct val="80000"/>
              </a:lnSpc>
              <a:buFont typeface="Wingdings" pitchFamily="2" charset="2"/>
              <a:buNone/>
            </a:pPr>
            <a:endParaRPr lang="en-US" sz="2000" smtClean="0"/>
          </a:p>
          <a:p>
            <a:pPr>
              <a:lnSpc>
                <a:spcPct val="80000"/>
              </a:lnSpc>
            </a:pPr>
            <a:r>
              <a:rPr lang="en-US" sz="1800" b="1" smtClean="0"/>
              <a:t>Malzeme Listesi</a:t>
            </a:r>
          </a:p>
          <a:p>
            <a:pPr lvl="1">
              <a:lnSpc>
                <a:spcPct val="80000"/>
              </a:lnSpc>
              <a:buFont typeface="Wingdings" pitchFamily="2" charset="2"/>
              <a:buNone/>
            </a:pPr>
            <a:r>
              <a:rPr lang="en-US" sz="1800" b="1" smtClean="0"/>
              <a:t>Malzemenin adı </a:t>
            </a:r>
            <a:r>
              <a:rPr lang="tr-TR" sz="1800" b="1" smtClean="0"/>
              <a:t>		</a:t>
            </a:r>
            <a:r>
              <a:rPr lang="en-US" sz="1800" b="1" smtClean="0"/>
              <a:t>Malzemenin özellikleri</a:t>
            </a:r>
          </a:p>
          <a:p>
            <a:pPr lvl="1">
              <a:lnSpc>
                <a:spcPct val="80000"/>
              </a:lnSpc>
            </a:pPr>
            <a:r>
              <a:rPr lang="en-US" sz="1600" smtClean="0"/>
              <a:t>1 Osilaskop </a:t>
            </a:r>
            <a:r>
              <a:rPr lang="tr-TR" sz="1600" smtClean="0"/>
              <a:t>		</a:t>
            </a:r>
            <a:r>
              <a:rPr lang="en-US" sz="1600" smtClean="0"/>
              <a:t>20 MHz</a:t>
            </a:r>
          </a:p>
          <a:p>
            <a:pPr lvl="1">
              <a:lnSpc>
                <a:spcPct val="80000"/>
              </a:lnSpc>
            </a:pPr>
            <a:r>
              <a:rPr lang="en-US" sz="1600" smtClean="0"/>
              <a:t>2 Direnç veya reosta </a:t>
            </a:r>
            <a:r>
              <a:rPr lang="tr-TR" sz="1600" smtClean="0"/>
              <a:t>	</a:t>
            </a:r>
            <a:r>
              <a:rPr lang="en-US" sz="1600" smtClean="0"/>
              <a:t>250 Ω</a:t>
            </a:r>
          </a:p>
          <a:p>
            <a:pPr lvl="1">
              <a:lnSpc>
                <a:spcPct val="80000"/>
              </a:lnSpc>
            </a:pPr>
            <a:r>
              <a:rPr lang="en-US" sz="1600" smtClean="0"/>
              <a:t>3 AC güç kaynağı </a:t>
            </a:r>
            <a:r>
              <a:rPr lang="tr-TR" sz="1600" smtClean="0"/>
              <a:t>		</a:t>
            </a:r>
            <a:r>
              <a:rPr lang="en-US" sz="1600" smtClean="0"/>
              <a:t>AC, 0-220 V, 1A</a:t>
            </a:r>
          </a:p>
          <a:p>
            <a:pPr lvl="1">
              <a:lnSpc>
                <a:spcPct val="80000"/>
              </a:lnSpc>
            </a:pPr>
            <a:r>
              <a:rPr lang="en-US" sz="1600" smtClean="0"/>
              <a:t>4 DC güç kaynağı </a:t>
            </a:r>
            <a:r>
              <a:rPr lang="tr-TR" sz="1600" smtClean="0"/>
              <a:t>		</a:t>
            </a:r>
            <a:r>
              <a:rPr lang="en-US" sz="1600" smtClean="0"/>
              <a:t>DC, 0-220 V, 1A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tr-TR" sz="1400" b="1" smtClean="0"/>
              <a:t>	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tr-TR" sz="1400" b="1" smtClean="0"/>
              <a:t>	</a:t>
            </a:r>
            <a:r>
              <a:rPr lang="en-US" sz="1400" b="1" smtClean="0"/>
              <a:t>Tablo 10.1: Osilaskop ile gerilim ölçme uygulamasında kullanılacak malzemeler tablosu</a:t>
            </a:r>
            <a:endParaRPr lang="en-US" sz="1400" smtClean="0"/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endParaRPr lang="en-US" sz="14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29168B90-7209-44E6-A87B-63679E084AD9}" type="slidenum">
              <a:rPr lang="en-US"/>
              <a:pPr/>
              <a:t>227</a:t>
            </a:fld>
            <a:endParaRPr lang="en-US"/>
          </a:p>
        </p:txBody>
      </p:sp>
      <p:sp>
        <p:nvSpPr>
          <p:cNvPr id="589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z="3600" b="1" smtClean="0"/>
              <a:t>UYGULAMA FAALİYETİ</a:t>
            </a:r>
            <a:endParaRPr lang="en-US" sz="3600" smtClean="0"/>
          </a:p>
        </p:txBody>
      </p:sp>
      <p:sp>
        <p:nvSpPr>
          <p:cNvPr id="58982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49325" y="1981200"/>
            <a:ext cx="7367588" cy="41148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endParaRPr lang="tr-TR" sz="1400" b="1" smtClean="0"/>
          </a:p>
          <a:p>
            <a:pPr>
              <a:buFont typeface="Wingdings" pitchFamily="2" charset="2"/>
              <a:buNone/>
            </a:pPr>
            <a:endParaRPr lang="tr-TR" sz="1400" b="1" smtClean="0"/>
          </a:p>
          <a:p>
            <a:pPr>
              <a:buFont typeface="Wingdings" pitchFamily="2" charset="2"/>
              <a:buNone/>
            </a:pPr>
            <a:endParaRPr lang="tr-TR" sz="1400" b="1" smtClean="0"/>
          </a:p>
          <a:p>
            <a:pPr>
              <a:buFont typeface="Wingdings" pitchFamily="2" charset="2"/>
              <a:buNone/>
            </a:pPr>
            <a:endParaRPr lang="tr-TR" sz="1400" b="1" smtClean="0"/>
          </a:p>
          <a:p>
            <a:pPr>
              <a:buFont typeface="Wingdings" pitchFamily="2" charset="2"/>
              <a:buNone/>
            </a:pPr>
            <a:endParaRPr lang="tr-TR" sz="1400" b="1" smtClean="0"/>
          </a:p>
          <a:p>
            <a:pPr>
              <a:buFont typeface="Wingdings" pitchFamily="2" charset="2"/>
              <a:buNone/>
            </a:pPr>
            <a:endParaRPr lang="tr-TR" sz="1400" b="1" smtClean="0"/>
          </a:p>
          <a:p>
            <a:pPr>
              <a:buFont typeface="Wingdings" pitchFamily="2" charset="2"/>
              <a:buNone/>
            </a:pPr>
            <a:endParaRPr lang="tr-TR" sz="1400" b="1" smtClean="0"/>
          </a:p>
          <a:p>
            <a:pPr>
              <a:buFont typeface="Wingdings" pitchFamily="2" charset="2"/>
              <a:buNone/>
            </a:pPr>
            <a:endParaRPr lang="tr-TR" sz="1400" b="1" smtClean="0"/>
          </a:p>
          <a:p>
            <a:pPr>
              <a:buFont typeface="Wingdings" pitchFamily="2" charset="2"/>
              <a:buNone/>
            </a:pPr>
            <a:endParaRPr lang="tr-TR" sz="1400" b="1" smtClean="0"/>
          </a:p>
          <a:p>
            <a:pPr>
              <a:buFont typeface="Wingdings" pitchFamily="2" charset="2"/>
              <a:buNone/>
            </a:pPr>
            <a:endParaRPr lang="tr-TR" sz="1400" b="1" smtClean="0"/>
          </a:p>
          <a:p>
            <a:pPr>
              <a:buFont typeface="Wingdings" pitchFamily="2" charset="2"/>
              <a:buNone/>
            </a:pPr>
            <a:endParaRPr lang="tr-TR" sz="1400" b="1" smtClean="0"/>
          </a:p>
          <a:p>
            <a:pPr>
              <a:buFont typeface="Wingdings" pitchFamily="2" charset="2"/>
              <a:buNone/>
            </a:pPr>
            <a:endParaRPr lang="tr-TR" sz="1400" b="1" smtClean="0"/>
          </a:p>
          <a:p>
            <a:pPr>
              <a:buFont typeface="Wingdings" pitchFamily="2" charset="2"/>
              <a:buNone/>
            </a:pPr>
            <a:r>
              <a:rPr lang="tr-TR" sz="1400" b="1" smtClean="0"/>
              <a:t>		</a:t>
            </a:r>
            <a:r>
              <a:rPr lang="en-US" sz="1400" b="1" smtClean="0"/>
              <a:t>Şekil 10.1: Oslaskop ile gerilim ölçmek</a:t>
            </a:r>
            <a:endParaRPr lang="en-US" sz="1400" smtClean="0"/>
          </a:p>
          <a:p>
            <a:pPr>
              <a:buFont typeface="Wingdings" pitchFamily="2" charset="2"/>
              <a:buNone/>
            </a:pPr>
            <a:endParaRPr lang="en-US" sz="1400" smtClean="0"/>
          </a:p>
        </p:txBody>
      </p:sp>
      <p:pic>
        <p:nvPicPr>
          <p:cNvPr id="589828" name="Picture 4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2195513" y="2492375"/>
            <a:ext cx="3754437" cy="1844675"/>
          </a:xfrm>
          <a:noFill/>
          <a:ln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6FA14-B2A8-4DEF-B305-238D8E979843}" type="slidenum">
              <a:rPr lang="en-US"/>
              <a:pPr/>
              <a:t>228</a:t>
            </a:fld>
            <a:endParaRPr lang="en-US"/>
          </a:p>
        </p:txBody>
      </p:sp>
      <p:sp>
        <p:nvSpPr>
          <p:cNvPr id="5908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z="3600" b="1" smtClean="0"/>
              <a:t>UYGULAMA FAALİYETİ</a:t>
            </a:r>
            <a:endParaRPr lang="en-US" sz="3600" smtClean="0"/>
          </a:p>
        </p:txBody>
      </p:sp>
      <p:graphicFrame>
        <p:nvGraphicFramePr>
          <p:cNvPr id="590851" name="Group 3"/>
          <p:cNvGraphicFramePr>
            <a:graphicFrameLocks noGrp="1"/>
          </p:cNvGraphicFramePr>
          <p:nvPr>
            <p:ph idx="1"/>
          </p:nvPr>
        </p:nvGraphicFramePr>
        <p:xfrm>
          <a:off x="949325" y="1981200"/>
          <a:ext cx="7661275" cy="4725670"/>
        </p:xfrm>
        <a:graphic>
          <a:graphicData uri="http://schemas.openxmlformats.org/drawingml/2006/table">
            <a:tbl>
              <a:tblPr/>
              <a:tblGrid>
                <a:gridCol w="3830638"/>
                <a:gridCol w="3830637"/>
              </a:tblGrid>
              <a:tr h="3365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İşlem Basamakları</a:t>
                      </a: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Öneriler</a:t>
                      </a: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683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VOLT/ DIV anahtarını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ölçülecek gerilim değerine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uygun konuma getir.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Büyük gerilim değerleri ölçülürken prob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üzerindeki anahtar, X1 konumundan X10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konumuna alınmalıdır.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128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Ölçülecek gerilime göre ölçüm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yapılacak girişe ait anahtar ile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AC-DC seçimini yap.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 veya DC gerilim ölçülürken aradaki tek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fark girişe ait AC-DC seçimini yapmaktır.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İki farklı girişten iki ayrı gerilim değeri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girilerek ayrı ayrı görüntülenmesi ve bu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gerilimlerin osilaskop tarafından toplanması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sağlanabilir.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Osilaskop problarını gerilim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ölçülecek noktalara bağla</a:t>
                      </a:r>
                      <a:r>
                        <a:rPr kumimoji="0" lang="tr-TR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.</a:t>
                      </a: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Bağlantıyı öğretmeninizin gözetiminde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yapınız.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Bağlantı paralel olarak yapılmalıdır.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128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Ekrandaki gerilimin genliğini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rahat okuyana kadar VOLTS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/DIV anahtarının kademesini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küçült veya büyült.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tr-T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3826C-1A8D-43C2-8B08-838D021E1929}" type="slidenum">
              <a:rPr lang="en-US"/>
              <a:pPr/>
              <a:t>229</a:t>
            </a:fld>
            <a:endParaRPr lang="en-US"/>
          </a:p>
        </p:txBody>
      </p:sp>
      <p:sp>
        <p:nvSpPr>
          <p:cNvPr id="591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z="3600" b="1" smtClean="0"/>
              <a:t>UYGULAMA FAALİYETİ</a:t>
            </a:r>
            <a:endParaRPr lang="en-US" sz="3600" smtClean="0"/>
          </a:p>
        </p:txBody>
      </p:sp>
      <p:graphicFrame>
        <p:nvGraphicFramePr>
          <p:cNvPr id="591875" name="Group 3"/>
          <p:cNvGraphicFramePr>
            <a:graphicFrameLocks noGrp="1"/>
          </p:cNvGraphicFramePr>
          <p:nvPr>
            <p:ph idx="1"/>
          </p:nvPr>
        </p:nvGraphicFramePr>
        <p:xfrm>
          <a:off x="949325" y="1981200"/>
          <a:ext cx="7661275" cy="3299206"/>
        </p:xfrm>
        <a:graphic>
          <a:graphicData uri="http://schemas.openxmlformats.org/drawingml/2006/table">
            <a:tbl>
              <a:tblPr/>
              <a:tblGrid>
                <a:gridCol w="3830638"/>
                <a:gridCol w="3830637"/>
              </a:tblGrid>
              <a:tr h="3365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İşlem Basamakları</a:t>
                      </a: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Öneriler</a:t>
                      </a: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683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Görüntüde hareket var ise,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TIME/DIV anahtarı ile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ekrandaki görüntüyü sabitle.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tr-T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128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Bu anda ekrandaki sinyalın tepe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değerini (H) ve VOLTS/DIV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anahtarının kademesini (D)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tespit et.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Ölçülen gerilimin maksimum değeri H /2 ve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 değerlerinin çarpımı ile bulunur. Etkin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değer ise maksimum değerin 0,707 ile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çarpımına eşittir.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Kendi belirlediğin gerilim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değerlerini aynı işlem sırasını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takip ederek ölç.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Seçilen gerilim değeri ölçme sınırını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aşmamalıdır.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Ölçülen gerilim değerlerini aşağıda verilen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tabloya yazınız.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26E79854-69F7-4987-A766-B0220A17F7D7}" type="slidenum">
              <a:rPr lang="en-US"/>
              <a:pPr/>
              <a:t>230</a:t>
            </a:fld>
            <a:endParaRPr lang="en-US"/>
          </a:p>
        </p:txBody>
      </p:sp>
      <p:sp>
        <p:nvSpPr>
          <p:cNvPr id="592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z="3600" b="1" smtClean="0"/>
              <a:t>UYGULAMA FAALİYETİ</a:t>
            </a:r>
            <a:endParaRPr lang="en-US" sz="3600" smtClean="0"/>
          </a:p>
        </p:txBody>
      </p:sp>
      <p:sp>
        <p:nvSpPr>
          <p:cNvPr id="59289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49325" y="1628775"/>
            <a:ext cx="7583488" cy="5040313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sz="1200" smtClean="0"/>
              <a:t>Deneyde alınan değerler:</a:t>
            </a:r>
            <a:endParaRPr lang="tr-TR" sz="1200" smtClean="0"/>
          </a:p>
          <a:p>
            <a:pPr>
              <a:buFont typeface="Wingdings" pitchFamily="2" charset="2"/>
              <a:buNone/>
            </a:pPr>
            <a:endParaRPr lang="tr-TR" sz="1200" smtClean="0"/>
          </a:p>
          <a:p>
            <a:pPr>
              <a:buFont typeface="Wingdings" pitchFamily="2" charset="2"/>
              <a:buNone/>
            </a:pPr>
            <a:endParaRPr lang="tr-TR" sz="1200" b="1" smtClean="0"/>
          </a:p>
          <a:p>
            <a:pPr>
              <a:buFont typeface="Wingdings" pitchFamily="2" charset="2"/>
              <a:buNone/>
            </a:pPr>
            <a:endParaRPr lang="tr-TR" sz="1200" b="1" smtClean="0"/>
          </a:p>
          <a:p>
            <a:pPr>
              <a:buFont typeface="Wingdings" pitchFamily="2" charset="2"/>
              <a:buNone/>
            </a:pPr>
            <a:endParaRPr lang="tr-TR" sz="1200" b="1" smtClean="0"/>
          </a:p>
          <a:p>
            <a:pPr>
              <a:buFont typeface="Wingdings" pitchFamily="2" charset="2"/>
              <a:buNone/>
            </a:pPr>
            <a:endParaRPr lang="tr-TR" sz="1200" b="1" smtClean="0"/>
          </a:p>
          <a:p>
            <a:pPr>
              <a:buFont typeface="Wingdings" pitchFamily="2" charset="2"/>
              <a:buNone/>
            </a:pPr>
            <a:endParaRPr lang="tr-TR" sz="1200" b="1" smtClean="0"/>
          </a:p>
          <a:p>
            <a:pPr>
              <a:buFont typeface="Wingdings" pitchFamily="2" charset="2"/>
              <a:buNone/>
            </a:pPr>
            <a:endParaRPr lang="tr-TR" sz="1200" b="1" smtClean="0"/>
          </a:p>
          <a:p>
            <a:pPr>
              <a:buFont typeface="Wingdings" pitchFamily="2" charset="2"/>
              <a:buNone/>
            </a:pPr>
            <a:endParaRPr lang="tr-TR" sz="1200" b="1" smtClean="0"/>
          </a:p>
          <a:p>
            <a:pPr>
              <a:buFont typeface="Wingdings" pitchFamily="2" charset="2"/>
              <a:buNone/>
            </a:pPr>
            <a:endParaRPr lang="tr-TR" sz="1200" b="1" smtClean="0"/>
          </a:p>
          <a:p>
            <a:pPr>
              <a:buFont typeface="Wingdings" pitchFamily="2" charset="2"/>
              <a:buNone/>
            </a:pPr>
            <a:endParaRPr lang="tr-TR" sz="1200" b="1" smtClean="0"/>
          </a:p>
          <a:p>
            <a:pPr>
              <a:buFont typeface="Wingdings" pitchFamily="2" charset="2"/>
              <a:buNone/>
            </a:pPr>
            <a:endParaRPr lang="tr-TR" sz="1200" b="1" smtClean="0"/>
          </a:p>
          <a:p>
            <a:pPr>
              <a:buFont typeface="Wingdings" pitchFamily="2" charset="2"/>
              <a:buNone/>
            </a:pPr>
            <a:endParaRPr lang="tr-TR" sz="1200" b="1" smtClean="0"/>
          </a:p>
          <a:p>
            <a:pPr>
              <a:buFont typeface="Wingdings" pitchFamily="2" charset="2"/>
              <a:buNone/>
            </a:pPr>
            <a:endParaRPr lang="tr-TR" sz="1200" b="1" smtClean="0"/>
          </a:p>
          <a:p>
            <a:pPr>
              <a:buFont typeface="Wingdings" pitchFamily="2" charset="2"/>
              <a:buNone/>
            </a:pPr>
            <a:endParaRPr lang="tr-TR" sz="1200" b="1" smtClean="0"/>
          </a:p>
          <a:p>
            <a:pPr>
              <a:buFont typeface="Wingdings" pitchFamily="2" charset="2"/>
              <a:buNone/>
            </a:pPr>
            <a:endParaRPr lang="tr-TR" sz="1200" b="1" smtClean="0"/>
          </a:p>
          <a:p>
            <a:pPr>
              <a:buFont typeface="Wingdings" pitchFamily="2" charset="2"/>
              <a:buNone/>
            </a:pPr>
            <a:endParaRPr lang="tr-TR" sz="1200" b="1" smtClean="0"/>
          </a:p>
          <a:p>
            <a:pPr>
              <a:buFont typeface="Wingdings" pitchFamily="2" charset="2"/>
              <a:buNone/>
            </a:pPr>
            <a:endParaRPr lang="tr-TR" sz="1200" b="1" smtClean="0"/>
          </a:p>
          <a:p>
            <a:pPr>
              <a:buFont typeface="Wingdings" pitchFamily="2" charset="2"/>
              <a:buNone/>
            </a:pPr>
            <a:endParaRPr lang="tr-TR" sz="1200" b="1" smtClean="0"/>
          </a:p>
          <a:p>
            <a:pPr>
              <a:buFont typeface="Wingdings" pitchFamily="2" charset="2"/>
              <a:buNone/>
            </a:pPr>
            <a:endParaRPr lang="tr-TR" sz="1200" b="1" smtClean="0"/>
          </a:p>
          <a:p>
            <a:pPr>
              <a:buFont typeface="Wingdings" pitchFamily="2" charset="2"/>
              <a:buNone/>
            </a:pPr>
            <a:endParaRPr lang="tr-TR" sz="1200" b="1" smtClean="0"/>
          </a:p>
          <a:p>
            <a:pPr>
              <a:buFont typeface="Wingdings" pitchFamily="2" charset="2"/>
              <a:buNone/>
            </a:pPr>
            <a:r>
              <a:rPr lang="en-US" sz="1200" b="1" smtClean="0"/>
              <a:t>Tablo 10.2: Osilaskop ile gerilim ölçme , uygulamasından alınan değerler tablosu</a:t>
            </a:r>
            <a:endParaRPr lang="en-US" sz="1200" smtClean="0"/>
          </a:p>
          <a:p>
            <a:pPr>
              <a:buFont typeface="Wingdings" pitchFamily="2" charset="2"/>
              <a:buNone/>
            </a:pPr>
            <a:endParaRPr lang="en-US" sz="1200" smtClean="0"/>
          </a:p>
          <a:p>
            <a:pPr>
              <a:buFont typeface="Wingdings" pitchFamily="2" charset="2"/>
              <a:buNone/>
            </a:pPr>
            <a:endParaRPr lang="en-US" sz="1200" smtClean="0"/>
          </a:p>
        </p:txBody>
      </p:sp>
      <p:pic>
        <p:nvPicPr>
          <p:cNvPr id="592900" name="Picture 4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258888" y="1844675"/>
            <a:ext cx="5400675" cy="4183063"/>
          </a:xfrm>
          <a:noFill/>
          <a:ln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992BE88A-7A6A-422E-A204-59FA4D8B309C}" type="slidenum">
              <a:rPr lang="en-US"/>
              <a:pPr/>
              <a:t>231</a:t>
            </a:fld>
            <a:endParaRPr lang="en-US"/>
          </a:p>
        </p:txBody>
      </p:sp>
      <p:sp>
        <p:nvSpPr>
          <p:cNvPr id="593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z="3600" b="1" smtClean="0"/>
              <a:t>UYGULAMA FAALİYETİ</a:t>
            </a:r>
            <a:endParaRPr lang="en-US" sz="3600" b="1" smtClean="0"/>
          </a:p>
        </p:txBody>
      </p:sp>
      <p:sp>
        <p:nvSpPr>
          <p:cNvPr id="5939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b="1" smtClean="0"/>
              <a:t>Malzeme listesi:</a:t>
            </a:r>
          </a:p>
          <a:p>
            <a:pPr lvl="1">
              <a:buFont typeface="Wingdings" pitchFamily="2" charset="2"/>
              <a:buNone/>
            </a:pPr>
            <a:r>
              <a:rPr lang="en-US" sz="1600" b="1" smtClean="0"/>
              <a:t>Malzemenin adı </a:t>
            </a:r>
            <a:r>
              <a:rPr lang="tr-TR" sz="1600" b="1" smtClean="0"/>
              <a:t>		</a:t>
            </a:r>
            <a:r>
              <a:rPr lang="en-US" sz="1600" b="1" smtClean="0"/>
              <a:t>Malzemenin özellikleri</a:t>
            </a:r>
          </a:p>
          <a:p>
            <a:pPr lvl="1"/>
            <a:r>
              <a:rPr lang="en-US" sz="1600" smtClean="0"/>
              <a:t>1 Osilaskop </a:t>
            </a:r>
            <a:r>
              <a:rPr lang="tr-TR" sz="1600" smtClean="0"/>
              <a:t>		</a:t>
            </a:r>
            <a:r>
              <a:rPr lang="en-US" sz="1600" smtClean="0"/>
              <a:t>20 MHz</a:t>
            </a:r>
          </a:p>
          <a:p>
            <a:pPr lvl="1"/>
            <a:r>
              <a:rPr lang="en-US" sz="1600" smtClean="0"/>
              <a:t>2 Frekans Jeneratörü</a:t>
            </a:r>
          </a:p>
          <a:p>
            <a:endParaRPr lang="tr-TR" sz="1800" b="1" smtClean="0"/>
          </a:p>
          <a:p>
            <a:pPr>
              <a:buFont typeface="Wingdings" pitchFamily="2" charset="2"/>
              <a:buNone/>
            </a:pPr>
            <a:r>
              <a:rPr lang="tr-TR" sz="1800" b="1" smtClean="0"/>
              <a:t>	</a:t>
            </a:r>
            <a:r>
              <a:rPr lang="en-US" sz="1600" b="1" smtClean="0"/>
              <a:t>Tablo 10.3: Osilaskop ile frekans ölçme , uygulamasında</a:t>
            </a:r>
            <a:endParaRPr lang="tr-TR" sz="1600" b="1" smtClean="0"/>
          </a:p>
          <a:p>
            <a:pPr>
              <a:buFont typeface="Wingdings" pitchFamily="2" charset="2"/>
              <a:buNone/>
            </a:pPr>
            <a:r>
              <a:rPr lang="tr-TR" sz="1600" b="1" smtClean="0"/>
              <a:t>	</a:t>
            </a:r>
            <a:r>
              <a:rPr lang="en-US" sz="1600" b="1" smtClean="0"/>
              <a:t>kullanılacak malzemelerin listesi</a:t>
            </a:r>
            <a:endParaRPr lang="en-US" sz="1600" smtClean="0"/>
          </a:p>
          <a:p>
            <a:endParaRPr lang="en-US" sz="1600" smtClean="0"/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73D4A-F78A-4F04-A9E8-937EB23ADD36}" type="slidenum">
              <a:rPr lang="en-US"/>
              <a:pPr/>
              <a:t>232</a:t>
            </a:fld>
            <a:endParaRPr lang="en-US"/>
          </a:p>
        </p:txBody>
      </p:sp>
      <p:sp>
        <p:nvSpPr>
          <p:cNvPr id="594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z="3600" b="1" smtClean="0"/>
              <a:t>UYGULAMA FAALİYETİ</a:t>
            </a:r>
            <a:endParaRPr lang="en-US" sz="3600" smtClean="0"/>
          </a:p>
        </p:txBody>
      </p:sp>
      <p:graphicFrame>
        <p:nvGraphicFramePr>
          <p:cNvPr id="594947" name="Group 3"/>
          <p:cNvGraphicFramePr>
            <a:graphicFrameLocks noGrp="1"/>
          </p:cNvGraphicFramePr>
          <p:nvPr>
            <p:ph idx="1"/>
          </p:nvPr>
        </p:nvGraphicFramePr>
        <p:xfrm>
          <a:off x="949325" y="1981200"/>
          <a:ext cx="7661275" cy="3396742"/>
        </p:xfrm>
        <a:graphic>
          <a:graphicData uri="http://schemas.openxmlformats.org/drawingml/2006/table">
            <a:tbl>
              <a:tblPr/>
              <a:tblGrid>
                <a:gridCol w="3830638"/>
                <a:gridCol w="3830637"/>
              </a:tblGrid>
              <a:tr h="3365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İşlem Basamakları</a:t>
                      </a: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Öneriler</a:t>
                      </a: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683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Ekrandaki gerilimin genliğini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rahat okuyana kadar VOLTS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/DIV anahtarının kademesini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küçült veya büyült.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tr-T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128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Osilaskop problarını frekans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ölçülecek noktalara bağla.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Bağlantıyı öğretmeninizin gözetiminde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yapınız.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Osilaskop ile frekans ölçümü yapılırken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uçlar paralel bağlanmalıdır.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Görüntüde hareket var ise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TIME/DIV anahtarı ile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ekrandaki görüntüyü sabitle.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tr-T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249D0-0665-4E45-B80D-98D724D14082}" type="slidenum">
              <a:rPr lang="en-US"/>
              <a:pPr/>
              <a:t>233</a:t>
            </a:fld>
            <a:endParaRPr lang="en-US"/>
          </a:p>
        </p:txBody>
      </p:sp>
      <p:sp>
        <p:nvSpPr>
          <p:cNvPr id="595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z="3600" b="1" smtClean="0"/>
              <a:t>UYGULAMA FAALİYETİ</a:t>
            </a:r>
            <a:endParaRPr lang="en-US" sz="3600" smtClean="0"/>
          </a:p>
        </p:txBody>
      </p:sp>
      <p:graphicFrame>
        <p:nvGraphicFramePr>
          <p:cNvPr id="595971" name="Group 3"/>
          <p:cNvGraphicFramePr>
            <a:graphicFrameLocks noGrp="1"/>
          </p:cNvGraphicFramePr>
          <p:nvPr>
            <p:ph idx="1"/>
          </p:nvPr>
        </p:nvGraphicFramePr>
        <p:xfrm>
          <a:off x="949325" y="1981200"/>
          <a:ext cx="7661275" cy="3268155"/>
        </p:xfrm>
        <a:graphic>
          <a:graphicData uri="http://schemas.openxmlformats.org/drawingml/2006/table">
            <a:tbl>
              <a:tblPr/>
              <a:tblGrid>
                <a:gridCol w="3830638"/>
                <a:gridCol w="3830637"/>
              </a:tblGrid>
              <a:tr h="3016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İşlem Basamakları</a:t>
                      </a: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Öneriler</a:t>
                      </a: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683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Ekrandaki sinyalin bir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peryodunun boyunu (L) ekranın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karelerinden faydalanarak tespit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et.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Osilaskop ekranındaki her bir kar 1 cm’dir.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572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(L) değeri Okunduğu andaki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TIME /DIV anahtarının kademe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değerini (Tc) s/cm, ms/cm veya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μs/cm cinsinden tespit et.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tr-T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175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Alınan değerlere göre sinyalin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frekansını hesapla.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􀂾 </a:t>
                      </a: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T= L (cm) x Tc (s/sn)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􀂾 </a:t>
                      </a: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 = 1 / T Hz </a:t>
                      </a: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, Formüllerini kullanınız</a:t>
                      </a: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.</a:t>
                      </a: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448B5D44-E587-47B3-B31E-1C010F5EBBB1}" type="slidenum">
              <a:rPr lang="en-US"/>
              <a:pPr/>
              <a:t>234</a:t>
            </a:fld>
            <a:endParaRPr lang="en-US"/>
          </a:p>
        </p:txBody>
      </p:sp>
      <p:sp>
        <p:nvSpPr>
          <p:cNvPr id="596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z="3600" b="1" smtClean="0"/>
              <a:t>UYGULAMA FAALİYETİ</a:t>
            </a:r>
            <a:endParaRPr lang="en-US" sz="3600" b="1" smtClean="0"/>
          </a:p>
        </p:txBody>
      </p:sp>
      <p:sp>
        <p:nvSpPr>
          <p:cNvPr id="59699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49325" y="1981200"/>
            <a:ext cx="7943850" cy="41148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sz="1200" b="1" smtClean="0"/>
              <a:t>Deneyde alınan değerler:</a:t>
            </a:r>
            <a:endParaRPr lang="en-US" sz="1200" smtClean="0"/>
          </a:p>
          <a:p>
            <a:pPr>
              <a:buFont typeface="Wingdings" pitchFamily="2" charset="2"/>
              <a:buNone/>
            </a:pPr>
            <a:endParaRPr lang="tr-TR" sz="1200" b="1" smtClean="0"/>
          </a:p>
          <a:p>
            <a:pPr>
              <a:buFont typeface="Wingdings" pitchFamily="2" charset="2"/>
              <a:buNone/>
            </a:pPr>
            <a:endParaRPr lang="tr-TR" sz="1200" b="1" smtClean="0"/>
          </a:p>
          <a:p>
            <a:pPr>
              <a:buFont typeface="Wingdings" pitchFamily="2" charset="2"/>
              <a:buNone/>
            </a:pPr>
            <a:endParaRPr lang="tr-TR" sz="1200" b="1" smtClean="0"/>
          </a:p>
          <a:p>
            <a:pPr>
              <a:buFont typeface="Wingdings" pitchFamily="2" charset="2"/>
              <a:buNone/>
            </a:pPr>
            <a:endParaRPr lang="tr-TR" sz="1200" b="1" smtClean="0"/>
          </a:p>
          <a:p>
            <a:pPr>
              <a:buFont typeface="Wingdings" pitchFamily="2" charset="2"/>
              <a:buNone/>
            </a:pPr>
            <a:endParaRPr lang="tr-TR" sz="1200" b="1" smtClean="0"/>
          </a:p>
          <a:p>
            <a:pPr>
              <a:buFont typeface="Wingdings" pitchFamily="2" charset="2"/>
              <a:buNone/>
            </a:pPr>
            <a:endParaRPr lang="tr-TR" sz="1200" b="1" smtClean="0"/>
          </a:p>
          <a:p>
            <a:pPr>
              <a:buFont typeface="Wingdings" pitchFamily="2" charset="2"/>
              <a:buNone/>
            </a:pPr>
            <a:endParaRPr lang="tr-TR" sz="1200" b="1" smtClean="0"/>
          </a:p>
          <a:p>
            <a:pPr>
              <a:buFont typeface="Wingdings" pitchFamily="2" charset="2"/>
              <a:buNone/>
            </a:pPr>
            <a:endParaRPr lang="tr-TR" sz="1200" b="1" smtClean="0"/>
          </a:p>
          <a:p>
            <a:pPr>
              <a:buFont typeface="Wingdings" pitchFamily="2" charset="2"/>
              <a:buNone/>
            </a:pPr>
            <a:endParaRPr lang="tr-TR" sz="1200" b="1" smtClean="0"/>
          </a:p>
          <a:p>
            <a:pPr>
              <a:buFont typeface="Wingdings" pitchFamily="2" charset="2"/>
              <a:buNone/>
            </a:pPr>
            <a:endParaRPr lang="tr-TR" sz="1200" b="1" smtClean="0"/>
          </a:p>
          <a:p>
            <a:pPr>
              <a:buFont typeface="Wingdings" pitchFamily="2" charset="2"/>
              <a:buNone/>
            </a:pPr>
            <a:endParaRPr lang="tr-TR" sz="1200" b="1" smtClean="0"/>
          </a:p>
          <a:p>
            <a:pPr>
              <a:buFont typeface="Wingdings" pitchFamily="2" charset="2"/>
              <a:buNone/>
            </a:pPr>
            <a:endParaRPr lang="tr-TR" sz="1200" b="1" smtClean="0"/>
          </a:p>
          <a:p>
            <a:pPr>
              <a:buFont typeface="Wingdings" pitchFamily="2" charset="2"/>
              <a:buNone/>
            </a:pPr>
            <a:endParaRPr lang="tr-TR" sz="1200" b="1" smtClean="0"/>
          </a:p>
          <a:p>
            <a:pPr>
              <a:buFont typeface="Wingdings" pitchFamily="2" charset="2"/>
              <a:buNone/>
            </a:pPr>
            <a:endParaRPr lang="tr-TR" sz="1200" b="1" smtClean="0"/>
          </a:p>
          <a:p>
            <a:pPr>
              <a:buFont typeface="Wingdings" pitchFamily="2" charset="2"/>
              <a:buNone/>
            </a:pPr>
            <a:r>
              <a:rPr lang="en-US" sz="1200" b="1" smtClean="0"/>
              <a:t>Tablo 10.4: Osilaskop ile frekans ölçme , uygulamasından alınan değerler tablosu</a:t>
            </a:r>
            <a:endParaRPr lang="en-US" sz="1200" smtClean="0"/>
          </a:p>
          <a:p>
            <a:pPr>
              <a:buFont typeface="Wingdings" pitchFamily="2" charset="2"/>
              <a:buNone/>
            </a:pPr>
            <a:endParaRPr lang="en-US" sz="1200" smtClean="0"/>
          </a:p>
        </p:txBody>
      </p:sp>
      <p:pic>
        <p:nvPicPr>
          <p:cNvPr id="596996" name="Picture 4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403350" y="2276475"/>
            <a:ext cx="5327650" cy="2930525"/>
          </a:xfrm>
          <a:noFill/>
          <a:ln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89D5236D-E2E0-497A-9429-FB70705D4484}" type="slidenum">
              <a:rPr lang="en-US"/>
              <a:pPr/>
              <a:t>235</a:t>
            </a:fld>
            <a:endParaRPr lang="en-US"/>
          </a:p>
        </p:txBody>
      </p:sp>
      <p:sp>
        <p:nvSpPr>
          <p:cNvPr id="598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smtClean="0"/>
              <a:t>ÖLÇME VE DEĞERLENDİRME</a:t>
            </a:r>
            <a:endParaRPr lang="en-US" sz="3600" smtClean="0"/>
          </a:p>
        </p:txBody>
      </p:sp>
      <p:sp>
        <p:nvSpPr>
          <p:cNvPr id="5980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sz="1600" b="1" smtClean="0"/>
              <a:t>ÖLÇME SORULARI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tr-TR" sz="1600" smtClean="0"/>
              <a:t>	</a:t>
            </a:r>
            <a:r>
              <a:rPr lang="en-US" sz="1600" smtClean="0"/>
              <a:t>Aşağıda verilen soruları doğru ya da yanlış olarak cevaplayınız.</a:t>
            </a:r>
          </a:p>
          <a:p>
            <a:pPr lvl="1">
              <a:lnSpc>
                <a:spcPct val="80000"/>
              </a:lnSpc>
            </a:pPr>
            <a:r>
              <a:rPr lang="en-US" sz="1600" b="1" smtClean="0"/>
              <a:t>1. </a:t>
            </a:r>
            <a:r>
              <a:rPr lang="en-US" sz="1600" smtClean="0"/>
              <a:t>Osilaskopların analog ve dijital tipleri mevcuttur.</a:t>
            </a:r>
          </a:p>
          <a:p>
            <a:pPr lvl="1">
              <a:lnSpc>
                <a:spcPct val="80000"/>
              </a:lnSpc>
            </a:pPr>
            <a:r>
              <a:rPr lang="en-US" sz="1600" b="1" smtClean="0"/>
              <a:t>2. </a:t>
            </a:r>
            <a:r>
              <a:rPr lang="en-US" sz="1600" smtClean="0"/>
              <a:t>Osilaskoplar yalnız akım, gerilim ve frekans ölçmelerinde kullanılır.</a:t>
            </a:r>
          </a:p>
          <a:p>
            <a:pPr lvl="1">
              <a:lnSpc>
                <a:spcPct val="80000"/>
              </a:lnSpc>
            </a:pPr>
            <a:r>
              <a:rPr lang="en-US" sz="1600" b="1" smtClean="0"/>
              <a:t>3. </a:t>
            </a:r>
            <a:r>
              <a:rPr lang="en-US" sz="1600" smtClean="0"/>
              <a:t>Osilaskop ile gerilim ölçerken gerilim gerilim değeri attıkça sinyal dikeyde yükselir.</a:t>
            </a:r>
          </a:p>
          <a:p>
            <a:pPr lvl="1">
              <a:lnSpc>
                <a:spcPct val="80000"/>
              </a:lnSpc>
            </a:pPr>
            <a:r>
              <a:rPr lang="en-US" sz="1600" b="1" smtClean="0"/>
              <a:t>4. </a:t>
            </a:r>
            <a:r>
              <a:rPr lang="en-US" sz="1600" smtClean="0"/>
              <a:t>Osilaskop ile frekans ölçülürken frekans değeri arttıkça sinyal yatay eksende daralır.</a:t>
            </a:r>
          </a:p>
          <a:p>
            <a:pPr lvl="1">
              <a:lnSpc>
                <a:spcPct val="80000"/>
              </a:lnSpc>
            </a:pPr>
            <a:r>
              <a:rPr lang="en-US" sz="1600" b="1" smtClean="0"/>
              <a:t>5. </a:t>
            </a:r>
            <a:r>
              <a:rPr lang="en-US" sz="1600" smtClean="0"/>
              <a:t>Osilaskoplarda ölçülecek gerilim değerine uygun kademe VOLTS/DIV anahtarı ile</a:t>
            </a:r>
          </a:p>
          <a:p>
            <a:pPr lvl="1">
              <a:lnSpc>
                <a:spcPct val="80000"/>
              </a:lnSpc>
            </a:pPr>
            <a:r>
              <a:rPr lang="en-US" sz="1600" smtClean="0"/>
              <a:t>seçilir.</a:t>
            </a:r>
          </a:p>
          <a:p>
            <a:pPr lvl="1">
              <a:lnSpc>
                <a:spcPct val="80000"/>
              </a:lnSpc>
            </a:pPr>
            <a:r>
              <a:rPr lang="en-US" sz="1600" b="1" smtClean="0"/>
              <a:t>6. </a:t>
            </a:r>
            <a:r>
              <a:rPr lang="en-US" sz="1600" smtClean="0"/>
              <a:t>Osilaskoplarda frekans değerine uygun kademe TIME /DIV anahtarı ile seçilir.</a:t>
            </a:r>
          </a:p>
          <a:p>
            <a:pPr lvl="1">
              <a:lnSpc>
                <a:spcPct val="80000"/>
              </a:lnSpc>
            </a:pPr>
            <a:r>
              <a:rPr lang="en-US" sz="1600" b="1" smtClean="0"/>
              <a:t>7. </a:t>
            </a:r>
            <a:r>
              <a:rPr lang="en-US" sz="1600" smtClean="0"/>
              <a:t>Osilaskoplar ile yarı iletken elemanların karakteristikleri incelenemez.</a:t>
            </a:r>
          </a:p>
          <a:p>
            <a:pPr lvl="1">
              <a:lnSpc>
                <a:spcPct val="80000"/>
              </a:lnSpc>
            </a:pPr>
            <a:r>
              <a:rPr lang="en-US" sz="1600" b="1" smtClean="0"/>
              <a:t>8. </a:t>
            </a:r>
            <a:r>
              <a:rPr lang="en-US" sz="1600" smtClean="0"/>
              <a:t>Osilaskoplar arıza analizinde ölçü aletlerine göre daha hızlı çözüm imkanı sunar.</a:t>
            </a:r>
          </a:p>
          <a:p>
            <a:pPr lvl="1">
              <a:lnSpc>
                <a:spcPct val="80000"/>
              </a:lnSpc>
            </a:pPr>
            <a:r>
              <a:rPr lang="en-US" sz="1600" b="1" smtClean="0"/>
              <a:t>9. </a:t>
            </a:r>
            <a:r>
              <a:rPr lang="en-US" sz="1600" smtClean="0"/>
              <a:t>Osilaskoplarda ışın sayısı arttıkça aynı anda görüntülen sinyal sayısı artıyor, demektir.</a:t>
            </a:r>
          </a:p>
          <a:p>
            <a:pPr lvl="1">
              <a:lnSpc>
                <a:spcPct val="80000"/>
              </a:lnSpc>
            </a:pPr>
            <a:r>
              <a:rPr lang="en-US" sz="1600" b="1" smtClean="0"/>
              <a:t>10. </a:t>
            </a:r>
            <a:r>
              <a:rPr lang="en-US" sz="1600" smtClean="0"/>
              <a:t>Osilaskoplar ölçülen akım veya gerilimin etkin değerini ölçer.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endParaRPr lang="en-US" sz="16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7ECDF4C6-1A58-4134-B315-B171AD5751C0}" type="slidenum">
              <a:rPr lang="en-US"/>
              <a:pPr/>
              <a:t>236</a:t>
            </a:fld>
            <a:endParaRPr lang="en-US"/>
          </a:p>
        </p:txBody>
      </p:sp>
      <p:sp>
        <p:nvSpPr>
          <p:cNvPr id="599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smtClean="0"/>
              <a:t>ÖLÇME VE DEĞERLENDİRME</a:t>
            </a:r>
          </a:p>
        </p:txBody>
      </p:sp>
      <p:sp>
        <p:nvSpPr>
          <p:cNvPr id="599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b="1" smtClean="0"/>
              <a:t>DEĞERLENDİRME</a:t>
            </a:r>
            <a:endParaRPr lang="tr-TR" sz="1800" b="1" smtClean="0"/>
          </a:p>
          <a:p>
            <a:pPr>
              <a:buFont typeface="Wingdings" pitchFamily="2" charset="2"/>
              <a:buNone/>
            </a:pPr>
            <a:endParaRPr lang="en-US" sz="1800" b="1" smtClean="0"/>
          </a:p>
          <a:p>
            <a:pPr lvl="1"/>
            <a:r>
              <a:rPr lang="en-US" sz="1600" smtClean="0"/>
              <a:t>Cevaplarınızı cevap anahtarı ile kontrol ediniz. Doğru ve yanlış cevaplarınızı</a:t>
            </a:r>
            <a:r>
              <a:rPr lang="tr-TR" sz="1600" smtClean="0"/>
              <a:t> </a:t>
            </a:r>
            <a:r>
              <a:rPr lang="en-US" sz="1600" smtClean="0"/>
              <a:t>belirleyerek kendinizi değerlendiriniz. Cevaplarınız yanlış ise öğrenme faaliyetinin ilgili</a:t>
            </a:r>
            <a:r>
              <a:rPr lang="tr-TR" sz="1600" smtClean="0"/>
              <a:t> </a:t>
            </a:r>
            <a:r>
              <a:rPr lang="en-US" sz="1600" smtClean="0"/>
              <a:t>bölümüne dönerek konuyu tekrar ediniz.</a:t>
            </a:r>
          </a:p>
          <a:p>
            <a:endParaRPr lang="en-US" sz="1800" smtClean="0"/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CE7033CB-ADB0-4C71-B61E-E936671BA2EB}" type="slidenum">
              <a:rPr lang="en-US"/>
              <a:pPr/>
              <a:t>237</a:t>
            </a:fld>
            <a:endParaRPr lang="en-US"/>
          </a:p>
        </p:txBody>
      </p:sp>
      <p:sp>
        <p:nvSpPr>
          <p:cNvPr id="600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smtClean="0"/>
              <a:t>CEVAP ANAHTARLARI</a:t>
            </a:r>
            <a:endParaRPr lang="en-US" sz="3600" smtClean="0"/>
          </a:p>
        </p:txBody>
      </p:sp>
      <p:sp>
        <p:nvSpPr>
          <p:cNvPr id="60006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49325" y="1981200"/>
            <a:ext cx="6502400" cy="4114800"/>
          </a:xfrm>
        </p:spPr>
        <p:txBody>
          <a:bodyPr/>
          <a:lstStyle/>
          <a:p>
            <a:r>
              <a:rPr lang="en-US" sz="1200" b="1" smtClean="0"/>
              <a:t>ÖĞRENME FALİYETİ 1’İN CEVAP ANAHTARI</a:t>
            </a:r>
            <a:endParaRPr lang="en-US" sz="1200" smtClean="0"/>
          </a:p>
          <a:p>
            <a:endParaRPr lang="en-US" sz="1200" smtClean="0"/>
          </a:p>
        </p:txBody>
      </p:sp>
      <p:pic>
        <p:nvPicPr>
          <p:cNvPr id="600068" name="Picture 4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2484438" y="2276475"/>
            <a:ext cx="2197100" cy="4114800"/>
          </a:xfrm>
          <a:noFill/>
          <a:ln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EDBAEA71-35ED-47CF-BC59-C0A61B16E438}" type="slidenum">
              <a:rPr lang="en-US"/>
              <a:pPr/>
              <a:t>238</a:t>
            </a:fld>
            <a:endParaRPr lang="en-US"/>
          </a:p>
        </p:txBody>
      </p:sp>
      <p:sp>
        <p:nvSpPr>
          <p:cNvPr id="601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smtClean="0"/>
              <a:t>CEVAP ANAHTARLARI</a:t>
            </a:r>
            <a:endParaRPr lang="en-US" sz="3600" smtClean="0"/>
          </a:p>
        </p:txBody>
      </p:sp>
      <p:sp>
        <p:nvSpPr>
          <p:cNvPr id="60109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49325" y="1981200"/>
            <a:ext cx="6502400" cy="4114800"/>
          </a:xfrm>
        </p:spPr>
        <p:txBody>
          <a:bodyPr/>
          <a:lstStyle/>
          <a:p>
            <a:r>
              <a:rPr lang="en-US" sz="1200" b="1" smtClean="0"/>
              <a:t>ÖĞRENME FALİYETİ </a:t>
            </a:r>
            <a:r>
              <a:rPr lang="tr-TR" sz="1200" b="1" smtClean="0"/>
              <a:t>2</a:t>
            </a:r>
            <a:r>
              <a:rPr lang="en-US" sz="1200" b="1" smtClean="0"/>
              <a:t>’</a:t>
            </a:r>
            <a:r>
              <a:rPr lang="tr-TR" sz="1200" b="1" smtClean="0"/>
              <a:t>N</a:t>
            </a:r>
            <a:r>
              <a:rPr lang="en-US" sz="1200" b="1" smtClean="0"/>
              <a:t>İN CEVAP ANAHTARI</a:t>
            </a:r>
            <a:endParaRPr lang="en-US" sz="1200" smtClean="0"/>
          </a:p>
          <a:p>
            <a:endParaRPr lang="en-US" sz="1200" smtClean="0"/>
          </a:p>
        </p:txBody>
      </p:sp>
      <p:pic>
        <p:nvPicPr>
          <p:cNvPr id="601092" name="Picture 4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2051050" y="2420938"/>
            <a:ext cx="2868613" cy="3419475"/>
          </a:xfrm>
          <a:noFill/>
          <a:ln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9B375E38-83E2-43F1-8C60-07B0073C764B}" type="slidenum">
              <a:rPr lang="en-US"/>
              <a:pPr/>
              <a:t>239</a:t>
            </a:fld>
            <a:endParaRPr lang="en-US"/>
          </a:p>
        </p:txBody>
      </p:sp>
      <p:sp>
        <p:nvSpPr>
          <p:cNvPr id="602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smtClean="0"/>
              <a:t>CEVAP ANAHTARLARI</a:t>
            </a:r>
            <a:endParaRPr lang="en-US" sz="3600" smtClean="0"/>
          </a:p>
        </p:txBody>
      </p:sp>
      <p:sp>
        <p:nvSpPr>
          <p:cNvPr id="60211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49325" y="1628775"/>
            <a:ext cx="7439025" cy="4968875"/>
          </a:xfrm>
        </p:spPr>
        <p:txBody>
          <a:bodyPr/>
          <a:lstStyle/>
          <a:p>
            <a:r>
              <a:rPr lang="en-US" sz="1200" b="1" smtClean="0"/>
              <a:t>ÖĞRENME FALİYETİ </a:t>
            </a:r>
            <a:r>
              <a:rPr lang="tr-TR" sz="1200" b="1" smtClean="0"/>
              <a:t>3</a:t>
            </a:r>
            <a:r>
              <a:rPr lang="en-US" sz="1200" b="1" smtClean="0"/>
              <a:t>’</a:t>
            </a:r>
            <a:r>
              <a:rPr lang="tr-TR" sz="1200" b="1" smtClean="0"/>
              <a:t>Ü</a:t>
            </a:r>
            <a:r>
              <a:rPr lang="en-US" sz="1200" b="1" smtClean="0"/>
              <a:t>N CEVAP ANAHTARI</a:t>
            </a:r>
            <a:endParaRPr lang="tr-TR" sz="1200" b="1" smtClean="0"/>
          </a:p>
          <a:p>
            <a:endParaRPr lang="tr-TR" sz="1200" b="1" smtClean="0"/>
          </a:p>
          <a:p>
            <a:endParaRPr lang="tr-TR" sz="1200" b="1" smtClean="0"/>
          </a:p>
          <a:p>
            <a:endParaRPr lang="tr-TR" sz="1200" b="1" smtClean="0"/>
          </a:p>
          <a:p>
            <a:endParaRPr lang="tr-TR" sz="1200" b="1" smtClean="0"/>
          </a:p>
          <a:p>
            <a:endParaRPr lang="tr-TR" sz="1200" b="1" smtClean="0"/>
          </a:p>
          <a:p>
            <a:endParaRPr lang="tr-TR" sz="1200" b="1" smtClean="0"/>
          </a:p>
          <a:p>
            <a:endParaRPr lang="tr-TR" sz="1200" b="1" smtClean="0"/>
          </a:p>
          <a:p>
            <a:endParaRPr lang="tr-TR" sz="1200" b="1" smtClean="0"/>
          </a:p>
          <a:p>
            <a:endParaRPr lang="tr-TR" sz="1200" b="1" smtClean="0"/>
          </a:p>
          <a:p>
            <a:endParaRPr lang="tr-TR" sz="1200" b="1" smtClean="0"/>
          </a:p>
          <a:p>
            <a:endParaRPr lang="tr-TR" sz="1200" b="1" smtClean="0"/>
          </a:p>
          <a:p>
            <a:r>
              <a:rPr lang="en-US" sz="1200" b="1" smtClean="0"/>
              <a:t>ÖĞRENME FALİYETİ </a:t>
            </a:r>
            <a:r>
              <a:rPr lang="tr-TR" sz="1200" b="1" smtClean="0"/>
              <a:t>4</a:t>
            </a:r>
            <a:r>
              <a:rPr lang="en-US" sz="1200" b="1" smtClean="0"/>
              <a:t>’</a:t>
            </a:r>
            <a:r>
              <a:rPr lang="tr-TR" sz="1200" b="1" smtClean="0"/>
              <a:t>Ü</a:t>
            </a:r>
            <a:r>
              <a:rPr lang="en-US" sz="1200" b="1" smtClean="0"/>
              <a:t>N CEVAP ANAHTARI</a:t>
            </a:r>
            <a:endParaRPr lang="en-US" sz="1200" smtClean="0"/>
          </a:p>
          <a:p>
            <a:endParaRPr lang="en-US" sz="1200" smtClean="0"/>
          </a:p>
        </p:txBody>
      </p:sp>
      <p:pic>
        <p:nvPicPr>
          <p:cNvPr id="602116" name="Picture 4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979613" y="1916113"/>
            <a:ext cx="1951037" cy="1981200"/>
          </a:xfrm>
          <a:noFill/>
          <a:ln/>
        </p:spPr>
      </p:pic>
      <p:pic>
        <p:nvPicPr>
          <p:cNvPr id="602117" name="Picture 5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2124075" y="4581525"/>
            <a:ext cx="2646363" cy="1981200"/>
          </a:xfrm>
          <a:noFill/>
          <a:ln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D6A81141-A753-4072-892C-4137A2096146}" type="slidenum">
              <a:rPr lang="en-US"/>
              <a:pPr/>
              <a:t>240</a:t>
            </a:fld>
            <a:endParaRPr lang="en-US"/>
          </a:p>
        </p:txBody>
      </p:sp>
      <p:sp>
        <p:nvSpPr>
          <p:cNvPr id="603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smtClean="0"/>
              <a:t>CEVAP ANAHTARLARI</a:t>
            </a:r>
          </a:p>
        </p:txBody>
      </p:sp>
      <p:sp>
        <p:nvSpPr>
          <p:cNvPr id="60313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49325" y="1981200"/>
            <a:ext cx="7439025" cy="4114800"/>
          </a:xfrm>
        </p:spPr>
        <p:txBody>
          <a:bodyPr/>
          <a:lstStyle/>
          <a:p>
            <a:r>
              <a:rPr lang="en-US" sz="1200" b="1" smtClean="0"/>
              <a:t>ÖĞRENME FALİYETİ </a:t>
            </a:r>
            <a:r>
              <a:rPr lang="tr-TR" sz="1200" b="1" smtClean="0"/>
              <a:t>5</a:t>
            </a:r>
            <a:r>
              <a:rPr lang="en-US" sz="1200" b="1" smtClean="0"/>
              <a:t>’</a:t>
            </a:r>
            <a:r>
              <a:rPr lang="tr-TR" sz="1200" b="1" smtClean="0"/>
              <a:t>İ</a:t>
            </a:r>
            <a:r>
              <a:rPr lang="en-US" sz="1200" b="1" smtClean="0"/>
              <a:t>N CEVAP ANAHTARI</a:t>
            </a:r>
            <a:endParaRPr lang="tr-TR" sz="1200" b="1" smtClean="0"/>
          </a:p>
          <a:p>
            <a:endParaRPr lang="en-US" sz="2800" smtClean="0"/>
          </a:p>
        </p:txBody>
      </p:sp>
      <p:pic>
        <p:nvPicPr>
          <p:cNvPr id="603140" name="Picture 4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2195513" y="2349500"/>
            <a:ext cx="2517775" cy="4114800"/>
          </a:xfrm>
          <a:noFill/>
          <a:ln/>
        </p:spPr>
      </p:pic>
    </p:spTree>
  </p:cSld>
  <p:clrMapOvr>
    <a:masterClrMapping/>
  </p:clrMapOvr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2E9FAFE1-65C3-4DAF-B990-E1B778D88CB0}" type="slidenum">
              <a:rPr lang="en-US"/>
              <a:pPr/>
              <a:t>241</a:t>
            </a:fld>
            <a:endParaRPr lang="en-US"/>
          </a:p>
        </p:txBody>
      </p:sp>
      <p:sp>
        <p:nvSpPr>
          <p:cNvPr id="604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smtClean="0"/>
              <a:t>CEVAP ANAHTARLARI</a:t>
            </a:r>
          </a:p>
        </p:txBody>
      </p:sp>
      <p:sp>
        <p:nvSpPr>
          <p:cNvPr id="60416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49325" y="1557338"/>
            <a:ext cx="7510463" cy="5111750"/>
          </a:xfrm>
        </p:spPr>
        <p:txBody>
          <a:bodyPr/>
          <a:lstStyle/>
          <a:p>
            <a:r>
              <a:rPr lang="en-US" sz="1200" b="1" smtClean="0"/>
              <a:t>ÖĞRENME FALİYETİ 6’NIN CEVAP ANAHTARI</a:t>
            </a:r>
            <a:endParaRPr lang="en-US" sz="1200" smtClean="0"/>
          </a:p>
          <a:p>
            <a:endParaRPr lang="tr-TR" sz="1200" b="1" smtClean="0"/>
          </a:p>
          <a:p>
            <a:endParaRPr lang="tr-TR" sz="1200" b="1" smtClean="0"/>
          </a:p>
          <a:p>
            <a:endParaRPr lang="tr-TR" sz="1200" b="1" smtClean="0"/>
          </a:p>
          <a:p>
            <a:endParaRPr lang="tr-TR" sz="1200" b="1" smtClean="0"/>
          </a:p>
          <a:p>
            <a:endParaRPr lang="tr-TR" sz="1200" b="1" smtClean="0"/>
          </a:p>
          <a:p>
            <a:endParaRPr lang="tr-TR" sz="1200" b="1" smtClean="0"/>
          </a:p>
          <a:p>
            <a:endParaRPr lang="tr-TR" sz="1200" b="1" smtClean="0"/>
          </a:p>
          <a:p>
            <a:endParaRPr lang="tr-TR" sz="1200" b="1" smtClean="0"/>
          </a:p>
          <a:p>
            <a:endParaRPr lang="tr-TR" sz="1200" b="1" smtClean="0"/>
          </a:p>
          <a:p>
            <a:endParaRPr lang="tr-TR" sz="1200" b="1" smtClean="0"/>
          </a:p>
          <a:p>
            <a:r>
              <a:rPr lang="en-US" sz="1200" b="1" smtClean="0"/>
              <a:t>ÖĞRENME FALİYETİ </a:t>
            </a:r>
            <a:r>
              <a:rPr lang="tr-TR" sz="1200" b="1" smtClean="0"/>
              <a:t>7</a:t>
            </a:r>
            <a:r>
              <a:rPr lang="en-US" sz="1200" b="1" smtClean="0"/>
              <a:t>’N</a:t>
            </a:r>
            <a:r>
              <a:rPr lang="tr-TR" sz="1200" b="1" smtClean="0"/>
              <a:t>İ</a:t>
            </a:r>
            <a:r>
              <a:rPr lang="en-US" sz="1200" b="1" smtClean="0"/>
              <a:t>N CEVAP ANAHTARI</a:t>
            </a:r>
            <a:endParaRPr lang="en-US" sz="1200" smtClean="0"/>
          </a:p>
          <a:p>
            <a:endParaRPr lang="en-US" sz="1200" smtClean="0"/>
          </a:p>
        </p:txBody>
      </p:sp>
      <p:pic>
        <p:nvPicPr>
          <p:cNvPr id="604164" name="Picture 4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2195513" y="1989138"/>
            <a:ext cx="2016125" cy="1709737"/>
          </a:xfrm>
          <a:noFill/>
          <a:ln/>
        </p:spPr>
      </p:pic>
      <p:pic>
        <p:nvPicPr>
          <p:cNvPr id="604165" name="Picture 5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2195513" y="4365625"/>
            <a:ext cx="2133600" cy="2159000"/>
          </a:xfrm>
          <a:noFill/>
          <a:ln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16F653A0-2723-40CA-AF23-A04A2FA58157}" type="slidenum">
              <a:rPr lang="en-US"/>
              <a:pPr/>
              <a:t>242</a:t>
            </a:fld>
            <a:endParaRPr lang="en-US"/>
          </a:p>
        </p:txBody>
      </p:sp>
      <p:sp>
        <p:nvSpPr>
          <p:cNvPr id="6051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smtClean="0"/>
              <a:t>CEVAP ANAHTARLARI</a:t>
            </a:r>
          </a:p>
        </p:txBody>
      </p:sp>
      <p:sp>
        <p:nvSpPr>
          <p:cNvPr id="60518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49325" y="1981200"/>
            <a:ext cx="7151688" cy="4114800"/>
          </a:xfrm>
        </p:spPr>
        <p:txBody>
          <a:bodyPr/>
          <a:lstStyle/>
          <a:p>
            <a:r>
              <a:rPr lang="en-US" sz="1200" b="1" smtClean="0"/>
              <a:t>ÖĞRENME FALİYETİ </a:t>
            </a:r>
            <a:r>
              <a:rPr lang="tr-TR" sz="1200" b="1" smtClean="0"/>
              <a:t>8</a:t>
            </a:r>
            <a:r>
              <a:rPr lang="en-US" sz="1200" b="1" smtClean="0"/>
              <a:t>’</a:t>
            </a:r>
            <a:r>
              <a:rPr lang="tr-TR" sz="1200" b="1" smtClean="0"/>
              <a:t>İN</a:t>
            </a:r>
            <a:r>
              <a:rPr lang="en-US" sz="1200" b="1" smtClean="0"/>
              <a:t> CEVAP ANAHTARI</a:t>
            </a:r>
            <a:endParaRPr lang="en-US" sz="1200" smtClean="0"/>
          </a:p>
          <a:p>
            <a:pPr>
              <a:buFont typeface="Wingdings" pitchFamily="2" charset="2"/>
              <a:buNone/>
            </a:pPr>
            <a:endParaRPr lang="en-US" sz="2800" smtClean="0"/>
          </a:p>
        </p:txBody>
      </p:sp>
      <p:pic>
        <p:nvPicPr>
          <p:cNvPr id="605188" name="Picture 4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979613" y="2565400"/>
            <a:ext cx="2868612" cy="2138363"/>
          </a:xfrm>
          <a:noFill/>
          <a:ln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E24CA0F1-EFC6-4759-A73E-A4A53B06A6DA}" type="slidenum">
              <a:rPr lang="en-US"/>
              <a:pPr/>
              <a:t>243</a:t>
            </a:fld>
            <a:endParaRPr lang="en-US"/>
          </a:p>
        </p:txBody>
      </p:sp>
      <p:sp>
        <p:nvSpPr>
          <p:cNvPr id="606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smtClean="0"/>
              <a:t>CEVAP ANAHTARLARI</a:t>
            </a:r>
          </a:p>
        </p:txBody>
      </p:sp>
      <p:sp>
        <p:nvSpPr>
          <p:cNvPr id="60621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49325" y="1981200"/>
            <a:ext cx="7439025" cy="4114800"/>
          </a:xfrm>
        </p:spPr>
        <p:txBody>
          <a:bodyPr/>
          <a:lstStyle/>
          <a:p>
            <a:r>
              <a:rPr lang="en-US" sz="1200" b="1" smtClean="0"/>
              <a:t>ÖĞRENME FALİYETİ 9’UN CEVAP ANAHTARI</a:t>
            </a:r>
          </a:p>
          <a:p>
            <a:endParaRPr lang="tr-TR" sz="1200" b="1" smtClean="0"/>
          </a:p>
          <a:p>
            <a:endParaRPr lang="tr-TR" sz="1200" b="1" smtClean="0"/>
          </a:p>
          <a:p>
            <a:endParaRPr lang="tr-TR" sz="1200" b="1" smtClean="0"/>
          </a:p>
          <a:p>
            <a:endParaRPr lang="tr-TR" sz="1200" b="1" smtClean="0"/>
          </a:p>
          <a:p>
            <a:endParaRPr lang="tr-TR" sz="1200" b="1" smtClean="0"/>
          </a:p>
          <a:p>
            <a:endParaRPr lang="tr-TR" sz="1200" b="1" smtClean="0"/>
          </a:p>
          <a:p>
            <a:endParaRPr lang="tr-TR" sz="1200" b="1" smtClean="0"/>
          </a:p>
          <a:p>
            <a:endParaRPr lang="tr-TR" sz="1200" b="1" smtClean="0"/>
          </a:p>
          <a:p>
            <a:endParaRPr lang="tr-TR" sz="1200" b="1" smtClean="0"/>
          </a:p>
          <a:p>
            <a:endParaRPr lang="tr-TR" sz="1200" b="1" smtClean="0"/>
          </a:p>
          <a:p>
            <a:r>
              <a:rPr lang="en-US" sz="1200" b="1" smtClean="0"/>
              <a:t>ÖĞRENME FALİYETİ 10’UN CEVAP ANAHTARI</a:t>
            </a:r>
            <a:endParaRPr lang="en-US" sz="1200" smtClean="0"/>
          </a:p>
          <a:p>
            <a:endParaRPr lang="en-US" sz="1200" smtClean="0"/>
          </a:p>
        </p:txBody>
      </p:sp>
      <p:pic>
        <p:nvPicPr>
          <p:cNvPr id="606212" name="Picture 4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2051050" y="2276475"/>
            <a:ext cx="2141538" cy="1981200"/>
          </a:xfrm>
          <a:noFill/>
          <a:ln/>
        </p:spPr>
      </p:pic>
      <p:pic>
        <p:nvPicPr>
          <p:cNvPr id="606213" name="Picture 5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2051050" y="4652963"/>
            <a:ext cx="2149475" cy="1981200"/>
          </a:xfrm>
          <a:noFill/>
          <a:ln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25AFF26B-CB1F-4981-9297-767199D6E293}" type="slidenum">
              <a:rPr lang="en-US"/>
              <a:pPr/>
              <a:t>244</a:t>
            </a:fld>
            <a:endParaRPr lang="en-US"/>
          </a:p>
        </p:txBody>
      </p:sp>
      <p:sp>
        <p:nvSpPr>
          <p:cNvPr id="607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smtClean="0"/>
              <a:t>MODÜL DEĞERLENDİRME</a:t>
            </a:r>
            <a:endParaRPr lang="en-US" sz="3600" smtClean="0"/>
          </a:p>
        </p:txBody>
      </p:sp>
      <p:sp>
        <p:nvSpPr>
          <p:cNvPr id="6072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sz="1800" smtClean="0"/>
              <a:t>Aşağıda verilen şemayı, işlem basamaklarını takip ederek ve önerileri dikkate alarak</a:t>
            </a:r>
            <a:r>
              <a:rPr lang="tr-TR" sz="1800" smtClean="0"/>
              <a:t> </a:t>
            </a:r>
            <a:r>
              <a:rPr lang="en-US" sz="1800" smtClean="0"/>
              <a:t>kurunuz ve gerekli ölçümleri yaparak çizelgeye kaydediniz.</a:t>
            </a:r>
            <a:endParaRPr lang="tr-TR" sz="1800" smtClean="0"/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tr-TR" sz="1800" smtClean="0"/>
              <a:t>	</a:t>
            </a:r>
            <a:endParaRPr lang="en-US" sz="1800" smtClean="0"/>
          </a:p>
          <a:p>
            <a:pPr lvl="1">
              <a:lnSpc>
                <a:spcPct val="80000"/>
              </a:lnSpc>
            </a:pPr>
            <a:r>
              <a:rPr lang="en-US" sz="1600" b="1" smtClean="0"/>
              <a:t>Malzeme listesi:</a:t>
            </a:r>
          </a:p>
          <a:p>
            <a:pPr lvl="1">
              <a:lnSpc>
                <a:spcPct val="80000"/>
              </a:lnSpc>
              <a:buFont typeface="Wingdings" pitchFamily="2" charset="2"/>
              <a:buNone/>
            </a:pPr>
            <a:r>
              <a:rPr lang="tr-TR" sz="1800" b="1" smtClean="0"/>
              <a:t>	</a:t>
            </a:r>
            <a:r>
              <a:rPr lang="en-US" sz="1800" b="1" smtClean="0"/>
              <a:t>Malzemenin adı </a:t>
            </a:r>
            <a:r>
              <a:rPr lang="tr-TR" sz="1800" b="1" smtClean="0"/>
              <a:t>		</a:t>
            </a:r>
            <a:r>
              <a:rPr lang="en-US" sz="1800" b="1" smtClean="0"/>
              <a:t>Malzemenin özellikleri</a:t>
            </a:r>
          </a:p>
          <a:p>
            <a:pPr lvl="2">
              <a:lnSpc>
                <a:spcPct val="80000"/>
              </a:lnSpc>
            </a:pPr>
            <a:r>
              <a:rPr lang="en-US" sz="1600" smtClean="0"/>
              <a:t>1 Ampermetre </a:t>
            </a:r>
            <a:r>
              <a:rPr lang="tr-TR" sz="1600" smtClean="0"/>
              <a:t>		</a:t>
            </a:r>
            <a:r>
              <a:rPr lang="en-US" sz="1600" smtClean="0"/>
              <a:t>AC, 0-5 A</a:t>
            </a:r>
          </a:p>
          <a:p>
            <a:pPr lvl="2">
              <a:lnSpc>
                <a:spcPct val="80000"/>
              </a:lnSpc>
            </a:pPr>
            <a:r>
              <a:rPr lang="en-US" sz="1600" smtClean="0"/>
              <a:t>2 Voltmetre </a:t>
            </a:r>
            <a:r>
              <a:rPr lang="tr-TR" sz="1600" smtClean="0"/>
              <a:t>		</a:t>
            </a:r>
            <a:r>
              <a:rPr lang="en-US" sz="1600" smtClean="0"/>
              <a:t>AC, 0-250 V</a:t>
            </a:r>
          </a:p>
          <a:p>
            <a:pPr lvl="2">
              <a:lnSpc>
                <a:spcPct val="80000"/>
              </a:lnSpc>
            </a:pPr>
            <a:r>
              <a:rPr lang="en-US" sz="1600" smtClean="0"/>
              <a:t>3 Wattmetre </a:t>
            </a:r>
            <a:r>
              <a:rPr lang="tr-TR" sz="1600" smtClean="0"/>
              <a:t>		</a:t>
            </a:r>
            <a:r>
              <a:rPr lang="en-US" sz="1600" smtClean="0"/>
              <a:t>AC 1000 w</a:t>
            </a:r>
          </a:p>
          <a:p>
            <a:pPr lvl="2">
              <a:lnSpc>
                <a:spcPct val="80000"/>
              </a:lnSpc>
            </a:pPr>
            <a:r>
              <a:rPr lang="en-US" sz="1600" smtClean="0"/>
              <a:t>4 Frekans metre </a:t>
            </a:r>
            <a:r>
              <a:rPr lang="tr-TR" sz="1600" smtClean="0"/>
              <a:t>	</a:t>
            </a:r>
            <a:r>
              <a:rPr lang="en-US" sz="1600" smtClean="0"/>
              <a:t>10-90 Hz</a:t>
            </a:r>
          </a:p>
          <a:p>
            <a:pPr lvl="2">
              <a:lnSpc>
                <a:spcPct val="80000"/>
              </a:lnSpc>
            </a:pPr>
            <a:r>
              <a:rPr lang="en-US" sz="1600" smtClean="0"/>
              <a:t>5 Lcrmetre</a:t>
            </a:r>
          </a:p>
          <a:p>
            <a:pPr lvl="2">
              <a:lnSpc>
                <a:spcPct val="80000"/>
              </a:lnSpc>
            </a:pPr>
            <a:r>
              <a:rPr lang="en-US" sz="1600" smtClean="0"/>
              <a:t>6 Fluoresant lamba </a:t>
            </a:r>
            <a:r>
              <a:rPr lang="tr-TR" sz="1600" smtClean="0"/>
              <a:t>	</a:t>
            </a:r>
            <a:r>
              <a:rPr lang="en-US" sz="1600" smtClean="0"/>
              <a:t>40 w bağlantısı yapılmış</a:t>
            </a:r>
          </a:p>
          <a:p>
            <a:pPr lvl="2">
              <a:lnSpc>
                <a:spcPct val="80000"/>
              </a:lnSpc>
            </a:pPr>
            <a:r>
              <a:rPr lang="en-US" sz="1600" smtClean="0"/>
              <a:t>7 Güç kaynağı </a:t>
            </a:r>
            <a:r>
              <a:rPr lang="tr-TR" sz="1600" smtClean="0"/>
              <a:t>		</a:t>
            </a:r>
            <a:r>
              <a:rPr lang="en-US" sz="1600" smtClean="0"/>
              <a:t>0-250 V, 2 A</a:t>
            </a:r>
          </a:p>
          <a:p>
            <a:pPr lvl="2">
              <a:lnSpc>
                <a:spcPct val="80000"/>
              </a:lnSpc>
            </a:pPr>
            <a:r>
              <a:rPr lang="en-US" sz="1600" smtClean="0"/>
              <a:t>8 Bağlantı iletkenleri </a:t>
            </a:r>
            <a:r>
              <a:rPr lang="tr-TR" sz="1600" smtClean="0"/>
              <a:t>	</a:t>
            </a:r>
            <a:r>
              <a:rPr lang="en-US" sz="1600" smtClean="0"/>
              <a:t>Çeşitli boyda</a:t>
            </a:r>
          </a:p>
          <a:p>
            <a:pPr lvl="1">
              <a:lnSpc>
                <a:spcPct val="80000"/>
              </a:lnSpc>
            </a:pPr>
            <a:endParaRPr lang="en-US" sz="1600" smtClean="0"/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FD2DDD88-B5E4-4A99-B9E5-C989A2D0E440}" type="slidenum">
              <a:rPr lang="en-US"/>
              <a:pPr/>
              <a:t>245</a:t>
            </a:fld>
            <a:endParaRPr lang="en-US"/>
          </a:p>
        </p:txBody>
      </p:sp>
      <p:sp>
        <p:nvSpPr>
          <p:cNvPr id="608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smtClean="0"/>
              <a:t>MODÜL DEĞERLENDİRME</a:t>
            </a:r>
          </a:p>
        </p:txBody>
      </p:sp>
      <p:sp>
        <p:nvSpPr>
          <p:cNvPr id="60825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49325" y="1981200"/>
            <a:ext cx="7510463" cy="41148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endParaRPr lang="tr-TR" sz="1400" b="1" smtClean="0"/>
          </a:p>
          <a:p>
            <a:pPr>
              <a:buFont typeface="Wingdings" pitchFamily="2" charset="2"/>
              <a:buNone/>
            </a:pPr>
            <a:endParaRPr lang="tr-TR" sz="1400" b="1" smtClean="0"/>
          </a:p>
          <a:p>
            <a:pPr>
              <a:buFont typeface="Wingdings" pitchFamily="2" charset="2"/>
              <a:buNone/>
            </a:pPr>
            <a:endParaRPr lang="tr-TR" sz="1400" b="1" smtClean="0"/>
          </a:p>
          <a:p>
            <a:pPr>
              <a:buFont typeface="Wingdings" pitchFamily="2" charset="2"/>
              <a:buNone/>
            </a:pPr>
            <a:endParaRPr lang="tr-TR" sz="1400" b="1" smtClean="0"/>
          </a:p>
          <a:p>
            <a:pPr>
              <a:buFont typeface="Wingdings" pitchFamily="2" charset="2"/>
              <a:buNone/>
            </a:pPr>
            <a:endParaRPr lang="tr-TR" sz="1400" b="1" smtClean="0"/>
          </a:p>
          <a:p>
            <a:pPr>
              <a:buFont typeface="Wingdings" pitchFamily="2" charset="2"/>
              <a:buNone/>
            </a:pPr>
            <a:endParaRPr lang="tr-TR" sz="1400" b="1" smtClean="0"/>
          </a:p>
          <a:p>
            <a:pPr>
              <a:buFont typeface="Wingdings" pitchFamily="2" charset="2"/>
              <a:buNone/>
            </a:pPr>
            <a:endParaRPr lang="tr-TR" sz="1400" b="1" smtClean="0"/>
          </a:p>
          <a:p>
            <a:pPr>
              <a:buFont typeface="Wingdings" pitchFamily="2" charset="2"/>
              <a:buNone/>
            </a:pPr>
            <a:endParaRPr lang="tr-TR" sz="1400" b="1" smtClean="0"/>
          </a:p>
          <a:p>
            <a:pPr>
              <a:buFont typeface="Wingdings" pitchFamily="2" charset="2"/>
              <a:buNone/>
            </a:pPr>
            <a:endParaRPr lang="tr-TR" sz="1400" b="1" smtClean="0"/>
          </a:p>
          <a:p>
            <a:pPr>
              <a:buFont typeface="Wingdings" pitchFamily="2" charset="2"/>
              <a:buNone/>
            </a:pPr>
            <a:endParaRPr lang="tr-TR" sz="1400" b="1" smtClean="0"/>
          </a:p>
          <a:p>
            <a:pPr>
              <a:buFont typeface="Wingdings" pitchFamily="2" charset="2"/>
              <a:buNone/>
            </a:pPr>
            <a:endParaRPr lang="tr-TR" sz="1400" b="1" smtClean="0"/>
          </a:p>
          <a:p>
            <a:pPr>
              <a:buFont typeface="Wingdings" pitchFamily="2" charset="2"/>
              <a:buNone/>
            </a:pPr>
            <a:endParaRPr lang="tr-TR" sz="1400" b="1" smtClean="0"/>
          </a:p>
          <a:p>
            <a:pPr>
              <a:buFont typeface="Wingdings" pitchFamily="2" charset="2"/>
              <a:buNone/>
            </a:pPr>
            <a:endParaRPr lang="tr-TR" sz="1400" b="1" smtClean="0"/>
          </a:p>
          <a:p>
            <a:pPr>
              <a:buFont typeface="Wingdings" pitchFamily="2" charset="2"/>
              <a:buNone/>
            </a:pPr>
            <a:r>
              <a:rPr lang="tr-TR" sz="1400" b="1" smtClean="0"/>
              <a:t>		</a:t>
            </a:r>
            <a:r>
              <a:rPr lang="en-US" sz="1400" b="1" smtClean="0"/>
              <a:t>Modül değerlendirme uygulaması bağlantı şekli</a:t>
            </a:r>
            <a:endParaRPr lang="en-US" sz="1400" smtClean="0"/>
          </a:p>
          <a:p>
            <a:pPr>
              <a:buFont typeface="Wingdings" pitchFamily="2" charset="2"/>
              <a:buNone/>
            </a:pPr>
            <a:endParaRPr lang="en-US" sz="1400" smtClean="0"/>
          </a:p>
        </p:txBody>
      </p:sp>
      <p:pic>
        <p:nvPicPr>
          <p:cNvPr id="608260" name="Picture 4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16013" y="1989138"/>
            <a:ext cx="7127875" cy="2944812"/>
          </a:xfrm>
          <a:noFill/>
          <a:ln/>
        </p:spPr>
      </p:pic>
    </p:spTree>
  </p:cSld>
  <p:clrMapOvr>
    <a:masterClrMapping/>
  </p:clrMapOvr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50B4A-BD99-400E-90EC-49DB8D56AA42}" type="slidenum">
              <a:rPr lang="en-US"/>
              <a:pPr/>
              <a:t>246</a:t>
            </a:fld>
            <a:endParaRPr lang="en-US"/>
          </a:p>
        </p:txBody>
      </p:sp>
      <p:sp>
        <p:nvSpPr>
          <p:cNvPr id="609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smtClean="0"/>
              <a:t>MODÜL DEĞERLENDİRME</a:t>
            </a:r>
          </a:p>
        </p:txBody>
      </p:sp>
      <p:graphicFrame>
        <p:nvGraphicFramePr>
          <p:cNvPr id="609283" name="Group 3"/>
          <p:cNvGraphicFramePr>
            <a:graphicFrameLocks noGrp="1"/>
          </p:cNvGraphicFramePr>
          <p:nvPr>
            <p:ph idx="1"/>
          </p:nvPr>
        </p:nvGraphicFramePr>
        <p:xfrm>
          <a:off x="949325" y="1981200"/>
          <a:ext cx="7661275" cy="3491104"/>
        </p:xfrm>
        <a:graphic>
          <a:graphicData uri="http://schemas.openxmlformats.org/drawingml/2006/table">
            <a:tbl>
              <a:tblPr/>
              <a:tblGrid>
                <a:gridCol w="3830638"/>
                <a:gridCol w="3830637"/>
              </a:tblGrid>
              <a:tr h="4206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İşlem Basamakları</a:t>
                      </a: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Öneriler</a:t>
                      </a: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112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Malzeme listesinde verilen ölçü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aletlerini temin et.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Ölçü aletlerinin verilen özelliklerde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seçilmesine dikkat ediniz.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921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Ölçü aletlerinin ve alıcının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yerleşimini bağlantı şemasına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uygun olarak yap.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Ölçü aletlerini bağlantıyı rahat ve düzenli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yapabileceğiniz şekilde yerleştiriniz.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54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Rlcmetre ile balansın endüktans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değerini ölç.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􀂾 Endüktans değerini ölçüp kaydediniz.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62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Ölçü aletleri ve alıcı arasındaki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bağlantıyı yap.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Bağlantıyı yaparken önce seri, sonra paralel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bağlantıları yapmanız size kolaylık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sağlayacaktır.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94142-95A6-42BC-A7BA-A60196581BCB}" type="slidenum">
              <a:rPr lang="en-US"/>
              <a:pPr/>
              <a:t>247</a:t>
            </a:fld>
            <a:endParaRPr lang="en-US"/>
          </a:p>
        </p:txBody>
      </p:sp>
      <p:sp>
        <p:nvSpPr>
          <p:cNvPr id="610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smtClean="0"/>
              <a:t>MODÜL DEĞERLENDİRME</a:t>
            </a:r>
          </a:p>
        </p:txBody>
      </p:sp>
      <p:graphicFrame>
        <p:nvGraphicFramePr>
          <p:cNvPr id="610307" name="Group 3"/>
          <p:cNvGraphicFramePr>
            <a:graphicFrameLocks noGrp="1"/>
          </p:cNvGraphicFramePr>
          <p:nvPr>
            <p:ph idx="1"/>
          </p:nvPr>
        </p:nvGraphicFramePr>
        <p:xfrm>
          <a:off x="949325" y="1981200"/>
          <a:ext cx="7661275" cy="2566480"/>
        </p:xfrm>
        <a:graphic>
          <a:graphicData uri="http://schemas.openxmlformats.org/drawingml/2006/table">
            <a:tbl>
              <a:tblPr/>
              <a:tblGrid>
                <a:gridCol w="3830638"/>
                <a:gridCol w="3830637"/>
              </a:tblGrid>
              <a:tr h="4206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İşlem Basamakları</a:t>
                      </a: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Öneriler</a:t>
                      </a: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112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Devrenin bağlantısını kontrol et. 􀂾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Şemaya göre bağlantının kontrolünü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yapınız.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921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Devreye enerji vererek ölçü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aletlerinden okunan değerleri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kaydet.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Devreye öğretmeninizin gözetiminde enerji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veriniz.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Ölçü aletlerinin gösterdiği değerleri hatasız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okumak için gerekli önlemleri alınız.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737FADA7-9AE4-42F1-8D68-4D1FA35F4621}" type="slidenum">
              <a:rPr lang="en-US"/>
              <a:pPr/>
              <a:t>248</a:t>
            </a:fld>
            <a:endParaRPr lang="en-US"/>
          </a:p>
        </p:txBody>
      </p:sp>
      <p:sp>
        <p:nvSpPr>
          <p:cNvPr id="611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smtClean="0"/>
              <a:t>MODÜL DEĞERLENDİRME</a:t>
            </a:r>
          </a:p>
        </p:txBody>
      </p:sp>
      <p:sp>
        <p:nvSpPr>
          <p:cNvPr id="61133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49325" y="1981200"/>
            <a:ext cx="7294563" cy="4114800"/>
          </a:xfrm>
        </p:spPr>
        <p:txBody>
          <a:bodyPr/>
          <a:lstStyle/>
          <a:p>
            <a:r>
              <a:rPr lang="en-US" sz="1600" b="1" smtClean="0"/>
              <a:t>Alınan değerler:</a:t>
            </a:r>
            <a:endParaRPr lang="en-US" sz="1600" smtClean="0"/>
          </a:p>
          <a:p>
            <a:endParaRPr lang="en-US" sz="1600" smtClean="0"/>
          </a:p>
        </p:txBody>
      </p:sp>
      <p:pic>
        <p:nvPicPr>
          <p:cNvPr id="611332" name="Picture 4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258888" y="2708275"/>
            <a:ext cx="6337300" cy="1327150"/>
          </a:xfrm>
          <a:noFill/>
          <a:ln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291D2EE5-BC95-42B4-AB1D-BE7279E26EFB}" type="slidenum">
              <a:rPr lang="en-US"/>
              <a:pPr/>
              <a:t>249</a:t>
            </a:fld>
            <a:endParaRPr lang="en-US"/>
          </a:p>
        </p:txBody>
      </p:sp>
      <p:sp>
        <p:nvSpPr>
          <p:cNvPr id="612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smtClean="0"/>
              <a:t>MODÜL DEĞERLENDİRME</a:t>
            </a:r>
          </a:p>
        </p:txBody>
      </p:sp>
      <p:sp>
        <p:nvSpPr>
          <p:cNvPr id="612355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en-US" sz="1400" b="1" smtClean="0"/>
              <a:t>DERECELENDİRME ÖLÇEĞİ</a:t>
            </a:r>
            <a:endParaRPr lang="en-US" sz="1400" smtClean="0"/>
          </a:p>
          <a:p>
            <a:endParaRPr lang="en-US" sz="1400" smtClean="0"/>
          </a:p>
        </p:txBody>
      </p:sp>
      <p:graphicFrame>
        <p:nvGraphicFramePr>
          <p:cNvPr id="612356" name="Group 4"/>
          <p:cNvGraphicFramePr>
            <a:graphicFrameLocks noGrp="1"/>
          </p:cNvGraphicFramePr>
          <p:nvPr>
            <p:ph sz="half" idx="2"/>
          </p:nvPr>
        </p:nvGraphicFramePr>
        <p:xfrm>
          <a:off x="1042988" y="2420938"/>
          <a:ext cx="7345362" cy="3950781"/>
        </p:xfrm>
        <a:graphic>
          <a:graphicData uri="http://schemas.openxmlformats.org/drawingml/2006/table">
            <a:tbl>
              <a:tblPr/>
              <a:tblGrid>
                <a:gridCol w="1836737"/>
                <a:gridCol w="3205163"/>
                <a:gridCol w="1366837"/>
                <a:gridCol w="936625"/>
              </a:tblGrid>
              <a:tr h="9652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Modülün Adı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Elektriksel</a:t>
                      </a:r>
                      <a:endParaRPr kumimoji="0" lang="tr-T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büyüklükler ve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ölçülmesi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Öğrencinin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Adı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Soyadı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Sınıfı No</a:t>
                      </a: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</a:tr>
              <a:tr h="487363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DEĞERLENDİRME KRİTERLERİ</a:t>
                      </a: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Evet</a:t>
                      </a: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Hayır</a:t>
                      </a: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2263">
                <a:tc gridSpan="2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Ölçü aletlerinin ölçme sınırını uygun seçmek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tr-T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tr-T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5763">
                <a:tc gridSpan="2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Ölçü aletlerini AC-DC özelliğine uygun seçmek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tr-T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tr-T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0363">
                <a:tc gridSpan="2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Ölçü aletlerini, yapılacak ölçümün genel özelliğine uygun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seçim yapmak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tr-T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tr-T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98475">
                <a:tc gridSpan="2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Ölçü aletlerinin çalışma özelliğine uygun konumda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yerleştirmek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tr-T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tr-T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0363">
                <a:tc gridSpan="2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Ölçü aletlerini, bağlantı ve ölçme kolaylığı sağlayacak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yerleşimi yapmak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tr-T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tr-T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9D4FB-5E50-4347-B1A9-4168433182F5}" type="slidenum">
              <a:rPr lang="en-US"/>
              <a:pPr/>
              <a:t>250</a:t>
            </a:fld>
            <a:endParaRPr lang="en-US"/>
          </a:p>
        </p:txBody>
      </p:sp>
      <p:sp>
        <p:nvSpPr>
          <p:cNvPr id="6133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smtClean="0"/>
              <a:t>MODÜL DEĞERLENDİRME</a:t>
            </a:r>
          </a:p>
        </p:txBody>
      </p:sp>
      <p:graphicFrame>
        <p:nvGraphicFramePr>
          <p:cNvPr id="613379" name="Group 3"/>
          <p:cNvGraphicFramePr>
            <a:graphicFrameLocks noGrp="1"/>
          </p:cNvGraphicFramePr>
          <p:nvPr>
            <p:ph idx="1"/>
          </p:nvPr>
        </p:nvGraphicFramePr>
        <p:xfrm>
          <a:off x="949325" y="1981200"/>
          <a:ext cx="7661275" cy="3768728"/>
        </p:xfrm>
        <a:graphic>
          <a:graphicData uri="http://schemas.openxmlformats.org/drawingml/2006/table">
            <a:tbl>
              <a:tblPr/>
              <a:tblGrid>
                <a:gridCol w="5135563"/>
                <a:gridCol w="1223962"/>
                <a:gridCol w="1301750"/>
              </a:tblGrid>
              <a:tr h="2381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DEĞERLENDİRME KRİTERLERİ</a:t>
                      </a: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tr-T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Evet</a:t>
                      </a:r>
                      <a:endParaRPr kumimoji="0" 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tr-T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Hayır</a:t>
                      </a:r>
                      <a:endParaRPr kumimoji="0" 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4175">
                <a:tc gridSpan="3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Endüktans ölçmek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Rlcmetre kademe seçimini doğru yapmak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tr-T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tr-T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41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Rlcmetre ile ölçümü gerçekleştirecek bağlantıyı yapmak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tr-T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tr-T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25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Endüktans değerini ölçme hatasız ve doğru ölçmek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tr-T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tr-T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25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Ampermetre bağlantısını doğru yapmak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tr-T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tr-T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25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Voltmetre bağlantısını doğru yapmak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tr-T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tr-T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25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Wattmetre bağlantısını doğru yapmak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tr-T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tr-T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25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Frekans metre bağlantısını doğru yapmak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tr-T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tr-T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25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Alıcı bağlantısını doğru yapmak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tr-T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tr-T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200DE-A4A0-4263-98FF-AE208A7C6DEA}" type="slidenum">
              <a:rPr lang="en-US"/>
              <a:pPr/>
              <a:t>251</a:t>
            </a:fld>
            <a:endParaRPr lang="en-US"/>
          </a:p>
        </p:txBody>
      </p:sp>
      <p:sp>
        <p:nvSpPr>
          <p:cNvPr id="614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smtClean="0"/>
              <a:t>MODÜL DEĞERLENDİRME</a:t>
            </a:r>
          </a:p>
        </p:txBody>
      </p:sp>
      <p:graphicFrame>
        <p:nvGraphicFramePr>
          <p:cNvPr id="614403" name="Group 3"/>
          <p:cNvGraphicFramePr>
            <a:graphicFrameLocks noGrp="1"/>
          </p:cNvGraphicFramePr>
          <p:nvPr>
            <p:ph idx="1"/>
          </p:nvPr>
        </p:nvGraphicFramePr>
        <p:xfrm>
          <a:off x="949325" y="1981200"/>
          <a:ext cx="7661275" cy="4114804"/>
        </p:xfrm>
        <a:graphic>
          <a:graphicData uri="http://schemas.openxmlformats.org/drawingml/2006/table">
            <a:tbl>
              <a:tblPr/>
              <a:tblGrid>
                <a:gridCol w="5135563"/>
                <a:gridCol w="1223962"/>
                <a:gridCol w="1301750"/>
              </a:tblGrid>
              <a:tr h="3317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DEĞERLENDİRME KRİTERLERİ</a:t>
                      </a: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tr-T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Evet</a:t>
                      </a:r>
                      <a:endParaRPr kumimoji="0" 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tr-T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Hayır</a:t>
                      </a:r>
                      <a:endParaRPr kumimoji="0" 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9100">
                <a:tc gridSpan="3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Bağlantı kontrolü ve düzen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</a:tr>
              <a:tr h="4365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Kontrolleri tekniğine uygun yapmak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tr-T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tr-T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06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Bağlantının geretirdiği uzunlukta kablo kullanmak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tr-T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tr-T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75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Devre bağlantısının genel tertip ve düzeni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tr-T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tr-T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7513">
                <a:tc gridSpan="3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Ölçme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</a:tr>
              <a:tr h="4175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Akım değerinin ölçme hatasız tespiti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tr-T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tr-T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Gerilim değerinin ölçme hatasız tespiti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tr-T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tr-T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75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Güç değerinin ölçme hatasız tespiti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tr-T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tr-T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75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Frekans değerinin ölçme hatasız tespiti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tr-T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tr-T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39CD9-AC9F-425B-88D8-BE61D6013962}" type="slidenum">
              <a:rPr lang="en-US"/>
              <a:pPr/>
              <a:t>252</a:t>
            </a:fld>
            <a:endParaRPr lang="en-US"/>
          </a:p>
        </p:txBody>
      </p:sp>
      <p:sp>
        <p:nvSpPr>
          <p:cNvPr id="615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smtClean="0"/>
              <a:t>MODÜL DEĞERLENDİRME</a:t>
            </a:r>
          </a:p>
        </p:txBody>
      </p:sp>
      <p:graphicFrame>
        <p:nvGraphicFramePr>
          <p:cNvPr id="615427" name="Group 3"/>
          <p:cNvGraphicFramePr>
            <a:graphicFrameLocks noGrp="1"/>
          </p:cNvGraphicFramePr>
          <p:nvPr>
            <p:ph idx="1"/>
          </p:nvPr>
        </p:nvGraphicFramePr>
        <p:xfrm>
          <a:off x="949325" y="1981200"/>
          <a:ext cx="7661275" cy="3741041"/>
        </p:xfrm>
        <a:graphic>
          <a:graphicData uri="http://schemas.openxmlformats.org/drawingml/2006/table">
            <a:tbl>
              <a:tblPr/>
              <a:tblGrid>
                <a:gridCol w="5135563"/>
                <a:gridCol w="1223962"/>
                <a:gridCol w="1301750"/>
              </a:tblGrid>
              <a:tr h="2381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DEĞERLENDİRME KRİTERLERİ</a:t>
                      </a: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tr-T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Evet</a:t>
                      </a:r>
                      <a:endParaRPr kumimoji="0" 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tr-T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Hayır</a:t>
                      </a:r>
                      <a:endParaRPr kumimoji="0" 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4175">
                <a:tc gridSpan="3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İş güvenliği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Gerekli kontrolleri yaparak devreye enerji vermek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tr-T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tr-T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41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Ölçümleri tamamladıktan sonra enerjiyi keserek bağlantıyı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Sökmek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tr-T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tr-T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25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Süre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tr-T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</a:tr>
              <a:tr h="3825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Devreyi öğretmen tarafından verilen sürede kurmak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tr-T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tr-T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25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Ölçümleri öğretmen tarafından verilen sürede ölçme hatasız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Tamamlamak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tr-T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tr-T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25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Tavır ve davranış şekli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tr-T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</a:tr>
              <a:tr h="3825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Çalışma süresince gerekli tutum ve davranışları sergileme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tr-T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tr-T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fld id="{1AA5B05C-AA93-41FF-AB73-B4089E4C7BE5}" type="slidenum">
              <a:rPr lang="en-US"/>
              <a:pPr/>
              <a:t>253</a:t>
            </a:fld>
            <a:endParaRPr lang="en-US"/>
          </a:p>
        </p:txBody>
      </p:sp>
      <p:sp>
        <p:nvSpPr>
          <p:cNvPr id="616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smtClean="0"/>
              <a:t>KAYNAKLAR</a:t>
            </a:r>
            <a:endParaRPr lang="en-US" sz="3600" smtClean="0"/>
          </a:p>
        </p:txBody>
      </p:sp>
      <p:sp>
        <p:nvSpPr>
          <p:cNvPr id="6164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sz="1800" smtClean="0"/>
              <a:t>Soydal, Osman. </a:t>
            </a:r>
            <a:r>
              <a:rPr lang="en-US" sz="1800" b="1" smtClean="0"/>
              <a:t>Ölçme tekniği ve laboratuvarı</a:t>
            </a:r>
            <a:r>
              <a:rPr lang="en-US" sz="1800" smtClean="0"/>
              <a:t>, Ankara: MEB, 2000.</a:t>
            </a:r>
          </a:p>
          <a:p>
            <a:pPr>
              <a:lnSpc>
                <a:spcPct val="80000"/>
              </a:lnSpc>
            </a:pPr>
            <a:r>
              <a:rPr lang="en-US" sz="1800" smtClean="0"/>
              <a:t>Nacar, Mahmut. </a:t>
            </a:r>
            <a:r>
              <a:rPr lang="en-US" sz="1800" b="1" smtClean="0"/>
              <a:t>Laboratuar 1, </a:t>
            </a:r>
            <a:r>
              <a:rPr lang="en-US" sz="1800" smtClean="0"/>
              <a:t>K.Maraş: Ocak, 2000.</a:t>
            </a:r>
          </a:p>
          <a:p>
            <a:pPr>
              <a:lnSpc>
                <a:spcPct val="80000"/>
              </a:lnSpc>
            </a:pPr>
            <a:r>
              <a:rPr lang="en-US" sz="1800" smtClean="0"/>
              <a:t>Özcan, Necati. Sadık Cimbar,. </a:t>
            </a:r>
            <a:r>
              <a:rPr lang="en-US" sz="1800" b="1" smtClean="0"/>
              <a:t>Elektrik-Elektronik laboratuvarı</a:t>
            </a:r>
            <a:r>
              <a:rPr lang="en-US" sz="1800" smtClean="0"/>
              <a:t>, Ankara, 1997.</a:t>
            </a:r>
          </a:p>
          <a:p>
            <a:pPr>
              <a:lnSpc>
                <a:spcPct val="80000"/>
              </a:lnSpc>
            </a:pPr>
            <a:r>
              <a:rPr lang="en-US" sz="1800" smtClean="0"/>
              <a:t>Nayman, Muhsin. </a:t>
            </a:r>
            <a:r>
              <a:rPr lang="en-US" sz="1800" b="1" smtClean="0"/>
              <a:t>Laboratuar 1</a:t>
            </a:r>
            <a:r>
              <a:rPr lang="en-US" sz="1800" smtClean="0"/>
              <a:t>, Ankara, 2000.</a:t>
            </a:r>
          </a:p>
          <a:p>
            <a:pPr>
              <a:lnSpc>
                <a:spcPct val="80000"/>
              </a:lnSpc>
            </a:pPr>
            <a:r>
              <a:rPr lang="en-US" sz="1800" smtClean="0"/>
              <a:t>Anasız, Kadir. </a:t>
            </a:r>
            <a:r>
              <a:rPr lang="en-US" sz="1800" b="1" smtClean="0"/>
              <a:t>Elektrik Ölçü Aletleri ve Elektriksel Ölçmeler</a:t>
            </a:r>
            <a:r>
              <a:rPr lang="en-US" sz="1800" smtClean="0"/>
              <a:t>. Ankara: MEB 1992.</a:t>
            </a:r>
          </a:p>
          <a:p>
            <a:pPr>
              <a:lnSpc>
                <a:spcPct val="80000"/>
              </a:lnSpc>
            </a:pPr>
            <a:r>
              <a:rPr lang="en-US" sz="1800" smtClean="0"/>
              <a:t>Netes, </a:t>
            </a:r>
            <a:r>
              <a:rPr lang="en-US" sz="1800" b="1" smtClean="0"/>
              <a:t>Test ve ölçü aletleri kataloğu</a:t>
            </a:r>
            <a:r>
              <a:rPr lang="en-US" sz="1800" smtClean="0"/>
              <a:t>, 2005.</a:t>
            </a:r>
          </a:p>
          <a:p>
            <a:pPr>
              <a:lnSpc>
                <a:spcPct val="80000"/>
              </a:lnSpc>
            </a:pPr>
            <a:r>
              <a:rPr lang="en-US" sz="1800" smtClean="0"/>
              <a:t>Protel, </a:t>
            </a:r>
            <a:r>
              <a:rPr lang="en-US" sz="1800" b="1" smtClean="0"/>
              <a:t>Ürün kataloğu</a:t>
            </a:r>
            <a:r>
              <a:rPr lang="en-US" sz="1800" smtClean="0"/>
              <a:t>, 2005.</a:t>
            </a:r>
          </a:p>
          <a:p>
            <a:pPr>
              <a:lnSpc>
                <a:spcPct val="80000"/>
              </a:lnSpc>
            </a:pPr>
            <a:r>
              <a:rPr lang="en-US" sz="1800" smtClean="0"/>
              <a:t>Ermiş Oktay, Önder Durgun, Hasan Şanlıdağ. </a:t>
            </a:r>
            <a:r>
              <a:rPr lang="en-US" sz="1800" b="1" smtClean="0"/>
              <a:t>Elektrik makineleri deney kitabı,</a:t>
            </a:r>
          </a:p>
          <a:p>
            <a:pPr>
              <a:lnSpc>
                <a:spcPct val="80000"/>
              </a:lnSpc>
            </a:pPr>
            <a:r>
              <a:rPr lang="en-US" sz="1800" smtClean="0"/>
              <a:t>Ankara, 2002.</a:t>
            </a:r>
          </a:p>
          <a:p>
            <a:pPr>
              <a:lnSpc>
                <a:spcPct val="80000"/>
              </a:lnSpc>
            </a:pPr>
            <a:r>
              <a:rPr lang="en-US" sz="1800" smtClean="0"/>
              <a:t>GÜNDOĞDU, İsmail. Ders Notları, Bursa, 2005.</a:t>
            </a:r>
          </a:p>
          <a:p>
            <a:pPr>
              <a:lnSpc>
                <a:spcPct val="80000"/>
              </a:lnSpc>
            </a:pPr>
            <a:endParaRPr lang="en-US" sz="18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arent bill of rights presentation">
  <a:themeElements>
    <a:clrScheme name="Axis 8">
      <a:dk1>
        <a:srgbClr val="292929"/>
      </a:dk1>
      <a:lt1>
        <a:srgbClr val="FFFFFF"/>
      </a:lt1>
      <a:dk2>
        <a:srgbClr val="000000"/>
      </a:dk2>
      <a:lt2>
        <a:srgbClr val="808080"/>
      </a:lt2>
      <a:accent1>
        <a:srgbClr val="CC9900"/>
      </a:accent1>
      <a:accent2>
        <a:srgbClr val="CCCC99"/>
      </a:accent2>
      <a:accent3>
        <a:srgbClr val="FFFFFF"/>
      </a:accent3>
      <a:accent4>
        <a:srgbClr val="212121"/>
      </a:accent4>
      <a:accent5>
        <a:srgbClr val="E2CAAA"/>
      </a:accent5>
      <a:accent6>
        <a:srgbClr val="B9B98A"/>
      </a:accent6>
      <a:hlink>
        <a:srgbClr val="999933"/>
      </a:hlink>
      <a:folHlink>
        <a:srgbClr val="B2B2B2"/>
      </a:folHlink>
    </a:clrScheme>
    <a:fontScheme name="Axi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Axis 1">
        <a:dk1>
          <a:srgbClr val="080808"/>
        </a:dk1>
        <a:lt1>
          <a:srgbClr val="F8F8F8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ADAAAA"/>
        </a:accent3>
        <a:accent4>
          <a:srgbClr val="D4D4D4"/>
        </a:accent4>
        <a:accent5>
          <a:srgbClr val="FFCAAA"/>
        </a:accent5>
        <a:accent6>
          <a:srgbClr val="B92D00"/>
        </a:accent6>
        <a:hlink>
          <a:srgbClr val="CC6600"/>
        </a:hlink>
        <a:folHlink>
          <a:srgbClr val="B2B28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xis 2">
        <a:dk1>
          <a:srgbClr val="333333"/>
        </a:dk1>
        <a:lt1>
          <a:srgbClr val="F8F8F8"/>
        </a:lt1>
        <a:dk2>
          <a:srgbClr val="800000"/>
        </a:dk2>
        <a:lt2>
          <a:srgbClr val="FFFFFF"/>
        </a:lt2>
        <a:accent1>
          <a:srgbClr val="CC9900"/>
        </a:accent1>
        <a:accent2>
          <a:srgbClr val="666666"/>
        </a:accent2>
        <a:accent3>
          <a:srgbClr val="C0AAAA"/>
        </a:accent3>
        <a:accent4>
          <a:srgbClr val="D4D4D4"/>
        </a:accent4>
        <a:accent5>
          <a:srgbClr val="E2CAAA"/>
        </a:accent5>
        <a:accent6>
          <a:srgbClr val="5C5C5C"/>
        </a:accent6>
        <a:hlink>
          <a:srgbClr val="CC6600"/>
        </a:hlink>
        <a:folHlink>
          <a:srgbClr val="95A58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xis 3">
        <a:dk1>
          <a:srgbClr val="5F5F5F"/>
        </a:dk1>
        <a:lt1>
          <a:srgbClr val="A4BEE0"/>
        </a:lt1>
        <a:dk2>
          <a:srgbClr val="013253"/>
        </a:dk2>
        <a:lt2>
          <a:srgbClr val="FFFFFF"/>
        </a:lt2>
        <a:accent1>
          <a:srgbClr val="588480"/>
        </a:accent1>
        <a:accent2>
          <a:srgbClr val="6600FF"/>
        </a:accent2>
        <a:accent3>
          <a:srgbClr val="AAADB3"/>
        </a:accent3>
        <a:accent4>
          <a:srgbClr val="8BA2BF"/>
        </a:accent4>
        <a:accent5>
          <a:srgbClr val="B4C2C0"/>
        </a:accent5>
        <a:accent6>
          <a:srgbClr val="5C00E7"/>
        </a:accent6>
        <a:hlink>
          <a:srgbClr val="CCCC00"/>
        </a:hlink>
        <a:folHlink>
          <a:srgbClr val="5F5F5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xis 4">
        <a:dk1>
          <a:srgbClr val="003300"/>
        </a:dk1>
        <a:lt1>
          <a:srgbClr val="F8F8F8"/>
        </a:lt1>
        <a:dk2>
          <a:srgbClr val="3D4A1C"/>
        </a:dk2>
        <a:lt2>
          <a:srgbClr val="FFFFFF"/>
        </a:lt2>
        <a:accent1>
          <a:srgbClr val="99CC00"/>
        </a:accent1>
        <a:accent2>
          <a:srgbClr val="669900"/>
        </a:accent2>
        <a:accent3>
          <a:srgbClr val="AFB1AB"/>
        </a:accent3>
        <a:accent4>
          <a:srgbClr val="D4D4D4"/>
        </a:accent4>
        <a:accent5>
          <a:srgbClr val="CAE2AA"/>
        </a:accent5>
        <a:accent6>
          <a:srgbClr val="5C8A00"/>
        </a:accent6>
        <a:hlink>
          <a:srgbClr val="CC9900"/>
        </a:hlink>
        <a:folHlink>
          <a:srgbClr val="B2B28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xis 5">
        <a:dk1>
          <a:srgbClr val="333333"/>
        </a:dk1>
        <a:lt1>
          <a:srgbClr val="F8F8F8"/>
        </a:lt1>
        <a:dk2>
          <a:srgbClr val="005D8C"/>
        </a:dk2>
        <a:lt2>
          <a:srgbClr val="FFFFFF"/>
        </a:lt2>
        <a:accent1>
          <a:srgbClr val="00CC99"/>
        </a:accent1>
        <a:accent2>
          <a:srgbClr val="0099CC"/>
        </a:accent2>
        <a:accent3>
          <a:srgbClr val="AAB6C5"/>
        </a:accent3>
        <a:accent4>
          <a:srgbClr val="D4D4D4"/>
        </a:accent4>
        <a:accent5>
          <a:srgbClr val="AAE2CA"/>
        </a:accent5>
        <a:accent6>
          <a:srgbClr val="008AB9"/>
        </a:accent6>
        <a:hlink>
          <a:srgbClr val="FFCC00"/>
        </a:hlink>
        <a:folHlink>
          <a:srgbClr val="D8D48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xis 6">
        <a:dk1>
          <a:srgbClr val="000000"/>
        </a:dk1>
        <a:lt1>
          <a:srgbClr val="ECAE00"/>
        </a:lt1>
        <a:dk2>
          <a:srgbClr val="FFFFFF"/>
        </a:dk2>
        <a:lt2>
          <a:srgbClr val="333333"/>
        </a:lt2>
        <a:accent1>
          <a:srgbClr val="CC6600"/>
        </a:accent1>
        <a:accent2>
          <a:srgbClr val="BA6D10"/>
        </a:accent2>
        <a:accent3>
          <a:srgbClr val="F4D3AA"/>
        </a:accent3>
        <a:accent4>
          <a:srgbClr val="000000"/>
        </a:accent4>
        <a:accent5>
          <a:srgbClr val="E2B8AA"/>
        </a:accent5>
        <a:accent6>
          <a:srgbClr val="A8620D"/>
        </a:accent6>
        <a:hlink>
          <a:srgbClr val="666633"/>
        </a:hlink>
        <a:folHlink>
          <a:srgbClr val="8D996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xis 7">
        <a:dk1>
          <a:srgbClr val="000000"/>
        </a:dk1>
        <a:lt1>
          <a:srgbClr val="FFFFFF"/>
        </a:lt1>
        <a:dk2>
          <a:srgbClr val="372221"/>
        </a:dk2>
        <a:lt2>
          <a:srgbClr val="808080"/>
        </a:lt2>
        <a:accent1>
          <a:srgbClr val="009999"/>
        </a:accent1>
        <a:accent2>
          <a:srgbClr val="9AAC98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8B9B89"/>
        </a:accent6>
        <a:hlink>
          <a:srgbClr val="666699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xis 8">
        <a:dk1>
          <a:srgbClr val="292929"/>
        </a:dk1>
        <a:lt1>
          <a:srgbClr val="FFFFFF"/>
        </a:lt1>
        <a:dk2>
          <a:srgbClr val="000000"/>
        </a:dk2>
        <a:lt2>
          <a:srgbClr val="808080"/>
        </a:lt2>
        <a:accent1>
          <a:srgbClr val="CC9900"/>
        </a:accent1>
        <a:accent2>
          <a:srgbClr val="CCCC99"/>
        </a:accent2>
        <a:accent3>
          <a:srgbClr val="FFFFFF"/>
        </a:accent3>
        <a:accent4>
          <a:srgbClr val="212121"/>
        </a:accent4>
        <a:accent5>
          <a:srgbClr val="E2CAAA"/>
        </a:accent5>
        <a:accent6>
          <a:srgbClr val="B9B98A"/>
        </a:accent6>
        <a:hlink>
          <a:srgbClr val="999933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Parent bill of rights presentation</Template>
  <TotalTime>1839</TotalTime>
  <Words>16394</Words>
  <Application>Microsoft Office PowerPoint</Application>
  <PresentationFormat>Ekran Gösterisi (4:3)</PresentationFormat>
  <Paragraphs>2365</Paragraphs>
  <Slides>253</Slides>
  <Notes>192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253</vt:i4>
      </vt:variant>
    </vt:vector>
  </HeadingPairs>
  <TitlesOfParts>
    <vt:vector size="254" baseType="lpstr">
      <vt:lpstr>Parent bill of rights presentation</vt:lpstr>
      <vt:lpstr>Elektriksel Buyukluklerin Olculmesi</vt:lpstr>
      <vt:lpstr>İÇİNDEKİLER</vt:lpstr>
      <vt:lpstr>İÇİNDEKİLER</vt:lpstr>
      <vt:lpstr>İÇİNDEKİLER</vt:lpstr>
      <vt:lpstr>İÇİNDEKİLER</vt:lpstr>
      <vt:lpstr>İÇİNDEKİLER</vt:lpstr>
      <vt:lpstr>İÇİNDEKİLER</vt:lpstr>
      <vt:lpstr>İÇİNDEKİLER</vt:lpstr>
      <vt:lpstr>İÇİNDEKİLER</vt:lpstr>
      <vt:lpstr>AÇIKLAMALAR</vt:lpstr>
      <vt:lpstr>AÇIKLAMALAR</vt:lpstr>
      <vt:lpstr>AÇIKLAMALAR</vt:lpstr>
      <vt:lpstr>AÇIKLAMALAR</vt:lpstr>
      <vt:lpstr>GİRİŞ</vt:lpstr>
      <vt:lpstr>GİRİŞ</vt:lpstr>
      <vt:lpstr>1. ÖLÇÜ ALETLERİ</vt:lpstr>
      <vt:lpstr>1. ÖLÇÜ ALETLERİ</vt:lpstr>
      <vt:lpstr>1. ÖLÇÜ ALETLERİ</vt:lpstr>
      <vt:lpstr>1. ÖLÇÜ ALETLERİ</vt:lpstr>
      <vt:lpstr>1. ÖLÇÜ ALETLERİ</vt:lpstr>
      <vt:lpstr>1. ÖLÇÜ ALETLERİ</vt:lpstr>
      <vt:lpstr>1. ÖLÇÜ ALETLERİ</vt:lpstr>
      <vt:lpstr>1. ÖLÇÜ ALETLERİ</vt:lpstr>
      <vt:lpstr>1. ÖLÇÜ ALETLERİ</vt:lpstr>
      <vt:lpstr>1. ÖLÇÜ ALETLERİ</vt:lpstr>
      <vt:lpstr>1. ÖLÇÜ ALETLERİ</vt:lpstr>
      <vt:lpstr>1. ÖLÇÜ ALETLERİ</vt:lpstr>
      <vt:lpstr>1. ÖLÇÜ ALETLERİ</vt:lpstr>
      <vt:lpstr>1. ÖLÇÜ ALETLERİ</vt:lpstr>
      <vt:lpstr>1. ÖLÇÜ ALETLERİ</vt:lpstr>
      <vt:lpstr>1. ÖLÇÜ ALETLERİ</vt:lpstr>
      <vt:lpstr>1. ÖLÇÜ ALETLERİ</vt:lpstr>
      <vt:lpstr>1. ÖLÇÜ ALETLERİ</vt:lpstr>
      <vt:lpstr>1. ÖLÇÜ ALETLERİ</vt:lpstr>
      <vt:lpstr>1. ÖLÇÜ ALETLERİ</vt:lpstr>
      <vt:lpstr>1. ÖLÇÜ ALETLERİ</vt:lpstr>
      <vt:lpstr>1. ÖLÇÜ ALETLERİ</vt:lpstr>
      <vt:lpstr>1. ÖLÇÜ ALETLERİ</vt:lpstr>
      <vt:lpstr>1. ÖLÇÜ ALETLERİ</vt:lpstr>
      <vt:lpstr>1. ÖLÇÜ ALETLERİ</vt:lpstr>
      <vt:lpstr>1. ÖLÇÜ ALETLERİ</vt:lpstr>
      <vt:lpstr>1. ÖLÇÜ ALETLERİ</vt:lpstr>
      <vt:lpstr>1. ÖLÇÜ ALETLERİ</vt:lpstr>
      <vt:lpstr>1. ÖLÇÜ ALETLERİ</vt:lpstr>
      <vt:lpstr>1. ÖLÇÜ ALETLERİ</vt:lpstr>
      <vt:lpstr>1. ÖLÇÜ ALETLERİ</vt:lpstr>
      <vt:lpstr>1. ÖLÇÜ ALETLERİ</vt:lpstr>
      <vt:lpstr>1. ÖLÇÜ ALETLERİ</vt:lpstr>
      <vt:lpstr>1. ÖLÇÜ ALETLERİ</vt:lpstr>
      <vt:lpstr>1. ÖLÇÜ ALETLERİ</vt:lpstr>
      <vt:lpstr>1. ÖLÇÜ ALETLERİ</vt:lpstr>
      <vt:lpstr>1. ÖLÇÜ ALETLERİ</vt:lpstr>
      <vt:lpstr>1. ÖLÇÜ ALETLERİ</vt:lpstr>
      <vt:lpstr>1. ÖLÇÜ ALETLERİ</vt:lpstr>
      <vt:lpstr>1. ÖLÇÜ ALETLERİ</vt:lpstr>
      <vt:lpstr>1. ÖLÇÜ ALETLERİ</vt:lpstr>
      <vt:lpstr>1. ÖLÇÜ ALETLERİ</vt:lpstr>
      <vt:lpstr>1. ÖLÇÜ ALETLERİ</vt:lpstr>
      <vt:lpstr>1. ÖLÇÜ ALETLERİ</vt:lpstr>
      <vt:lpstr>1. ÖLÇÜ ALETLERİ</vt:lpstr>
      <vt:lpstr>1. ÖLÇÜ ALETLERİ</vt:lpstr>
      <vt:lpstr>1. ÖLÇÜ ALETLERİ</vt:lpstr>
      <vt:lpstr>1. ÖLÇÜ ALETLERİ</vt:lpstr>
      <vt:lpstr>ÖLÇME VE DEĞERLENDİRME</vt:lpstr>
      <vt:lpstr>ÖLÇME VE DEĞERLENDİRME</vt:lpstr>
      <vt:lpstr>ÖLÇME VE DEĞERLENDİRME</vt:lpstr>
      <vt:lpstr>ÖLÇME VE DEĞERLENDİRME</vt:lpstr>
      <vt:lpstr>ÖĞRENME FAALİYETİ-2</vt:lpstr>
      <vt:lpstr>2. DİRENÇ ÖLÇME</vt:lpstr>
      <vt:lpstr>2. DİRENÇ ÖLÇME</vt:lpstr>
      <vt:lpstr>2. DİRENÇ ÖLÇME</vt:lpstr>
      <vt:lpstr>2. DİRENÇ ÖLÇME</vt:lpstr>
      <vt:lpstr>2. DİRENÇ ÖLÇME</vt:lpstr>
      <vt:lpstr>2. DİRENÇ ÖLÇME</vt:lpstr>
      <vt:lpstr>2. DİRENÇ ÖLÇME</vt:lpstr>
      <vt:lpstr>2. DİRENÇ ÖLÇME</vt:lpstr>
      <vt:lpstr>2. DİRENÇ ÖLÇME</vt:lpstr>
      <vt:lpstr>2. DİRENÇ ÖLÇME</vt:lpstr>
      <vt:lpstr>2. DİRENÇ ÖLÇME</vt:lpstr>
      <vt:lpstr>2. DİRENÇ ÖLÇME</vt:lpstr>
      <vt:lpstr>2. DİRENÇ ÖLÇME</vt:lpstr>
      <vt:lpstr>2. DİRENÇ ÖLÇME</vt:lpstr>
      <vt:lpstr>2. DİRENÇ ÖLÇME</vt:lpstr>
      <vt:lpstr>2. DİRENÇ ÖLÇME</vt:lpstr>
      <vt:lpstr>2. DİRENÇ ÖLÇME</vt:lpstr>
      <vt:lpstr>2. DİRENÇ ÖLÇME</vt:lpstr>
      <vt:lpstr>2. DİRENÇ ÖLÇME</vt:lpstr>
      <vt:lpstr>UYGULAMA FAALİYETİ</vt:lpstr>
      <vt:lpstr>UYGULAMA FAALİYETİ</vt:lpstr>
      <vt:lpstr>UYGULAMA FAALİYETİ</vt:lpstr>
      <vt:lpstr>UYGULAMA FAALİYETİ</vt:lpstr>
      <vt:lpstr>UYGULAMA FAALİYETİ</vt:lpstr>
      <vt:lpstr>ÖLÇME VE DEĞERLENDİRME</vt:lpstr>
      <vt:lpstr>ÖLÇME VE DEĞERLENDİRME</vt:lpstr>
      <vt:lpstr>ÖLÇME VE DEĞERLENDİRME</vt:lpstr>
      <vt:lpstr>ÖĞRENME FAALİYETİ-3</vt:lpstr>
      <vt:lpstr>3. ENDÜKTANS ÖLÇME</vt:lpstr>
      <vt:lpstr>3. ENDÜKTANS ÖLÇME</vt:lpstr>
      <vt:lpstr>3. ENDÜKTANS ÖLÇME</vt:lpstr>
      <vt:lpstr>3. ENDÜKTANS ÖLÇME</vt:lpstr>
      <vt:lpstr>3. ENDÜKTANS ÖLÇME</vt:lpstr>
      <vt:lpstr>3. ENDÜKTANS ÖLÇME</vt:lpstr>
      <vt:lpstr>3. ENDÜKTANS ÖLÇME</vt:lpstr>
      <vt:lpstr>3. ENDÜKTANS ÖLÇME</vt:lpstr>
      <vt:lpstr>UYGULAMA FAALİYETİ</vt:lpstr>
      <vt:lpstr>UYGULAMA FAALİYETİ</vt:lpstr>
      <vt:lpstr>UYGULAMA FAALİYETİ</vt:lpstr>
      <vt:lpstr>ÖLÇME VE DEĞERLENDİRME</vt:lpstr>
      <vt:lpstr>ÖLÇME VE DEĞERLENDİRME</vt:lpstr>
      <vt:lpstr>ÖĞRENME FAALİYETİ-4</vt:lpstr>
      <vt:lpstr>4. KAPASİTE ÖLÇME</vt:lpstr>
      <vt:lpstr>4. KAPASİTE ÖLÇME</vt:lpstr>
      <vt:lpstr>4. KAPASİTE ÖLÇME</vt:lpstr>
      <vt:lpstr>4. KAPASİTE ÖLÇME</vt:lpstr>
      <vt:lpstr>4. KAPASİTE ÖLÇME</vt:lpstr>
      <vt:lpstr>4. KAPASİTE ÖLÇME</vt:lpstr>
      <vt:lpstr>UYGULAMA FAALİYETİ</vt:lpstr>
      <vt:lpstr>UYGULAMA FAALİYETİ</vt:lpstr>
      <vt:lpstr>UYGULAMA FAALİYETİ</vt:lpstr>
      <vt:lpstr>ÖLÇME VE DEĞERLENDİRME</vt:lpstr>
      <vt:lpstr>ÖLÇME VE DEĞERLENDİRME</vt:lpstr>
      <vt:lpstr>ÖĞRENME FAALİYETİ-5</vt:lpstr>
      <vt:lpstr>5. AKIM ÖLÇME</vt:lpstr>
      <vt:lpstr>5. AKIM ÖLÇME</vt:lpstr>
      <vt:lpstr>5. AKIM ÖLÇME</vt:lpstr>
      <vt:lpstr>5. AKIM ÖLÇME</vt:lpstr>
      <vt:lpstr>5. AKIM ÖLÇME</vt:lpstr>
      <vt:lpstr>5. AKIM ÖLÇME</vt:lpstr>
      <vt:lpstr>5. AKIM ÖLÇME</vt:lpstr>
      <vt:lpstr>5. AKIM ÖLÇME</vt:lpstr>
      <vt:lpstr>5. AKIM ÖLÇME</vt:lpstr>
      <vt:lpstr>5. AKIM ÖLÇME</vt:lpstr>
      <vt:lpstr>5. AKIM ÖLÇME</vt:lpstr>
      <vt:lpstr>5. AKIM ÖLÇME</vt:lpstr>
      <vt:lpstr>5. AKIM ÖLÇME</vt:lpstr>
      <vt:lpstr>5. AKIM ÖLÇME</vt:lpstr>
      <vt:lpstr>UYGULAMA FAALİYETİ</vt:lpstr>
      <vt:lpstr>UYGULAMA FAALİYETİ</vt:lpstr>
      <vt:lpstr>UYGULAMA FAALİYETİ</vt:lpstr>
      <vt:lpstr>UYGULAMA FAALİYETİ</vt:lpstr>
      <vt:lpstr>UYGULAMA FAALİYETİ</vt:lpstr>
      <vt:lpstr>UYGULAMA FAALİYETİ</vt:lpstr>
      <vt:lpstr>UYGULAMA FAALİYETİ</vt:lpstr>
      <vt:lpstr>UYGULAMA FAALİYETİ</vt:lpstr>
      <vt:lpstr>UYGULAMA FAALİYETİ</vt:lpstr>
      <vt:lpstr>UYGULAMA FAALİYETİ</vt:lpstr>
      <vt:lpstr>UYGULAMA FAALİYETİ</vt:lpstr>
      <vt:lpstr>UYGULAMA FAALİYETİ</vt:lpstr>
      <vt:lpstr>ÖLÇME VE DEĞERLENDİRME</vt:lpstr>
      <vt:lpstr>ÖLÇME VE DEĞERLENDİRME</vt:lpstr>
      <vt:lpstr>ÖLÇME VE DEĞERLENDİRME</vt:lpstr>
      <vt:lpstr>ÖĞRENME FAALİYETİ-6</vt:lpstr>
      <vt:lpstr>6. GERİLİM ÖLÇME</vt:lpstr>
      <vt:lpstr>6. GERİLİM ÖLÇME</vt:lpstr>
      <vt:lpstr>6. GERİLİM ÖLÇME</vt:lpstr>
      <vt:lpstr>6. GERİLİM ÖLÇME</vt:lpstr>
      <vt:lpstr>UYGULAMA FAALİYETİ</vt:lpstr>
      <vt:lpstr>UYGULAMA FAALİYETİ</vt:lpstr>
      <vt:lpstr>UYGULAMA FAALİYETİ</vt:lpstr>
      <vt:lpstr>UYGULAMA FAALİYETİ</vt:lpstr>
      <vt:lpstr>UYGULAMA FAALİYETİ</vt:lpstr>
      <vt:lpstr>ÖLÇME VE DEĞERLENDİRME</vt:lpstr>
      <vt:lpstr>ÖLÇME VE DEĞERLENDİRME</vt:lpstr>
      <vt:lpstr>ÖĞRENME FAALİYETİ-7</vt:lpstr>
      <vt:lpstr>7. AVOMETRELER</vt:lpstr>
      <vt:lpstr>7. AVOMETRELER</vt:lpstr>
      <vt:lpstr>7. AVOMETRELER</vt:lpstr>
      <vt:lpstr>7. AVOMETRELER</vt:lpstr>
      <vt:lpstr>7. AVOMETRELER</vt:lpstr>
      <vt:lpstr>7. AVOMETRELER</vt:lpstr>
      <vt:lpstr>7. AVOMETRELER</vt:lpstr>
      <vt:lpstr>7. AVOMETRELER</vt:lpstr>
      <vt:lpstr>UYGULAMA FAALİYETİ</vt:lpstr>
      <vt:lpstr>UYGULAMA FAALİYETİ</vt:lpstr>
      <vt:lpstr>UYGULAMA FAALİYETİ</vt:lpstr>
      <vt:lpstr>UYGULAMA FAALİYETİ</vt:lpstr>
      <vt:lpstr>UYGULAMA FAALİYETİ</vt:lpstr>
      <vt:lpstr>UYGULAMA FAALİYETİ</vt:lpstr>
      <vt:lpstr>UYGULAMA FAALİYETİ</vt:lpstr>
      <vt:lpstr>UYGULAMA FAALİYETİ</vt:lpstr>
      <vt:lpstr>UYGULAMA FAALİYETİ</vt:lpstr>
      <vt:lpstr>UYGULAMA FAALİYETİ</vt:lpstr>
      <vt:lpstr>ÖLÇME VE DEĞERLENDİRME</vt:lpstr>
      <vt:lpstr>ÖLÇME VE DEĞERLENDİRME</vt:lpstr>
      <vt:lpstr>ÖĞRENME FAALİYETİ-8</vt:lpstr>
      <vt:lpstr>8. FREKANS ÖLÇME</vt:lpstr>
      <vt:lpstr>8. FREKANS ÖLÇME</vt:lpstr>
      <vt:lpstr>8. FREKANS ÖLÇME</vt:lpstr>
      <vt:lpstr>8. FREKANS ÖLÇME</vt:lpstr>
      <vt:lpstr>8. FREKANS ÖLÇME</vt:lpstr>
      <vt:lpstr>UYGULAMA FAALİYETİ</vt:lpstr>
      <vt:lpstr>UYGULAMA FAALİYETİ</vt:lpstr>
      <vt:lpstr>UYGULAMA FAALİYETİ</vt:lpstr>
      <vt:lpstr>ÖLÇME VE DEĞERLENDİRME</vt:lpstr>
      <vt:lpstr>ÖLÇME VE DEĞERLENDİRME</vt:lpstr>
      <vt:lpstr>ÖĞRENME FAALİYETİ-9</vt:lpstr>
      <vt:lpstr>9. İŞ VE GÜÇ ÖLÇME</vt:lpstr>
      <vt:lpstr>9. İŞ VE GÜÇ ÖLÇME</vt:lpstr>
      <vt:lpstr>9. İŞ VE GÜÇ ÖLÇME</vt:lpstr>
      <vt:lpstr>9. İŞ VE GÜÇ ÖLÇME</vt:lpstr>
      <vt:lpstr>9. İŞ VE GÜÇ ÖLÇME</vt:lpstr>
      <vt:lpstr>9. İŞ VE GÜÇ ÖLÇME</vt:lpstr>
      <vt:lpstr>UYGULAMA FAALİYETİ</vt:lpstr>
      <vt:lpstr>UYGULAMA FAALİYETİ</vt:lpstr>
      <vt:lpstr>UYGULAMA FAALİYETİ</vt:lpstr>
      <vt:lpstr>UYGULAMA FAALİYETİ</vt:lpstr>
      <vt:lpstr>UYGULAMA FAALİYETİ</vt:lpstr>
      <vt:lpstr>UYGULAMA FAALİYETİ</vt:lpstr>
      <vt:lpstr>UYGULAMA FAALİYETİ</vt:lpstr>
      <vt:lpstr>UYGULAMA FAALİYETİ</vt:lpstr>
      <vt:lpstr>ÖLÇME VE DEĞERLENDİRME</vt:lpstr>
      <vt:lpstr>ÖLÇME VE DEĞERLENDİRME</vt:lpstr>
      <vt:lpstr>ÖĞRENME FAALİYETİ-10</vt:lpstr>
      <vt:lpstr>10. OSİLASKOP</vt:lpstr>
      <vt:lpstr>10. OSİLASKOP</vt:lpstr>
      <vt:lpstr>10. OSİLASKOP</vt:lpstr>
      <vt:lpstr>10. OSİLASKOP</vt:lpstr>
      <vt:lpstr>10. OSİLASKOP</vt:lpstr>
      <vt:lpstr>10. OSİLASKOP</vt:lpstr>
      <vt:lpstr>10. OSİLASKOP</vt:lpstr>
      <vt:lpstr>10. OSİLASKOP</vt:lpstr>
      <vt:lpstr>10. OSİLASKOP</vt:lpstr>
      <vt:lpstr>10. OSİLASKOP</vt:lpstr>
      <vt:lpstr>10. OSİLASKOP</vt:lpstr>
      <vt:lpstr>10. OSİLASKOP</vt:lpstr>
      <vt:lpstr>UYGULAMA FAALİYETİ</vt:lpstr>
      <vt:lpstr>UYGULAMA FAALİYETİ</vt:lpstr>
      <vt:lpstr>UYGULAMA FAALİYETİ</vt:lpstr>
      <vt:lpstr>UYGULAMA FAALİYETİ</vt:lpstr>
      <vt:lpstr>UYGULAMA FAALİYETİ</vt:lpstr>
      <vt:lpstr>UYGULAMA FAALİYETİ</vt:lpstr>
      <vt:lpstr>UYGULAMA FAALİYETİ</vt:lpstr>
      <vt:lpstr>UYGULAMA FAALİYETİ</vt:lpstr>
      <vt:lpstr>UYGULAMA FAALİYETİ</vt:lpstr>
      <vt:lpstr>ÖLÇME VE DEĞERLENDİRME</vt:lpstr>
      <vt:lpstr>ÖLÇME VE DEĞERLENDİRME</vt:lpstr>
      <vt:lpstr>CEVAP ANAHTARLARI</vt:lpstr>
      <vt:lpstr>CEVAP ANAHTARLARI</vt:lpstr>
      <vt:lpstr>CEVAP ANAHTARLARI</vt:lpstr>
      <vt:lpstr>CEVAP ANAHTARLARI</vt:lpstr>
      <vt:lpstr>CEVAP ANAHTARLARI</vt:lpstr>
      <vt:lpstr>CEVAP ANAHTARLARI</vt:lpstr>
      <vt:lpstr>CEVAP ANAHTARLARI</vt:lpstr>
      <vt:lpstr>MODÜL DEĞERLENDİRME</vt:lpstr>
      <vt:lpstr>MODÜL DEĞERLENDİRME</vt:lpstr>
      <vt:lpstr>MODÜL DEĞERLENDİRME</vt:lpstr>
      <vt:lpstr>MODÜL DEĞERLENDİRME</vt:lpstr>
      <vt:lpstr>MODÜL DEĞERLENDİRME</vt:lpstr>
      <vt:lpstr>MODÜL DEĞERLENDİRME</vt:lpstr>
      <vt:lpstr>MODÜL DEĞERLENDİRME</vt:lpstr>
      <vt:lpstr>MODÜL DEĞERLENDİRME</vt:lpstr>
      <vt:lpstr>MODÜL DEĞERLENDİRME</vt:lpstr>
      <vt:lpstr>KAYNAKLAR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umuT</dc:creator>
  <cp:lastModifiedBy>user</cp:lastModifiedBy>
  <cp:revision>338</cp:revision>
  <dcterms:created xsi:type="dcterms:W3CDTF">2007-07-04T07:22:49Z</dcterms:created>
  <dcterms:modified xsi:type="dcterms:W3CDTF">2011-10-16T14:16:26Z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TC010706171033</vt:lpwstr>
  </property>
</Properties>
</file>