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12192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F6754D-A561-498C-B6FA-F8A52B0D80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45EDFF-4757-40C9-A9A5-C89BE84D6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EA50D-A20D-47C3-A25E-DF22214195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971B2D-61BE-42CA-B618-622543B575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7108BC-48C6-4735-BFBA-0D0B655FB0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2CCDAE-F3E8-44D0-9294-9CAC86BB9D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64292-3964-4F6E-9A01-864B0FDBAE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5DA536-DF22-4E97-90D9-392E4BF784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236EC-237B-4E5E-B013-A53369E42C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692410-66E7-4B66-878C-3B4AD675A9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7FAC39-1E1B-462C-AAB8-192981855A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0DD346-D19B-41DC-9BA4-6FB8F9BAB5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ACFF87-D2D2-46B2-B157-EFD4D383D5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C6EF6-736D-47C4-96D5-E8DD883568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5F2A6E-230D-4D35-B31A-0CBCEC6206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D1D9E5-DEC8-417E-B63D-106ACAE5C3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2249C0-8AE9-47F2-9957-347D88AE68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7D872-A503-49D8-9C91-0AA9068824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7B50F-FCC7-4551-9EC5-CD522D498A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68661-D1EA-4BCB-99BB-EBEEDA93EC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2E6EC-0C8F-4886-8AD4-4C8C952C5D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CDABC-8CD1-4AC5-A670-5663902860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667373-B686-4189-826F-C4097AB3F6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4A96B-500E-4F83-A8CC-0048EBD1CB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118904-880B-44EF-8E82-5A603EC5F7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4EE880-7B0E-4F33-991D-7FC26AE09E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861F84-3635-425F-AB19-9AA4365FDB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14E93-C9CC-456D-AAA2-E4C011381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FA9AEE-EDBB-43FC-9DAC-0A34D98CBD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A9D326-7AA6-4985-9A25-3BBA42894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D2E244-3819-4BBD-A200-05442F0CE3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145D9-4291-45B7-87FA-F9F74F34DF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FEA8BB-6B6E-41B6-8E7B-82E3E7C6A3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7D72A0-0912-47DF-9B2C-D6DCDB7E78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62DCD-2E0E-411F-A9AF-9CAB1922A0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55835D-C952-4007-B7B9-33133EC366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2C32C-880C-463D-9FA3-4A691F6151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1E770B-26E4-428B-ADE7-C53F75FBCB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946B80-45CE-4602-B9B1-AAFB7571AE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0E1ED3-A1DB-4935-812B-99F040985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9FDD5-FED7-4710-9945-32463CCCB1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CA58A-D1C8-4FBB-8380-2BE83AC8EE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C7F116-3750-4F70-867C-3E762AA0B0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2352F-0641-4C75-A53B-BB3EB150EA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7BE7E-43D2-4F92-A154-0B15FF6252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474A47-7174-4481-A869-4CF5A38173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0DF599-B9EA-4A3E-ACD4-CD9BED5550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81FAB1-2537-4B42-A389-A3A0114978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3F0C29-F6A2-4D85-9707-B6BBDA66A3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78170B-8CCD-477D-9CD8-E81F153840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E9CD38-CE43-4551-845B-8EC1EAB0A6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805F1-8365-48D4-B730-ECCAD6FDA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F7B4C4-33DA-41AE-B23A-0B9C0515D5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BB788B-4A1C-478F-80B4-DDC27CAEE3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15D19-37EB-4B8C-8CA1-6DE16D2250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383E79-A90A-4B85-AAD4-48F851A074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95871A-E46C-414A-AB2C-F72C58D8D6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D7C2C2-5AEA-4D71-ACD7-F2D862E701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A54A0D-ED67-4DC0-9DAA-48ED36B080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D2108-D35B-4504-A89C-C545AEDB57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BD74F3-4ADB-4C3A-B59F-28B3448F66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096696-A1AF-42A5-B46E-0E7C3F6238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06805-E86B-479C-8CFF-04AE921648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4A0916-4A62-4572-B455-F77D537494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E194D7-23F8-4F31-B307-B69D4826C0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9C5F2E-4C4A-4D7D-9E0F-369F12B0B1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ECFEAB-96CD-4F1E-A9C9-19FBD8E4F9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387873-7890-401A-BBE5-4444FE2916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FD42BF-E468-4CF4-9AFD-262119187C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7957B-3ADD-477A-8E78-C62A3A1B14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EF82BF-919B-4A18-865C-8DE847EECF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t-research-centre.ec.europa.eu/scientific-activities/key-competences-lifelong-learning/digital-competence-framework-digcomp/digcomp-30_en" TargetMode="External"/><Relationship Id="rId7" Type="http://schemas.openxmlformats.org/officeDocument/2006/relationships/hyperlink" Target="https://doi.org/10.6028/NIST.CSWP.29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6028/NIST.AI.600-1" TargetMode="External"/><Relationship Id="rId5" Type="http://schemas.openxmlformats.org/officeDocument/2006/relationships/hyperlink" Target="https://doi.org/10.6028/NIST.SP.800-63-4" TargetMode="External"/><Relationship Id="rId4" Type="http://schemas.openxmlformats.org/officeDocument/2006/relationships/hyperlink" Target="https://doi.org/10.6028/NIST.SP.800-145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central-processing-unit-history" TargetMode="External"/><Relationship Id="rId7" Type="http://schemas.openxmlformats.org/officeDocument/2006/relationships/hyperlink" Target="https://learn.microsoft.com/en-us/windows/win32/fileio/file-systems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gb/windows-server/storage/file-server/ntfs-overview" TargetMode="External"/><Relationship Id="rId5" Type="http://schemas.openxmlformats.org/officeDocument/2006/relationships/hyperlink" Target="https://doi.org/10.6028/NIST.SP.800-209" TargetMode="External"/><Relationship Id="rId4" Type="http://schemas.openxmlformats.org/officeDocument/2006/relationships/hyperlink" Target="https://learn.microsoft.com/en-us/windows-hardware/drivers/kernel/types-of-windows-driv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91520" cy="685764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641080" y="182880"/>
            <a:ext cx="3428640" cy="3428640"/>
          </a:xfrm>
          <a:prstGeom prst="ellipse">
            <a:avLst/>
          </a:prstGeom>
          <a:solidFill>
            <a:srgbClr val="0B5A6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869680" y="3520440"/>
            <a:ext cx="3181680" cy="3181680"/>
          </a:xfrm>
          <a:prstGeom prst="ellipse">
            <a:avLst/>
          </a:prstGeom>
          <a:solidFill>
            <a:srgbClr val="187A8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13160" y="60336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170">
                <a:solidFill>
                  <a:srgbClr val="D2F6F1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04160" y="148140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BİLGİ VE İLETİŞİM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TEKNOLOJİSİ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49880" y="3063240"/>
            <a:ext cx="97837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BDE8E9"/>
                </a:solidFill>
                <a:effectLst/>
                <a:uFillTx/>
                <a:latin typeface="Aptos"/>
                <a:ea typeface="Aptos"/>
              </a:rPr>
              <a:t>Bilişim Kavramları, Dijital Okuryazarlık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BDE8E9"/>
                </a:solidFill>
                <a:effectLst/>
                <a:uFillTx/>
                <a:latin typeface="Aptos"/>
                <a:ea typeface="Aptos"/>
              </a:rPr>
              <a:t>ve Ders Çerçevesi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31520" y="4645080"/>
            <a:ext cx="9875520" cy="360"/>
          </a:xfrm>
          <a:prstGeom prst="line">
            <a:avLst/>
          </a:prstGeom>
          <a:ln w="15240">
            <a:solidFill>
              <a:srgbClr val="4DA9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49880" y="498348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68240" y="565092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D0E8E7"/>
                </a:solidFill>
                <a:effectLst/>
                <a:uFillTx/>
                <a:latin typeface="Aptos"/>
                <a:ea typeface="Aptos"/>
              </a:rPr>
              <a:t>HAFTA 01   |   35 SLAYT   |   4 SAAT TEORİK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0607040" y="6519600"/>
            <a:ext cx="9140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CFD6"/>
                </a:solidFill>
                <a:effectLst/>
                <a:uFillTx/>
                <a:latin typeface="Aptos"/>
                <a:ea typeface="Aptos"/>
              </a:rPr>
              <a:t>01 / 70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2" descr="Logolar | Topluma Hizmet Uygulamaları | Bursa Uludağ Üniversitesi">
            <a:extLst>
              <a:ext uri="{FF2B5EF4-FFF2-40B4-BE49-F238E27FC236}">
                <a16:creationId xmlns:a16="http://schemas.microsoft.com/office/drawing/2014/main" id="{EDE5AE48-4E3F-8894-6939-7AA2BA556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243" y="563409"/>
            <a:ext cx="2614314" cy="261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640080" y="658440"/>
            <a:ext cx="10789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HAFTA 01  •  KONU HARİTASI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713160" y="148140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877680" y="167328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996840" y="179676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1572840" y="168264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Veri, enformasyon ve bilgi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6336720" y="148140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6501240" y="167328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6620400" y="179676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7196400" y="168264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BİT sistemi ve dijital iş akışı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713160" y="293508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877680" y="312732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996840" y="325080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1572840" y="313632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okuryazarlık / DigComp 3.0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6336720" y="293508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6501240" y="312732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6620400" y="325080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7196400" y="313632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Ofis yazılımları ve dosya biçimleri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713160" y="438912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877680" y="458100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996840" y="470448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1572840" y="459036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kimlik, bulut ve senkronizasyon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6336720" y="438912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6501240" y="458100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C8EAEB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9"/>
          <p:cNvSpPr/>
          <p:nvPr/>
        </p:nvSpPr>
        <p:spPr>
          <a:xfrm>
            <a:off x="6620400" y="470448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0"/>
          <p:cNvSpPr/>
          <p:nvPr/>
        </p:nvSpPr>
        <p:spPr>
          <a:xfrm>
            <a:off x="7196400" y="459036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Üretken yapay zekâ / bilgi güvenliği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ve İletişim Teknolojisine Giriş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BİT; verinin elde edilmesi, işlenmesi, saklanması ve iletişim ağlarıyla paylaşılmasını sağlayan insan, süreç, donanım ve yazılım bütünüdür.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Bilişim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Bilginin sayısal ortamda işlenmesine odaklanır; bilgisayar, uygulama, veri tabanı ve algoritmaları içerir.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İletişim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Bilginin kaynaktan hedefe aktarımını kapsar; ağlar, protokoller ve iletişim hizmetleri aracılık eder.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Ders yaklaşımı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Amaç yalnızca bir programı kullanmak değil, veriden güvenilir akademik çıktı üretme sürecini açıklayabilmektir.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araştırmada veri Excel'de analiz edilir, sonuç Word raporuna aktarılır, PowerPoint ile sunulur ve güvenli biçimde paylaşılır.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BİT ile yalnızca bilgisayar donanımını eşitlemek eksik bir tanımdır.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(Data): Ham Gözlem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Veri; ölçüm, sayım, gözlem veya kayıt yoluyla elde edilen ve henüz belirli bir bağlamda yorumlanmamış sembol, sayı, metin veya sinyaldir.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Nicel veri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Yaş, sıcaklık ve cihazın enerji tüketimi gibi sayısal büyüklüklerdir; birim bilgisi anlamı değiştirir.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Nitel veri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Bölüm adı, ürün türü veya görüşme yanıtı gibi kategoriler ve betimleyici ifadelerdir.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Ham veri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Giriş hataları, eksik değerler ve yinelenen kayıtlar bulunabilir; analiz öncesi kontrol gerektirir.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“18, 21, 22” değerleri tek başına ham veridir; bunların yaş mı, puan mı olduğu belirtilmedikçe yorum yapılamaz.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Sayısal görünen her değer nicel olmak zorunda değildir: öğrenci numarası bir tanımlayıcıdır.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Türleri ve Ölçüm Düzeyleri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türü, bir değişkenin alabileceği değerleri; ölçüm düzeyi ise bu değerler üzerinde hangi karşılaştırmaların anlamlı olduğunu tanımlar.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Nominal / ordinal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Bölüm adı nominaldir; memnuniyet düzeyi sıralı olduğunda ordinaldir ve aralıklar eşit varsayılamaz.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Kesikli / sürekli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Öğrenci sayısı kesikli, sıcaklık sürekli değişkene örnektir; ölçüm hassasiyeti kayıt biçimini etkiler.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Tarih ve metin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Tarih kronolojik işlemlere; metin ise arama, sınıflandırma ve dil işleme işlemlerine uygundur.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Memnuniyet puanları 1–5 ile kodlansa da “çok iyi” ile “iyi” arasındaki farkın eşit uzaklıkta olduğu garanti değildir.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Değişken türünü yanlış belirlemek istatistiksel analiz ve grafik seçimini yanıltır.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Enformasyon (Information)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Enformasyon; ham verinin düzenlenmesi, doğrulanması, özetlenmesi veya bağlamlandırılmasıyla kullanıcı için anlamlı hâle getirilen içeriğidir.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Filtreleme, gruplama, sıralama ve istatistiksel özetleme veri kümesini anlaşılır hâle getirir.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Bağlam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Birim, tarih, örneklem ve ölçüm yöntemi açıklanmadığında sayı tek başına yeterli değildir.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Gösterim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grafik ilişkileri görünür kılabilir; ancak ölçek ve eksen seçimi algıyı etkiler.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18, 21, 22 yaş değerleri için aritmetik ortalamanın 20,3 yıl olması, veriden türetilmiş enformasyondur.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Enformasyonun sayısal olması, otomatik olarak doğru veya güvenilir olduğu anlamına gelmez.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(Knowledge) ve Karar Verme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Bilgi; enformasyonun deneyim, alan kuralları ve eleştirel yorumla birleştirilerek açıklama, öngörü veya karar üretmede kullanılabilmesidir.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Çıkarım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Verilerden örüntü tespit edilir; bulunan ilişkinin açıklaması kanıt düzeyine göre sınırlandırılır.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Karar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Alternatiflerin maliyet, risk ve hedefler açısından değerlendirilmesini sağlayan kurumsal veya bireysel sonuçtur.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Güncellenebilirlik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Yeni kanıtlar önceki yorumu geçersiz kılabilir; bilgi mutlak ve değişmez kabul edilmemelidir.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Mobil cihaz kullanım oranı yüksek bir sınıfta, ders materyalinin telefondan okunabilir tasarlanması gerektiği kararı üretilebilir.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Korelasyon tek başına nedensellik oluşturmaz; yorumda örneklem ve yöntem belirtilmelidir.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Veri–Enformasyon–Bilgi Zinciri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Veriden bilgiye geçiş, ölçümden karar vermeye uzanan; doğrulama ve geri bildirim adımlarını içeren döngüsel bir süreçtir.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1. Toplama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Anket, sensör ya da form ile veri üretilir; kaynak ve zaman kaydedilir.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2. Dönüştürme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Hatalar ayıklanır, veriler analiz edilir, ölçümler anlamlı özetlere çevrilir.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3. Yorum ve eylem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Alan bilgisiyle sonuca gidilir; kararın etkisi yeni verilerle izlenir.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867780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A8B9C"/>
          </a:solidFill>
          <a:ln w="10160">
            <a:solidFill>
              <a:srgbClr val="2A8B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871416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GİRDİ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1007676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437FA0"/>
          </a:solidFill>
          <a:ln w="10160">
            <a:solidFill>
              <a:srgbClr val="437F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1011312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İŞLEME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867780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7977F"/>
          </a:solidFill>
          <a:ln w="10160">
            <a:solidFill>
              <a:srgbClr val="2797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871416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ANALİZ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6"/>
          <p:cNvSpPr/>
          <p:nvPr/>
        </p:nvSpPr>
        <p:spPr>
          <a:xfrm>
            <a:off x="1007676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70BFAE"/>
          </a:solidFill>
          <a:ln w="10160">
            <a:solidFill>
              <a:srgbClr val="70BF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1011312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ÇIKTI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Ders katılımı → haftalık oran → devamsızlık eğilimi → destek oturumu açma kararı zinciri.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Model bir öğretim çerçevesidir; gerçek dünyada yorum ve veri toplama yinelemelidir.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09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Kalitesi: Doğruluk ve Bütünlük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kalitesi, verilerin tanımlanan kullanım amacı için yeterince doğru, tam, tutarlı, güncel ve izlenebilir olmasını ifade eder.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Doğruluk ve tamlık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Yanlış ölçümler ile boş kayıtlar sonuçları farklı biçimlerde çarpıtabilir.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Tutarlılık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Aynı ölçümün farklı tablolarda farklı birimlerle tutulması karşılaştırmayı bozabilir.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İzlenebilirlik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Kaynağın, dönüşümün ve sürümün kaydedilmesi analizin yeniden üretilmesini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“1,75 m” ve “175 cm” aynı büyüklüktür; birim dönüşümü yapılmadan ortalama hesaplanmamalıdır.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Güzel hazırlanmış bir tablo, veri kalitesinin kanıtı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BİT Sisteminin Temel Bileşenleri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Bir bilgi sistemi, iş hedefini gerçekleştirmek üzere insan, süreç, veri, donanım, yazılım ve ağ bileşenlerini bir araya getirir.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İnsan ve süreç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Kimin hangi veriyi topladığı, onayladığı ve eriştiği prosedürlerle belirlenir.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Teknik altyapı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Bilgisayarlar veriyi işler; uygulamalar iş kurallarını yürütür; ağlar cihazları bağlar.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Yönetişim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Yetkilendirme, yedekleme, denetim ve etik ilkeler teknolojinin güvenilir kullanımını destekler.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Üniversite öğrenci bilgi sistemi, veritabanı ve sunucu kadar öğrenci işleri süreçleri ve kullanıcı yetkilerine de dayanır.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bileşenin arızası tüm iş akışını etkileyebilir; bütüncül düşünmek gerekir.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Girdi–İşleme–Çıktı–Geri Bildirim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işleme çevrimi; girdinin sistem tarafından dönüştürülmesi, sonuç üretilmesi ve sonucun yeniden değerlendirilmesidir.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Girdi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Klavye, sensör, dosya veya çevrimiçi form aracılığıyla sisteme bilgi sağlanır.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Hesaplama, doğrulama, karşılaştırma, sınıflandırma ve biçimlendirme uygulanır.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Geri bildirim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Hatalar, performans ve kullanıcı gereksinimleri ölçülerek sonraki işlemler iyileştirilir.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0"/>
          <p:cNvSpPr/>
          <p:nvPr/>
        </p:nvSpPr>
        <p:spPr>
          <a:xfrm>
            <a:off x="867780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A8B9C"/>
          </a:solidFill>
          <a:ln w="10160">
            <a:solidFill>
              <a:srgbClr val="2A8B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871416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GİRDİ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1007676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437FA0"/>
          </a:solidFill>
          <a:ln w="10160">
            <a:solidFill>
              <a:srgbClr val="437F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1011312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İŞLEME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867780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7977F"/>
          </a:solidFill>
          <a:ln w="10160">
            <a:solidFill>
              <a:srgbClr val="2797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5"/>
          <p:cNvSpPr/>
          <p:nvPr/>
        </p:nvSpPr>
        <p:spPr>
          <a:xfrm>
            <a:off x="871416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ANALİZ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6"/>
          <p:cNvSpPr/>
          <p:nvPr/>
        </p:nvSpPr>
        <p:spPr>
          <a:xfrm>
            <a:off x="1007676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70BFAE"/>
          </a:solidFill>
          <a:ln w="10160">
            <a:solidFill>
              <a:srgbClr val="70BF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7"/>
          <p:cNvSpPr/>
          <p:nvPr/>
        </p:nvSpPr>
        <p:spPr>
          <a:xfrm>
            <a:off x="1011312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ÇIKTI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Excel'de not girişi → ağırlıklı ortalama → sonuç tablosu → hatalı girilen puanın düzeltilmesi.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Çıktının otomatik üretildiği işlemlerde de insan denetimi gereklidir.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Okuryazarlık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okuryazarlık, dijital teknolojilerde bilgiye erişme, içeriği eleştirel değerlendirme, üretme, iletişim kurma ve güvenli hareket etme becerileridir.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Araç yeteneği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Dosya oluşturmak veya internette arama yapmak işlevsel temel becerilerdir.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Eleştirel yaklaşım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Kaynağın güvenilirliği, güncelliği, amacı ve kanıt kalitesi sorgulanır.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Sorumlu kullanım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Telif, erişilebilirlik, veri gizliliği ve dijital etik ilkeleri gözetilir.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web sayfasındaki sayısal iddiayı birincil veriye veya hakemli yayına giderek doğrulamak dijital okuryazarlıktır.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Arama motorunun ilk sırasındaki sonuç otomatik olarak en güvenilir kaynak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Kaynak Değerlendirme ve Kanıt Hiyerarşisi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kaynak değerlendirme; bilginin özgün kaynağını, yazarını, yöntemini, tarihini ve alternatif kanıtlarla tutarlılığını inceleme sürecidir.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Birincil kaynak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Standart belgesi, resmî veri seti veya özgün araştırma doğrudan kanıt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İkincil kaynak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Derleme ve eğitim içerikleri açıklama sunar; özgün veriyi doğru aktarıp aktarmadığı kontrol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Çapraz doğrulama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Bağımsız kaynaklar, ölçüm yöntemleri ve çıkar çatışmaları birlikte incelenir.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“İşlemci yüzde 30 hızlı” iddiası için test yükü, karşılaştırılan model ve ölçüm koşulları aranır.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Birincil kaynak da hatalı olabilir; yöntemsel kalite ayrıca incelenmelidir.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Etkili Bilgi Arama ve Sorgu Stratejisi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erişim stratejisi, bir araştırma sorusunun anahtar terimlere dönüştürülmesi ve sonuçların sistematik değerlendirilmesidir.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Anahtar kavram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Sorudaki temel terimler, eşanlamlılar ve İngilizce karşılıklar tanımlanır.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Sorgu işleçleri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Tırnak içinde tam ifade aranabilir; AND / OR / NOT mantığı veri tabanına göre değişebilir.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Eleme ölçütü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Konu uygunluğu, yayımlanma tarihi, yöntem ve tam metne erişim kontrol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“digital competence” AND higher education sorgusu, daha hedefli bir literatür taraması başlangıcıdır.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Arama algoritmalarının kişiselleştirme ve sıralama etkilerini göz önünde bulundurun.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Yetkinlik (Digital Competence)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yetkinlik; teknolojiye ilişkin bilgi, uygulama becerisi ve sorumlu tutumu gerçek görevlerde birlikte kullanabilme kapasitesidir.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araç veya kavramın ne olduğunu ve hangi sınırlara sahip olduğunu açıklayabilmek.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Beceri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Uygun aracı seçerek doğrulanabilir çıktı üretmek, paylaşmak ve sorun gidermek.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Tutum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Gizliliğe, kapsayıcılığa, telife, sürdürülebilirliğe ve doğruluğa dikkat etmek.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Word'de rapor yazmak beceridir; doğru veri, kaynakça, erişilebilir düzen ve paylaşım izinlerini birleştirmek yetkinliktir.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Yetkinlik yalnızca uygulama menülerini ezberleyerek ölçülmez.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DigComp 3.0: Yetkinlik Alanları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Avrupa Komisyonu DigComp 3.0 (2025), dijital yetkinliği beş ana alanda ve 21 yetkinlik altında yapılandıran başvuru çerçevesidir.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1–2. alanlar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Bilgi arama, değerlendirme ve yönetimi; iletişim ve iş birliği.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3–4. alanlar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Dijital içerik üretimi; güvenlik, esenlik ve sorumlu kullanım.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5. alan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İhtiyaç belirleme ve sorun çözme; yapay zekâ yetkinliği alanlara yatay biçimde entegredir.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0"/>
          <p:cNvSpPr/>
          <p:nvPr/>
        </p:nvSpPr>
        <p:spPr>
          <a:xfrm>
            <a:off x="8823960" y="2871360"/>
            <a:ext cx="2377080" cy="301320"/>
          </a:xfrm>
          <a:prstGeom prst="roundRect">
            <a:avLst>
              <a:gd name="adj" fmla="val 16667"/>
            </a:avLst>
          </a:prstGeom>
          <a:solidFill>
            <a:srgbClr val="166884"/>
          </a:solidFill>
          <a:ln w="10160">
            <a:solidFill>
              <a:srgbClr val="1668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1"/>
          <p:cNvSpPr/>
          <p:nvPr/>
        </p:nvSpPr>
        <p:spPr>
          <a:xfrm>
            <a:off x="8952120" y="2930760"/>
            <a:ext cx="2111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BİLGİ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2"/>
          <p:cNvSpPr/>
          <p:nvPr/>
        </p:nvSpPr>
        <p:spPr>
          <a:xfrm>
            <a:off x="8823960" y="3264480"/>
            <a:ext cx="2377080" cy="301320"/>
          </a:xfrm>
          <a:prstGeom prst="roundRect">
            <a:avLst>
              <a:gd name="adj" fmla="val 16667"/>
            </a:avLst>
          </a:prstGeom>
          <a:solidFill>
            <a:srgbClr val="2D8294"/>
          </a:solidFill>
          <a:ln w="10160">
            <a:solidFill>
              <a:srgbClr val="2D829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3"/>
          <p:cNvSpPr/>
          <p:nvPr/>
        </p:nvSpPr>
        <p:spPr>
          <a:xfrm>
            <a:off x="8952120" y="3323880"/>
            <a:ext cx="2111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İLETİŞİM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4"/>
          <p:cNvSpPr/>
          <p:nvPr/>
        </p:nvSpPr>
        <p:spPr>
          <a:xfrm>
            <a:off x="8823960" y="3657600"/>
            <a:ext cx="2377080" cy="301320"/>
          </a:xfrm>
          <a:prstGeom prst="roundRect">
            <a:avLst>
              <a:gd name="adj" fmla="val 16667"/>
            </a:avLst>
          </a:prstGeom>
          <a:solidFill>
            <a:srgbClr val="3A9BA2"/>
          </a:solidFill>
          <a:ln w="10160">
            <a:solidFill>
              <a:srgbClr val="3A9BA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5"/>
          <p:cNvSpPr/>
          <p:nvPr/>
        </p:nvSpPr>
        <p:spPr>
          <a:xfrm>
            <a:off x="8952120" y="3717000"/>
            <a:ext cx="2111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ÜRETİM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6"/>
          <p:cNvSpPr/>
          <p:nvPr/>
        </p:nvSpPr>
        <p:spPr>
          <a:xfrm>
            <a:off x="8823960" y="4050720"/>
            <a:ext cx="2377080" cy="301320"/>
          </a:xfrm>
          <a:prstGeom prst="roundRect">
            <a:avLst>
              <a:gd name="adj" fmla="val 16667"/>
            </a:avLst>
          </a:prstGeom>
          <a:solidFill>
            <a:srgbClr val="4EAA9C"/>
          </a:solidFill>
          <a:ln w="10160">
            <a:solidFill>
              <a:srgbClr val="4EAA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7"/>
          <p:cNvSpPr/>
          <p:nvPr/>
        </p:nvSpPr>
        <p:spPr>
          <a:xfrm>
            <a:off x="8952120" y="4110120"/>
            <a:ext cx="2111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GÜVENLİK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8"/>
          <p:cNvSpPr/>
          <p:nvPr/>
        </p:nvSpPr>
        <p:spPr>
          <a:xfrm>
            <a:off x="8823960" y="4443840"/>
            <a:ext cx="2377080" cy="301320"/>
          </a:xfrm>
          <a:prstGeom prst="roundRect">
            <a:avLst>
              <a:gd name="adj" fmla="val 16667"/>
            </a:avLst>
          </a:prstGeom>
          <a:solidFill>
            <a:srgbClr val="76C7B2"/>
          </a:solidFill>
          <a:ln w="10160">
            <a:solidFill>
              <a:srgbClr val="76C7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9"/>
          <p:cNvSpPr/>
          <p:nvPr/>
        </p:nvSpPr>
        <p:spPr>
          <a:xfrm>
            <a:off x="8952120" y="4503600"/>
            <a:ext cx="21117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ÇÖZÜM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0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1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32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Öğrencinin veri doğrulaması, ortak rapor yazması ve kişisel bilgiyi koruması farklı DigComp yetkinliklerini birleştirir.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33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DigComp 3.0, Avrupa düzeyinde bir çerçevedir; ürün sertifikası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4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İçerik ve Medya Okuryazarlığı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Medya okuryazarlığı, metin, görüntü, video ve görsel veriler üzerinden iletilen mesajların üretim ve sunum koşullarını eleştirel inceleyebilmektir.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Temsil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Seçilmiş örnekler, kırpılmış ekran görüntüleri ve ölçekler algıyı değiştirebilir.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Doğrulama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Görselin kaynağı, yayın tarihi, bağlamı ve editlenme olasılığı incelenir.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Erişilebilirlik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Alternatif metin, yeterli kontrast ve anlaşılır başlıklar farklı kullanıcıların erişimini kolaylaştırır.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Y ekseni sıfırdan başlamayan sütun grafiğinde iki değerin farkı olduğundan büyük görünebilir.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Görsel ikna gücü yüksek olsa da yöntem açıklamasının yerini almamalıdır.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Ofis Yazılımı Ekosistemi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Ofis yazılımı ekosistemi; belge yazımı, elektronik tablo analizi, sunum ve ortak çalışma görevlerini birbiriyle ilişkili uygulamalarla yürütme ortamıdır.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Belge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Word, yapılandırılmış metin ve rapor üretimi için uygundur.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Tablo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Excel, hücre temelli hesaplama, veri analizi ve görselleştirme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Sunum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PowerPoint, bilgiyi görsel hiyerarşi ve konuşma akışıyla aktarır.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0"/>
          <p:cNvSpPr/>
          <p:nvPr/>
        </p:nvSpPr>
        <p:spPr>
          <a:xfrm>
            <a:off x="87235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1E689B"/>
          </a:solidFill>
          <a:ln w="10160">
            <a:solidFill>
              <a:srgbClr val="1E68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1"/>
          <p:cNvSpPr/>
          <p:nvPr/>
        </p:nvSpPr>
        <p:spPr>
          <a:xfrm>
            <a:off x="87598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WORD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2"/>
          <p:cNvSpPr/>
          <p:nvPr/>
        </p:nvSpPr>
        <p:spPr>
          <a:xfrm>
            <a:off x="96379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237E60"/>
          </a:solidFill>
          <a:ln w="10160">
            <a:solidFill>
              <a:srgbClr val="237E6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3"/>
          <p:cNvSpPr/>
          <p:nvPr/>
        </p:nvSpPr>
        <p:spPr>
          <a:xfrm>
            <a:off x="96742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EXCEL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4"/>
          <p:cNvSpPr/>
          <p:nvPr/>
        </p:nvSpPr>
        <p:spPr>
          <a:xfrm>
            <a:off x="105523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BE6741"/>
          </a:solidFill>
          <a:ln w="10160">
            <a:solidFill>
              <a:srgbClr val="BE67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5"/>
          <p:cNvSpPr/>
          <p:nvPr/>
        </p:nvSpPr>
        <p:spPr>
          <a:xfrm>
            <a:off x="105886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POWERPOINT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proje için Excel'de maliyet çizelgesi, Word'de yöntem ve PowerPoint'te bulgu özeti hazırlanır.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Dosyalar arası kopyalama yerine bağlantılı veri kullanıldığında güncelleme yönetimi düşünülmelidir.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19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Kelime İşlemci ve Word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Kelime işlemci, metni yalnızca yazmaya değil; belgenin yapısını, biçimini, atıflarını, tablo ve görsellerini sistematik yönetmeye yarayan yazılımdır.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Yapısal düzen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Başlık stilleri, bölümler ve otomatik içindekiler uzun belgelerde tutarlılık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Akademik kullanım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Kaynakça, şekil açıklaması, dipnot ve değişiklik izleme araçları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Çıktı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DOCX düzenlenebilir belgeyi; PDF farklı sistemlerde sabit görünümlü paylaşımı destekler.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0"/>
          <p:cNvSpPr/>
          <p:nvPr/>
        </p:nvSpPr>
        <p:spPr>
          <a:xfrm>
            <a:off x="87235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1E689B"/>
          </a:solidFill>
          <a:ln w="10160">
            <a:solidFill>
              <a:srgbClr val="1E68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1"/>
          <p:cNvSpPr/>
          <p:nvPr/>
        </p:nvSpPr>
        <p:spPr>
          <a:xfrm>
            <a:off x="87598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WORD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2"/>
          <p:cNvSpPr/>
          <p:nvPr/>
        </p:nvSpPr>
        <p:spPr>
          <a:xfrm>
            <a:off x="96379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237E60"/>
          </a:solidFill>
          <a:ln w="10160">
            <a:solidFill>
              <a:srgbClr val="237E6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3"/>
          <p:cNvSpPr/>
          <p:nvPr/>
        </p:nvSpPr>
        <p:spPr>
          <a:xfrm>
            <a:off x="96742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EXCEL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4"/>
          <p:cNvSpPr/>
          <p:nvPr/>
        </p:nvSpPr>
        <p:spPr>
          <a:xfrm>
            <a:off x="105523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BE6741"/>
          </a:solidFill>
          <a:ln w="10160">
            <a:solidFill>
              <a:srgbClr val="BE67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5"/>
          <p:cNvSpPr/>
          <p:nvPr/>
        </p:nvSpPr>
        <p:spPr>
          <a:xfrm>
            <a:off x="105886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POWERPOINT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laboratuvar raporu başlık stilleriyle yazılır, tablo/şekil numaralandırılır ve son sürüm PDF olarak dağıtılır.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Her satırı elle büyütüp kalın yapmak, gerçek başlık stili oluşturmaz.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Elektronik Tablo ve Excel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Elektronik tablo, satır ve sütunlardan oluşan hücrelerde veriyi tutarak formül, fonksiyon, filtre ve grafik yardımıyla işlemeyi sağlar.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Hücre ve aralık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A1 tek hücreyi, A1:A10 bir aralığı ifade eder; başvurular formüllerde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Formül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=TOPLA(B2:B11) gibi ifadeler hesaplama yapar; yerel işlev adları sürüme göre değişebilir.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Analiz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Sıralama, filtre, koşullu biçimlendirme, PivotTable ve grafikler yorumlamayı kolaylaştırır.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0"/>
          <p:cNvSpPr/>
          <p:nvPr/>
        </p:nvSpPr>
        <p:spPr>
          <a:xfrm>
            <a:off x="87235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1E689B"/>
          </a:solidFill>
          <a:ln w="10160">
            <a:solidFill>
              <a:srgbClr val="1E68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1"/>
          <p:cNvSpPr/>
          <p:nvPr/>
        </p:nvSpPr>
        <p:spPr>
          <a:xfrm>
            <a:off x="87598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WORD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22"/>
          <p:cNvSpPr/>
          <p:nvPr/>
        </p:nvSpPr>
        <p:spPr>
          <a:xfrm>
            <a:off x="96379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237E60"/>
          </a:solidFill>
          <a:ln w="10160">
            <a:solidFill>
              <a:srgbClr val="237E6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3"/>
          <p:cNvSpPr/>
          <p:nvPr/>
        </p:nvSpPr>
        <p:spPr>
          <a:xfrm>
            <a:off x="96742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EXCEL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24"/>
          <p:cNvSpPr/>
          <p:nvPr/>
        </p:nvSpPr>
        <p:spPr>
          <a:xfrm>
            <a:off x="105523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BE6741"/>
          </a:solidFill>
          <a:ln w="10160">
            <a:solidFill>
              <a:srgbClr val="BE67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5"/>
          <p:cNvSpPr/>
          <p:nvPr/>
        </p:nvSpPr>
        <p:spPr>
          <a:xfrm>
            <a:off x="105886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POWERPOINT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Sınıf yoklama tablosunda her öğrencinin devamsızlığı hesaplanıp eşik değeri aşanlar işaretlenebilir.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Kimlik numarası veya telefon gibi alanlar otomatik sayıya dönüştürülmemelidir.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Sunum Yazılımı ve PowerPoint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Sunum yazılımı, içeriği slaytlara bölerek görsel, tipografik ve mekânsal düzenle hedef kitleye anlaşılır şekilde aktarmaya yardımcı olur.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mimarisi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Her slayt bir temel soruya yanıt vermeli; başlık ile içerik arasında anlam ilişkisi kurulmalıdır.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Görselleştirme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Metin, grafik ve şemalar kanıta uygun seçilerek bilişsel yük yönetilmelidir.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Erişilebilirlik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Yeterli punto, güçlü kontrast, alternatif metin ve mantıklı okuma sırası önemlidir.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0"/>
          <p:cNvSpPr/>
          <p:nvPr/>
        </p:nvSpPr>
        <p:spPr>
          <a:xfrm>
            <a:off x="87235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1E689B"/>
          </a:solidFill>
          <a:ln w="10160">
            <a:solidFill>
              <a:srgbClr val="1E68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1"/>
          <p:cNvSpPr/>
          <p:nvPr/>
        </p:nvSpPr>
        <p:spPr>
          <a:xfrm>
            <a:off x="87598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WORD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22"/>
          <p:cNvSpPr/>
          <p:nvPr/>
        </p:nvSpPr>
        <p:spPr>
          <a:xfrm>
            <a:off x="96379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237E60"/>
          </a:solidFill>
          <a:ln w="10160">
            <a:solidFill>
              <a:srgbClr val="237E6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3"/>
          <p:cNvSpPr/>
          <p:nvPr/>
        </p:nvSpPr>
        <p:spPr>
          <a:xfrm>
            <a:off x="96742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EXCEL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4"/>
          <p:cNvSpPr/>
          <p:nvPr/>
        </p:nvSpPr>
        <p:spPr>
          <a:xfrm>
            <a:off x="105523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BE6741"/>
          </a:solidFill>
          <a:ln w="10160">
            <a:solidFill>
              <a:srgbClr val="BE67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5"/>
          <p:cNvSpPr/>
          <p:nvPr/>
        </p:nvSpPr>
        <p:spPr>
          <a:xfrm>
            <a:off x="105886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POWERPOINT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Deney sonuçlarında 20 satırlık ham tablo yerine eksen ve birimi tanımlanmış bir grafik kullanılır.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Animasyon ve geçişler yalnızca bilgi aktarımını destekliyorsa kullanılmalıdır.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Biçimi ve Birlikte Çalışabilirlik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biçimi, içeriğin nasıl kodlandığını ve farklı yazılımlar tarafından nasıl açılıp düzenlenebileceğini belirleyen teknik yapıdır.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Açık ve kapalı biçimler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DOCX / XLSX / PPTX Office Open XML ailesidir; PDF sayfa görünümünü paylaşmaya uygundur.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İçe/dışa aktarma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Farklı biçimler arasında dönüşümde yazı tipi, formül, şekil veya üstveri kaybı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Uyumluluk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Yazılım sürümü, eklenti, kodlama ve cihaz tipine göre sonuç kontrol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20"/>
          <p:cNvSpPr/>
          <p:nvPr/>
        </p:nvSpPr>
        <p:spPr>
          <a:xfrm>
            <a:off x="87235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1E689B"/>
          </a:solidFill>
          <a:ln w="10160">
            <a:solidFill>
              <a:srgbClr val="1E68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1"/>
          <p:cNvSpPr/>
          <p:nvPr/>
        </p:nvSpPr>
        <p:spPr>
          <a:xfrm>
            <a:off x="87598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WORD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22"/>
          <p:cNvSpPr/>
          <p:nvPr/>
        </p:nvSpPr>
        <p:spPr>
          <a:xfrm>
            <a:off x="96379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237E60"/>
          </a:solidFill>
          <a:ln w="10160">
            <a:solidFill>
              <a:srgbClr val="237E6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23"/>
          <p:cNvSpPr/>
          <p:nvPr/>
        </p:nvSpPr>
        <p:spPr>
          <a:xfrm>
            <a:off x="96742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EXCEL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4"/>
          <p:cNvSpPr/>
          <p:nvPr/>
        </p:nvSpPr>
        <p:spPr>
          <a:xfrm>
            <a:off x="10552320" y="3200400"/>
            <a:ext cx="840960" cy="1078560"/>
          </a:xfrm>
          <a:prstGeom prst="roundRect">
            <a:avLst>
              <a:gd name="adj" fmla="val 16667"/>
            </a:avLst>
          </a:prstGeom>
          <a:solidFill>
            <a:srgbClr val="BE6741"/>
          </a:solidFill>
          <a:ln w="10160">
            <a:solidFill>
              <a:srgbClr val="BE67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5"/>
          <p:cNvSpPr/>
          <p:nvPr/>
        </p:nvSpPr>
        <p:spPr>
          <a:xfrm>
            <a:off x="10588680" y="3620880"/>
            <a:ext cx="767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POWERPOINT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PowerPoint'i PDF'ye dönüştürmeden önce hareketli nesnelerin ve bağlantıların çıktı davranışı test edilir.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Dosya uzantısını yeniden adlandırmak gerçek biçim dönüşümü yapmaz.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Kimlik ve Çevrimiçi Temsil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kimlik, bireyin bir sistemde tanınması ve kendisiyle ilişkilendirilen hesap, nitelik ve etkinliklerin dijital ortamdaki temsilidir.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Kimlik tanımlama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Kullanıcı adı ve hesap tanımlayıcısı kişinin kim olduğunu iddia ettiğini gösterir.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Çevrimiçi itibar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Akademik e-posta, dijital profil ve ortak dosyalardaki davranışlar güveni etkiler.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Mahremiyet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Gereksiz kişisel veri paylaşımı kimlik kötüye kullanımı riskini artırabilir.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0"/>
          <p:cNvSpPr/>
          <p:nvPr/>
        </p:nvSpPr>
        <p:spPr>
          <a:xfrm rot="10800000">
            <a:off x="9428040" y="3008880"/>
            <a:ext cx="1288800" cy="149004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D9F0EE"/>
          </a:solidFill>
          <a:ln w="381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1"/>
          <p:cNvSpPr/>
          <p:nvPr/>
        </p:nvSpPr>
        <p:spPr>
          <a:xfrm>
            <a:off x="9665280" y="35845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2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3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4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Üniversite hesabı ile giriş yapan kullanıcıya kayıtlı derslerine uygun hizmetler gösterilmesi kimlik bağlamına örnektir.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5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“Dijital kimlik” çevrimiçi itibarla ilişkili olsa da iki kavram tamamen eş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26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Kimlik Doğrulama ve Yetkilendirme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Kimlik doğrulama (authentication), kullanıcının iddia ettiği kimliği kanıtlaması; yetkilendirme (authorization) ise erişebileceği kaynakların belirlenmesidir.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Kimlik doğrulama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Parola, geçiş anahtarı veya çok faktörlü doğrulama yöntemleri kullanılabilir.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Yetki ilkesi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En az ayrıcalık yaklaşımı, rol için gerekli olmayan izinleri sınırlar.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Oturum yönetimi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Ortak cihazda çıkış yapmak ve uzun süreli açık oturumları kontrol etmek gerekir.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20"/>
          <p:cNvSpPr/>
          <p:nvPr/>
        </p:nvSpPr>
        <p:spPr>
          <a:xfrm rot="10800000">
            <a:off x="9428040" y="3008880"/>
            <a:ext cx="1288800" cy="149004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D9F0EE"/>
          </a:solidFill>
          <a:ln w="381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21"/>
          <p:cNvSpPr/>
          <p:nvPr/>
        </p:nvSpPr>
        <p:spPr>
          <a:xfrm>
            <a:off x="9665280" y="35845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22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23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24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Öğrenci notunu görüntüleyebilir; öğretim elemanı yetkisi olmadan başka öğrencinin notunu değiştiremez.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5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İki aşamalı doğrulama, yanlış paylaşım izninden kaynaklanan veri sızıntısını tek başına önlemez.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26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Ayak İzi ve Veri Gizliliği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Dijital ayak izi, çevrimiçi işlemler sonucunda kullanıcının kasıtlı veya otomatik olarak bıraktığı kayıt ve izlerin bütünüdür.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Etkin izler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Yapılan yorumlar, gönderiler, dosya paylaşımları ve profil bilgileri.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Edilgen izler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Günlük kayıtları, çerezler ve hizmet kullanım meta verileri oluşabilir.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minimizasyonu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Görev için gerekli en az veri toplanır, uygun süre saklanır ve yetkili kişilerle paylaşılır.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0"/>
          <p:cNvSpPr/>
          <p:nvPr/>
        </p:nvSpPr>
        <p:spPr>
          <a:xfrm rot="10800000">
            <a:off x="9428040" y="3008880"/>
            <a:ext cx="1288800" cy="149004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D9F0EE"/>
          </a:solidFill>
          <a:ln w="381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21"/>
          <p:cNvSpPr/>
          <p:nvPr/>
        </p:nvSpPr>
        <p:spPr>
          <a:xfrm>
            <a:off x="9665280" y="35845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2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23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4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sunum dosyasının meta verisinde yazar adı veya önceki yorumlar bulunabilir; paylaşım öncesi denetlenmelidir.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5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Silinen içerik farklı hizmet veya yedeklerde tutuluyor olabilir.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6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Bulut Bilişim (Cloud Computing)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Bulut bilişim, ağ üzerinden gerektiğinde erişilebilen paylaşımlı işlem, depolama veya uygulama kaynaklarının esnek biçimde sağlanması yaklaşımıdır.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İsteğe bağlı hizmet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Kullanıcı kaynakları gerektikçe sağlanır; kaynak tahsisi otomatikleşebilir.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Ağ üzerinden erişim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 ve depolama hizmetlerine farklı istemcilerden ulaşılabilir.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Paylaşımlı kaynak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Sağlayıcı altyapıyı çok sayıda müşteriye mantıksal ayrım içinde kullandırabilir.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20"/>
          <p:cNvSpPr/>
          <p:nvPr/>
        </p:nvSpPr>
        <p:spPr>
          <a:xfrm>
            <a:off x="9390960" y="3035880"/>
            <a:ext cx="1325520" cy="840960"/>
          </a:xfrm>
          <a:prstGeom prst="cloud">
            <a:avLst/>
          </a:prstGeom>
          <a:solidFill>
            <a:srgbClr val="C6E9E7"/>
          </a:solidFill>
          <a:ln w="254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21"/>
          <p:cNvSpPr/>
          <p:nvPr/>
        </p:nvSpPr>
        <p:spPr>
          <a:xfrm>
            <a:off x="877824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315E7B"/>
          </a:solidFill>
          <a:ln w="10160">
            <a:solidFill>
              <a:srgbClr val="315E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2"/>
          <p:cNvSpPr/>
          <p:nvPr/>
        </p:nvSpPr>
        <p:spPr>
          <a:xfrm>
            <a:off x="8897040" y="4242960"/>
            <a:ext cx="55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23"/>
          <p:cNvSpPr/>
          <p:nvPr/>
        </p:nvSpPr>
        <p:spPr>
          <a:xfrm>
            <a:off x="1053396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45748A"/>
          </a:solidFill>
          <a:ln w="10160">
            <a:solidFill>
              <a:srgbClr val="4574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24"/>
          <p:cNvSpPr/>
          <p:nvPr/>
        </p:nvSpPr>
        <p:spPr>
          <a:xfrm>
            <a:off x="10625400" y="42429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5"/>
          <p:cNvSpPr/>
          <p:nvPr/>
        </p:nvSpPr>
        <p:spPr>
          <a:xfrm flipV="1">
            <a:off x="9601200" y="3822120"/>
            <a:ext cx="33804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26"/>
          <p:cNvSpPr/>
          <p:nvPr/>
        </p:nvSpPr>
        <p:spPr>
          <a:xfrm flipH="1" flipV="1">
            <a:off x="10250280" y="3822120"/>
            <a:ext cx="24696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27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8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9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OneDrive'da tutulan raporun okul ve ev bilgisayarlarından açılması bulut hizmeti kullanımına örnektir.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30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Bulut depolama, mutlaka çevrimdışı kopya veya kapsamlı yedekleme garantisi vermez.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31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Bulut Hizmet Modelleri: SaaS–PaaS–IaaS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Bulut hizmet modelleri, müşteri ile sağlayıcının uygulama, çalışma zamanı ve altyapı üzerindeki yönetim sorumluluklarının nasıl ayrıldığını gösterir.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SaaS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Hazır uygulama sunulur; kullanıcı genellikle içerik ve hesap yapılandırmasını yönetir.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PaaS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Kodun çalışacağı platform sağlanır; geliştirici uygulama ve kendi verilerinden sorumludur.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IaaS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Sanal makine, ağ ve depolama sunulur; işletim sistemi ve uygulama yönetimi müşteriye kalabilir.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0"/>
          <p:cNvSpPr/>
          <p:nvPr/>
        </p:nvSpPr>
        <p:spPr>
          <a:xfrm>
            <a:off x="9390960" y="3035880"/>
            <a:ext cx="1325520" cy="840960"/>
          </a:xfrm>
          <a:prstGeom prst="cloud">
            <a:avLst/>
          </a:prstGeom>
          <a:solidFill>
            <a:srgbClr val="C6E9E7"/>
          </a:solidFill>
          <a:ln w="254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21"/>
          <p:cNvSpPr/>
          <p:nvPr/>
        </p:nvSpPr>
        <p:spPr>
          <a:xfrm>
            <a:off x="877824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315E7B"/>
          </a:solidFill>
          <a:ln w="10160">
            <a:solidFill>
              <a:srgbClr val="315E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22"/>
          <p:cNvSpPr/>
          <p:nvPr/>
        </p:nvSpPr>
        <p:spPr>
          <a:xfrm>
            <a:off x="8897040" y="4242960"/>
            <a:ext cx="55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3"/>
          <p:cNvSpPr/>
          <p:nvPr/>
        </p:nvSpPr>
        <p:spPr>
          <a:xfrm>
            <a:off x="1053396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45748A"/>
          </a:solidFill>
          <a:ln w="10160">
            <a:solidFill>
              <a:srgbClr val="4574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24"/>
          <p:cNvSpPr/>
          <p:nvPr/>
        </p:nvSpPr>
        <p:spPr>
          <a:xfrm>
            <a:off x="10625400" y="42429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25"/>
          <p:cNvSpPr/>
          <p:nvPr/>
        </p:nvSpPr>
        <p:spPr>
          <a:xfrm flipV="1">
            <a:off x="9601200" y="3822120"/>
            <a:ext cx="33804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26"/>
          <p:cNvSpPr/>
          <p:nvPr/>
        </p:nvSpPr>
        <p:spPr>
          <a:xfrm flipH="1" flipV="1">
            <a:off x="10250280" y="3822120"/>
            <a:ext cx="24696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27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28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9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Tarayıcıdan belge düzenleme SaaS'a; web uygulaması dağıtım platformu PaaS'a; kiralık sanal sunucu IaaS'a örnektir.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30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Bulut modeli ile dağıtım türü (genel/özel/hibrit) birbirinden farklı sınıflamalardır.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31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Senkronizasyon (Synchronization)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Senkronizasyon, birden çok cihaz veya hizmette bulunan dosya ve kayıtların tanımlanan kurallarla birbirine uyumlu hâle getirilmesidir.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Tek ve çift yönlü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Tek yönlü aktarım yalnızca hedefi günceller; çift yönlü eşitlemede değişiklikler karşılıklı yayılır.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Çatışma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Aynı dosyanın eş zamanlı farklı düzenlemeleri sürüm çakışması doğurabilir.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Çevrimdışı durum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Ağ bağlantısı gelince bekleyen değişiklikler yüklenir; son sürüm doğrulanmalıdır.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20"/>
          <p:cNvSpPr/>
          <p:nvPr/>
        </p:nvSpPr>
        <p:spPr>
          <a:xfrm>
            <a:off x="9390960" y="3035880"/>
            <a:ext cx="1325520" cy="840960"/>
          </a:xfrm>
          <a:prstGeom prst="cloud">
            <a:avLst/>
          </a:prstGeom>
          <a:solidFill>
            <a:srgbClr val="C6E9E7"/>
          </a:solidFill>
          <a:ln w="254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21"/>
          <p:cNvSpPr/>
          <p:nvPr/>
        </p:nvSpPr>
        <p:spPr>
          <a:xfrm>
            <a:off x="877824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315E7B"/>
          </a:solidFill>
          <a:ln w="10160">
            <a:solidFill>
              <a:srgbClr val="315E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22"/>
          <p:cNvSpPr/>
          <p:nvPr/>
        </p:nvSpPr>
        <p:spPr>
          <a:xfrm>
            <a:off x="8897040" y="4242960"/>
            <a:ext cx="55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3"/>
          <p:cNvSpPr/>
          <p:nvPr/>
        </p:nvSpPr>
        <p:spPr>
          <a:xfrm>
            <a:off x="1053396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45748A"/>
          </a:solidFill>
          <a:ln w="10160">
            <a:solidFill>
              <a:srgbClr val="4574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24"/>
          <p:cNvSpPr/>
          <p:nvPr/>
        </p:nvSpPr>
        <p:spPr>
          <a:xfrm>
            <a:off x="10625400" y="42429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25"/>
          <p:cNvSpPr/>
          <p:nvPr/>
        </p:nvSpPr>
        <p:spPr>
          <a:xfrm flipV="1">
            <a:off x="9601200" y="3822120"/>
            <a:ext cx="33804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26"/>
          <p:cNvSpPr/>
          <p:nvPr/>
        </p:nvSpPr>
        <p:spPr>
          <a:xfrm flipH="1" flipV="1">
            <a:off x="10250280" y="3822120"/>
            <a:ext cx="24696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27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8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29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Dizüstünde yapılan değişikliğin bulut üzerinden laboratuvar bilgisayarına yansıması eşitlemedir.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30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Senkronizasyon yanlışlıkla silinen dosyayı diğer cihazlardan da silebilir; yedekleme ile karıştırılmamalıdır.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31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29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Sürüm Kontrolü, Paylaşım ve Çatışma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Sürüm yönetimi; aynı belgenin zaman içindeki değişikliklerini izleme, geçmişe dönme ve çok kullanıcılı düzenlemeyi denetleme yöntemidir.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adı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Proje adı ve tarih gibi tutarlı şema dosyaların ayırt edilmesini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Sürüm geçmişi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Önceki duruma dönme olanağı sağlar; saklama politikası hizmete göre değişebilir.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Paylaşım izni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Görüntüleme, yorum yapma ve düzenleme izinleri ayrı ayrı değerlendirilmelidir.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0"/>
          <p:cNvSpPr/>
          <p:nvPr/>
        </p:nvSpPr>
        <p:spPr>
          <a:xfrm>
            <a:off x="9390960" y="3035880"/>
            <a:ext cx="1325520" cy="840960"/>
          </a:xfrm>
          <a:prstGeom prst="cloud">
            <a:avLst/>
          </a:prstGeom>
          <a:solidFill>
            <a:srgbClr val="C6E9E7"/>
          </a:solidFill>
          <a:ln w="254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1"/>
          <p:cNvSpPr/>
          <p:nvPr/>
        </p:nvSpPr>
        <p:spPr>
          <a:xfrm>
            <a:off x="877824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315E7B"/>
          </a:solidFill>
          <a:ln w="10160">
            <a:solidFill>
              <a:srgbClr val="315E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22"/>
          <p:cNvSpPr/>
          <p:nvPr/>
        </p:nvSpPr>
        <p:spPr>
          <a:xfrm>
            <a:off x="8897040" y="4242960"/>
            <a:ext cx="557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3"/>
          <p:cNvSpPr/>
          <p:nvPr/>
        </p:nvSpPr>
        <p:spPr>
          <a:xfrm>
            <a:off x="10533960" y="4041720"/>
            <a:ext cx="785880" cy="603000"/>
          </a:xfrm>
          <a:prstGeom prst="roundRect">
            <a:avLst>
              <a:gd name="adj" fmla="val 16667"/>
            </a:avLst>
          </a:prstGeom>
          <a:solidFill>
            <a:srgbClr val="45748A"/>
          </a:solidFill>
          <a:ln w="10160">
            <a:solidFill>
              <a:srgbClr val="4574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4"/>
          <p:cNvSpPr/>
          <p:nvPr/>
        </p:nvSpPr>
        <p:spPr>
          <a:xfrm>
            <a:off x="10625400" y="42429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25"/>
          <p:cNvSpPr/>
          <p:nvPr/>
        </p:nvSpPr>
        <p:spPr>
          <a:xfrm flipV="1">
            <a:off x="9601200" y="3822120"/>
            <a:ext cx="33804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6"/>
          <p:cNvSpPr/>
          <p:nvPr/>
        </p:nvSpPr>
        <p:spPr>
          <a:xfrm flipH="1" flipV="1">
            <a:off x="10250280" y="3822120"/>
            <a:ext cx="246960" cy="30168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27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8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9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Rapor_v03.docx yerine ortak çalışma platformunda tek dosya ve kaydedilmiş sürüm geçmişi tutmak çatışmayı azaltabilir.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30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“Bağlantıya sahip herkes düzenleyebilir” seçeneği kontrolsüz erişime neden olabilir.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1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Üretken Yapay Zekâ Okuryazarlığı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Üretken yapay zekâ, eğitildiği örüntüler üzerinden yeni metin, kod, görsel veya başka içerik oluşturabilen model ve uygulama ailesidir.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Görev tanımlama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Hedef, bağlam, veri sınırı ve çıktı ölçütü açık istemlerle belirtilir.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İnsan denetimi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Modelin verdiği teknik iddialar, referanslar ve hesaplar bağımsız biçimde kontrol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Etik sınırlar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Gizli belge, kişisel veri, telifli malzeme ve akademik dürüstlük kuralları gözetilir.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20"/>
          <p:cNvSpPr/>
          <p:nvPr/>
        </p:nvSpPr>
        <p:spPr>
          <a:xfrm>
            <a:off x="9354240" y="2971800"/>
            <a:ext cx="1462680" cy="1416960"/>
          </a:xfrm>
          <a:prstGeom prst="roundRect">
            <a:avLst>
              <a:gd name="adj" fmla="val 16667"/>
            </a:avLst>
          </a:prstGeom>
          <a:solidFill>
            <a:srgbClr val="26668A"/>
          </a:solidFill>
          <a:ln w="10160">
            <a:solidFill>
              <a:srgbClr val="2666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21"/>
          <p:cNvSpPr/>
          <p:nvPr/>
        </p:nvSpPr>
        <p:spPr>
          <a:xfrm>
            <a:off x="951876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22"/>
          <p:cNvSpPr/>
          <p:nvPr/>
        </p:nvSpPr>
        <p:spPr>
          <a:xfrm>
            <a:off x="993024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3"/>
          <p:cNvSpPr/>
          <p:nvPr/>
        </p:nvSpPr>
        <p:spPr>
          <a:xfrm>
            <a:off x="1034172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24"/>
          <p:cNvSpPr/>
          <p:nvPr/>
        </p:nvSpPr>
        <p:spPr>
          <a:xfrm>
            <a:off x="9573840" y="391356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AI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25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26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27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ders planı taslağı oluşturulur; ders saatleri ve teknik tanımlar resmî programla doğrulanır.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28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Akıcı ve özgüvenli metin, doğruluk garantisi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9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Yapay Zekâ Çıktısının Doğrulanması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Yapay zekâ doğrulaması, üretilen bilginin olgusal doğruluğunun, kaynaklarının, tutarlılığının ve göreve uygunluğunun sistematik denetlenmesidir.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Halüsinasyon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Model, gerçekte bulunmayan çalışma, özellik veya referans üretebilir.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Kaynak kontrolü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DOI, kurum, yazar, tarih ve bağlantı özgün kaynaktan doğrulanmalıdır.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Tekrarlanabilirlik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Hesaplama adımları, veri girdisi ve elde edilen sonuç bağımsız yöntemlerle karşılaştırılır.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20"/>
          <p:cNvSpPr/>
          <p:nvPr/>
        </p:nvSpPr>
        <p:spPr>
          <a:xfrm>
            <a:off x="9354240" y="2971800"/>
            <a:ext cx="1462680" cy="1416960"/>
          </a:xfrm>
          <a:prstGeom prst="roundRect">
            <a:avLst>
              <a:gd name="adj" fmla="val 16667"/>
            </a:avLst>
          </a:prstGeom>
          <a:solidFill>
            <a:srgbClr val="26668A"/>
          </a:solidFill>
          <a:ln w="10160">
            <a:solidFill>
              <a:srgbClr val="2666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21"/>
          <p:cNvSpPr/>
          <p:nvPr/>
        </p:nvSpPr>
        <p:spPr>
          <a:xfrm>
            <a:off x="951876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22"/>
          <p:cNvSpPr/>
          <p:nvPr/>
        </p:nvSpPr>
        <p:spPr>
          <a:xfrm>
            <a:off x="993024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23"/>
          <p:cNvSpPr/>
          <p:nvPr/>
        </p:nvSpPr>
        <p:spPr>
          <a:xfrm>
            <a:off x="10341720" y="3246120"/>
            <a:ext cx="264960" cy="264960"/>
          </a:xfrm>
          <a:prstGeom prst="ellipse">
            <a:avLst/>
          </a:prstGeom>
          <a:solidFill>
            <a:srgbClr val="8CD2CC"/>
          </a:solidFill>
          <a:ln w="12700">
            <a:solidFill>
              <a:srgbClr val="C1E2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24"/>
          <p:cNvSpPr/>
          <p:nvPr/>
        </p:nvSpPr>
        <p:spPr>
          <a:xfrm>
            <a:off x="9573840" y="391356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AI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25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26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27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Yapay zekânın önerdiği bir makalenin DOI'si Crossref veya yayıncı sayfasında aranır; metindeki iddia makalede kontrol edilir.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28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Kaynağın var olması, iddiayı gerçekten desteklediği anlamına gelmez.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29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Güvenliği Farkındalığı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 güvenliği, bilginin gizliliğini, bütünlüğünü ve erişilebilirliğini tehditlere karşı uygun kontrollerle koruma disiplinidir.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Gizlilik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Yalnızca yetkili kişilerin bilgiye erişmesi hedeflenir.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Bütünlük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Verinin yetkisiz veya kazara değiştirilmemesi; değişikliklerin izlenebilmesi sağlanır.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Erişilebilirlik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Bilgi ve hizmete gerektiği zamanda ulaşılabilir olması amaçlanır.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20"/>
          <p:cNvSpPr/>
          <p:nvPr/>
        </p:nvSpPr>
        <p:spPr>
          <a:xfrm rot="10800000">
            <a:off x="9428040" y="3008880"/>
            <a:ext cx="1288800" cy="149004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D9F0EE"/>
          </a:solidFill>
          <a:ln w="381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21"/>
          <p:cNvSpPr/>
          <p:nvPr/>
        </p:nvSpPr>
        <p:spPr>
          <a:xfrm>
            <a:off x="9665280" y="35845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CIA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22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23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24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Sınav notlarının yalnızca yetkililerce görülmesi gizlilik; yanlış değişmemesi bütünlük; zamanında açılması erişilebilirliktir.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25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Güvenlik yalnızca antivirüs kurmaktan ibaret değildir; insan süreçleri ve yedekleme de gerekir.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26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Erişilebilirlik ve Sorumlu Dijital Üretim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Erişilebilir dijital içerik, farklı görme, işitme, motor ve bilişsel gereksinimlere sahip kişilerin bilgiye ulaşabilmesini hedefler.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Algılanabilirlik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Yüksek kontrast, anlamlı alternatif metin ve yalnızca renge dayanmayan işaretler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Kullanılabilirlik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Klavye ile gezinme, anlaşılır bağlantı metinleri ve mantıklı okuma sırası sağlanır.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Sürdürülebilirlik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Gereksiz veri kopyaları, enerji tüketimi ve cihazların kullanım ömrü göz önüne alınır.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20"/>
          <p:cNvSpPr/>
          <p:nvPr/>
        </p:nvSpPr>
        <p:spPr>
          <a:xfrm>
            <a:off x="8805600" y="3035880"/>
            <a:ext cx="667080" cy="1142640"/>
          </a:xfrm>
          <a:prstGeom prst="roundRect">
            <a:avLst>
              <a:gd name="adj" fmla="val 16667"/>
            </a:avLst>
          </a:prstGeom>
          <a:solidFill>
            <a:srgbClr val="24758B"/>
          </a:solidFill>
          <a:ln w="10160">
            <a:solidFill>
              <a:srgbClr val="2475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21"/>
          <p:cNvSpPr/>
          <p:nvPr/>
        </p:nvSpPr>
        <p:spPr>
          <a:xfrm>
            <a:off x="9738360" y="3383280"/>
            <a:ext cx="667080" cy="795240"/>
          </a:xfrm>
          <a:prstGeom prst="roundRect">
            <a:avLst>
              <a:gd name="adj" fmla="val 16667"/>
            </a:avLst>
          </a:prstGeom>
          <a:solidFill>
            <a:srgbClr val="47A7AE"/>
          </a:solidFill>
          <a:ln w="10160">
            <a:solidFill>
              <a:srgbClr val="47A7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22"/>
          <p:cNvSpPr/>
          <p:nvPr/>
        </p:nvSpPr>
        <p:spPr>
          <a:xfrm>
            <a:off x="10661760" y="3182040"/>
            <a:ext cx="667080" cy="996480"/>
          </a:xfrm>
          <a:prstGeom prst="roundRect">
            <a:avLst>
              <a:gd name="adj" fmla="val 16667"/>
            </a:avLst>
          </a:prstGeom>
          <a:solidFill>
            <a:srgbClr val="85CDC4"/>
          </a:solidFill>
          <a:ln w="10160">
            <a:solidFill>
              <a:srgbClr val="85CD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23"/>
          <p:cNvSpPr/>
          <p:nvPr/>
        </p:nvSpPr>
        <p:spPr>
          <a:xfrm>
            <a:off x="8851320" y="4654440"/>
            <a:ext cx="2441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 →  ANALİZ  →  KARAR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2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2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2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Grafikte çizgiler farklı desenlerle ayrılır; ekran okuyucu için başlık ve alternatif metin eklenir.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2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Renk körlüğü olan bir kişi için kırmızı/yeşil ayrımını tek işaret olarak kullanmamak gerekir.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2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Bütünleşik Ders Örneği: Dijital Çıktı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Üniversite ortamında dijital yetkinlik; bir görev için veriyi toplama, analiz etme, anlatma ve güvenli paylaşma aşamalarının tümünde görünür hâle gelir.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ve analiz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Anket sonuçlarını türüne uygun alanlarda toplayın, hataları ve eksik kayıtları denetleyin.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Belge ve iletişim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Excel ile özet üretin, Word'de yöntemi açıklayın, PowerPoint'te bir temel sonucu görselleştirin.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Güvenli teslim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Kaynakları doğrulayın, erişim yetkilerini sınırlayın, PDF çıktısını kontrol edip sürümü kaydedin.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20"/>
          <p:cNvSpPr/>
          <p:nvPr/>
        </p:nvSpPr>
        <p:spPr>
          <a:xfrm>
            <a:off x="867780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A8B9C"/>
          </a:solidFill>
          <a:ln w="10160">
            <a:solidFill>
              <a:srgbClr val="2A8B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21"/>
          <p:cNvSpPr/>
          <p:nvPr/>
        </p:nvSpPr>
        <p:spPr>
          <a:xfrm>
            <a:off x="871416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GİRDİ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22"/>
          <p:cNvSpPr/>
          <p:nvPr/>
        </p:nvSpPr>
        <p:spPr>
          <a:xfrm>
            <a:off x="10076760" y="29628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437FA0"/>
          </a:solidFill>
          <a:ln w="10160">
            <a:solidFill>
              <a:srgbClr val="437F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 23"/>
          <p:cNvSpPr/>
          <p:nvPr/>
        </p:nvSpPr>
        <p:spPr>
          <a:xfrm>
            <a:off x="10113120" y="316368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İŞLEME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24"/>
          <p:cNvSpPr/>
          <p:nvPr/>
        </p:nvSpPr>
        <p:spPr>
          <a:xfrm>
            <a:off x="867780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27977F"/>
          </a:solidFill>
          <a:ln w="10160">
            <a:solidFill>
              <a:srgbClr val="2797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25"/>
          <p:cNvSpPr/>
          <p:nvPr/>
        </p:nvSpPr>
        <p:spPr>
          <a:xfrm>
            <a:off x="871416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ANALİZ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26"/>
          <p:cNvSpPr/>
          <p:nvPr/>
        </p:nvSpPr>
        <p:spPr>
          <a:xfrm>
            <a:off x="10076760" y="3895200"/>
            <a:ext cx="1197360" cy="612360"/>
          </a:xfrm>
          <a:prstGeom prst="roundRect">
            <a:avLst>
              <a:gd name="adj" fmla="val 16667"/>
            </a:avLst>
          </a:prstGeom>
          <a:solidFill>
            <a:srgbClr val="70BFAE"/>
          </a:solidFill>
          <a:ln w="10160">
            <a:solidFill>
              <a:srgbClr val="70BFA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27"/>
          <p:cNvSpPr/>
          <p:nvPr/>
        </p:nvSpPr>
        <p:spPr>
          <a:xfrm>
            <a:off x="10113120" y="4096440"/>
            <a:ext cx="11242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ÇIKTI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Örnek çıktı: 20 gözlemli örnek tablo + 1 sayfalık rapor + 3 slaytlık bulgu özeti.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Değerlendirme: doğruluk, kaynaklandırma, dosya yönetimi, erişilebilirlik ve güvenlik.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D1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01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6"/>
          <p:cNvSpPr/>
          <p:nvPr/>
        </p:nvSpPr>
        <p:spPr>
          <a:xfrm>
            <a:off x="603360" y="70416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HAFTA 1  •  DOĞRULANABİLİR KAYNAKLAR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7"/>
          <p:cNvSpPr/>
          <p:nvPr/>
        </p:nvSpPr>
        <p:spPr>
          <a:xfrm>
            <a:off x="631080" y="1325880"/>
            <a:ext cx="10515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 kodları ilgili içerik slaytlarının alt bilgisinde gösterilmiştir.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8"/>
          <p:cNvSpPr/>
          <p:nvPr/>
        </p:nvSpPr>
        <p:spPr>
          <a:xfrm>
            <a:off x="658440" y="190188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9"/>
          <p:cNvSpPr/>
          <p:nvPr/>
        </p:nvSpPr>
        <p:spPr>
          <a:xfrm>
            <a:off x="749880" y="197496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D1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0"/>
          <p:cNvSpPr/>
          <p:nvPr/>
        </p:nvSpPr>
        <p:spPr>
          <a:xfrm>
            <a:off x="1353240" y="188352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European Commission JRC (2025). DigComp 3.0: European Digital Competence Framework.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1">
            <a:hlinkClick r:id="rId3"/>
          </p:cNvPr>
          <p:cNvSpPr/>
          <p:nvPr/>
        </p:nvSpPr>
        <p:spPr>
          <a:xfrm>
            <a:off x="1353240" y="228600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3"/>
              </a:rPr>
              <a:t>https://joint-research-centre.ec.europa.eu/scientific-activities/key-competences-lifelong-learning/digital-competence-framework-digcomp/digcomp-30_en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12"/>
          <p:cNvSpPr/>
          <p:nvPr/>
        </p:nvSpPr>
        <p:spPr>
          <a:xfrm>
            <a:off x="658440" y="271584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 13"/>
          <p:cNvSpPr/>
          <p:nvPr/>
        </p:nvSpPr>
        <p:spPr>
          <a:xfrm>
            <a:off x="749880" y="278892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D2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14"/>
          <p:cNvSpPr/>
          <p:nvPr/>
        </p:nvSpPr>
        <p:spPr>
          <a:xfrm>
            <a:off x="1353240" y="269748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Mell, P. &amp; Grance, T. (2011). The NIST Definition of Cloud Computing. SP 800-145.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15">
            <a:hlinkClick r:id="rId4"/>
          </p:cNvPr>
          <p:cNvSpPr/>
          <p:nvPr/>
        </p:nvSpPr>
        <p:spPr>
          <a:xfrm>
            <a:off x="1353240" y="309996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4"/>
              </a:rPr>
              <a:t>https://doi.org/10.6028/NIST.SP.800-145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6"/>
          <p:cNvSpPr/>
          <p:nvPr/>
        </p:nvSpPr>
        <p:spPr>
          <a:xfrm>
            <a:off x="658440" y="352944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17"/>
          <p:cNvSpPr/>
          <p:nvPr/>
        </p:nvSpPr>
        <p:spPr>
          <a:xfrm>
            <a:off x="749880" y="360288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D3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18"/>
          <p:cNvSpPr/>
          <p:nvPr/>
        </p:nvSpPr>
        <p:spPr>
          <a:xfrm>
            <a:off x="1353240" y="351144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Temoshok, D. ve ark. (2025). Digital Identity Guidelines. NIST SP 800-63-4.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Text 19">
            <a:hlinkClick r:id="rId5"/>
          </p:cNvPr>
          <p:cNvSpPr/>
          <p:nvPr/>
        </p:nvSpPr>
        <p:spPr>
          <a:xfrm>
            <a:off x="1353240" y="391356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5"/>
              </a:rPr>
              <a:t>https://doi.org/10.6028/NIST.SP.800-63-4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20"/>
          <p:cNvSpPr/>
          <p:nvPr/>
        </p:nvSpPr>
        <p:spPr>
          <a:xfrm>
            <a:off x="658440" y="434340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21"/>
          <p:cNvSpPr/>
          <p:nvPr/>
        </p:nvSpPr>
        <p:spPr>
          <a:xfrm>
            <a:off x="749880" y="441648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D5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22"/>
          <p:cNvSpPr/>
          <p:nvPr/>
        </p:nvSpPr>
        <p:spPr>
          <a:xfrm>
            <a:off x="1353240" y="432504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Autio, C. ve ark. (2024). Generative AI Profile. NIST AI 600-1.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23">
            <a:hlinkClick r:id="rId6"/>
          </p:cNvPr>
          <p:cNvSpPr/>
          <p:nvPr/>
        </p:nvSpPr>
        <p:spPr>
          <a:xfrm>
            <a:off x="1353240" y="472752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6"/>
              </a:rPr>
              <a:t>https://doi.org/10.6028/NIST.AI.600-1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24"/>
          <p:cNvSpPr/>
          <p:nvPr/>
        </p:nvSpPr>
        <p:spPr>
          <a:xfrm>
            <a:off x="658440" y="515736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25"/>
          <p:cNvSpPr/>
          <p:nvPr/>
        </p:nvSpPr>
        <p:spPr>
          <a:xfrm>
            <a:off x="749880" y="523044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D6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26"/>
          <p:cNvSpPr/>
          <p:nvPr/>
        </p:nvSpPr>
        <p:spPr>
          <a:xfrm>
            <a:off x="1353240" y="513900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NIST (2024). The NIST Cybersecurity Framework 2.0. CSWP 29.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27">
            <a:hlinkClick r:id="rId7"/>
          </p:cNvPr>
          <p:cNvSpPr/>
          <p:nvPr/>
        </p:nvSpPr>
        <p:spPr>
          <a:xfrm>
            <a:off x="1353240" y="554112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7"/>
              </a:rPr>
              <a:t>https://doi.org/10.6028/NIST.CSWP.29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28"/>
          <p:cNvSpPr/>
          <p:nvPr/>
        </p:nvSpPr>
        <p:spPr>
          <a:xfrm>
            <a:off x="658440" y="623628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Not: Donanım çizimleri eğitsel amaçla oluşturulmuş şematik görsellerdir; ölçekli teknik çizim değildir.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Shape 0"/>
          <p:cNvSpPr/>
          <p:nvPr/>
        </p:nvSpPr>
        <p:spPr>
          <a:xfrm>
            <a:off x="0" y="0"/>
            <a:ext cx="191520" cy="6857640"/>
          </a:xfrm>
          <a:prstGeom prst="rect">
            <a:avLst/>
          </a:prstGeom>
          <a:solidFill>
            <a:srgbClr val="078B98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1"/>
          <p:cNvSpPr/>
          <p:nvPr/>
        </p:nvSpPr>
        <p:spPr>
          <a:xfrm>
            <a:off x="8641080" y="182880"/>
            <a:ext cx="3428640" cy="3428640"/>
          </a:xfrm>
          <a:prstGeom prst="ellipse">
            <a:avLst/>
          </a:prstGeom>
          <a:solidFill>
            <a:srgbClr val="14517A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2"/>
          <p:cNvSpPr/>
          <p:nvPr/>
        </p:nvSpPr>
        <p:spPr>
          <a:xfrm>
            <a:off x="8869680" y="3520440"/>
            <a:ext cx="3181680" cy="3181680"/>
          </a:xfrm>
          <a:prstGeom prst="ellipse">
            <a:avLst/>
          </a:prstGeom>
          <a:solidFill>
            <a:srgbClr val="187A8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3"/>
          <p:cNvSpPr/>
          <p:nvPr/>
        </p:nvSpPr>
        <p:spPr>
          <a:xfrm>
            <a:off x="713160" y="60336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170">
                <a:solidFill>
                  <a:srgbClr val="D2F6F1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4"/>
          <p:cNvSpPr/>
          <p:nvPr/>
        </p:nvSpPr>
        <p:spPr>
          <a:xfrm>
            <a:off x="704160" y="148140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BİLGİ VE İLETİŞİM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TEKNOLOJİSİ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5"/>
          <p:cNvSpPr/>
          <p:nvPr/>
        </p:nvSpPr>
        <p:spPr>
          <a:xfrm>
            <a:off x="749880" y="3063240"/>
            <a:ext cx="97837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BDE8E9"/>
                </a:solidFill>
                <a:effectLst/>
                <a:uFillTx/>
                <a:latin typeface="Aptos"/>
                <a:ea typeface="Aptos"/>
              </a:rPr>
              <a:t>Bilgisayar Donanımı, Yazılımı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BDE8E9"/>
                </a:solidFill>
                <a:effectLst/>
                <a:uFillTx/>
                <a:latin typeface="Aptos"/>
                <a:ea typeface="Aptos"/>
              </a:rPr>
              <a:t>ve Performans Mantığı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6"/>
          <p:cNvSpPr/>
          <p:nvPr/>
        </p:nvSpPr>
        <p:spPr>
          <a:xfrm>
            <a:off x="731520" y="4645080"/>
            <a:ext cx="9875520" cy="360"/>
          </a:xfrm>
          <a:prstGeom prst="line">
            <a:avLst/>
          </a:prstGeom>
          <a:ln w="15240">
            <a:solidFill>
              <a:srgbClr val="4DA9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7"/>
          <p:cNvSpPr/>
          <p:nvPr/>
        </p:nvSpPr>
        <p:spPr>
          <a:xfrm>
            <a:off x="749880" y="498348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8"/>
          <p:cNvSpPr/>
          <p:nvPr/>
        </p:nvSpPr>
        <p:spPr>
          <a:xfrm>
            <a:off x="768240" y="5650920"/>
            <a:ext cx="8960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D0E8E7"/>
                </a:solidFill>
                <a:effectLst/>
                <a:uFillTx/>
                <a:latin typeface="Aptos"/>
                <a:ea typeface="Aptos"/>
              </a:rPr>
              <a:t>HAFTA 02   |   35 SLAYT   |   4 SAAT TEORİK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9"/>
          <p:cNvSpPr/>
          <p:nvPr/>
        </p:nvSpPr>
        <p:spPr>
          <a:xfrm>
            <a:off x="10607040" y="6519600"/>
            <a:ext cx="9140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7CFD6"/>
                </a:solidFill>
                <a:effectLst/>
                <a:uFillTx/>
                <a:latin typeface="Aptos"/>
                <a:ea typeface="Aptos"/>
              </a:rPr>
              <a:t>36 / 70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2" descr="Logolar | Topluma Hizmet Uygulamaları | Bursa Uludağ Üniversitesi">
            <a:extLst>
              <a:ext uri="{FF2B5EF4-FFF2-40B4-BE49-F238E27FC236}">
                <a16:creationId xmlns:a16="http://schemas.microsoft.com/office/drawing/2014/main" id="{366715F2-DE98-A72B-A047-B08585323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243" y="563409"/>
            <a:ext cx="2614314" cy="261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6"/>
          <p:cNvSpPr/>
          <p:nvPr/>
        </p:nvSpPr>
        <p:spPr>
          <a:xfrm>
            <a:off x="640080" y="658440"/>
            <a:ext cx="10789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HAFTA 02  •  KONU HARİTASI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7"/>
          <p:cNvSpPr/>
          <p:nvPr/>
        </p:nvSpPr>
        <p:spPr>
          <a:xfrm>
            <a:off x="713160" y="148140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Shape 8"/>
          <p:cNvSpPr/>
          <p:nvPr/>
        </p:nvSpPr>
        <p:spPr>
          <a:xfrm>
            <a:off x="877680" y="167328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9"/>
          <p:cNvSpPr/>
          <p:nvPr/>
        </p:nvSpPr>
        <p:spPr>
          <a:xfrm>
            <a:off x="996840" y="179676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10"/>
          <p:cNvSpPr/>
          <p:nvPr/>
        </p:nvSpPr>
        <p:spPr>
          <a:xfrm>
            <a:off x="1572840" y="168264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Bilgisayar mimarisi ve anakart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11"/>
          <p:cNvSpPr/>
          <p:nvPr/>
        </p:nvSpPr>
        <p:spPr>
          <a:xfrm>
            <a:off x="6336720" y="148140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12"/>
          <p:cNvSpPr/>
          <p:nvPr/>
        </p:nvSpPr>
        <p:spPr>
          <a:xfrm>
            <a:off x="6501240" y="167328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13"/>
          <p:cNvSpPr/>
          <p:nvPr/>
        </p:nvSpPr>
        <p:spPr>
          <a:xfrm>
            <a:off x="6620400" y="179676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14"/>
          <p:cNvSpPr/>
          <p:nvPr/>
        </p:nvSpPr>
        <p:spPr>
          <a:xfrm>
            <a:off x="7196400" y="168264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CPU, çekirdek, iş parçacığı ve önbellek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5"/>
          <p:cNvSpPr/>
          <p:nvPr/>
        </p:nvSpPr>
        <p:spPr>
          <a:xfrm>
            <a:off x="713160" y="293508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6"/>
          <p:cNvSpPr/>
          <p:nvPr/>
        </p:nvSpPr>
        <p:spPr>
          <a:xfrm>
            <a:off x="877680" y="312732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17"/>
          <p:cNvSpPr/>
          <p:nvPr/>
        </p:nvSpPr>
        <p:spPr>
          <a:xfrm>
            <a:off x="996840" y="325080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18"/>
          <p:cNvSpPr/>
          <p:nvPr/>
        </p:nvSpPr>
        <p:spPr>
          <a:xfrm>
            <a:off x="1572840" y="313632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RAM, HDD, SSD ve depolama ölçütleri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19"/>
          <p:cNvSpPr/>
          <p:nvPr/>
        </p:nvSpPr>
        <p:spPr>
          <a:xfrm>
            <a:off x="6336720" y="293508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20"/>
          <p:cNvSpPr/>
          <p:nvPr/>
        </p:nvSpPr>
        <p:spPr>
          <a:xfrm>
            <a:off x="6501240" y="312732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21"/>
          <p:cNvSpPr/>
          <p:nvPr/>
        </p:nvSpPr>
        <p:spPr>
          <a:xfrm>
            <a:off x="6620400" y="325080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22"/>
          <p:cNvSpPr/>
          <p:nvPr/>
        </p:nvSpPr>
        <p:spPr>
          <a:xfrm>
            <a:off x="7196400" y="313632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Giriş–çıkış, veri yolları, GPU ve soğutma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23"/>
          <p:cNvSpPr/>
          <p:nvPr/>
        </p:nvSpPr>
        <p:spPr>
          <a:xfrm>
            <a:off x="713160" y="438912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24"/>
          <p:cNvSpPr/>
          <p:nvPr/>
        </p:nvSpPr>
        <p:spPr>
          <a:xfrm>
            <a:off x="877680" y="458100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25"/>
          <p:cNvSpPr/>
          <p:nvPr/>
        </p:nvSpPr>
        <p:spPr>
          <a:xfrm>
            <a:off x="996840" y="470448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26"/>
          <p:cNvSpPr/>
          <p:nvPr/>
        </p:nvSpPr>
        <p:spPr>
          <a:xfrm>
            <a:off x="1572840" y="459036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İşletim sistemi, uygulama, sürücü ve dosya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27"/>
          <p:cNvSpPr/>
          <p:nvPr/>
        </p:nvSpPr>
        <p:spPr>
          <a:xfrm>
            <a:off x="6336720" y="4389120"/>
            <a:ext cx="52390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6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28"/>
          <p:cNvSpPr/>
          <p:nvPr/>
        </p:nvSpPr>
        <p:spPr>
          <a:xfrm>
            <a:off x="6501240" y="4581000"/>
            <a:ext cx="539280" cy="520920"/>
          </a:xfrm>
          <a:prstGeom prst="roundRect">
            <a:avLst>
              <a:gd name="adj" fmla="val 16667"/>
            </a:avLst>
          </a:prstGeom>
          <a:solidFill>
            <a:srgbClr val="DCE7F3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29"/>
          <p:cNvSpPr/>
          <p:nvPr/>
        </p:nvSpPr>
        <p:spPr>
          <a:xfrm>
            <a:off x="6620400" y="4704480"/>
            <a:ext cx="310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30"/>
          <p:cNvSpPr/>
          <p:nvPr/>
        </p:nvSpPr>
        <p:spPr>
          <a:xfrm>
            <a:off x="7196400" y="4590360"/>
            <a:ext cx="4141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Darboğazın ölçülmesi ve performans tanısı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Bilgisayar Sistemi: Donanım ve Yazılım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Bilgisayar, program komutlarına göre veri işleyen elektronik bir sistemdir; fiziksel donanım ile bu donanımın davranışını belirleyen yazılım birlikte çalışır.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İşlemci, bellek, depolama, anakart ve giriş/çıkış birimlerinin fiziksel bütünü.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Yazılım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sistemi, sürücüler ve uygulama kodları; kaynakların hangi işlemlerde kullanılacağını belirler.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düzeyi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Kullanıcı isteği uygulamaya, uygulama işletim sistemine ve işletim sistemi donanıma ulaşır.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2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Word belgesi kaydetme isteği, uygulama → işletim sistemi → dosya sistemi → depolama zinciriyle gerçekleşir.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Donanım kapasitesi kadar yazılımın iş yüküne uygunluğu da performansı etkiler.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39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Anakart (Motherboard) ve Bağlantılar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Anakart, işlemci, bellek, genişleme kartı, depolama ve çevre birimlerini veri, güç ve kontrol bağlantıları üzerinden birleştiren devre kartıdır.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Soket / yuva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CPU soketi işlemciyi; DIMM yuvaları RAM modüllerini; PCIe yuvaları genişleme kartlarını taşır.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Denetleyiciler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Güncel mimarilerde birçok denetleyici CPU'ya entegredir; anakart yonga kümesi ilave bağlantılar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Uyumluluk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Soket, bellek türü, BIOS/UEFI desteği ve kasa boyutu birlikte denetlenmelidir.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20"/>
          <p:cNvSpPr/>
          <p:nvPr/>
        </p:nvSpPr>
        <p:spPr>
          <a:xfrm>
            <a:off x="8897040" y="2889360"/>
            <a:ext cx="2276640" cy="1718640"/>
          </a:xfrm>
          <a:prstGeom prst="roundRect">
            <a:avLst>
              <a:gd name="adj" fmla="val 16667"/>
            </a:avLst>
          </a:prstGeom>
          <a:solidFill>
            <a:srgbClr val="234F55"/>
          </a:solidFill>
          <a:ln w="10160">
            <a:solidFill>
              <a:srgbClr val="234F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21"/>
          <p:cNvSpPr/>
          <p:nvPr/>
        </p:nvSpPr>
        <p:spPr>
          <a:xfrm>
            <a:off x="9189720" y="3090600"/>
            <a:ext cx="877320" cy="886680"/>
          </a:xfrm>
          <a:prstGeom prst="roundRect">
            <a:avLst>
              <a:gd name="adj" fmla="val 16667"/>
            </a:avLst>
          </a:prstGeom>
          <a:solidFill>
            <a:srgbClr val="ADC6CB"/>
          </a:solidFill>
          <a:ln w="10160">
            <a:solidFill>
              <a:srgbClr val="ADC6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22"/>
          <p:cNvSpPr/>
          <p:nvPr/>
        </p:nvSpPr>
        <p:spPr>
          <a:xfrm>
            <a:off x="9335880" y="3227760"/>
            <a:ext cx="575640" cy="585000"/>
          </a:xfrm>
          <a:prstGeom prst="roundRect">
            <a:avLst>
              <a:gd name="adj" fmla="val 16667"/>
            </a:avLst>
          </a:prstGeom>
          <a:solidFill>
            <a:srgbClr val="DEE9ED"/>
          </a:solidFill>
          <a:ln w="10160">
            <a:solidFill>
              <a:srgbClr val="DEE9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23"/>
          <p:cNvSpPr/>
          <p:nvPr/>
        </p:nvSpPr>
        <p:spPr>
          <a:xfrm>
            <a:off x="9399960" y="33832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24"/>
          <p:cNvSpPr/>
          <p:nvPr/>
        </p:nvSpPr>
        <p:spPr>
          <a:xfrm>
            <a:off x="10259640" y="3026520"/>
            <a:ext cx="72720" cy="978120"/>
          </a:xfrm>
          <a:prstGeom prst="roundRect">
            <a:avLst>
              <a:gd name="adj" fmla="val 16667"/>
            </a:avLst>
          </a:prstGeom>
          <a:solidFill>
            <a:srgbClr val="6BBDA5"/>
          </a:solidFill>
          <a:ln w="10160">
            <a:solidFill>
              <a:srgbClr val="6BB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25"/>
          <p:cNvSpPr/>
          <p:nvPr/>
        </p:nvSpPr>
        <p:spPr>
          <a:xfrm>
            <a:off x="10405800" y="3026520"/>
            <a:ext cx="72720" cy="978120"/>
          </a:xfrm>
          <a:prstGeom prst="roundRect">
            <a:avLst>
              <a:gd name="adj" fmla="val 16667"/>
            </a:avLst>
          </a:prstGeom>
          <a:solidFill>
            <a:srgbClr val="6BBDA5"/>
          </a:solidFill>
          <a:ln w="10160">
            <a:solidFill>
              <a:srgbClr val="6BB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26"/>
          <p:cNvSpPr/>
          <p:nvPr/>
        </p:nvSpPr>
        <p:spPr>
          <a:xfrm>
            <a:off x="10552320" y="3026520"/>
            <a:ext cx="72720" cy="978120"/>
          </a:xfrm>
          <a:prstGeom prst="roundRect">
            <a:avLst>
              <a:gd name="adj" fmla="val 16667"/>
            </a:avLst>
          </a:prstGeom>
          <a:solidFill>
            <a:srgbClr val="6BBDA5"/>
          </a:solidFill>
          <a:ln w="10160">
            <a:solidFill>
              <a:srgbClr val="6BB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27"/>
          <p:cNvSpPr/>
          <p:nvPr/>
        </p:nvSpPr>
        <p:spPr>
          <a:xfrm>
            <a:off x="10698480" y="3026520"/>
            <a:ext cx="72720" cy="978120"/>
          </a:xfrm>
          <a:prstGeom prst="roundRect">
            <a:avLst>
              <a:gd name="adj" fmla="val 16667"/>
            </a:avLst>
          </a:prstGeom>
          <a:solidFill>
            <a:srgbClr val="6BBDA5"/>
          </a:solidFill>
          <a:ln w="10160">
            <a:solidFill>
              <a:srgbClr val="6BBD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28"/>
          <p:cNvSpPr/>
          <p:nvPr/>
        </p:nvSpPr>
        <p:spPr>
          <a:xfrm>
            <a:off x="9244440" y="4151520"/>
            <a:ext cx="1435320" cy="100080"/>
          </a:xfrm>
          <a:prstGeom prst="roundRect">
            <a:avLst>
              <a:gd name="adj" fmla="val 16667"/>
            </a:avLst>
          </a:prstGeom>
          <a:solidFill>
            <a:srgbClr val="D5AF5C"/>
          </a:solidFill>
          <a:ln w="10160">
            <a:solidFill>
              <a:srgbClr val="D5AF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29"/>
          <p:cNvSpPr/>
          <p:nvPr/>
        </p:nvSpPr>
        <p:spPr>
          <a:xfrm>
            <a:off x="9070920" y="4389120"/>
            <a:ext cx="658080" cy="91080"/>
          </a:xfrm>
          <a:prstGeom prst="roundRect">
            <a:avLst>
              <a:gd name="adj" fmla="val 16667"/>
            </a:avLst>
          </a:prstGeom>
          <a:solidFill>
            <a:srgbClr val="92B6BA"/>
          </a:solidFill>
          <a:ln w="10160">
            <a:solidFill>
              <a:srgbClr val="92B6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 30"/>
          <p:cNvSpPr/>
          <p:nvPr/>
        </p:nvSpPr>
        <p:spPr>
          <a:xfrm>
            <a:off x="9208080" y="46818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ANAKART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31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32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33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DDR5 modülünü yalnızca DDR4 destekleyen bir anakarta fiziksel veya elektriksel olarak takamazsınız.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34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Aynı fiziksel M.2 yuva, her cihazda tüm SATA/NVMe protokollerini desteklemeyebilir.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35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Merkezi İşlem Birimi (CPU)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CPU, makine komutlarını yorumlayan ve yürüten; aritmetik, mantıksal ve denetim işlemlerini gerçekleştiren temel hesaplama birimidir.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Yürütme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Bellekten getirilen komutlar çözülür; uygun işlevsel birimler tarafından uygulanır.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Mimari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Komut kümesi (ISA), yazılıma görünen komut ve kayıt modelini tanımlar.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Performans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Saat hızı, komut başına iş, çekirdek sayısı, bellek gecikmesi ve güç sınırları birlikte etkilidir.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20"/>
          <p:cNvSpPr/>
          <p:nvPr/>
        </p:nvSpPr>
        <p:spPr>
          <a:xfrm>
            <a:off x="918972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21"/>
          <p:cNvSpPr/>
          <p:nvPr/>
        </p:nvSpPr>
        <p:spPr>
          <a:xfrm>
            <a:off x="918972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22"/>
          <p:cNvSpPr/>
          <p:nvPr/>
        </p:nvSpPr>
        <p:spPr>
          <a:xfrm>
            <a:off x="939096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23"/>
          <p:cNvSpPr/>
          <p:nvPr/>
        </p:nvSpPr>
        <p:spPr>
          <a:xfrm>
            <a:off x="939096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24"/>
          <p:cNvSpPr/>
          <p:nvPr/>
        </p:nvSpPr>
        <p:spPr>
          <a:xfrm>
            <a:off x="959220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25"/>
          <p:cNvSpPr/>
          <p:nvPr/>
        </p:nvSpPr>
        <p:spPr>
          <a:xfrm>
            <a:off x="959220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26"/>
          <p:cNvSpPr/>
          <p:nvPr/>
        </p:nvSpPr>
        <p:spPr>
          <a:xfrm>
            <a:off x="979308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27"/>
          <p:cNvSpPr/>
          <p:nvPr/>
        </p:nvSpPr>
        <p:spPr>
          <a:xfrm>
            <a:off x="979308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28"/>
          <p:cNvSpPr/>
          <p:nvPr/>
        </p:nvSpPr>
        <p:spPr>
          <a:xfrm>
            <a:off x="999432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29"/>
          <p:cNvSpPr/>
          <p:nvPr/>
        </p:nvSpPr>
        <p:spPr>
          <a:xfrm>
            <a:off x="999432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Shape 30"/>
          <p:cNvSpPr/>
          <p:nvPr/>
        </p:nvSpPr>
        <p:spPr>
          <a:xfrm>
            <a:off x="1019556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31"/>
          <p:cNvSpPr/>
          <p:nvPr/>
        </p:nvSpPr>
        <p:spPr>
          <a:xfrm>
            <a:off x="1019556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32"/>
          <p:cNvSpPr/>
          <p:nvPr/>
        </p:nvSpPr>
        <p:spPr>
          <a:xfrm>
            <a:off x="1039680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Shape 33"/>
          <p:cNvSpPr/>
          <p:nvPr/>
        </p:nvSpPr>
        <p:spPr>
          <a:xfrm>
            <a:off x="1039680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Shape 34"/>
          <p:cNvSpPr/>
          <p:nvPr/>
        </p:nvSpPr>
        <p:spPr>
          <a:xfrm>
            <a:off x="1059804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Shape 35"/>
          <p:cNvSpPr/>
          <p:nvPr/>
        </p:nvSpPr>
        <p:spPr>
          <a:xfrm>
            <a:off x="1059804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36"/>
          <p:cNvSpPr/>
          <p:nvPr/>
        </p:nvSpPr>
        <p:spPr>
          <a:xfrm>
            <a:off x="8933760" y="316368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37"/>
          <p:cNvSpPr/>
          <p:nvPr/>
        </p:nvSpPr>
        <p:spPr>
          <a:xfrm>
            <a:off x="10789920" y="316368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38"/>
          <p:cNvSpPr/>
          <p:nvPr/>
        </p:nvSpPr>
        <p:spPr>
          <a:xfrm>
            <a:off x="8933760" y="33649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39"/>
          <p:cNvSpPr/>
          <p:nvPr/>
        </p:nvSpPr>
        <p:spPr>
          <a:xfrm>
            <a:off x="10789920" y="33649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40"/>
          <p:cNvSpPr/>
          <p:nvPr/>
        </p:nvSpPr>
        <p:spPr>
          <a:xfrm>
            <a:off x="8933760" y="35661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41"/>
          <p:cNvSpPr/>
          <p:nvPr/>
        </p:nvSpPr>
        <p:spPr>
          <a:xfrm>
            <a:off x="10789920" y="35661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42"/>
          <p:cNvSpPr/>
          <p:nvPr/>
        </p:nvSpPr>
        <p:spPr>
          <a:xfrm>
            <a:off x="8933760" y="376740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43"/>
          <p:cNvSpPr/>
          <p:nvPr/>
        </p:nvSpPr>
        <p:spPr>
          <a:xfrm>
            <a:off x="10789920" y="376740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44"/>
          <p:cNvSpPr/>
          <p:nvPr/>
        </p:nvSpPr>
        <p:spPr>
          <a:xfrm>
            <a:off x="8933760" y="396864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45"/>
          <p:cNvSpPr/>
          <p:nvPr/>
        </p:nvSpPr>
        <p:spPr>
          <a:xfrm>
            <a:off x="10789920" y="396864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46"/>
          <p:cNvSpPr/>
          <p:nvPr/>
        </p:nvSpPr>
        <p:spPr>
          <a:xfrm>
            <a:off x="8933760" y="41695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Shape 47"/>
          <p:cNvSpPr/>
          <p:nvPr/>
        </p:nvSpPr>
        <p:spPr>
          <a:xfrm>
            <a:off x="10789920" y="41695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Shape 48"/>
          <p:cNvSpPr/>
          <p:nvPr/>
        </p:nvSpPr>
        <p:spPr>
          <a:xfrm>
            <a:off x="8933760" y="43707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49"/>
          <p:cNvSpPr/>
          <p:nvPr/>
        </p:nvSpPr>
        <p:spPr>
          <a:xfrm>
            <a:off x="10789920" y="43707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Shape 50"/>
          <p:cNvSpPr/>
          <p:nvPr/>
        </p:nvSpPr>
        <p:spPr>
          <a:xfrm>
            <a:off x="9116640" y="3017520"/>
            <a:ext cx="1828440" cy="1499400"/>
          </a:xfrm>
          <a:prstGeom prst="roundRect">
            <a:avLst>
              <a:gd name="adj" fmla="val 16667"/>
            </a:avLst>
          </a:prstGeom>
          <a:solidFill>
            <a:srgbClr val="24777B"/>
          </a:solidFill>
          <a:ln w="10160">
            <a:solidFill>
              <a:srgbClr val="2477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51"/>
          <p:cNvSpPr/>
          <p:nvPr/>
        </p:nvSpPr>
        <p:spPr>
          <a:xfrm>
            <a:off x="9354240" y="3255120"/>
            <a:ext cx="1352880" cy="1014480"/>
          </a:xfrm>
          <a:prstGeom prst="roundRect">
            <a:avLst>
              <a:gd name="adj" fmla="val 16667"/>
            </a:avLst>
          </a:prstGeom>
          <a:solidFill>
            <a:srgbClr val="D8E7E9"/>
          </a:solidFill>
          <a:ln w="10160">
            <a:solidFill>
              <a:srgbClr val="D8E7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 52"/>
          <p:cNvSpPr/>
          <p:nvPr/>
        </p:nvSpPr>
        <p:spPr>
          <a:xfrm>
            <a:off x="9582840" y="35204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53"/>
          <p:cNvSpPr/>
          <p:nvPr/>
        </p:nvSpPr>
        <p:spPr>
          <a:xfrm>
            <a:off x="9025200" y="47365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ÇIP / İŞLEMCİ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5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5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5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Büyük bir Excel formül zincirinin hesaplanması CPU işi olabilir; ancak veri depolamadan bekleniyorsa işlemci boş kalabilir.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5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“En yüksek GHz daima en hızlı işlemci” genellemesi teknik olarak yanlıştır.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5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 İç Yapısı: ALU, Kontrol, Yazmaç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İşlemci içinde denetim mantığı, aritmetik/mantık birimleri, yazmaçlar ve önbellekler komutların düşük gecikmeyle yürütülmesini destekler.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ALU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Toplama, bit işlemleri ve karşılaştırma gibi tamsayı/mantık işlemlerini gerçekleştirir.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Kontrol birimi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Komutların çözülmesini ve veri akışını ilgili yürütme kaynaklarına yönlendirir.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Register / yazmaç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Anlık operand ve durum değerlerini tutan CPU içi çok hızlı ve sınırlı depolama alanıdır.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20"/>
          <p:cNvSpPr/>
          <p:nvPr/>
        </p:nvSpPr>
        <p:spPr>
          <a:xfrm>
            <a:off x="918972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21"/>
          <p:cNvSpPr/>
          <p:nvPr/>
        </p:nvSpPr>
        <p:spPr>
          <a:xfrm>
            <a:off x="918972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22"/>
          <p:cNvSpPr/>
          <p:nvPr/>
        </p:nvSpPr>
        <p:spPr>
          <a:xfrm>
            <a:off x="939096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23"/>
          <p:cNvSpPr/>
          <p:nvPr/>
        </p:nvSpPr>
        <p:spPr>
          <a:xfrm>
            <a:off x="939096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Shape 24"/>
          <p:cNvSpPr/>
          <p:nvPr/>
        </p:nvSpPr>
        <p:spPr>
          <a:xfrm>
            <a:off x="959220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Shape 25"/>
          <p:cNvSpPr/>
          <p:nvPr/>
        </p:nvSpPr>
        <p:spPr>
          <a:xfrm>
            <a:off x="959220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26"/>
          <p:cNvSpPr/>
          <p:nvPr/>
        </p:nvSpPr>
        <p:spPr>
          <a:xfrm>
            <a:off x="979308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27"/>
          <p:cNvSpPr/>
          <p:nvPr/>
        </p:nvSpPr>
        <p:spPr>
          <a:xfrm>
            <a:off x="979308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28"/>
          <p:cNvSpPr/>
          <p:nvPr/>
        </p:nvSpPr>
        <p:spPr>
          <a:xfrm>
            <a:off x="999432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Shape 29"/>
          <p:cNvSpPr/>
          <p:nvPr/>
        </p:nvSpPr>
        <p:spPr>
          <a:xfrm>
            <a:off x="999432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30"/>
          <p:cNvSpPr/>
          <p:nvPr/>
        </p:nvSpPr>
        <p:spPr>
          <a:xfrm>
            <a:off x="1019556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31"/>
          <p:cNvSpPr/>
          <p:nvPr/>
        </p:nvSpPr>
        <p:spPr>
          <a:xfrm>
            <a:off x="1019556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32"/>
          <p:cNvSpPr/>
          <p:nvPr/>
        </p:nvSpPr>
        <p:spPr>
          <a:xfrm>
            <a:off x="1039680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33"/>
          <p:cNvSpPr/>
          <p:nvPr/>
        </p:nvSpPr>
        <p:spPr>
          <a:xfrm>
            <a:off x="1039680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34"/>
          <p:cNvSpPr/>
          <p:nvPr/>
        </p:nvSpPr>
        <p:spPr>
          <a:xfrm>
            <a:off x="10598040" y="2926080"/>
            <a:ext cx="63720" cy="228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35"/>
          <p:cNvSpPr/>
          <p:nvPr/>
        </p:nvSpPr>
        <p:spPr>
          <a:xfrm>
            <a:off x="10598040" y="4480560"/>
            <a:ext cx="63720" cy="21924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Shape 36"/>
          <p:cNvSpPr/>
          <p:nvPr/>
        </p:nvSpPr>
        <p:spPr>
          <a:xfrm>
            <a:off x="8933760" y="316368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37"/>
          <p:cNvSpPr/>
          <p:nvPr/>
        </p:nvSpPr>
        <p:spPr>
          <a:xfrm>
            <a:off x="10789920" y="316368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38"/>
          <p:cNvSpPr/>
          <p:nvPr/>
        </p:nvSpPr>
        <p:spPr>
          <a:xfrm>
            <a:off x="8933760" y="33649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Shape 39"/>
          <p:cNvSpPr/>
          <p:nvPr/>
        </p:nvSpPr>
        <p:spPr>
          <a:xfrm>
            <a:off x="10789920" y="33649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Shape 40"/>
          <p:cNvSpPr/>
          <p:nvPr/>
        </p:nvSpPr>
        <p:spPr>
          <a:xfrm>
            <a:off x="8933760" y="35661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Shape 41"/>
          <p:cNvSpPr/>
          <p:nvPr/>
        </p:nvSpPr>
        <p:spPr>
          <a:xfrm>
            <a:off x="10789920" y="35661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42"/>
          <p:cNvSpPr/>
          <p:nvPr/>
        </p:nvSpPr>
        <p:spPr>
          <a:xfrm>
            <a:off x="8933760" y="376740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43"/>
          <p:cNvSpPr/>
          <p:nvPr/>
        </p:nvSpPr>
        <p:spPr>
          <a:xfrm>
            <a:off x="10789920" y="376740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Shape 44"/>
          <p:cNvSpPr/>
          <p:nvPr/>
        </p:nvSpPr>
        <p:spPr>
          <a:xfrm>
            <a:off x="8933760" y="396864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45"/>
          <p:cNvSpPr/>
          <p:nvPr/>
        </p:nvSpPr>
        <p:spPr>
          <a:xfrm>
            <a:off x="10789920" y="396864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46"/>
          <p:cNvSpPr/>
          <p:nvPr/>
        </p:nvSpPr>
        <p:spPr>
          <a:xfrm>
            <a:off x="8933760" y="41695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47"/>
          <p:cNvSpPr/>
          <p:nvPr/>
        </p:nvSpPr>
        <p:spPr>
          <a:xfrm>
            <a:off x="10789920" y="416952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Shape 48"/>
          <p:cNvSpPr/>
          <p:nvPr/>
        </p:nvSpPr>
        <p:spPr>
          <a:xfrm>
            <a:off x="8933760" y="43707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49"/>
          <p:cNvSpPr/>
          <p:nvPr/>
        </p:nvSpPr>
        <p:spPr>
          <a:xfrm>
            <a:off x="10789920" y="4370760"/>
            <a:ext cx="200880" cy="63720"/>
          </a:xfrm>
          <a:prstGeom prst="roundRect">
            <a:avLst>
              <a:gd name="adj" fmla="val 16667"/>
            </a:avLst>
          </a:prstGeom>
          <a:solidFill>
            <a:srgbClr val="C49C58"/>
          </a:solidFill>
          <a:ln w="10160">
            <a:solidFill>
              <a:srgbClr val="C49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960" rIns="90000" bIns="12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50"/>
          <p:cNvSpPr/>
          <p:nvPr/>
        </p:nvSpPr>
        <p:spPr>
          <a:xfrm>
            <a:off x="9116640" y="3017520"/>
            <a:ext cx="1828440" cy="1499400"/>
          </a:xfrm>
          <a:prstGeom prst="roundRect">
            <a:avLst>
              <a:gd name="adj" fmla="val 16667"/>
            </a:avLst>
          </a:prstGeom>
          <a:solidFill>
            <a:srgbClr val="24777B"/>
          </a:solidFill>
          <a:ln w="10160">
            <a:solidFill>
              <a:srgbClr val="2477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51"/>
          <p:cNvSpPr/>
          <p:nvPr/>
        </p:nvSpPr>
        <p:spPr>
          <a:xfrm>
            <a:off x="9354240" y="3255120"/>
            <a:ext cx="1352880" cy="1014480"/>
          </a:xfrm>
          <a:prstGeom prst="roundRect">
            <a:avLst>
              <a:gd name="adj" fmla="val 16667"/>
            </a:avLst>
          </a:prstGeom>
          <a:solidFill>
            <a:srgbClr val="D8E7E9"/>
          </a:solidFill>
          <a:ln w="10160">
            <a:solidFill>
              <a:srgbClr val="D8E7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52"/>
          <p:cNvSpPr/>
          <p:nvPr/>
        </p:nvSpPr>
        <p:spPr>
          <a:xfrm>
            <a:off x="9582840" y="35204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53"/>
          <p:cNvSpPr/>
          <p:nvPr/>
        </p:nvSpPr>
        <p:spPr>
          <a:xfrm>
            <a:off x="9025200" y="47365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ÇIP / İŞLEMCİ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54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 55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 56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İki tamsayının toplanması için operandlar yazmaçlara yüklenir; sonuç uygun yürütme biriminde hesaplanır.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57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Kayan nokta ve vektör işlemleri, ALU'dan farklı özel yürütme birimlerinde gerçekleşebilir.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58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Komut Döngüsü: Fetch–Decode–Execute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Komut döngüsü, işlemcinin sıradaki makine komutunu getirmesi, ne yapacağını çözmesi ve yürütmesinin öğretici özetidir.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Fetch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Komut, komut önbelleği veya bellek hiyerarşisinden elde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Decode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Komut kodu ve operand bilgisi çözümlenerek uygun yürütme işlemleri belirlenir.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Execute/commit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İşlem hesaplanır, sonuç mimarinin kurallarına göre görünür hâle getirilir.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Shape 20"/>
          <p:cNvSpPr/>
          <p:nvPr/>
        </p:nvSpPr>
        <p:spPr>
          <a:xfrm>
            <a:off x="8714160" y="3401640"/>
            <a:ext cx="859320" cy="712800"/>
          </a:xfrm>
          <a:prstGeom prst="roundRect">
            <a:avLst>
              <a:gd name="adj" fmla="val 16667"/>
            </a:avLst>
          </a:prstGeom>
          <a:solidFill>
            <a:srgbClr val="176A86"/>
          </a:solidFill>
          <a:ln w="10160">
            <a:solidFill>
              <a:srgbClr val="176A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21"/>
          <p:cNvSpPr/>
          <p:nvPr/>
        </p:nvSpPr>
        <p:spPr>
          <a:xfrm>
            <a:off x="8741520" y="3639240"/>
            <a:ext cx="804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FETCH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22"/>
          <p:cNvSpPr/>
          <p:nvPr/>
        </p:nvSpPr>
        <p:spPr>
          <a:xfrm>
            <a:off x="9655920" y="3401640"/>
            <a:ext cx="859320" cy="712800"/>
          </a:xfrm>
          <a:prstGeom prst="roundRect">
            <a:avLst>
              <a:gd name="adj" fmla="val 16667"/>
            </a:avLst>
          </a:prstGeom>
          <a:solidFill>
            <a:srgbClr val="278A99"/>
          </a:solidFill>
          <a:ln w="10160">
            <a:solidFill>
              <a:srgbClr val="278A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Text 23"/>
          <p:cNvSpPr/>
          <p:nvPr/>
        </p:nvSpPr>
        <p:spPr>
          <a:xfrm>
            <a:off x="9683640" y="3639240"/>
            <a:ext cx="804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DECODE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24"/>
          <p:cNvSpPr/>
          <p:nvPr/>
        </p:nvSpPr>
        <p:spPr>
          <a:xfrm>
            <a:off x="10598040" y="3401640"/>
            <a:ext cx="859320" cy="712800"/>
          </a:xfrm>
          <a:prstGeom prst="roundRect">
            <a:avLst>
              <a:gd name="adj" fmla="val 16667"/>
            </a:avLst>
          </a:prstGeom>
          <a:solidFill>
            <a:srgbClr val="4FAFA6"/>
          </a:solidFill>
          <a:ln w="10160">
            <a:solidFill>
              <a:srgbClr val="4FAF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25"/>
          <p:cNvSpPr/>
          <p:nvPr/>
        </p:nvSpPr>
        <p:spPr>
          <a:xfrm>
            <a:off x="10625400" y="3639240"/>
            <a:ext cx="804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EXECUTE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x = x + 1 gibi yüksek düzeyli bir ifade, derleyiciye ve mimariye bağlı olarak birkaç makine komutuna dönüşebilir.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Modern CPU'lar işlem hattı ve sıra dışı yürütme kullanır; adımlar her komut için bütünüyle sıralı ilerlemez.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Çekirdek (Core) ve İş Parçacığı (Thread)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Çekirdek, bağımsız komut yürütme kaynakları bulunan işlem birimidir; yazılım iş parçacığı ise zamanlanabilir yürütme akışıdır.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Fiziksel çekirdek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CPU paketinde birden çok çekirdek bulunarak farklı görevler eşzamanlı işlenebilir.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Mantıksal işlemci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SMT gibi tekniklerde tek fiziksel çekirdek birden çok donanım iş parçacığını yürütebilir.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 yükü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Paralelleştirilebilir uygulamalar çekirdeklerden yararlanır; tek iş parçacıklı görev aynı oranda hızlanmaz.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Shape 20"/>
          <p:cNvSpPr/>
          <p:nvPr/>
        </p:nvSpPr>
        <p:spPr>
          <a:xfrm>
            <a:off x="8842320" y="2926080"/>
            <a:ext cx="2377080" cy="1700280"/>
          </a:xfrm>
          <a:prstGeom prst="roundRect">
            <a:avLst>
              <a:gd name="adj" fmla="val 16667"/>
            </a:avLst>
          </a:prstGeom>
          <a:solidFill>
            <a:srgbClr val="153E5C"/>
          </a:solidFill>
          <a:ln w="10160">
            <a:solidFill>
              <a:srgbClr val="153E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Shape 21"/>
          <p:cNvSpPr/>
          <p:nvPr/>
        </p:nvSpPr>
        <p:spPr>
          <a:xfrm>
            <a:off x="897012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22"/>
          <p:cNvSpPr/>
          <p:nvPr/>
        </p:nvSpPr>
        <p:spPr>
          <a:xfrm>
            <a:off x="907092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Shape 23"/>
          <p:cNvSpPr/>
          <p:nvPr/>
        </p:nvSpPr>
        <p:spPr>
          <a:xfrm>
            <a:off x="952812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Text 24"/>
          <p:cNvSpPr/>
          <p:nvPr/>
        </p:nvSpPr>
        <p:spPr>
          <a:xfrm>
            <a:off x="962856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Shape 25"/>
          <p:cNvSpPr/>
          <p:nvPr/>
        </p:nvSpPr>
        <p:spPr>
          <a:xfrm>
            <a:off x="1008576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26"/>
          <p:cNvSpPr/>
          <p:nvPr/>
        </p:nvSpPr>
        <p:spPr>
          <a:xfrm>
            <a:off x="1018656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Shape 27"/>
          <p:cNvSpPr/>
          <p:nvPr/>
        </p:nvSpPr>
        <p:spPr>
          <a:xfrm>
            <a:off x="1064376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28"/>
          <p:cNvSpPr/>
          <p:nvPr/>
        </p:nvSpPr>
        <p:spPr>
          <a:xfrm>
            <a:off x="1074420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Shape 29"/>
          <p:cNvSpPr/>
          <p:nvPr/>
        </p:nvSpPr>
        <p:spPr>
          <a:xfrm>
            <a:off x="897012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30"/>
          <p:cNvSpPr/>
          <p:nvPr/>
        </p:nvSpPr>
        <p:spPr>
          <a:xfrm>
            <a:off x="907092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Shape 31"/>
          <p:cNvSpPr/>
          <p:nvPr/>
        </p:nvSpPr>
        <p:spPr>
          <a:xfrm>
            <a:off x="952812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 32"/>
          <p:cNvSpPr/>
          <p:nvPr/>
        </p:nvSpPr>
        <p:spPr>
          <a:xfrm>
            <a:off x="962856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33"/>
          <p:cNvSpPr/>
          <p:nvPr/>
        </p:nvSpPr>
        <p:spPr>
          <a:xfrm>
            <a:off x="1008576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34"/>
          <p:cNvSpPr/>
          <p:nvPr/>
        </p:nvSpPr>
        <p:spPr>
          <a:xfrm>
            <a:off x="1018656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Shape 35"/>
          <p:cNvSpPr/>
          <p:nvPr/>
        </p:nvSpPr>
        <p:spPr>
          <a:xfrm>
            <a:off x="1064376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Text 36"/>
          <p:cNvSpPr/>
          <p:nvPr/>
        </p:nvSpPr>
        <p:spPr>
          <a:xfrm>
            <a:off x="1074420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Text 37"/>
          <p:cNvSpPr/>
          <p:nvPr/>
        </p:nvSpPr>
        <p:spPr>
          <a:xfrm>
            <a:off x="8814960" y="471816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8 FİZİKSEL ÇEKİRDEK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Shape 3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 3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Text 4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8 çekirdek / 16 mantıksal işlemci, her zaman 16 bağımsız fiziksel çekirdek anlamına gelmez.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Text 4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Fiziksel çekirdek ile işletim sistemindeki süreç (process) farklı kavramlardır.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Text 4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Saat Frekansı, IPC ve İşlemci Performansı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 performansı, yalnızca saniyedeki saat çevrimiyle değil; çevrim başına yararlı iş (IPC), paralellik ve bellek davranışıyla belirlenir.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Frekans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GHz yaklaşık saniyedeki milyar çevrimi ifade eder; tek başına tamamlanan iş miktarını vermez.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IPC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Belirli bir iş yükünde çevrim başına tamamlanan komut miktarını betimler.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Turbo ve ısı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Anlık güç, sıcaklık ve çekirdek yüküne göre frekans değişebilir; uzun yükte düşebilir.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Shape 20"/>
          <p:cNvSpPr/>
          <p:nvPr/>
        </p:nvSpPr>
        <p:spPr>
          <a:xfrm>
            <a:off x="8842320" y="2926080"/>
            <a:ext cx="2377080" cy="1700280"/>
          </a:xfrm>
          <a:prstGeom prst="roundRect">
            <a:avLst>
              <a:gd name="adj" fmla="val 16667"/>
            </a:avLst>
          </a:prstGeom>
          <a:solidFill>
            <a:srgbClr val="153E5C"/>
          </a:solidFill>
          <a:ln w="10160">
            <a:solidFill>
              <a:srgbClr val="153E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Shape 21"/>
          <p:cNvSpPr/>
          <p:nvPr/>
        </p:nvSpPr>
        <p:spPr>
          <a:xfrm>
            <a:off x="897012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22"/>
          <p:cNvSpPr/>
          <p:nvPr/>
        </p:nvSpPr>
        <p:spPr>
          <a:xfrm>
            <a:off x="907092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Shape 23"/>
          <p:cNvSpPr/>
          <p:nvPr/>
        </p:nvSpPr>
        <p:spPr>
          <a:xfrm>
            <a:off x="952812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 24"/>
          <p:cNvSpPr/>
          <p:nvPr/>
        </p:nvSpPr>
        <p:spPr>
          <a:xfrm>
            <a:off x="962856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Shape 25"/>
          <p:cNvSpPr/>
          <p:nvPr/>
        </p:nvSpPr>
        <p:spPr>
          <a:xfrm>
            <a:off x="1008576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 26"/>
          <p:cNvSpPr/>
          <p:nvPr/>
        </p:nvSpPr>
        <p:spPr>
          <a:xfrm>
            <a:off x="1018656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Shape 27"/>
          <p:cNvSpPr/>
          <p:nvPr/>
        </p:nvSpPr>
        <p:spPr>
          <a:xfrm>
            <a:off x="10643760" y="309060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2B8F91"/>
          </a:solidFill>
          <a:ln w="10160">
            <a:solidFill>
              <a:srgbClr val="2B8F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 28"/>
          <p:cNvSpPr/>
          <p:nvPr/>
        </p:nvSpPr>
        <p:spPr>
          <a:xfrm>
            <a:off x="10744200" y="324612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Shape 29"/>
          <p:cNvSpPr/>
          <p:nvPr/>
        </p:nvSpPr>
        <p:spPr>
          <a:xfrm>
            <a:off x="897012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 30"/>
          <p:cNvSpPr/>
          <p:nvPr/>
        </p:nvSpPr>
        <p:spPr>
          <a:xfrm>
            <a:off x="907092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Shape 31"/>
          <p:cNvSpPr/>
          <p:nvPr/>
        </p:nvSpPr>
        <p:spPr>
          <a:xfrm>
            <a:off x="952812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4" name="Text 32"/>
          <p:cNvSpPr/>
          <p:nvPr/>
        </p:nvSpPr>
        <p:spPr>
          <a:xfrm>
            <a:off x="962856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Shape 33"/>
          <p:cNvSpPr/>
          <p:nvPr/>
        </p:nvSpPr>
        <p:spPr>
          <a:xfrm>
            <a:off x="1008576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Text 34"/>
          <p:cNvSpPr/>
          <p:nvPr/>
        </p:nvSpPr>
        <p:spPr>
          <a:xfrm>
            <a:off x="1018656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Shape 35"/>
          <p:cNvSpPr/>
          <p:nvPr/>
        </p:nvSpPr>
        <p:spPr>
          <a:xfrm>
            <a:off x="10643760" y="3758040"/>
            <a:ext cx="447840" cy="520920"/>
          </a:xfrm>
          <a:prstGeom prst="roundRect">
            <a:avLst>
              <a:gd name="adj" fmla="val 16667"/>
            </a:avLst>
          </a:prstGeom>
          <a:solidFill>
            <a:srgbClr val="3CABB0"/>
          </a:solidFill>
          <a:ln w="10160">
            <a:solidFill>
              <a:srgbClr val="3CAB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Text 36"/>
          <p:cNvSpPr/>
          <p:nvPr/>
        </p:nvSpPr>
        <p:spPr>
          <a:xfrm>
            <a:off x="10744200" y="3913560"/>
            <a:ext cx="22824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 37"/>
          <p:cNvSpPr/>
          <p:nvPr/>
        </p:nvSpPr>
        <p:spPr>
          <a:xfrm>
            <a:off x="8814960" y="4718160"/>
            <a:ext cx="24685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8 FİZİKSEL ÇEKİRDEK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Shape 3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 3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Text 4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4,0 GHz'lik işlemci, daha yüksek IPC'ye sahip 3,5 GHz'lik bir modele aynı görevde yenilebilir.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Text 4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İki işlemciyi karşılaştırırken aynı yazılım sürümü, test verisi ve enerji koşulları kullanılmalıdır.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Text 4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Önbellek (Cache): L1, L2, L3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 önbelleği, yakın zamanda veya yakında kullanılabilecek komut ve verileri ana belleğe göre daha düşük gecikmeyle tutan hızlı bellek katmanlarıdır.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L1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Çekirdeğe en yakın ve tipik olarak en küçük/hızlı katmandır.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L2 ve L3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Daha büyük kapasite sunabilir; hangi katmanın çekirdeğe özel veya paylaşımlı olduğu mimariye bağlıdır.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Yerellik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Aynı veri veya yakın adreslerin tekrar kullanılması önbellek isabetini artırabilir.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Shape 20"/>
          <p:cNvSpPr/>
          <p:nvPr/>
        </p:nvSpPr>
        <p:spPr>
          <a:xfrm>
            <a:off x="9477720" y="2871360"/>
            <a:ext cx="1051200" cy="356400"/>
          </a:xfrm>
          <a:prstGeom prst="roundRect">
            <a:avLst>
              <a:gd name="adj" fmla="val 16667"/>
            </a:avLst>
          </a:prstGeom>
          <a:solidFill>
            <a:srgbClr val="0F6C86"/>
          </a:solidFill>
          <a:ln w="10160">
            <a:solidFill>
              <a:srgbClr val="0F6C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Text 21"/>
          <p:cNvSpPr/>
          <p:nvPr/>
        </p:nvSpPr>
        <p:spPr>
          <a:xfrm>
            <a:off x="9477720" y="294444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L1 · en yakın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Shape 22"/>
          <p:cNvSpPr/>
          <p:nvPr/>
        </p:nvSpPr>
        <p:spPr>
          <a:xfrm>
            <a:off x="9258480" y="3328560"/>
            <a:ext cx="1490040" cy="356400"/>
          </a:xfrm>
          <a:prstGeom prst="roundRect">
            <a:avLst>
              <a:gd name="adj" fmla="val 16667"/>
            </a:avLst>
          </a:prstGeom>
          <a:solidFill>
            <a:srgbClr val="278F9A"/>
          </a:solidFill>
          <a:ln w="10160">
            <a:solidFill>
              <a:srgbClr val="278F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 23"/>
          <p:cNvSpPr/>
          <p:nvPr/>
        </p:nvSpPr>
        <p:spPr>
          <a:xfrm>
            <a:off x="9258480" y="3401640"/>
            <a:ext cx="1490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L2 · orta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Shape 24"/>
          <p:cNvSpPr/>
          <p:nvPr/>
        </p:nvSpPr>
        <p:spPr>
          <a:xfrm>
            <a:off x="9038880" y="3785760"/>
            <a:ext cx="1928880" cy="356400"/>
          </a:xfrm>
          <a:prstGeom prst="roundRect">
            <a:avLst>
              <a:gd name="adj" fmla="val 16667"/>
            </a:avLst>
          </a:prstGeom>
          <a:solidFill>
            <a:srgbClr val="49B8B1"/>
          </a:solidFill>
          <a:ln w="10160">
            <a:solidFill>
              <a:srgbClr val="49B8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Text 25"/>
          <p:cNvSpPr/>
          <p:nvPr/>
        </p:nvSpPr>
        <p:spPr>
          <a:xfrm>
            <a:off x="9038880" y="3858840"/>
            <a:ext cx="1928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L3 · daha büyük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Shape 26"/>
          <p:cNvSpPr/>
          <p:nvPr/>
        </p:nvSpPr>
        <p:spPr>
          <a:xfrm>
            <a:off x="8819280" y="4242960"/>
            <a:ext cx="2368080" cy="356400"/>
          </a:xfrm>
          <a:prstGeom prst="roundRect">
            <a:avLst>
              <a:gd name="adj" fmla="val 16667"/>
            </a:avLst>
          </a:prstGeom>
          <a:solidFill>
            <a:srgbClr val="97D4C9"/>
          </a:solidFill>
          <a:ln w="10160">
            <a:solidFill>
              <a:srgbClr val="97D4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 27"/>
          <p:cNvSpPr/>
          <p:nvPr/>
        </p:nvSpPr>
        <p:spPr>
          <a:xfrm>
            <a:off x="8819280" y="4316040"/>
            <a:ext cx="23680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 · daha uzak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Ardışık dizi elemanlarını dolaşan kod, rastgele büyük bellek erişimi yapan koda göre daha yüksek yerellik sağlayabilir.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Önbellek kapasitesi büyüdükçe her programın aynı oranda hızlanacağı varsayılamaz.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 (Random Access Memory)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RAM, çalışan programların komut ve verilerini işlemcinin erişebileceği şekilde geçici olarak tutan, çoğunlukla uçucu ana bellek türüdür.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Kapasite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Aynı anda kaç uygulama ve veri kümesinin rahat çalışabileceğini etkiler.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Bellek yetersizliği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 diske sayfalama yaparsa gecikme belirgin biçimde artabilir.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Bant genişliği/gecikme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Büyük veri aktarımları ve küçük rastgele erişimler farklı bellek özelliklerinden etkilenir.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Shape 20"/>
          <p:cNvSpPr/>
          <p:nvPr/>
        </p:nvSpPr>
        <p:spPr>
          <a:xfrm>
            <a:off x="8732520" y="3483720"/>
            <a:ext cx="2578320" cy="639720"/>
          </a:xfrm>
          <a:prstGeom prst="roundRect">
            <a:avLst>
              <a:gd name="adj" fmla="val 16667"/>
            </a:avLst>
          </a:prstGeom>
          <a:solidFill>
            <a:srgbClr val="2B875F"/>
          </a:solidFill>
          <a:ln w="10160">
            <a:solidFill>
              <a:srgbClr val="2B87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9" name="Shape 21"/>
          <p:cNvSpPr/>
          <p:nvPr/>
        </p:nvSpPr>
        <p:spPr>
          <a:xfrm>
            <a:off x="889704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0" name="Shape 22"/>
          <p:cNvSpPr/>
          <p:nvPr/>
        </p:nvSpPr>
        <p:spPr>
          <a:xfrm>
            <a:off x="921708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1" name="Shape 23"/>
          <p:cNvSpPr/>
          <p:nvPr/>
        </p:nvSpPr>
        <p:spPr>
          <a:xfrm>
            <a:off x="953712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Shape 24"/>
          <p:cNvSpPr/>
          <p:nvPr/>
        </p:nvSpPr>
        <p:spPr>
          <a:xfrm>
            <a:off x="985716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Shape 25"/>
          <p:cNvSpPr/>
          <p:nvPr/>
        </p:nvSpPr>
        <p:spPr>
          <a:xfrm>
            <a:off x="1017720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Shape 26"/>
          <p:cNvSpPr/>
          <p:nvPr/>
        </p:nvSpPr>
        <p:spPr>
          <a:xfrm>
            <a:off x="1049724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Shape 27"/>
          <p:cNvSpPr/>
          <p:nvPr/>
        </p:nvSpPr>
        <p:spPr>
          <a:xfrm>
            <a:off x="1081728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Shape 28"/>
          <p:cNvSpPr/>
          <p:nvPr/>
        </p:nvSpPr>
        <p:spPr>
          <a:xfrm>
            <a:off x="8796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Shape 29"/>
          <p:cNvSpPr/>
          <p:nvPr/>
        </p:nvSpPr>
        <p:spPr>
          <a:xfrm>
            <a:off x="8910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Shape 30"/>
          <p:cNvSpPr/>
          <p:nvPr/>
        </p:nvSpPr>
        <p:spPr>
          <a:xfrm>
            <a:off x="90252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Shape 31"/>
          <p:cNvSpPr/>
          <p:nvPr/>
        </p:nvSpPr>
        <p:spPr>
          <a:xfrm>
            <a:off x="91393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Shape 32"/>
          <p:cNvSpPr/>
          <p:nvPr/>
        </p:nvSpPr>
        <p:spPr>
          <a:xfrm>
            <a:off x="92538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Shape 33"/>
          <p:cNvSpPr/>
          <p:nvPr/>
        </p:nvSpPr>
        <p:spPr>
          <a:xfrm>
            <a:off x="93679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Shape 34"/>
          <p:cNvSpPr/>
          <p:nvPr/>
        </p:nvSpPr>
        <p:spPr>
          <a:xfrm>
            <a:off x="94824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Shape 35"/>
          <p:cNvSpPr/>
          <p:nvPr/>
        </p:nvSpPr>
        <p:spPr>
          <a:xfrm>
            <a:off x="95965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Shape 36"/>
          <p:cNvSpPr/>
          <p:nvPr/>
        </p:nvSpPr>
        <p:spPr>
          <a:xfrm>
            <a:off x="97110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Shape 37"/>
          <p:cNvSpPr/>
          <p:nvPr/>
        </p:nvSpPr>
        <p:spPr>
          <a:xfrm>
            <a:off x="98251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Shape 38"/>
          <p:cNvSpPr/>
          <p:nvPr/>
        </p:nvSpPr>
        <p:spPr>
          <a:xfrm>
            <a:off x="9939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Shape 39"/>
          <p:cNvSpPr/>
          <p:nvPr/>
        </p:nvSpPr>
        <p:spPr>
          <a:xfrm>
            <a:off x="10053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Shape 40"/>
          <p:cNvSpPr/>
          <p:nvPr/>
        </p:nvSpPr>
        <p:spPr>
          <a:xfrm>
            <a:off x="101682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Shape 41"/>
          <p:cNvSpPr/>
          <p:nvPr/>
        </p:nvSpPr>
        <p:spPr>
          <a:xfrm>
            <a:off x="102823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Shape 42"/>
          <p:cNvSpPr/>
          <p:nvPr/>
        </p:nvSpPr>
        <p:spPr>
          <a:xfrm>
            <a:off x="103968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Shape 43"/>
          <p:cNvSpPr/>
          <p:nvPr/>
        </p:nvSpPr>
        <p:spPr>
          <a:xfrm>
            <a:off x="105109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Shape 44"/>
          <p:cNvSpPr/>
          <p:nvPr/>
        </p:nvSpPr>
        <p:spPr>
          <a:xfrm>
            <a:off x="106254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Shape 45"/>
          <p:cNvSpPr/>
          <p:nvPr/>
        </p:nvSpPr>
        <p:spPr>
          <a:xfrm>
            <a:off x="107395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Shape 46"/>
          <p:cNvSpPr/>
          <p:nvPr/>
        </p:nvSpPr>
        <p:spPr>
          <a:xfrm>
            <a:off x="108540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Shape 47"/>
          <p:cNvSpPr/>
          <p:nvPr/>
        </p:nvSpPr>
        <p:spPr>
          <a:xfrm>
            <a:off x="109681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Shape 48"/>
          <p:cNvSpPr/>
          <p:nvPr/>
        </p:nvSpPr>
        <p:spPr>
          <a:xfrm>
            <a:off x="11082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Shape 49"/>
          <p:cNvSpPr/>
          <p:nvPr/>
        </p:nvSpPr>
        <p:spPr>
          <a:xfrm>
            <a:off x="11196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Shape 50"/>
          <p:cNvSpPr/>
          <p:nvPr/>
        </p:nvSpPr>
        <p:spPr>
          <a:xfrm>
            <a:off x="9564480" y="4087440"/>
            <a:ext cx="200880" cy="8208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0160">
            <a:solidFill>
              <a:srgbClr val="F0F7F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9160" rIns="90000" bIns="291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 51"/>
          <p:cNvSpPr/>
          <p:nvPr/>
        </p:nvSpPr>
        <p:spPr>
          <a:xfrm>
            <a:off x="8778240" y="2980800"/>
            <a:ext cx="250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 MODÜLÜ (DIMM)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Text 52"/>
          <p:cNvSpPr/>
          <p:nvPr/>
        </p:nvSpPr>
        <p:spPr>
          <a:xfrm>
            <a:off x="8942760" y="44348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DRAM yongaları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Shape 53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Text 54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Text 55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Çok sayıda tarayıcı sekmesi ile veri analizi uygulaması açıldığında RAM dolarsa sistem SSD'de sayfalama yapabilir.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Text 56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RAM depolama ile eş değildir: güç kesildiğinde normal RAM içeriği korunmaz.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Text 57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DDR Bellek, DIMM ve Kanal Mimarisi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DDR SDRAM, veri aktarımını saat işaretinin iki kenarında gerçekleştiren ana bellek ailesidir; DIMM/SO-DIMM modül biçimleridir.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DDR nesli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DDR4 ve DDR5 farklı elektriksel ve mekanik standartlardır; sistem desteği zorunludur.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Kanal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Birden çok bağımsız bellek kanalı, uygun yerleşimde toplam bant genişliğini artırabilir.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Yerleşim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Önerilen yuvalar anakart kılavuzundan belirlenir; kapasite ve hız uyumluluğu doğrulanır.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Shape 20"/>
          <p:cNvSpPr/>
          <p:nvPr/>
        </p:nvSpPr>
        <p:spPr>
          <a:xfrm>
            <a:off x="8732520" y="3483720"/>
            <a:ext cx="2578320" cy="639720"/>
          </a:xfrm>
          <a:prstGeom prst="roundRect">
            <a:avLst>
              <a:gd name="adj" fmla="val 16667"/>
            </a:avLst>
          </a:prstGeom>
          <a:solidFill>
            <a:srgbClr val="2B875F"/>
          </a:solidFill>
          <a:ln w="10160">
            <a:solidFill>
              <a:srgbClr val="2B87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Shape 21"/>
          <p:cNvSpPr/>
          <p:nvPr/>
        </p:nvSpPr>
        <p:spPr>
          <a:xfrm>
            <a:off x="889704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8" name="Shape 22"/>
          <p:cNvSpPr/>
          <p:nvPr/>
        </p:nvSpPr>
        <p:spPr>
          <a:xfrm>
            <a:off x="921708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Shape 23"/>
          <p:cNvSpPr/>
          <p:nvPr/>
        </p:nvSpPr>
        <p:spPr>
          <a:xfrm>
            <a:off x="953712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0" name="Shape 24"/>
          <p:cNvSpPr/>
          <p:nvPr/>
        </p:nvSpPr>
        <p:spPr>
          <a:xfrm>
            <a:off x="985716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25"/>
          <p:cNvSpPr/>
          <p:nvPr/>
        </p:nvSpPr>
        <p:spPr>
          <a:xfrm>
            <a:off x="1017720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Shape 26"/>
          <p:cNvSpPr/>
          <p:nvPr/>
        </p:nvSpPr>
        <p:spPr>
          <a:xfrm>
            <a:off x="1049724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Shape 27"/>
          <p:cNvSpPr/>
          <p:nvPr/>
        </p:nvSpPr>
        <p:spPr>
          <a:xfrm>
            <a:off x="10817280" y="3584520"/>
            <a:ext cx="237240" cy="328680"/>
          </a:xfrm>
          <a:prstGeom prst="roundRect">
            <a:avLst>
              <a:gd name="adj" fmla="val 16667"/>
            </a:avLst>
          </a:prstGeom>
          <a:solidFill>
            <a:srgbClr val="213B45"/>
          </a:solidFill>
          <a:ln w="10160">
            <a:solidFill>
              <a:srgbClr val="213B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4" name="Shape 28"/>
          <p:cNvSpPr/>
          <p:nvPr/>
        </p:nvSpPr>
        <p:spPr>
          <a:xfrm>
            <a:off x="8796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29"/>
          <p:cNvSpPr/>
          <p:nvPr/>
        </p:nvSpPr>
        <p:spPr>
          <a:xfrm>
            <a:off x="8910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Shape 30"/>
          <p:cNvSpPr/>
          <p:nvPr/>
        </p:nvSpPr>
        <p:spPr>
          <a:xfrm>
            <a:off x="90252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Shape 31"/>
          <p:cNvSpPr/>
          <p:nvPr/>
        </p:nvSpPr>
        <p:spPr>
          <a:xfrm>
            <a:off x="91393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Shape 32"/>
          <p:cNvSpPr/>
          <p:nvPr/>
        </p:nvSpPr>
        <p:spPr>
          <a:xfrm>
            <a:off x="92538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Shape 33"/>
          <p:cNvSpPr/>
          <p:nvPr/>
        </p:nvSpPr>
        <p:spPr>
          <a:xfrm>
            <a:off x="93679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Shape 34"/>
          <p:cNvSpPr/>
          <p:nvPr/>
        </p:nvSpPr>
        <p:spPr>
          <a:xfrm>
            <a:off x="94824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Shape 35"/>
          <p:cNvSpPr/>
          <p:nvPr/>
        </p:nvSpPr>
        <p:spPr>
          <a:xfrm>
            <a:off x="95965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Shape 36"/>
          <p:cNvSpPr/>
          <p:nvPr/>
        </p:nvSpPr>
        <p:spPr>
          <a:xfrm>
            <a:off x="97110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Shape 37"/>
          <p:cNvSpPr/>
          <p:nvPr/>
        </p:nvSpPr>
        <p:spPr>
          <a:xfrm>
            <a:off x="98251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Shape 38"/>
          <p:cNvSpPr/>
          <p:nvPr/>
        </p:nvSpPr>
        <p:spPr>
          <a:xfrm>
            <a:off x="9939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Shape 39"/>
          <p:cNvSpPr/>
          <p:nvPr/>
        </p:nvSpPr>
        <p:spPr>
          <a:xfrm>
            <a:off x="10053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Shape 40"/>
          <p:cNvSpPr/>
          <p:nvPr/>
        </p:nvSpPr>
        <p:spPr>
          <a:xfrm>
            <a:off x="101682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Shape 41"/>
          <p:cNvSpPr/>
          <p:nvPr/>
        </p:nvSpPr>
        <p:spPr>
          <a:xfrm>
            <a:off x="102823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Shape 42"/>
          <p:cNvSpPr/>
          <p:nvPr/>
        </p:nvSpPr>
        <p:spPr>
          <a:xfrm>
            <a:off x="103968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Shape 43"/>
          <p:cNvSpPr/>
          <p:nvPr/>
        </p:nvSpPr>
        <p:spPr>
          <a:xfrm>
            <a:off x="105109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Shape 44"/>
          <p:cNvSpPr/>
          <p:nvPr/>
        </p:nvSpPr>
        <p:spPr>
          <a:xfrm>
            <a:off x="106254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Shape 45"/>
          <p:cNvSpPr/>
          <p:nvPr/>
        </p:nvSpPr>
        <p:spPr>
          <a:xfrm>
            <a:off x="107395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Shape 46"/>
          <p:cNvSpPr/>
          <p:nvPr/>
        </p:nvSpPr>
        <p:spPr>
          <a:xfrm>
            <a:off x="108540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Shape 47"/>
          <p:cNvSpPr/>
          <p:nvPr/>
        </p:nvSpPr>
        <p:spPr>
          <a:xfrm>
            <a:off x="109681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Shape 48"/>
          <p:cNvSpPr/>
          <p:nvPr/>
        </p:nvSpPr>
        <p:spPr>
          <a:xfrm>
            <a:off x="1108260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Shape 49"/>
          <p:cNvSpPr/>
          <p:nvPr/>
        </p:nvSpPr>
        <p:spPr>
          <a:xfrm>
            <a:off x="11196720" y="4123800"/>
            <a:ext cx="59040" cy="118440"/>
          </a:xfrm>
          <a:prstGeom prst="roundRect">
            <a:avLst>
              <a:gd name="adj" fmla="val 16667"/>
            </a:avLst>
          </a:prstGeom>
          <a:solidFill>
            <a:srgbClr val="E8BA4F"/>
          </a:solidFill>
          <a:ln w="10160">
            <a:solidFill>
              <a:srgbClr val="E8BA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Shape 50"/>
          <p:cNvSpPr/>
          <p:nvPr/>
        </p:nvSpPr>
        <p:spPr>
          <a:xfrm>
            <a:off x="9564480" y="4087440"/>
            <a:ext cx="200880" cy="8208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0160">
            <a:solidFill>
              <a:srgbClr val="F0F7F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9160" rIns="90000" bIns="291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51"/>
          <p:cNvSpPr/>
          <p:nvPr/>
        </p:nvSpPr>
        <p:spPr>
          <a:xfrm>
            <a:off x="8778240" y="2980800"/>
            <a:ext cx="250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 MODÜLÜ (DIMM)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 52"/>
          <p:cNvSpPr/>
          <p:nvPr/>
        </p:nvSpPr>
        <p:spPr>
          <a:xfrm>
            <a:off x="8942760" y="44348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DRAM yongaları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Shape 53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 54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 55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İki uyumlu modülü üreticinin önerdiği yuvalara takmak uygun sistemde çift kanal avantajı sağlayabilir.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Text 56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Bellek kapasitesi, MT/s veri aktarım hızı ve gecikme birbiriyle aynı metrik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 57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Uçucu Bellek ve Kalıcı Depolama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Uçucu bellek, güç kesildiğinde tutulan veriyi kaybeder; kalıcı depolama ise dosya ve programların enerji olmadan saklanmasını sağlar.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Çalışan uygulamaların etkin çalışma alanıdır; erişimi genellikle depolama aygıtlarından daha hızlıdır.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SSD/HDD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sistemi, program dosyaları ve belgeler kalıcı olarak saklanır.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Önbellek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İşlemci–RAM–depolama hiyerarşisi performans ve maliyet dengesi kurar.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Shape 20"/>
          <p:cNvSpPr/>
          <p:nvPr/>
        </p:nvSpPr>
        <p:spPr>
          <a:xfrm>
            <a:off x="8796600" y="303588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145B7C"/>
          </a:solidFill>
          <a:ln w="10160">
            <a:solidFill>
              <a:srgbClr val="145B7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5" name="Text 21"/>
          <p:cNvSpPr/>
          <p:nvPr/>
        </p:nvSpPr>
        <p:spPr>
          <a:xfrm>
            <a:off x="8924400" y="309996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YAZMAÇ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Shape 22"/>
          <p:cNvSpPr/>
          <p:nvPr/>
        </p:nvSpPr>
        <p:spPr>
          <a:xfrm>
            <a:off x="8796600" y="345636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218E9B"/>
          </a:solidFill>
          <a:ln w="10160">
            <a:solidFill>
              <a:srgbClr val="218E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7" name="Text 23"/>
          <p:cNvSpPr/>
          <p:nvPr/>
        </p:nvSpPr>
        <p:spPr>
          <a:xfrm>
            <a:off x="8924400" y="352044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CACHE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Shape 24"/>
          <p:cNvSpPr/>
          <p:nvPr/>
        </p:nvSpPr>
        <p:spPr>
          <a:xfrm>
            <a:off x="8796600" y="387720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55B0AC"/>
          </a:solidFill>
          <a:ln w="10160">
            <a:solidFill>
              <a:srgbClr val="55B0A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 25"/>
          <p:cNvSpPr/>
          <p:nvPr/>
        </p:nvSpPr>
        <p:spPr>
          <a:xfrm>
            <a:off x="8924400" y="394092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Shape 26"/>
          <p:cNvSpPr/>
          <p:nvPr/>
        </p:nvSpPr>
        <p:spPr>
          <a:xfrm>
            <a:off x="8796600" y="429768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9DCCD6"/>
          </a:solidFill>
          <a:ln w="10160">
            <a:solidFill>
              <a:srgbClr val="9DCC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Text 27"/>
          <p:cNvSpPr/>
          <p:nvPr/>
        </p:nvSpPr>
        <p:spPr>
          <a:xfrm>
            <a:off x="8924400" y="436176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SSD / HDD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PDF diskte 5 MB yer kaplar; açıldığında görüntüleme programı ve belgenin işlenen bölümleri RAM kullanır.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1 TB SSD bulunması bilgisayarın 1 TB RAM'e sahip olduğu anlamına gelmez.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49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Sabit Disk (HDD): Manyetik Depolama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HDD, verileri dönen manyetik plakalar üzerinde hareketli okuma/yazma kafalarıyla saklayan kalıcı depolama aygıtıdır.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Mekanik bileşen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Dönen plakalar ve kafa hareketi erişim süresine mekanik gecikme ekler.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Avantaj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Büyük kapasitelerde maliyet/GB açısından uygun seçenekler sunabilir.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Sınırlamalar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Rastgele erişim ve darbe dayanımı, SSD'lere kıyasla dezavantajlı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Shape 20"/>
          <p:cNvSpPr/>
          <p:nvPr/>
        </p:nvSpPr>
        <p:spPr>
          <a:xfrm>
            <a:off x="9098280" y="2880360"/>
            <a:ext cx="1828440" cy="1828440"/>
          </a:xfrm>
          <a:prstGeom prst="roundRect">
            <a:avLst>
              <a:gd name="adj" fmla="val 16667"/>
            </a:avLst>
          </a:prstGeom>
          <a:solidFill>
            <a:srgbClr val="C5D7DB"/>
          </a:solidFill>
          <a:ln w="10160">
            <a:solidFill>
              <a:srgbClr val="C5D7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Shape 21"/>
          <p:cNvSpPr/>
          <p:nvPr/>
        </p:nvSpPr>
        <p:spPr>
          <a:xfrm>
            <a:off x="9299520" y="3063240"/>
            <a:ext cx="1407960" cy="1407960"/>
          </a:xfrm>
          <a:prstGeom prst="ellipse">
            <a:avLst/>
          </a:prstGeom>
          <a:solidFill>
            <a:srgbClr val="E8F0F3"/>
          </a:solidFill>
          <a:ln w="38100">
            <a:solidFill>
              <a:srgbClr val="8FA6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Shape 22"/>
          <p:cNvSpPr/>
          <p:nvPr/>
        </p:nvSpPr>
        <p:spPr>
          <a:xfrm>
            <a:off x="9802440" y="3547800"/>
            <a:ext cx="411120" cy="411120"/>
          </a:xfrm>
          <a:prstGeom prst="ellipse">
            <a:avLst/>
          </a:prstGeom>
          <a:solidFill>
            <a:srgbClr val="ADBFC7"/>
          </a:solidFill>
          <a:ln w="12700">
            <a:solidFill>
              <a:srgbClr val="8199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Shape 23"/>
          <p:cNvSpPr/>
          <p:nvPr/>
        </p:nvSpPr>
        <p:spPr>
          <a:xfrm flipH="1" flipV="1">
            <a:off x="10113120" y="3913560"/>
            <a:ext cx="603360" cy="429840"/>
          </a:xfrm>
          <a:prstGeom prst="line">
            <a:avLst/>
          </a:prstGeom>
          <a:ln w="76200">
            <a:solidFill>
              <a:srgbClr val="49616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Text 24"/>
          <p:cNvSpPr/>
          <p:nvPr/>
        </p:nvSpPr>
        <p:spPr>
          <a:xfrm>
            <a:off x="8869680" y="47732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DÖNEN PLAKA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Shape 25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Text 26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Text 27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Büyük arşiv dosyalarını düşük maliyetle saklamak için HDD; sık açılan uygulamalar için SSD tercih edilebilir.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Text 28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Disk dönüş hızı (RPM) tek başına gerçek dosya işlem hızını göstermez.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Text 29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SSD, SATA ve NVMe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SSD, veriyi hareketli parça olmadan yarı iletken bellek hücrelerinde saklar; NVMe ise çoğunlukla PCIe üzerinden kullanılan depolama iletişim protokolüdür.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SATA SSD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SATA arayüzünün sınırları içinde çalışır; eski sistemlerle geniş uyumluluk gösterebilir.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NVMe SSD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PCIe bağlantısını kullanabilir; uygun sistemlerde yüksek paralellik ve düşük gecikme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Form faktörü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M.2 fiziksel biçimdir; her M.2 cihaz mutlaka NVMe değildir.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Shape 20"/>
          <p:cNvSpPr/>
          <p:nvPr/>
        </p:nvSpPr>
        <p:spPr>
          <a:xfrm>
            <a:off x="8970120" y="3273480"/>
            <a:ext cx="2212560" cy="767880"/>
          </a:xfrm>
          <a:prstGeom prst="roundRect">
            <a:avLst>
              <a:gd name="adj" fmla="val 16667"/>
            </a:avLst>
          </a:prstGeom>
          <a:solidFill>
            <a:srgbClr val="2F7962"/>
          </a:solidFill>
          <a:ln w="10160">
            <a:solidFill>
              <a:srgbClr val="2F79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8" name="Shape 21"/>
          <p:cNvSpPr/>
          <p:nvPr/>
        </p:nvSpPr>
        <p:spPr>
          <a:xfrm>
            <a:off x="9317880" y="3456360"/>
            <a:ext cx="282960" cy="328680"/>
          </a:xfrm>
          <a:prstGeom prst="roundRect">
            <a:avLst>
              <a:gd name="adj" fmla="val 16667"/>
            </a:avLst>
          </a:prstGeom>
          <a:solidFill>
            <a:srgbClr val="213D42"/>
          </a:solidFill>
          <a:ln w="10160">
            <a:solidFill>
              <a:srgbClr val="213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9" name="Shape 22"/>
          <p:cNvSpPr/>
          <p:nvPr/>
        </p:nvSpPr>
        <p:spPr>
          <a:xfrm>
            <a:off x="9701640" y="3456360"/>
            <a:ext cx="282960" cy="328680"/>
          </a:xfrm>
          <a:prstGeom prst="roundRect">
            <a:avLst>
              <a:gd name="adj" fmla="val 16667"/>
            </a:avLst>
          </a:prstGeom>
          <a:solidFill>
            <a:srgbClr val="213D42"/>
          </a:solidFill>
          <a:ln w="10160">
            <a:solidFill>
              <a:srgbClr val="213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23"/>
          <p:cNvSpPr/>
          <p:nvPr/>
        </p:nvSpPr>
        <p:spPr>
          <a:xfrm>
            <a:off x="10085760" y="3456360"/>
            <a:ext cx="282960" cy="328680"/>
          </a:xfrm>
          <a:prstGeom prst="roundRect">
            <a:avLst>
              <a:gd name="adj" fmla="val 16667"/>
            </a:avLst>
          </a:prstGeom>
          <a:solidFill>
            <a:srgbClr val="213D42"/>
          </a:solidFill>
          <a:ln w="10160">
            <a:solidFill>
              <a:srgbClr val="213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1" name="Shape 24"/>
          <p:cNvSpPr/>
          <p:nvPr/>
        </p:nvSpPr>
        <p:spPr>
          <a:xfrm>
            <a:off x="10469880" y="3456360"/>
            <a:ext cx="282960" cy="328680"/>
          </a:xfrm>
          <a:prstGeom prst="roundRect">
            <a:avLst>
              <a:gd name="adj" fmla="val 16667"/>
            </a:avLst>
          </a:prstGeom>
          <a:solidFill>
            <a:srgbClr val="213D42"/>
          </a:solidFill>
          <a:ln w="10160">
            <a:solidFill>
              <a:srgbClr val="213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Shape 25"/>
          <p:cNvSpPr/>
          <p:nvPr/>
        </p:nvSpPr>
        <p:spPr>
          <a:xfrm>
            <a:off x="10625400" y="384048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D7A447"/>
          </a:solidFill>
          <a:ln w="10160">
            <a:solidFill>
              <a:srgbClr val="D7A4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Shape 26"/>
          <p:cNvSpPr/>
          <p:nvPr/>
        </p:nvSpPr>
        <p:spPr>
          <a:xfrm>
            <a:off x="10716840" y="384048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D7A447"/>
          </a:solidFill>
          <a:ln w="10160">
            <a:solidFill>
              <a:srgbClr val="D7A4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Shape 27"/>
          <p:cNvSpPr/>
          <p:nvPr/>
        </p:nvSpPr>
        <p:spPr>
          <a:xfrm>
            <a:off x="10808280" y="384048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D7A447"/>
          </a:solidFill>
          <a:ln w="10160">
            <a:solidFill>
              <a:srgbClr val="D7A4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Shape 28"/>
          <p:cNvSpPr/>
          <p:nvPr/>
        </p:nvSpPr>
        <p:spPr>
          <a:xfrm>
            <a:off x="10899720" y="384048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D7A447"/>
          </a:solidFill>
          <a:ln w="10160">
            <a:solidFill>
              <a:srgbClr val="D7A4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Shape 29"/>
          <p:cNvSpPr/>
          <p:nvPr/>
        </p:nvSpPr>
        <p:spPr>
          <a:xfrm>
            <a:off x="10991160" y="384048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D7A447"/>
          </a:solidFill>
          <a:ln w="10160">
            <a:solidFill>
              <a:srgbClr val="D7A4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Text 30"/>
          <p:cNvSpPr/>
          <p:nvPr/>
        </p:nvSpPr>
        <p:spPr>
          <a:xfrm>
            <a:off x="8942760" y="2871360"/>
            <a:ext cx="2285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M.2 / NVMe SSD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Text 31"/>
          <p:cNvSpPr/>
          <p:nvPr/>
        </p:nvSpPr>
        <p:spPr>
          <a:xfrm>
            <a:off x="8851320" y="4407480"/>
            <a:ext cx="2514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NAND FLASH + DENETLEYİCİ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Shape 32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Text 33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Text 34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Windows ve uygulamaların PCIe NVMe SSD'ye kurulması, HDD'ye göre açılış ve yükleme sürelerini iyileştirebilir.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Text 35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Reklamdaki sıralı aktarım hızı, rastgele küçük dosya performansı ile aynı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Text 36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Depolama Ölçütleri: GB, MB/s, IOPS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Depolama performansı kapasite, aktarım hızı, işlem sayısı ve gecikme gibi birbirinden farklı metriklerle değerlendirilir.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Kapasite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GB/TB üreticilerde genellikle onluk; GiB/TiB işletim sistemlerinde ikilik birimleri ifade edebilir.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MB/s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Sıralı büyük dosya aktarımını ölçmeye elverişlidir; gerçek iş yüküne göre değişir.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IOPS ve gecikme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Küçük rastgele işlemler ve yanıt süresi, uygulama tepkiselliğinde önemlidir.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Shape 20"/>
          <p:cNvSpPr/>
          <p:nvPr/>
        </p:nvSpPr>
        <p:spPr>
          <a:xfrm>
            <a:off x="8823960" y="2962800"/>
            <a:ext cx="1005480" cy="1425960"/>
          </a:xfrm>
          <a:prstGeom prst="roundRect">
            <a:avLst>
              <a:gd name="adj" fmla="val 16667"/>
            </a:avLst>
          </a:prstGeom>
          <a:solidFill>
            <a:srgbClr val="C8DDE2"/>
          </a:solidFill>
          <a:ln w="10160">
            <a:solidFill>
              <a:srgbClr val="C8DD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Text 21"/>
          <p:cNvSpPr/>
          <p:nvPr/>
        </p:nvSpPr>
        <p:spPr>
          <a:xfrm>
            <a:off x="8961120" y="35204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HDD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Shape 22"/>
          <p:cNvSpPr/>
          <p:nvPr/>
        </p:nvSpPr>
        <p:spPr>
          <a:xfrm>
            <a:off x="10186560" y="3182040"/>
            <a:ext cx="1051200" cy="905040"/>
          </a:xfrm>
          <a:prstGeom prst="roundRect">
            <a:avLst>
              <a:gd name="adj" fmla="val 16667"/>
            </a:avLst>
          </a:prstGeom>
          <a:solidFill>
            <a:srgbClr val="2F876B"/>
          </a:solidFill>
          <a:ln w="10160">
            <a:solidFill>
              <a:srgbClr val="2F87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7" name="Text 23"/>
          <p:cNvSpPr/>
          <p:nvPr/>
        </p:nvSpPr>
        <p:spPr>
          <a:xfrm>
            <a:off x="10314360" y="3502080"/>
            <a:ext cx="813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SSD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Text 24"/>
          <p:cNvSpPr/>
          <p:nvPr/>
        </p:nvSpPr>
        <p:spPr>
          <a:xfrm>
            <a:off x="8924400" y="4645080"/>
            <a:ext cx="2157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KAPASİTE  ≠  HIZ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Shape 25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Text 26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Text 27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1000 MB/s sıralı okuyabilen iki diskin, 4 KB rastgele okuma gecikmesi farklı olabilir.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Text 28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Kapasite, hız ve dayanıklılık (TBW) birbirinin yerine kullanılmamalıdır.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Text 29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Giriş–Çıkış (I/O) Birimlerinin Rolü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Giriş/çıkış birimleri, bilgisayar ile kullanıcı, çevre veya diğer dijital sistemler arasında veri alışverişi sağlayan bileşenlerdir.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Klavye, fare, mikrofon, kamera, barkod okuyucu ve sensör veriyi sisteme alır.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Çıkış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Monitör, yazıcı, hoparlör ve uyarı göstergeleri işlenen veriyi sunar.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Çift yönlü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Dokunmatik ekran ve ağ adaptörü hem veri alabilir hem iletebilir.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Shape 20"/>
          <p:cNvSpPr/>
          <p:nvPr/>
        </p:nvSpPr>
        <p:spPr>
          <a:xfrm>
            <a:off x="8741520" y="3255120"/>
            <a:ext cx="749520" cy="840960"/>
          </a:xfrm>
          <a:prstGeom prst="roundRect">
            <a:avLst>
              <a:gd name="adj" fmla="val 16667"/>
            </a:avLst>
          </a:prstGeom>
          <a:solidFill>
            <a:srgbClr val="86C9C2"/>
          </a:solidFill>
          <a:ln w="10160">
            <a:solidFill>
              <a:srgbClr val="86C9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Shape 21"/>
          <p:cNvSpPr/>
          <p:nvPr/>
        </p:nvSpPr>
        <p:spPr>
          <a:xfrm>
            <a:off x="9674280" y="3255120"/>
            <a:ext cx="749520" cy="840960"/>
          </a:xfrm>
          <a:prstGeom prst="roundRect">
            <a:avLst>
              <a:gd name="adj" fmla="val 16667"/>
            </a:avLst>
          </a:prstGeom>
          <a:solidFill>
            <a:srgbClr val="3A9EA3"/>
          </a:solidFill>
          <a:ln w="10160">
            <a:solidFill>
              <a:srgbClr val="3A9E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Shape 22"/>
          <p:cNvSpPr/>
          <p:nvPr/>
        </p:nvSpPr>
        <p:spPr>
          <a:xfrm>
            <a:off x="10579680" y="3255120"/>
            <a:ext cx="749520" cy="840960"/>
          </a:xfrm>
          <a:prstGeom prst="roundRect">
            <a:avLst>
              <a:gd name="adj" fmla="val 16667"/>
            </a:avLst>
          </a:prstGeom>
          <a:solidFill>
            <a:srgbClr val="74B6CB"/>
          </a:solidFill>
          <a:ln w="10160">
            <a:solidFill>
              <a:srgbClr val="74B6C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23"/>
          <p:cNvSpPr/>
          <p:nvPr/>
        </p:nvSpPr>
        <p:spPr>
          <a:xfrm>
            <a:off x="8732520" y="3547800"/>
            <a:ext cx="776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GİRİŞ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 24"/>
          <p:cNvSpPr/>
          <p:nvPr/>
        </p:nvSpPr>
        <p:spPr>
          <a:xfrm>
            <a:off x="9665280" y="3547800"/>
            <a:ext cx="767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25"/>
          <p:cNvSpPr/>
          <p:nvPr/>
        </p:nvSpPr>
        <p:spPr>
          <a:xfrm>
            <a:off x="10552320" y="3547800"/>
            <a:ext cx="813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ÇIKIŞ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Shape 26"/>
          <p:cNvSpPr/>
          <p:nvPr/>
        </p:nvSpPr>
        <p:spPr>
          <a:xfrm>
            <a:off x="9500400" y="3657600"/>
            <a:ext cx="146520" cy="360"/>
          </a:xfrm>
          <a:prstGeom prst="line">
            <a:avLst/>
          </a:prstGeom>
          <a:ln w="254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Shape 27"/>
          <p:cNvSpPr/>
          <p:nvPr/>
        </p:nvSpPr>
        <p:spPr>
          <a:xfrm>
            <a:off x="10442160" y="3657600"/>
            <a:ext cx="119160" cy="360"/>
          </a:xfrm>
          <a:prstGeom prst="line">
            <a:avLst/>
          </a:prstGeom>
          <a:ln w="254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Çevrimiçi derste mikrofon giriş; hoparlör çıkış; kamera görüntü giriş cihazıdır.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çevre biriminin çalışması için uygun bağlantı, izin ve sürücü gerekebilir.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6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 Birimleri: Klavye, Fare, Sensör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Giriş aygıtları, fiziksel eylem veya çevresel ölçümü bilgisayarın işleyebileceği dijital sinyallere dönüştürür.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Klavye/fare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Tuş ve işaretleme olayları kullanıcı arabirimine aktarılır.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Kamera/mikrofon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Görüntü ve ses için örnekleme ve sayısallaştırma süreçleri gerçekleşir.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Sensör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Sıcaklık, hız veya konum gibi fiziksel büyüklükleri uygun sayısal ölçüme çevirir.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Shape 20"/>
          <p:cNvSpPr/>
          <p:nvPr/>
        </p:nvSpPr>
        <p:spPr>
          <a:xfrm>
            <a:off x="8769240" y="3035880"/>
            <a:ext cx="2486880" cy="758520"/>
          </a:xfrm>
          <a:prstGeom prst="roundRect">
            <a:avLst>
              <a:gd name="adj" fmla="val 16667"/>
            </a:avLst>
          </a:prstGeom>
          <a:solidFill>
            <a:srgbClr val="B9D7DD"/>
          </a:solidFill>
          <a:ln w="10160">
            <a:solidFill>
              <a:srgbClr val="B9D7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Shape 21"/>
          <p:cNvSpPr/>
          <p:nvPr/>
        </p:nvSpPr>
        <p:spPr>
          <a:xfrm>
            <a:off x="891540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9" name="Shape 22"/>
          <p:cNvSpPr/>
          <p:nvPr/>
        </p:nvSpPr>
        <p:spPr>
          <a:xfrm>
            <a:off x="891540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0" name="Shape 23"/>
          <p:cNvSpPr/>
          <p:nvPr/>
        </p:nvSpPr>
        <p:spPr>
          <a:xfrm>
            <a:off x="891540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1" name="Shape 24"/>
          <p:cNvSpPr/>
          <p:nvPr/>
        </p:nvSpPr>
        <p:spPr>
          <a:xfrm>
            <a:off x="918072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2" name="Shape 25"/>
          <p:cNvSpPr/>
          <p:nvPr/>
        </p:nvSpPr>
        <p:spPr>
          <a:xfrm>
            <a:off x="918072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Shape 26"/>
          <p:cNvSpPr/>
          <p:nvPr/>
        </p:nvSpPr>
        <p:spPr>
          <a:xfrm>
            <a:off x="918072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Shape 27"/>
          <p:cNvSpPr/>
          <p:nvPr/>
        </p:nvSpPr>
        <p:spPr>
          <a:xfrm>
            <a:off x="944568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Shape 28"/>
          <p:cNvSpPr/>
          <p:nvPr/>
        </p:nvSpPr>
        <p:spPr>
          <a:xfrm>
            <a:off x="944568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Shape 29"/>
          <p:cNvSpPr/>
          <p:nvPr/>
        </p:nvSpPr>
        <p:spPr>
          <a:xfrm>
            <a:off x="944568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Shape 30"/>
          <p:cNvSpPr/>
          <p:nvPr/>
        </p:nvSpPr>
        <p:spPr>
          <a:xfrm>
            <a:off x="971100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8" name="Shape 31"/>
          <p:cNvSpPr/>
          <p:nvPr/>
        </p:nvSpPr>
        <p:spPr>
          <a:xfrm>
            <a:off x="971100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9" name="Shape 32"/>
          <p:cNvSpPr/>
          <p:nvPr/>
        </p:nvSpPr>
        <p:spPr>
          <a:xfrm>
            <a:off x="971100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0" name="Shape 33"/>
          <p:cNvSpPr/>
          <p:nvPr/>
        </p:nvSpPr>
        <p:spPr>
          <a:xfrm>
            <a:off x="997596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Shape 34"/>
          <p:cNvSpPr/>
          <p:nvPr/>
        </p:nvSpPr>
        <p:spPr>
          <a:xfrm>
            <a:off x="997596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Shape 35"/>
          <p:cNvSpPr/>
          <p:nvPr/>
        </p:nvSpPr>
        <p:spPr>
          <a:xfrm>
            <a:off x="997596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3" name="Shape 36"/>
          <p:cNvSpPr/>
          <p:nvPr/>
        </p:nvSpPr>
        <p:spPr>
          <a:xfrm>
            <a:off x="1024128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4" name="Shape 37"/>
          <p:cNvSpPr/>
          <p:nvPr/>
        </p:nvSpPr>
        <p:spPr>
          <a:xfrm>
            <a:off x="1024128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5" name="Shape 38"/>
          <p:cNvSpPr/>
          <p:nvPr/>
        </p:nvSpPr>
        <p:spPr>
          <a:xfrm>
            <a:off x="1024128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6" name="Shape 39"/>
          <p:cNvSpPr/>
          <p:nvPr/>
        </p:nvSpPr>
        <p:spPr>
          <a:xfrm>
            <a:off x="1050660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7" name="Shape 40"/>
          <p:cNvSpPr/>
          <p:nvPr/>
        </p:nvSpPr>
        <p:spPr>
          <a:xfrm>
            <a:off x="1050660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Shape 41"/>
          <p:cNvSpPr/>
          <p:nvPr/>
        </p:nvSpPr>
        <p:spPr>
          <a:xfrm>
            <a:off x="1050660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Shape 42"/>
          <p:cNvSpPr/>
          <p:nvPr/>
        </p:nvSpPr>
        <p:spPr>
          <a:xfrm>
            <a:off x="10771560" y="313632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0" name="Shape 43"/>
          <p:cNvSpPr/>
          <p:nvPr/>
        </p:nvSpPr>
        <p:spPr>
          <a:xfrm>
            <a:off x="10771560" y="331920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1" name="Shape 44"/>
          <p:cNvSpPr/>
          <p:nvPr/>
        </p:nvSpPr>
        <p:spPr>
          <a:xfrm>
            <a:off x="10771560" y="3502080"/>
            <a:ext cx="200880" cy="118440"/>
          </a:xfrm>
          <a:prstGeom prst="roundRect">
            <a:avLst>
              <a:gd name="adj" fmla="val 16667"/>
            </a:avLst>
          </a:prstGeom>
          <a:solidFill>
            <a:srgbClr val="3B6870"/>
          </a:solidFill>
          <a:ln w="10160">
            <a:solidFill>
              <a:srgbClr val="3B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2" name="Shape 45"/>
          <p:cNvSpPr/>
          <p:nvPr/>
        </p:nvSpPr>
        <p:spPr>
          <a:xfrm>
            <a:off x="9802440" y="4041720"/>
            <a:ext cx="392760" cy="539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Text 46"/>
          <p:cNvSpPr/>
          <p:nvPr/>
        </p:nvSpPr>
        <p:spPr>
          <a:xfrm>
            <a:off x="9034200" y="47181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KLAVYE • FARE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Shape 47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Text 48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Text 49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sıcaklık sensörü ölçümü mikrodenetleyiciye; bağlantı üzerinden bilgisayar yazılımına gönderebilir.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Text 50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Ölçüm doğruluğu sensör çözünürlüğü, kalibrasyon ve çevresel koşullardan etkilenir.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8" name="Text 51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Çıkış Birimleri: Ekran, Yazıcı, Ses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Çıkış aygıtları, bilgisayarın ürettiği veriyi insan tarafından algılanabilir veya başka sistem tarafından kullanılabilir biçime dönüştürür.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Ekran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Çözünürlük piksel sayısını; yenileme hızı görüntünün saniyedeki yenilenmesini belirtir.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Yazıcı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Çözünürlük ve sayfa hızı yanında sarf malzeme ve bağlantı maliyeti dikkate alınır.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Ses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Ses kartı/dönüştürücüler dijital örnekleri analog elektrik sinyaline dönüştürebilir.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9" name="Shape 20"/>
          <p:cNvSpPr/>
          <p:nvPr/>
        </p:nvSpPr>
        <p:spPr>
          <a:xfrm>
            <a:off x="8915400" y="2898720"/>
            <a:ext cx="2175840" cy="1407960"/>
          </a:xfrm>
          <a:prstGeom prst="roundRect">
            <a:avLst>
              <a:gd name="adj" fmla="val 16667"/>
            </a:avLst>
          </a:prstGeom>
          <a:solidFill>
            <a:srgbClr val="305571"/>
          </a:solidFill>
          <a:ln w="10160">
            <a:solidFill>
              <a:srgbClr val="3055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0" name="Shape 21"/>
          <p:cNvSpPr/>
          <p:nvPr/>
        </p:nvSpPr>
        <p:spPr>
          <a:xfrm>
            <a:off x="9052560" y="3035880"/>
            <a:ext cx="1901520" cy="1096920"/>
          </a:xfrm>
          <a:prstGeom prst="roundRect">
            <a:avLst>
              <a:gd name="adj" fmla="val 16667"/>
            </a:avLst>
          </a:prstGeom>
          <a:solidFill>
            <a:srgbClr val="90D5D7"/>
          </a:solidFill>
          <a:ln w="10160">
            <a:solidFill>
              <a:srgbClr val="90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1" name="Shape 22"/>
          <p:cNvSpPr/>
          <p:nvPr/>
        </p:nvSpPr>
        <p:spPr>
          <a:xfrm>
            <a:off x="9857160" y="4306680"/>
            <a:ext cx="264960" cy="264960"/>
          </a:xfrm>
          <a:prstGeom prst="roundRect">
            <a:avLst>
              <a:gd name="adj" fmla="val 16667"/>
            </a:avLst>
          </a:prstGeom>
          <a:solidFill>
            <a:srgbClr val="627C8C"/>
          </a:solidFill>
          <a:ln w="10160">
            <a:solidFill>
              <a:srgbClr val="627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2" name="Shape 23"/>
          <p:cNvSpPr/>
          <p:nvPr/>
        </p:nvSpPr>
        <p:spPr>
          <a:xfrm>
            <a:off x="9436680" y="4563000"/>
            <a:ext cx="1096920" cy="91080"/>
          </a:xfrm>
          <a:prstGeom prst="roundRect">
            <a:avLst>
              <a:gd name="adj" fmla="val 16667"/>
            </a:avLst>
          </a:prstGeom>
          <a:solidFill>
            <a:srgbClr val="627C8C"/>
          </a:solidFill>
          <a:ln w="10160">
            <a:solidFill>
              <a:srgbClr val="627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7440" rIns="90000" bIns="37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3" name="Text 24"/>
          <p:cNvSpPr/>
          <p:nvPr/>
        </p:nvSpPr>
        <p:spPr>
          <a:xfrm>
            <a:off x="8988480" y="4745880"/>
            <a:ext cx="21942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EKRAN / GÖRÜNTÜ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4" name="Shape 25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5" name="Text 26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Text 27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1920×1080 çözünürlüklü ekran yaklaşık 2,07 milyon piksel görüntüler; fiziksel ekran boyutu ayrı bir ölçüdür.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Text 28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Yüksek ekran çözünürlüğü, tek başına renk doğruluğu veya erişilebilirlik garantisi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8" name="Text 29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 Yolları ve Arabirimler: USB, PCIe, SATA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Arabirim, donanım birimleri arasındaki fiziksel/elektriksel bağlantı ve haberleşme kurallarını belirleyen teknoloji ailesidir.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USB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Birçok çevre birimini bağlar; konektör biçimi ile protokol hızını ayırmak gerekir.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PCIe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Yüksek hızlı seri bağlantıdır; ekran kartı ve NVMe depolama gibi aygıtlarda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SATA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Depolama aygıtları için yaygın seri arayüzdür; PCIe/NVMe ile aynı protokol değildir.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Shape 20"/>
          <p:cNvSpPr/>
          <p:nvPr/>
        </p:nvSpPr>
        <p:spPr>
          <a:xfrm>
            <a:off x="8769240" y="3364920"/>
            <a:ext cx="575640" cy="685440"/>
          </a:xfrm>
          <a:prstGeom prst="roundRect">
            <a:avLst>
              <a:gd name="adj" fmla="val 16667"/>
            </a:avLst>
          </a:prstGeom>
          <a:solidFill>
            <a:srgbClr val="227C89"/>
          </a:solidFill>
          <a:ln w="10160">
            <a:solidFill>
              <a:srgbClr val="227C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0" name="Text 21"/>
          <p:cNvSpPr/>
          <p:nvPr/>
        </p:nvSpPr>
        <p:spPr>
          <a:xfrm>
            <a:off x="8787240" y="3557160"/>
            <a:ext cx="539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Shape 22"/>
          <p:cNvSpPr/>
          <p:nvPr/>
        </p:nvSpPr>
        <p:spPr>
          <a:xfrm>
            <a:off x="9765720" y="3364920"/>
            <a:ext cx="575640" cy="685440"/>
          </a:xfrm>
          <a:prstGeom prst="roundRect">
            <a:avLst>
              <a:gd name="adj" fmla="val 16667"/>
            </a:avLst>
          </a:prstGeom>
          <a:solidFill>
            <a:srgbClr val="539E86"/>
          </a:solidFill>
          <a:ln w="10160">
            <a:solidFill>
              <a:srgbClr val="539E8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Text 23"/>
          <p:cNvSpPr/>
          <p:nvPr/>
        </p:nvSpPr>
        <p:spPr>
          <a:xfrm>
            <a:off x="9784080" y="3557160"/>
            <a:ext cx="539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Shape 24"/>
          <p:cNvSpPr/>
          <p:nvPr/>
        </p:nvSpPr>
        <p:spPr>
          <a:xfrm>
            <a:off x="10735200" y="3364920"/>
            <a:ext cx="575640" cy="685440"/>
          </a:xfrm>
          <a:prstGeom prst="roundRect">
            <a:avLst>
              <a:gd name="adj" fmla="val 16667"/>
            </a:avLst>
          </a:prstGeom>
          <a:solidFill>
            <a:srgbClr val="2E6870"/>
          </a:solidFill>
          <a:ln w="10160">
            <a:solidFill>
              <a:srgbClr val="2E68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4" name="Text 25"/>
          <p:cNvSpPr/>
          <p:nvPr/>
        </p:nvSpPr>
        <p:spPr>
          <a:xfrm>
            <a:off x="10753200" y="3557160"/>
            <a:ext cx="539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SSD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5" name="Shape 26"/>
          <p:cNvSpPr/>
          <p:nvPr/>
        </p:nvSpPr>
        <p:spPr>
          <a:xfrm>
            <a:off x="9363240" y="3675600"/>
            <a:ext cx="365760" cy="36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Shape 27"/>
          <p:cNvSpPr/>
          <p:nvPr/>
        </p:nvSpPr>
        <p:spPr>
          <a:xfrm>
            <a:off x="10369080" y="3675600"/>
            <a:ext cx="329400" cy="360"/>
          </a:xfrm>
          <a:prstGeom prst="line">
            <a:avLst/>
          </a:prstGeom>
          <a:ln w="38100">
            <a:solidFill>
              <a:srgbClr val="E9B5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 28"/>
          <p:cNvSpPr/>
          <p:nvPr/>
        </p:nvSpPr>
        <p:spPr>
          <a:xfrm>
            <a:off x="8961120" y="44074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VERİ YOLU  /  PCIe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Shape 29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Text 30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Text 31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USB-C konektörlü iki kablo, güç iletimi ve veri hızı açısından farklı yeteneklere sahip olabilir.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Text 32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“Aynı soket = aynı özellik” varsayımı donanım seçiminde sık hatadır.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Text 33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Grafik İşlem Birimi (GPU)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GPU, büyük sayıda benzer işlemi paralel yürütmeye elverişli tasarlanmış; görüntü işleme ve genel amaçlı hızlandırmada kullanılan işlemci sınıfıdır.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4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Grafik hattı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Geometri, gölgelendirme ve görüntü oluşturma işlevlerinde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7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Paralel hesaplama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Matris ve vektör işlemlerini içeren yapay zekâ ve bilimsel uygulamalar hızlandırılabilir.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Bellek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Ayrık GPU'nun VRAM kapasitesi ve bant genişliği büyük iş yüklerinde sınır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Shape 20"/>
          <p:cNvSpPr/>
          <p:nvPr/>
        </p:nvSpPr>
        <p:spPr>
          <a:xfrm>
            <a:off x="8787240" y="3108960"/>
            <a:ext cx="2523240" cy="1188360"/>
          </a:xfrm>
          <a:prstGeom prst="roundRect">
            <a:avLst>
              <a:gd name="adj" fmla="val 16667"/>
            </a:avLst>
          </a:prstGeom>
          <a:solidFill>
            <a:srgbClr val="375F64"/>
          </a:solidFill>
          <a:ln w="10160">
            <a:solidFill>
              <a:srgbClr val="375F6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Shape 21"/>
          <p:cNvSpPr/>
          <p:nvPr/>
        </p:nvSpPr>
        <p:spPr>
          <a:xfrm>
            <a:off x="9089280" y="3319200"/>
            <a:ext cx="785880" cy="785880"/>
          </a:xfrm>
          <a:prstGeom prst="ellipse">
            <a:avLst/>
          </a:prstGeom>
          <a:solidFill>
            <a:srgbClr val="1C444B"/>
          </a:solidFill>
          <a:ln w="25400">
            <a:solidFill>
              <a:srgbClr val="B6DD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Shape 22"/>
          <p:cNvSpPr/>
          <p:nvPr/>
        </p:nvSpPr>
        <p:spPr>
          <a:xfrm>
            <a:off x="9317880" y="3547800"/>
            <a:ext cx="319680" cy="319680"/>
          </a:xfrm>
          <a:prstGeom prst="ellipse">
            <a:avLst/>
          </a:prstGeom>
          <a:solidFill>
            <a:srgbClr val="5BAAA9"/>
          </a:solidFill>
          <a:ln w="12700">
            <a:solidFill>
              <a:srgbClr val="B6DD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Shape 23"/>
          <p:cNvSpPr/>
          <p:nvPr/>
        </p:nvSpPr>
        <p:spPr>
          <a:xfrm>
            <a:off x="10241280" y="3319200"/>
            <a:ext cx="785880" cy="785880"/>
          </a:xfrm>
          <a:prstGeom prst="ellipse">
            <a:avLst/>
          </a:prstGeom>
          <a:solidFill>
            <a:srgbClr val="1C444B"/>
          </a:solidFill>
          <a:ln w="25400">
            <a:solidFill>
              <a:srgbClr val="B6DD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7" name="Shape 24"/>
          <p:cNvSpPr/>
          <p:nvPr/>
        </p:nvSpPr>
        <p:spPr>
          <a:xfrm>
            <a:off x="10469880" y="3547800"/>
            <a:ext cx="319680" cy="319680"/>
          </a:xfrm>
          <a:prstGeom prst="ellipse">
            <a:avLst/>
          </a:prstGeom>
          <a:solidFill>
            <a:srgbClr val="5BAAA9"/>
          </a:solidFill>
          <a:ln w="12700">
            <a:solidFill>
              <a:srgbClr val="B6DD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Text 25"/>
          <p:cNvSpPr/>
          <p:nvPr/>
        </p:nvSpPr>
        <p:spPr>
          <a:xfrm>
            <a:off x="8888040" y="45630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GPU / PARALEL İŞLEM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Shape 26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Text 27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Text 28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3B modelin işlenmesi GPU ağırlıklıyken, büyük bir Word belgesinde GPU yükseltmesi çok sınırlı katkı yapabilir.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2" name="Text 29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GPU, her algoritma için CPU'dan daha hızlı değildir; veri aktarımı ve paralellik önemlidir.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Text 30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Güç Kaynağı ve Soğutma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Güç ve termal yönetim, bilgisayar bileşenlerini kararlı elektrikle beslemeyi ve üretilen ısının güvenli çalışma aralığında uzaklaştırılmasını sağlar.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PSU / adaptör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Giriş elektriğini uygun gerilim ve güç seviyelerine dönüştürür.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Soğutma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Isı yayıcı, fan ve gerektiğinde sıvı soğutma sıcaklığı kontrol eder.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Thermal throttling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Sıcaklık veya güç sınırı aşıldığında işlemci frekansı düşürülerek koruma sağlanabilir.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Shape 20"/>
          <p:cNvSpPr/>
          <p:nvPr/>
        </p:nvSpPr>
        <p:spPr>
          <a:xfrm>
            <a:off x="9326880" y="3127320"/>
            <a:ext cx="1407960" cy="1215720"/>
          </a:xfrm>
          <a:prstGeom prst="roundRect">
            <a:avLst>
              <a:gd name="adj" fmla="val 16667"/>
            </a:avLst>
          </a:prstGeom>
          <a:solidFill>
            <a:srgbClr val="AFC9CE"/>
          </a:solidFill>
          <a:ln w="10160">
            <a:solidFill>
              <a:srgbClr val="AFC9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5" name="Shape 21"/>
          <p:cNvSpPr/>
          <p:nvPr/>
        </p:nvSpPr>
        <p:spPr>
          <a:xfrm flipV="1">
            <a:off x="939996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Shape 22"/>
          <p:cNvSpPr/>
          <p:nvPr/>
        </p:nvSpPr>
        <p:spPr>
          <a:xfrm flipV="1">
            <a:off x="958284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7" name="Shape 23"/>
          <p:cNvSpPr/>
          <p:nvPr/>
        </p:nvSpPr>
        <p:spPr>
          <a:xfrm flipV="1">
            <a:off x="976572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Shape 24"/>
          <p:cNvSpPr/>
          <p:nvPr/>
        </p:nvSpPr>
        <p:spPr>
          <a:xfrm flipV="1">
            <a:off x="994860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Shape 25"/>
          <p:cNvSpPr/>
          <p:nvPr/>
        </p:nvSpPr>
        <p:spPr>
          <a:xfrm flipV="1">
            <a:off x="1013148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0" name="Shape 26"/>
          <p:cNvSpPr/>
          <p:nvPr/>
        </p:nvSpPr>
        <p:spPr>
          <a:xfrm flipV="1">
            <a:off x="1031436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Shape 27"/>
          <p:cNvSpPr/>
          <p:nvPr/>
        </p:nvSpPr>
        <p:spPr>
          <a:xfrm flipV="1">
            <a:off x="1049724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Shape 28"/>
          <p:cNvSpPr/>
          <p:nvPr/>
        </p:nvSpPr>
        <p:spPr>
          <a:xfrm flipV="1">
            <a:off x="10680120" y="2779560"/>
            <a:ext cx="360" cy="292680"/>
          </a:xfrm>
          <a:prstGeom prst="line">
            <a:avLst/>
          </a:prstGeom>
          <a:ln w="25400">
            <a:solidFill>
              <a:srgbClr val="577A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Shape 29"/>
          <p:cNvSpPr/>
          <p:nvPr/>
        </p:nvSpPr>
        <p:spPr>
          <a:xfrm>
            <a:off x="9765720" y="3429000"/>
            <a:ext cx="511560" cy="511560"/>
          </a:xfrm>
          <a:prstGeom prst="ellipse">
            <a:avLst/>
          </a:prstGeom>
          <a:solidFill>
            <a:srgbClr val="2B7788"/>
          </a:solidFill>
          <a:ln w="19050">
            <a:solidFill>
              <a:srgbClr val="668D9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4" name="Text 30"/>
          <p:cNvSpPr/>
          <p:nvPr/>
        </p:nvSpPr>
        <p:spPr>
          <a:xfrm>
            <a:off x="9208080" y="470016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ISIL YÖNETİM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Shape 31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Text 32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Text 33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Tozla tıkanmış soğutucu altında işlemci uzun yükte hız düşürebilir; fan temizliği performansı geri kazandırabilir.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Text 34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İşlemci sıcaklığı sorunu, yalnızca daha yüksek GHz'li işlemci satın alarak çözülmez.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Text 35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Firmware, UEFI ve Açılış Süreci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Firmware, donanımın başlatılması ve temel denetimi için aygıtta saklanan düşük seviyeli yazılımdır; UEFI modern önyükleme arayüzüdür.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Başlatma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Güç verildiğinde donanım denetimleri ve başlangıç yapılandırmaları yapılır.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Önyükleme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UEFI uygun önyükleme girdisini seçer ve işletim sisteminin yüklenmesini başlatır.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Güvenlik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Secure Boot gibi mekanizmalar desteklenen sistemlerde önyükleme bileşenlerinin doğrulanmasına katkı verir.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0" name="Shape 20"/>
          <p:cNvSpPr/>
          <p:nvPr/>
        </p:nvSpPr>
        <p:spPr>
          <a:xfrm>
            <a:off x="8906400" y="2816280"/>
            <a:ext cx="2194200" cy="338040"/>
          </a:xfrm>
          <a:prstGeom prst="roundRect">
            <a:avLst>
              <a:gd name="adj" fmla="val 16667"/>
            </a:avLst>
          </a:prstGeom>
          <a:solidFill>
            <a:srgbClr val="3A6C80"/>
          </a:solidFill>
          <a:ln w="10160">
            <a:solidFill>
              <a:srgbClr val="3A6C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1" name="Text 21"/>
          <p:cNvSpPr/>
          <p:nvPr/>
        </p:nvSpPr>
        <p:spPr>
          <a:xfrm>
            <a:off x="9025200" y="2880360"/>
            <a:ext cx="19656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GÜÇ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2" name="Shape 22"/>
          <p:cNvSpPr/>
          <p:nvPr/>
        </p:nvSpPr>
        <p:spPr>
          <a:xfrm>
            <a:off x="8906400" y="3319200"/>
            <a:ext cx="2194200" cy="338040"/>
          </a:xfrm>
          <a:prstGeom prst="roundRect">
            <a:avLst>
              <a:gd name="adj" fmla="val 16667"/>
            </a:avLst>
          </a:prstGeom>
          <a:solidFill>
            <a:srgbClr val="1F8792"/>
          </a:solidFill>
          <a:ln w="10160">
            <a:solidFill>
              <a:srgbClr val="1F879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Text 23"/>
          <p:cNvSpPr/>
          <p:nvPr/>
        </p:nvSpPr>
        <p:spPr>
          <a:xfrm>
            <a:off x="9025200" y="3383280"/>
            <a:ext cx="19656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UEFI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4" name="Shape 24"/>
          <p:cNvSpPr/>
          <p:nvPr/>
        </p:nvSpPr>
        <p:spPr>
          <a:xfrm>
            <a:off x="8906400" y="3822120"/>
            <a:ext cx="2194200" cy="338040"/>
          </a:xfrm>
          <a:prstGeom prst="roundRect">
            <a:avLst>
              <a:gd name="adj" fmla="val 16667"/>
            </a:avLst>
          </a:prstGeom>
          <a:solidFill>
            <a:srgbClr val="51A5A0"/>
          </a:solidFill>
          <a:ln w="10160">
            <a:solidFill>
              <a:srgbClr val="51A5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5" name="Text 25"/>
          <p:cNvSpPr/>
          <p:nvPr/>
        </p:nvSpPr>
        <p:spPr>
          <a:xfrm>
            <a:off x="9025200" y="3886200"/>
            <a:ext cx="19656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ÖNYÜKLEYİCİ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6" name="Shape 26"/>
          <p:cNvSpPr/>
          <p:nvPr/>
        </p:nvSpPr>
        <p:spPr>
          <a:xfrm>
            <a:off x="8906400" y="4325040"/>
            <a:ext cx="2194200" cy="338040"/>
          </a:xfrm>
          <a:prstGeom prst="roundRect">
            <a:avLst>
              <a:gd name="adj" fmla="val 16667"/>
            </a:avLst>
          </a:prstGeom>
          <a:solidFill>
            <a:srgbClr val="88C9C7"/>
          </a:solidFill>
          <a:ln w="10160">
            <a:solidFill>
              <a:srgbClr val="88C9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Text 27"/>
          <p:cNvSpPr/>
          <p:nvPr/>
        </p:nvSpPr>
        <p:spPr>
          <a:xfrm>
            <a:off x="9025200" y="4389120"/>
            <a:ext cx="19656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9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Aygıtın SSD'yi algılamaması, işletim sistemi açılmadan önce UEFI ayarlarında incelenebilir.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1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Firmware güncellemesi belirli bir sorunu çözebilir ama kesinti riski nedeniyle üretici talimatıyla yapılmalıdır.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2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4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5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6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7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8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59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9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İşletim Sistemi (Operating System)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0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1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2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İşletim sistemi, uygulamalar ile donanım arasında kaynak yönetimi, soyutlama, güvenlik ve kullanıcı etkileşimi hizmetleri sağlayan sistem yazılımıdır.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3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4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Kaynak yönetimi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CPU zamanı, bellek, depolama ve aygıt erişimini koordine eder.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6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Soyutlama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8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Uygulamalar ham disk sektörleri yerine dosya, ham aygıt yerine sistem arayüzleri kullanır.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Kullanıcı arabirimi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1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Grafik masaüstü veya komut satırı yoluyla işlemler gerçekleştirilir.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3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8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1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2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3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Birden çok program çalışırken işletim sistemi, her uygulamanın CPU ve bellek kullanımını yönetir.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4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Windows, Linux, macOS ve Android farklı işletim sistemi aileleridir; lisansları ve işlevleri farklıdır.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5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7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8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9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0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1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2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Çekirdek (Kernel), Kullanıcı Alanı ve API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Kernel, işlem, bellek ve aygıt gibi ayrıcalıklı kaynaklara erişimi yöneten işletim sistemi bölümüdür; kullanıcı alanı uygulama kodlarının çalıştığı alandır.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6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çağrısı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8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 korunan bir kaynağa erişmek için işletim sisteminin tanımladığı arayüzü kullanır.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9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Yalıtım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Ayrı süreçlerin birbirinin belleğine rastgele erişmesi sınırlandırılır.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3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API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 programlama arayüzü, dosya açma veya ağ bağlantısı kurma gibi hizmetleri standartlaştırır.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7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9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Metin editörü “Kaydet” dediğinde uygun API'leri kullanarak dosya oluşturma isteğinde bulunur.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7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Her donanım işlemi doğrudan kullanıcı uygulamasından ve sınırsız yetkiyle yapılmaz.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1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3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61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Süreç, İş Parçacığı ve Bellek Yönetimi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6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Süreç, çalışan programın kendine ait kaynak ve adres alanı bağlamıdır; iş parçacığı sürecin zamanlanabilir yürütme akışıdır.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9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0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Zamanlama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 çekirdeklerde hangi iş parçacıklarının ne zaman çalışacağını belirler.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3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Sanal bellek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4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Uygulamaya mantıksal adres alanı sunulur; sayfalar fiziksel RAM ve depolama ile yönetilebilir.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5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6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Çok görevli yapı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Öncelikler, bekleme durumları ve kilitler uygulama tepkisini etkiler.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8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9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0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1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2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4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5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6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7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8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Tarayıcı ve video oynatıcı açıkken CPU zamanı her iki uygulamanın çalışması için paylaştırılır.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0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İşlemci kullanımının %100 olması her zaman arıza değildir; iş yükünün türü incelenmelidir.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4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5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7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62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8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Uygulama Yazılımı (Application Software)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9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0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1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Uygulama yazılımı, kullanıcı veya kurumun belirli üretim, analiz, iletişim ya da hizmet görevlerini yerine getiren programdır.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2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3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Üretkenlik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Kelime işlemci, elektronik tablo ve sunum uygulamaları içerik üretir.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Uzmanlık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7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CAD, veri analizi, programlama IDE'si ve bilimsel yazılımlar özel görevleri yerine getirir.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8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9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Bağımlılıklar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0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uygulamanın çalışması için uygun işletim sistemi, çalışma zamanı ve kaynak gerekebilir.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1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2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8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0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1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2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elektronik devre simülasyon yazılımı hesaplama için CPU ve RAM, grafik görünümü için GPU kullanabilir.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3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Uygulamanın sistem gereksinimleri yalnızca dosyanın indirme boyutundan ibaret değildir.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4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63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Yazılımı ile Uygulama Ayrımı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yazılımı donanım kaynaklarının yönetimini ve ortak altyapıyı sağlar; uygulama yazılımı ise son kullanıcı görevinin mantığını yürütür.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örnekleri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sistemi, aygıt sürücüsü, önyükleme bileşeni ve bazı yardımcı programlar.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Uygulama örnekleri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Tarayıcı, Word, Excel, video düzenleyici ve hesaplama aracı.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Katman ilişkisi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Uygulama çoğunlukla sistem arayüzlerinden hizmet alır; aygıt sürücüsü donanıma erişimi sağlar.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Shape 20"/>
          <p:cNvSpPr/>
          <p:nvPr/>
        </p:nvSpPr>
        <p:spPr>
          <a:xfrm>
            <a:off x="8888040" y="290772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164D71"/>
          </a:solidFill>
          <a:ln w="10160">
            <a:solidFill>
              <a:srgbClr val="164D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Text 21"/>
          <p:cNvSpPr/>
          <p:nvPr/>
        </p:nvSpPr>
        <p:spPr>
          <a:xfrm>
            <a:off x="9052560" y="298080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7" name="Shape 22"/>
          <p:cNvSpPr/>
          <p:nvPr/>
        </p:nvSpPr>
        <p:spPr>
          <a:xfrm>
            <a:off x="8888040" y="33742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217996"/>
          </a:solidFill>
          <a:ln w="10160">
            <a:solidFill>
              <a:srgbClr val="2179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Text 23"/>
          <p:cNvSpPr/>
          <p:nvPr/>
        </p:nvSpPr>
        <p:spPr>
          <a:xfrm>
            <a:off x="9052560" y="34473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9" name="Shape 24"/>
          <p:cNvSpPr/>
          <p:nvPr/>
        </p:nvSpPr>
        <p:spPr>
          <a:xfrm>
            <a:off x="8888040" y="38404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4BA7A8"/>
          </a:solidFill>
          <a:ln w="10160">
            <a:solidFill>
              <a:srgbClr val="4BA7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Text 25"/>
          <p:cNvSpPr/>
          <p:nvPr/>
        </p:nvSpPr>
        <p:spPr>
          <a:xfrm>
            <a:off x="9052560" y="391356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 / API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1" name="Shape 26"/>
          <p:cNvSpPr/>
          <p:nvPr/>
        </p:nvSpPr>
        <p:spPr>
          <a:xfrm>
            <a:off x="8888040" y="4306680"/>
            <a:ext cx="2294640" cy="356400"/>
          </a:xfrm>
          <a:prstGeom prst="roundRect">
            <a:avLst>
              <a:gd name="adj" fmla="val 16667"/>
            </a:avLst>
          </a:prstGeom>
          <a:solidFill>
            <a:srgbClr val="8CCBC2"/>
          </a:solidFill>
          <a:ln w="10160">
            <a:solidFill>
              <a:srgbClr val="8CCB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2" name="Text 27"/>
          <p:cNvSpPr/>
          <p:nvPr/>
        </p:nvSpPr>
        <p:spPr>
          <a:xfrm>
            <a:off x="9052560" y="43801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DONANIM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3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4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5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Yazıcı için gerekli sürücü sistem katmanıdır; belgeyi yazdıran kelime işlemci uygulamadır.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6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“Ücretsiz”, “ticari” ve “açık kaynak” yazılımın görevi değil lisans/dağıtım niteliğidir.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7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9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0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1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2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3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64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4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Aygıt Sürücüsü (Device Driver)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5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6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7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Aygıt sürücüsü, işletim sistemi ile bir donanım bileşeni arasındaki komut, veri aktarımı ve olay işlemlerini gerçekleştiren yazılım katmanıdır.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9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Donanım soyutlama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0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İşletim sisteminin genel isteğini aygıta özgü protokole dönüştürür.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2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Modeller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3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Kimi sürücüler çekirdek modunda, kimileri kullanıcı modunda çalışabilir.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4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5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Sürüm ve imza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6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Üretici uyumluluğu, işletim sistemi sürümü ve güvenilir dağıtım kaynağı kontrol edilir.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8" name="Shape 20"/>
          <p:cNvSpPr/>
          <p:nvPr/>
        </p:nvSpPr>
        <p:spPr>
          <a:xfrm>
            <a:off x="8906400" y="288036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256282"/>
          </a:solidFill>
          <a:ln w="10160">
            <a:solidFill>
              <a:srgbClr val="2562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9" name="Text 21"/>
          <p:cNvSpPr/>
          <p:nvPr/>
        </p:nvSpPr>
        <p:spPr>
          <a:xfrm>
            <a:off x="9006840" y="295344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0" name="Shape 22"/>
          <p:cNvSpPr/>
          <p:nvPr/>
        </p:nvSpPr>
        <p:spPr>
          <a:xfrm>
            <a:off x="8906400" y="336492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378A9C"/>
          </a:solidFill>
          <a:ln w="10160">
            <a:solidFill>
              <a:srgbClr val="378A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1" name="Text 23"/>
          <p:cNvSpPr/>
          <p:nvPr/>
        </p:nvSpPr>
        <p:spPr>
          <a:xfrm>
            <a:off x="9006840" y="343800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2" name="Shape 24"/>
          <p:cNvSpPr/>
          <p:nvPr/>
        </p:nvSpPr>
        <p:spPr>
          <a:xfrm>
            <a:off x="8906400" y="384948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1B868A"/>
          </a:solidFill>
          <a:ln w="10160">
            <a:solidFill>
              <a:srgbClr val="1B86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Text 25"/>
          <p:cNvSpPr/>
          <p:nvPr/>
        </p:nvSpPr>
        <p:spPr>
          <a:xfrm>
            <a:off x="9006840" y="39229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4" name="Shape 26"/>
          <p:cNvSpPr/>
          <p:nvPr/>
        </p:nvSpPr>
        <p:spPr>
          <a:xfrm>
            <a:off x="8906400" y="433440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72C4A9"/>
          </a:solidFill>
          <a:ln w="10160">
            <a:solidFill>
              <a:srgbClr val="72C4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5" name="Text 27"/>
          <p:cNvSpPr/>
          <p:nvPr/>
        </p:nvSpPr>
        <p:spPr>
          <a:xfrm>
            <a:off x="9006840" y="44074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AYGIT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6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7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8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Bir yazıcı sürücüsü, uygulamadan gelen sayfa tanımını cihazın anlayacağı baskı akışına dönüştürür.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Rastgele sürücü güncelleme siteleri zararlı veya uyumsuz yazılım içerebilir.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0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2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3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4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5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6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65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7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Sürücü Sorunları ve Aygıt Tanılama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8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9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0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Aygıt tanılama, donanım bağlantısı, sürücü, hizmet, izin ve uygulama düzeylerini sistematik olarak ayırarak arıza nedenini arama yöntemidir.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1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2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Belirti analizi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3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Aygıt hiç görünmüyor, görünüp çalışmıyor veya yalnızca bir uygulamada sorun çıkarıyor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4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5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Sistem araçları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6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Aygıt Yöneticisi, olay günlükleri ve üretici tanılama uygulaması ipucu sağlayabilir.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7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Güvenli adımlar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9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Kablo/port kontrolü, yeniden başlatma, güncelleme ve geri alma sırası izlenir.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0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1" name="Shape 20"/>
          <p:cNvSpPr/>
          <p:nvPr/>
        </p:nvSpPr>
        <p:spPr>
          <a:xfrm>
            <a:off x="8906400" y="288036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256282"/>
          </a:solidFill>
          <a:ln w="10160">
            <a:solidFill>
              <a:srgbClr val="2562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2" name="Text 21"/>
          <p:cNvSpPr/>
          <p:nvPr/>
        </p:nvSpPr>
        <p:spPr>
          <a:xfrm>
            <a:off x="9006840" y="295344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UYGULAMA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3" name="Shape 22"/>
          <p:cNvSpPr/>
          <p:nvPr/>
        </p:nvSpPr>
        <p:spPr>
          <a:xfrm>
            <a:off x="8906400" y="336492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378A9C"/>
          </a:solidFill>
          <a:ln w="10160">
            <a:solidFill>
              <a:srgbClr val="378A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4" name="Text 23"/>
          <p:cNvSpPr/>
          <p:nvPr/>
        </p:nvSpPr>
        <p:spPr>
          <a:xfrm>
            <a:off x="9006840" y="343800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İŞLETİM SİSTEMİ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5" name="Shape 24"/>
          <p:cNvSpPr/>
          <p:nvPr/>
        </p:nvSpPr>
        <p:spPr>
          <a:xfrm>
            <a:off x="8906400" y="384948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1B868A"/>
          </a:solidFill>
          <a:ln w="10160">
            <a:solidFill>
              <a:srgbClr val="1B86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6" name="Text 25"/>
          <p:cNvSpPr/>
          <p:nvPr/>
        </p:nvSpPr>
        <p:spPr>
          <a:xfrm>
            <a:off x="9006840" y="39229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SÜRÜCÜ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7" name="Shape 26"/>
          <p:cNvSpPr/>
          <p:nvPr/>
        </p:nvSpPr>
        <p:spPr>
          <a:xfrm>
            <a:off x="8906400" y="4334400"/>
            <a:ext cx="2239920" cy="356400"/>
          </a:xfrm>
          <a:prstGeom prst="roundRect">
            <a:avLst>
              <a:gd name="adj" fmla="val 16667"/>
            </a:avLst>
          </a:prstGeom>
          <a:solidFill>
            <a:srgbClr val="72C4A9"/>
          </a:solidFill>
          <a:ln w="10160">
            <a:solidFill>
              <a:srgbClr val="72C4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8" name="Text 27"/>
          <p:cNvSpPr/>
          <p:nvPr/>
        </p:nvSpPr>
        <p:spPr>
          <a:xfrm>
            <a:off x="9006840" y="44074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AYGIT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9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0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1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USB mikrofon algılanıyor ama toplantıda ses yoksa uygulama izinleri ve seçilen giriş aygıtı incelenir.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2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Tanı koymadan sürücü kaldırmak ya da firmware güncellemek sorunu ağırlaştırabilir.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3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5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7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8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9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66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0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Sistemi (File System)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1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2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3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sistemi, kalıcı depolama ortamındaki verileri dosya, klasör, yol ve üstveri olarak düzenleyen; erişim kurallarını yöneten yapıdır.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4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5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Hiyerarşi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6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Dizinler, alt dizinler ve dosyalar mantıksal yol adlarıyla bulunur.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7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8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Biçimler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9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NTFS, exFAT, APFS ve ext4 farklı özellik ve platform desteklerine sahiptir.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0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1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Yetkiler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2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Desteklenen dosya sistemlerinde sahiplik ve erişim kontrolü tanımlanabilir.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3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4" name="Shape 20"/>
          <p:cNvSpPr/>
          <p:nvPr/>
        </p:nvSpPr>
        <p:spPr>
          <a:xfrm>
            <a:off x="8860680" y="2917080"/>
            <a:ext cx="2258280" cy="1682280"/>
          </a:xfrm>
          <a:prstGeom prst="roundRect">
            <a:avLst>
              <a:gd name="adj" fmla="val 16667"/>
            </a:avLst>
          </a:prstGeom>
          <a:solidFill>
            <a:srgbClr val="DDEDF0"/>
          </a:solidFill>
          <a:ln w="10160">
            <a:solidFill>
              <a:srgbClr val="DDED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5" name="Text 21"/>
          <p:cNvSpPr/>
          <p:nvPr/>
        </p:nvSpPr>
        <p:spPr>
          <a:xfrm>
            <a:off x="9006840" y="3026520"/>
            <a:ext cx="1005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C: 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6" name="Shape 22"/>
          <p:cNvSpPr/>
          <p:nvPr/>
        </p:nvSpPr>
        <p:spPr>
          <a:xfrm>
            <a:off x="9235440" y="335592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BFDDE0"/>
          </a:solidFill>
          <a:ln w="10160">
            <a:solidFill>
              <a:srgbClr val="BFDD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7" name="Text 23"/>
          <p:cNvSpPr/>
          <p:nvPr/>
        </p:nvSpPr>
        <p:spPr>
          <a:xfrm>
            <a:off x="9345240" y="342000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Dersler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8" name="Shape 24"/>
          <p:cNvSpPr/>
          <p:nvPr/>
        </p:nvSpPr>
        <p:spPr>
          <a:xfrm>
            <a:off x="9509760" y="374904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95C9CD"/>
          </a:solidFill>
          <a:ln w="10160">
            <a:solidFill>
              <a:srgbClr val="95C9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9" name="Text 25"/>
          <p:cNvSpPr/>
          <p:nvPr/>
        </p:nvSpPr>
        <p:spPr>
          <a:xfrm>
            <a:off x="9619560" y="381312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BİT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0" name="Shape 26"/>
          <p:cNvSpPr/>
          <p:nvPr/>
        </p:nvSpPr>
        <p:spPr>
          <a:xfrm>
            <a:off x="9784080" y="414216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45A6AD"/>
          </a:solidFill>
          <a:ln w="10160">
            <a:solidFill>
              <a:srgbClr val="45A6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1" name="Text 27"/>
          <p:cNvSpPr/>
          <p:nvPr/>
        </p:nvSpPr>
        <p:spPr>
          <a:xfrm>
            <a:off x="9893880" y="420624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Hafta02.pptx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2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3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4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C:\Dersler\BİT\Hafta02.pptx dosya yolu sürücü, dizinler ve dosya adından oluşur.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5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Bir diskin fiziksel kapasitesi ile dosya sisteminin ayrılmış ve kullanılabilir alanı aynı olmayabilir.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6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9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2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67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Üstverisi, Uzantı ve İzinler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5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6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Dosya üstverisi, dosyanın içeriği dışındaki ad, tarih, boyut, erişim izni ve yer gibi yönetim bilgileridir.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8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Uzantı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9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.docx, .xlsx, .pptx dosya türünü tanımaya yardımcı olur; tek başına içeriğin geçerliliğini garanti etmez.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0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1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Öznitelik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2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Oluşturma/değiştirme zamanı ve erişim denetimleri yönetim için kullanılır.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3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4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Taşınabilirlik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5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FAT/exFAT ve NTFS arasında izin ve dosya boyutu davranışı farklı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6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7" name="Shape 20"/>
          <p:cNvSpPr/>
          <p:nvPr/>
        </p:nvSpPr>
        <p:spPr>
          <a:xfrm>
            <a:off x="8860680" y="2917080"/>
            <a:ext cx="2258280" cy="1682280"/>
          </a:xfrm>
          <a:prstGeom prst="roundRect">
            <a:avLst>
              <a:gd name="adj" fmla="val 16667"/>
            </a:avLst>
          </a:prstGeom>
          <a:solidFill>
            <a:srgbClr val="DDEDF0"/>
          </a:solidFill>
          <a:ln w="10160">
            <a:solidFill>
              <a:srgbClr val="DDED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8" name="Text 21"/>
          <p:cNvSpPr/>
          <p:nvPr/>
        </p:nvSpPr>
        <p:spPr>
          <a:xfrm>
            <a:off x="9006840" y="3026520"/>
            <a:ext cx="1005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C: 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9" name="Shape 22"/>
          <p:cNvSpPr/>
          <p:nvPr/>
        </p:nvSpPr>
        <p:spPr>
          <a:xfrm>
            <a:off x="9235440" y="335592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BFDDE0"/>
          </a:solidFill>
          <a:ln w="10160">
            <a:solidFill>
              <a:srgbClr val="BFDD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0" name="Text 23"/>
          <p:cNvSpPr/>
          <p:nvPr/>
        </p:nvSpPr>
        <p:spPr>
          <a:xfrm>
            <a:off x="9345240" y="342000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Dersler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1" name="Shape 24"/>
          <p:cNvSpPr/>
          <p:nvPr/>
        </p:nvSpPr>
        <p:spPr>
          <a:xfrm>
            <a:off x="9509760" y="374904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95C9CD"/>
          </a:solidFill>
          <a:ln w="10160">
            <a:solidFill>
              <a:srgbClr val="95C9C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2" name="Text 25"/>
          <p:cNvSpPr/>
          <p:nvPr/>
        </p:nvSpPr>
        <p:spPr>
          <a:xfrm>
            <a:off x="9619560" y="381312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BİT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3" name="Shape 26"/>
          <p:cNvSpPr/>
          <p:nvPr/>
        </p:nvSpPr>
        <p:spPr>
          <a:xfrm>
            <a:off x="9784080" y="4142160"/>
            <a:ext cx="1416960" cy="292320"/>
          </a:xfrm>
          <a:prstGeom prst="roundRect">
            <a:avLst>
              <a:gd name="adj" fmla="val 16667"/>
            </a:avLst>
          </a:prstGeom>
          <a:solidFill>
            <a:srgbClr val="45A6AD"/>
          </a:solidFill>
          <a:ln w="10160">
            <a:solidFill>
              <a:srgbClr val="45A6A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4" name="Text 27"/>
          <p:cNvSpPr/>
          <p:nvPr/>
        </p:nvSpPr>
        <p:spPr>
          <a:xfrm>
            <a:off x="9893880" y="4206240"/>
            <a:ext cx="1151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Hafta02.pptx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Shape 28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6" name="Text 29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7" name="Text 30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Önemli bir .docx dosyasını başka sistemde açmadan önce uyumluluk ve erişim izinleri doğrulanır.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Text 31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Yalnızca dosya adını değiştirmek içeriği DOCX'ten PDF'ye dönüştürmez.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9" name="Text 32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68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6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Performans Darboğazı (Bottleneck)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7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8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9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Performans darboğazı, bir sistemin toplam iş tamamlama hızını sınırlayan kaynak veya aşamadır; darboğaz iş yüküne göre değişebilir.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0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1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 sınırı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2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Hesaplama yoğunsa bir veya birkaç çekirdek uzun süre yüksek kullanımda olabilir.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3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4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 sınırı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5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Bellek baskısı nedeniyle disk sayfalaması artar; uygulamalar arasındaki geçiş yavaşlayabilir.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7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I/O sınırı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8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Disk veya ağ aktarımı beklendiğinde CPU boşta olsa da iş yavaş ilerleyebilir.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9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Text 20"/>
          <p:cNvSpPr/>
          <p:nvPr/>
        </p:nvSpPr>
        <p:spPr>
          <a:xfrm>
            <a:off x="8732520" y="301752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1" name="Shape 21"/>
          <p:cNvSpPr/>
          <p:nvPr/>
        </p:nvSpPr>
        <p:spPr>
          <a:xfrm>
            <a:off x="9354240" y="300852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2" name="Shape 22"/>
          <p:cNvSpPr/>
          <p:nvPr/>
        </p:nvSpPr>
        <p:spPr>
          <a:xfrm>
            <a:off x="9354240" y="3008520"/>
            <a:ext cx="1382040" cy="246600"/>
          </a:xfrm>
          <a:prstGeom prst="roundRect">
            <a:avLst>
              <a:gd name="adj" fmla="val 16667"/>
            </a:avLst>
          </a:prstGeom>
          <a:solidFill>
            <a:srgbClr val="29999B"/>
          </a:solidFill>
          <a:ln w="10160">
            <a:solidFill>
              <a:srgbClr val="2999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3" name="Text 23"/>
          <p:cNvSpPr/>
          <p:nvPr/>
        </p:nvSpPr>
        <p:spPr>
          <a:xfrm>
            <a:off x="8732520" y="352044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4" name="Shape 24"/>
          <p:cNvSpPr/>
          <p:nvPr/>
        </p:nvSpPr>
        <p:spPr>
          <a:xfrm>
            <a:off x="9354240" y="351144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Shape 25"/>
          <p:cNvSpPr/>
          <p:nvPr/>
        </p:nvSpPr>
        <p:spPr>
          <a:xfrm>
            <a:off x="9354240" y="3511440"/>
            <a:ext cx="1728000" cy="246600"/>
          </a:xfrm>
          <a:prstGeom prst="roundRect">
            <a:avLst>
              <a:gd name="adj" fmla="val 16667"/>
            </a:avLst>
          </a:prstGeom>
          <a:solidFill>
            <a:srgbClr val="D8A64A"/>
          </a:solidFill>
          <a:ln w="10160">
            <a:solidFill>
              <a:srgbClr val="D8A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6" name="Text 26"/>
          <p:cNvSpPr/>
          <p:nvPr/>
        </p:nvSpPr>
        <p:spPr>
          <a:xfrm>
            <a:off x="8732520" y="402336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DİSK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7" name="Shape 27"/>
          <p:cNvSpPr/>
          <p:nvPr/>
        </p:nvSpPr>
        <p:spPr>
          <a:xfrm>
            <a:off x="9354240" y="401436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Shape 28"/>
          <p:cNvSpPr/>
          <p:nvPr/>
        </p:nvSpPr>
        <p:spPr>
          <a:xfrm>
            <a:off x="9354240" y="4014360"/>
            <a:ext cx="652680" cy="246600"/>
          </a:xfrm>
          <a:prstGeom prst="roundRect">
            <a:avLst>
              <a:gd name="adj" fmla="val 16667"/>
            </a:avLst>
          </a:prstGeom>
          <a:solidFill>
            <a:srgbClr val="29999B"/>
          </a:solidFill>
          <a:ln w="10160">
            <a:solidFill>
              <a:srgbClr val="2999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9" name="Text 29"/>
          <p:cNvSpPr/>
          <p:nvPr/>
        </p:nvSpPr>
        <p:spPr>
          <a:xfrm>
            <a:off x="8924400" y="46818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 YÜKÜNE GÖRE DEĞİŞİR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0" name="Shape 30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1" name="Text 31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2" name="Text 32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Veri kümesi SSD'den yavaş yükleniyorsa daha güçlü CPU almak ilk aşamada hız kazandırmayabilir.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3" name="Text 33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Görev Yöneticisi'ndeki tek bir anlık yüzdeye dayanarak parça değişimine karar vermeyin.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4" name="Text 34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6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7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8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9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0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69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1" name="Text 6"/>
          <p:cNvSpPr/>
          <p:nvPr/>
        </p:nvSpPr>
        <p:spPr>
          <a:xfrm>
            <a:off x="594360" y="640080"/>
            <a:ext cx="1097244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Vaka: Performans Sorununun Ölçülmesi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2" name="Shape 7"/>
          <p:cNvSpPr/>
          <p:nvPr/>
        </p:nvSpPr>
        <p:spPr>
          <a:xfrm>
            <a:off x="594360" y="1344240"/>
            <a:ext cx="11018160" cy="996480"/>
          </a:xfrm>
          <a:prstGeom prst="roundRect">
            <a:avLst>
              <a:gd name="adj" fmla="val 16667"/>
            </a:avLst>
          </a:prstGeom>
          <a:solidFill>
            <a:srgbClr val="E8F5F5"/>
          </a:solidFill>
          <a:ln w="7620">
            <a:solidFill>
              <a:srgbClr val="D7EB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3" name="Text 8"/>
          <p:cNvSpPr/>
          <p:nvPr/>
        </p:nvSpPr>
        <p:spPr>
          <a:xfrm>
            <a:off x="831960" y="151776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39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TANIM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4" name="Text 9"/>
          <p:cNvSpPr/>
          <p:nvPr/>
        </p:nvSpPr>
        <p:spPr>
          <a:xfrm>
            <a:off x="831960" y="1764720"/>
            <a:ext cx="10451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79" b="0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Darboğaz tanılama, ölçülebilir belirtiyle başlayıp hipotez kurma, kaynakları gözleme ve değişiklikten sonra yeniden test etme döngüsüdür.</a:t>
            </a:r>
            <a:endParaRPr lang="en-US" sz="17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5" name="Shape 10"/>
          <p:cNvSpPr/>
          <p:nvPr/>
        </p:nvSpPr>
        <p:spPr>
          <a:xfrm>
            <a:off x="713160" y="27158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6" name="Text 11"/>
          <p:cNvSpPr/>
          <p:nvPr/>
        </p:nvSpPr>
        <p:spPr>
          <a:xfrm>
            <a:off x="932760" y="26060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1. Ölç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7" name="Text 12"/>
          <p:cNvSpPr/>
          <p:nvPr/>
        </p:nvSpPr>
        <p:spPr>
          <a:xfrm>
            <a:off x="932760" y="28803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Görevin süresi, CPU çekirdek kullanımı, RAM doluluğu, disk etkinliği ve gecikmeyi kaydedin.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8" name="Shape 13"/>
          <p:cNvSpPr/>
          <p:nvPr/>
        </p:nvSpPr>
        <p:spPr>
          <a:xfrm>
            <a:off x="713160" y="351144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9" name="Text 14"/>
          <p:cNvSpPr/>
          <p:nvPr/>
        </p:nvSpPr>
        <p:spPr>
          <a:xfrm>
            <a:off x="932760" y="34016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2. Karşılaştır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0" name="Text 15"/>
          <p:cNvSpPr/>
          <p:nvPr/>
        </p:nvSpPr>
        <p:spPr>
          <a:xfrm>
            <a:off x="932760" y="36759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Arka plan işlemleri, veri boyutu, sıcaklık ve sürücü durumunu kontrollü biçimde değiştirin.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1" name="Shape 16"/>
          <p:cNvSpPr/>
          <p:nvPr/>
        </p:nvSpPr>
        <p:spPr>
          <a:xfrm>
            <a:off x="713160" y="4306680"/>
            <a:ext cx="91080" cy="91080"/>
          </a:xfrm>
          <a:prstGeom prst="ellipse">
            <a:avLst/>
          </a:prstGeom>
          <a:solidFill>
            <a:srgbClr val="078B98"/>
          </a:solidFill>
          <a:ln w="12700">
            <a:solidFill>
              <a:srgbClr val="078B9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2" name="Text 17"/>
          <p:cNvSpPr/>
          <p:nvPr/>
        </p:nvSpPr>
        <p:spPr>
          <a:xfrm>
            <a:off x="932760" y="4197240"/>
            <a:ext cx="6994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3. Karar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3" name="Text 18"/>
          <p:cNvSpPr/>
          <p:nvPr/>
        </p:nvSpPr>
        <p:spPr>
          <a:xfrm>
            <a:off x="932760" y="4471560"/>
            <a:ext cx="699480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7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Darboğaza yönelik yazılım düzeltmesi veya donanım yükseltmesinin maliyet/yararını değerlendirin.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4" name="Shape 19"/>
          <p:cNvSpPr/>
          <p:nvPr/>
        </p:nvSpPr>
        <p:spPr>
          <a:xfrm>
            <a:off x="8430840" y="2578680"/>
            <a:ext cx="3145320" cy="2404440"/>
          </a:xfrm>
          <a:prstGeom prst="roundRect">
            <a:avLst>
              <a:gd name="adj" fmla="val 16667"/>
            </a:avLst>
          </a:prstGeom>
          <a:solidFill>
            <a:srgbClr val="F0F7F9"/>
          </a:solidFill>
          <a:ln w="12700">
            <a:solidFill>
              <a:srgbClr val="DBE8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5" name="Text 20"/>
          <p:cNvSpPr/>
          <p:nvPr/>
        </p:nvSpPr>
        <p:spPr>
          <a:xfrm>
            <a:off x="8732520" y="301752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CPU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6" name="Shape 21"/>
          <p:cNvSpPr/>
          <p:nvPr/>
        </p:nvSpPr>
        <p:spPr>
          <a:xfrm>
            <a:off x="9354240" y="300852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7" name="Shape 22"/>
          <p:cNvSpPr/>
          <p:nvPr/>
        </p:nvSpPr>
        <p:spPr>
          <a:xfrm>
            <a:off x="9354240" y="3008520"/>
            <a:ext cx="1382040" cy="246600"/>
          </a:xfrm>
          <a:prstGeom prst="roundRect">
            <a:avLst>
              <a:gd name="adj" fmla="val 16667"/>
            </a:avLst>
          </a:prstGeom>
          <a:solidFill>
            <a:srgbClr val="29999B"/>
          </a:solidFill>
          <a:ln w="10160">
            <a:solidFill>
              <a:srgbClr val="2999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8" name="Text 23"/>
          <p:cNvSpPr/>
          <p:nvPr/>
        </p:nvSpPr>
        <p:spPr>
          <a:xfrm>
            <a:off x="8732520" y="352044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RAM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9" name="Shape 24"/>
          <p:cNvSpPr/>
          <p:nvPr/>
        </p:nvSpPr>
        <p:spPr>
          <a:xfrm>
            <a:off x="9354240" y="351144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0" name="Shape 25"/>
          <p:cNvSpPr/>
          <p:nvPr/>
        </p:nvSpPr>
        <p:spPr>
          <a:xfrm>
            <a:off x="9354240" y="3511440"/>
            <a:ext cx="1728000" cy="246600"/>
          </a:xfrm>
          <a:prstGeom prst="roundRect">
            <a:avLst>
              <a:gd name="adj" fmla="val 16667"/>
            </a:avLst>
          </a:prstGeom>
          <a:solidFill>
            <a:srgbClr val="D8A64A"/>
          </a:solidFill>
          <a:ln w="10160">
            <a:solidFill>
              <a:srgbClr val="D8A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1" name="Text 26"/>
          <p:cNvSpPr/>
          <p:nvPr/>
        </p:nvSpPr>
        <p:spPr>
          <a:xfrm>
            <a:off x="8732520" y="402336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DİSK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2" name="Shape 27"/>
          <p:cNvSpPr/>
          <p:nvPr/>
        </p:nvSpPr>
        <p:spPr>
          <a:xfrm>
            <a:off x="9354240" y="4014360"/>
            <a:ext cx="1919880" cy="246600"/>
          </a:xfrm>
          <a:prstGeom prst="roundRect">
            <a:avLst>
              <a:gd name="adj" fmla="val 16667"/>
            </a:avLst>
          </a:prstGeom>
          <a:solidFill>
            <a:srgbClr val="C8E0E2"/>
          </a:solidFill>
          <a:ln w="10160">
            <a:solidFill>
              <a:srgbClr val="C8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3" name="Shape 28"/>
          <p:cNvSpPr/>
          <p:nvPr/>
        </p:nvSpPr>
        <p:spPr>
          <a:xfrm>
            <a:off x="9354240" y="4014360"/>
            <a:ext cx="652680" cy="246600"/>
          </a:xfrm>
          <a:prstGeom prst="roundRect">
            <a:avLst>
              <a:gd name="adj" fmla="val 16667"/>
            </a:avLst>
          </a:prstGeom>
          <a:solidFill>
            <a:srgbClr val="29999B"/>
          </a:solidFill>
          <a:ln w="10160">
            <a:solidFill>
              <a:srgbClr val="29999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4" name="Text 29"/>
          <p:cNvSpPr/>
          <p:nvPr/>
        </p:nvSpPr>
        <p:spPr>
          <a:xfrm>
            <a:off x="8924400" y="46818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İŞ YÜKÜNE GÖRE DEĞİŞİR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5" name="Shape 30"/>
          <p:cNvSpPr/>
          <p:nvPr/>
        </p:nvSpPr>
        <p:spPr>
          <a:xfrm>
            <a:off x="603360" y="5193720"/>
            <a:ext cx="10990800" cy="108792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 w="9525">
            <a:solidFill>
              <a:srgbClr val="E7D9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6" name="Text 31"/>
          <p:cNvSpPr/>
          <p:nvPr/>
        </p:nvSpPr>
        <p:spPr>
          <a:xfrm>
            <a:off x="795600" y="531252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 spc="99">
                <a:solidFill>
                  <a:srgbClr val="987030"/>
                </a:solidFill>
                <a:effectLst/>
                <a:uFillTx/>
                <a:latin typeface="Aptos"/>
                <a:ea typeface="Aptos"/>
              </a:rPr>
              <a:t>SOMUT ÖRNEK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7" name="Text 32"/>
          <p:cNvSpPr/>
          <p:nvPr/>
        </p:nvSpPr>
        <p:spPr>
          <a:xfrm>
            <a:off x="804600" y="5559480"/>
            <a:ext cx="10460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183047"/>
                </a:solidFill>
                <a:effectLst/>
                <a:uFillTx/>
                <a:latin typeface="Aptos"/>
                <a:ea typeface="Aptos"/>
              </a:rPr>
              <a:t>Örnek: 8 GB RAM'li bilgisayarda 25 sekme + Excel ile yüksek sayfalama varsa RAM yükseltmesi SSD değişiminden etkili olabilir.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8" name="Text 33"/>
          <p:cNvSpPr/>
          <p:nvPr/>
        </p:nvSpPr>
        <p:spPr>
          <a:xfrm>
            <a:off x="804600" y="602604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1" u="none" strike="noStrike">
                <a:solidFill>
                  <a:srgbClr val="9D6529"/>
                </a:solidFill>
                <a:effectLst/>
                <a:uFillTx/>
                <a:latin typeface="Aptos"/>
                <a:ea typeface="Aptos"/>
              </a:rPr>
              <a:t>DİKKAT: </a:t>
            </a:r>
            <a:r>
              <a:rPr lang="en-US" sz="119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Ölçüm olmadan “yavaş bilgisayar = bozuk işlemci” sonucu çıkarılmamalıdır.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9" name="Text 34"/>
          <p:cNvSpPr/>
          <p:nvPr/>
        </p:nvSpPr>
        <p:spPr>
          <a:xfrm>
            <a:off x="5010840" y="6565320"/>
            <a:ext cx="155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Kaynak: H1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0C23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1" name="Text 1"/>
          <p:cNvSpPr/>
          <p:nvPr/>
        </p:nvSpPr>
        <p:spPr>
          <a:xfrm>
            <a:off x="511920" y="201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 spc="99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BURSA ULUDAĞ ÜNİVERSİTESİ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2" name="Text 2"/>
          <p:cNvSpPr/>
          <p:nvPr/>
        </p:nvSpPr>
        <p:spPr>
          <a:xfrm>
            <a:off x="6400800" y="21960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BİLGİ VE İLETİŞİM TEKNOLOJİSİ  /  HAFTA 02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3" name="Shape 3"/>
          <p:cNvSpPr/>
          <p:nvPr/>
        </p:nvSpPr>
        <p:spPr>
          <a:xfrm>
            <a:off x="530280" y="6514920"/>
            <a:ext cx="11100600" cy="360"/>
          </a:xfrm>
          <a:prstGeom prst="line">
            <a:avLst/>
          </a:prstGeom>
          <a:ln w="10160">
            <a:solidFill>
              <a:srgbClr val="D5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4" name="Text 4"/>
          <p:cNvSpPr/>
          <p:nvPr/>
        </p:nvSpPr>
        <p:spPr>
          <a:xfrm>
            <a:off x="548640" y="6565320"/>
            <a:ext cx="4480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Öğr. Gör. MURAT ÇALIŞ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5" name="Text 5"/>
          <p:cNvSpPr/>
          <p:nvPr/>
        </p:nvSpPr>
        <p:spPr>
          <a:xfrm>
            <a:off x="9235440" y="6565320"/>
            <a:ext cx="24228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2026–2027  |  70 / 70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6" name="Text 6"/>
          <p:cNvSpPr/>
          <p:nvPr/>
        </p:nvSpPr>
        <p:spPr>
          <a:xfrm>
            <a:off x="603360" y="70416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HAFTA 2  •  DOĞRULANABİLİR KAYNAKLAR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7" name="Text 7"/>
          <p:cNvSpPr/>
          <p:nvPr/>
        </p:nvSpPr>
        <p:spPr>
          <a:xfrm>
            <a:off x="631080" y="1325880"/>
            <a:ext cx="10515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1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Kaynak kodları ilgili içerik slaytlarının alt bilgisinde gösterilmiştir.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Shape 8"/>
          <p:cNvSpPr/>
          <p:nvPr/>
        </p:nvSpPr>
        <p:spPr>
          <a:xfrm>
            <a:off x="658440" y="190188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Text 9"/>
          <p:cNvSpPr/>
          <p:nvPr/>
        </p:nvSpPr>
        <p:spPr>
          <a:xfrm>
            <a:off x="749880" y="197496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H1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Text 10"/>
          <p:cNvSpPr/>
          <p:nvPr/>
        </p:nvSpPr>
        <p:spPr>
          <a:xfrm>
            <a:off x="1353240" y="188352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IBM Think. Central Processing Unit (CPU): Architecture and components.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Text 11">
            <a:hlinkClick r:id="rId3"/>
          </p:cNvPr>
          <p:cNvSpPr/>
          <p:nvPr/>
        </p:nvSpPr>
        <p:spPr>
          <a:xfrm>
            <a:off x="1353240" y="228600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3"/>
              </a:rPr>
              <a:t>https://www.ibm.com/think/topics/central-processing-unit-history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Shape 12"/>
          <p:cNvSpPr/>
          <p:nvPr/>
        </p:nvSpPr>
        <p:spPr>
          <a:xfrm>
            <a:off x="658440" y="271584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3" name="Text 13"/>
          <p:cNvSpPr/>
          <p:nvPr/>
        </p:nvSpPr>
        <p:spPr>
          <a:xfrm>
            <a:off x="749880" y="278892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H2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4" name="Text 14"/>
          <p:cNvSpPr/>
          <p:nvPr/>
        </p:nvSpPr>
        <p:spPr>
          <a:xfrm>
            <a:off x="1353240" y="269748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Microsoft Learn. Windows Driver Technologies; Kernel-mode and user-mode drivers.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Text 15">
            <a:hlinkClick r:id="rId4"/>
          </p:cNvPr>
          <p:cNvSpPr/>
          <p:nvPr/>
        </p:nvSpPr>
        <p:spPr>
          <a:xfrm>
            <a:off x="1353240" y="309996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4"/>
              </a:rPr>
              <a:t>https://learn.microsoft.com/en-us/windows-hardware/drivers/kernel/types-of-windows-drivers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6" name="Shape 16"/>
          <p:cNvSpPr/>
          <p:nvPr/>
        </p:nvSpPr>
        <p:spPr>
          <a:xfrm>
            <a:off x="658440" y="352944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Text 17"/>
          <p:cNvSpPr/>
          <p:nvPr/>
        </p:nvSpPr>
        <p:spPr>
          <a:xfrm>
            <a:off x="749880" y="360288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H3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8" name="Text 18"/>
          <p:cNvSpPr/>
          <p:nvPr/>
        </p:nvSpPr>
        <p:spPr>
          <a:xfrm>
            <a:off x="1353240" y="351144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Chandramouli, R. &amp; Pinhas, D. (2020). Storage Infrastructure. NIST SP 800-209.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9" name="Text 19">
            <a:hlinkClick r:id="rId5"/>
          </p:cNvPr>
          <p:cNvSpPr/>
          <p:nvPr/>
        </p:nvSpPr>
        <p:spPr>
          <a:xfrm>
            <a:off x="1353240" y="391356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5"/>
              </a:rPr>
              <a:t>https://doi.org/10.6028/NIST.SP.800-209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0" name="Shape 20"/>
          <p:cNvSpPr/>
          <p:nvPr/>
        </p:nvSpPr>
        <p:spPr>
          <a:xfrm>
            <a:off x="658440" y="434340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1" name="Text 21"/>
          <p:cNvSpPr/>
          <p:nvPr/>
        </p:nvSpPr>
        <p:spPr>
          <a:xfrm>
            <a:off x="749880" y="441648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H4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Text 22"/>
          <p:cNvSpPr/>
          <p:nvPr/>
        </p:nvSpPr>
        <p:spPr>
          <a:xfrm>
            <a:off x="1353240" y="432504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Microsoft Learn. NTFS overview (Windows 11 / Windows Server).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Text 23">
            <a:hlinkClick r:id="rId6"/>
          </p:cNvPr>
          <p:cNvSpPr/>
          <p:nvPr/>
        </p:nvSpPr>
        <p:spPr>
          <a:xfrm>
            <a:off x="1353240" y="472752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6"/>
              </a:rPr>
              <a:t>https://learn.microsoft.com/en-gb/windows-server/storage/file-server/ntfs-overview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Shape 24"/>
          <p:cNvSpPr/>
          <p:nvPr/>
        </p:nvSpPr>
        <p:spPr>
          <a:xfrm>
            <a:off x="658440" y="5157360"/>
            <a:ext cx="539280" cy="319680"/>
          </a:xfrm>
          <a:prstGeom prst="roundRect">
            <a:avLst>
              <a:gd name="adj" fmla="val 16667"/>
            </a:avLst>
          </a:prstGeom>
          <a:solidFill>
            <a:srgbClr val="DDEFF0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Text 25"/>
          <p:cNvSpPr/>
          <p:nvPr/>
        </p:nvSpPr>
        <p:spPr>
          <a:xfrm>
            <a:off x="749880" y="5230440"/>
            <a:ext cx="3654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</a:rPr>
              <a:t>H5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Text 26"/>
          <p:cNvSpPr/>
          <p:nvPr/>
        </p:nvSpPr>
        <p:spPr>
          <a:xfrm>
            <a:off x="1353240" y="5139000"/>
            <a:ext cx="98751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0C2345"/>
                </a:solidFill>
                <a:effectLst/>
                <a:uFillTx/>
                <a:latin typeface="Aptos"/>
                <a:ea typeface="Aptos"/>
              </a:rPr>
              <a:t>Microsoft Learn. Windows local file systems and directory hierarchy.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Text 27">
            <a:hlinkClick r:id="rId7"/>
          </p:cNvPr>
          <p:cNvSpPr/>
          <p:nvPr/>
        </p:nvSpPr>
        <p:spPr>
          <a:xfrm>
            <a:off x="1353240" y="5541120"/>
            <a:ext cx="9820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sng" strike="noStrike">
                <a:solidFill>
                  <a:srgbClr val="078B98"/>
                </a:solidFill>
                <a:effectLst/>
                <a:uFillTx/>
                <a:latin typeface="Aptos"/>
                <a:ea typeface="Aptos"/>
                <a:hlinkClick r:id="rId7"/>
              </a:rPr>
              <a:t>https://learn.microsoft.com/en-us/windows/win32/fileio/file-systems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Text 28"/>
          <p:cNvSpPr/>
          <p:nvPr/>
        </p:nvSpPr>
        <p:spPr>
          <a:xfrm>
            <a:off x="658440" y="623628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52677B"/>
                </a:solidFill>
                <a:effectLst/>
                <a:uFillTx/>
                <a:latin typeface="Aptos"/>
                <a:ea typeface="Aptos"/>
              </a:rPr>
              <a:t>Not: Donanım çizimleri eğitsel amaçla oluşturulmuş şematik görsellerdir; ölçekli teknik çizim değildir.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9064</Words>
  <Application>Microsoft Office PowerPoint</Application>
  <PresentationFormat>Geniş ekran</PresentationFormat>
  <Paragraphs>1419</Paragraphs>
  <Slides>70</Slides>
  <Notes>70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70</vt:i4>
      </vt:variant>
    </vt:vector>
  </HeadingPairs>
  <TitlesOfParts>
    <vt:vector size="77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 ve İletişim Teknolojisi: Haftalar 1-2</dc:title>
  <dc:subject>Bilgi ve İletişim Teknolojisi - 1. ve 2. hafta - 70 slayt</dc:subject>
  <dc:creator>Öğr. Gör. MURAT ÇALIŞ</dc:creator>
  <dc:description/>
  <cp:lastModifiedBy>Murat ÇALIŞ</cp:lastModifiedBy>
  <cp:revision>2</cp:revision>
  <dcterms:created xsi:type="dcterms:W3CDTF">2026-10-09T05:39:38Z</dcterms:created>
  <dcterms:modified xsi:type="dcterms:W3CDTF">2026-10-19T20:16:34Z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70</vt:r8>
  </property>
  <property fmtid="{D5CDD505-2E9C-101B-9397-08002B2CF9AE}" pid="3" name="PresentationFormat">
    <vt:lpwstr>On-screen Show (16:9)</vt:lpwstr>
  </property>
  <property fmtid="{D5CDD505-2E9C-101B-9397-08002B2CF9AE}" pid="4" name="Slides">
    <vt:r8>70</vt:r8>
  </property>
</Properties>
</file>