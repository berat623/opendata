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31_A97705C9.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26"/>
  </p:notesMasterIdLst>
  <p:handoutMasterIdLst>
    <p:handoutMasterId r:id="rId27"/>
  </p:handoutMasterIdLst>
  <p:sldIdLst>
    <p:sldId id="264" r:id="rId5"/>
    <p:sldId id="276" r:id="rId6"/>
    <p:sldId id="277" r:id="rId7"/>
    <p:sldId id="305" r:id="rId8"/>
    <p:sldId id="314" r:id="rId9"/>
    <p:sldId id="321" r:id="rId10"/>
    <p:sldId id="319" r:id="rId11"/>
    <p:sldId id="307" r:id="rId12"/>
    <p:sldId id="312" r:id="rId13"/>
    <p:sldId id="322" r:id="rId14"/>
    <p:sldId id="308" r:id="rId15"/>
    <p:sldId id="323" r:id="rId16"/>
    <p:sldId id="330" r:id="rId17"/>
    <p:sldId id="332" r:id="rId18"/>
    <p:sldId id="331" r:id="rId19"/>
    <p:sldId id="328" r:id="rId20"/>
    <p:sldId id="329" r:id="rId21"/>
    <p:sldId id="325" r:id="rId22"/>
    <p:sldId id="313" r:id="rId23"/>
    <p:sldId id="333" r:id="rId24"/>
    <p:sldId id="320" r:id="rId25"/>
  </p:sldIdLst>
  <p:sldSz cx="12188825" cy="6858000"/>
  <p:notesSz cx="6858000" cy="9144000"/>
  <p:defaultTextStyle>
    <a:defPPr rtl="0">
      <a:defRPr lang="tr-T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9" pos="3839" userDrawn="1">
          <p15:clr>
            <a:srgbClr val="A4A3A4"/>
          </p15:clr>
        </p15:guide>
        <p15:guide id="10"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Yaza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7744B3-6332-11E6-0F17-7E349E1F9407}" v="68" dt="2024-09-25T11:07:05.732"/>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Açık Stil 2 - Vurgu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FD0F851-EC5A-4D38-B0AD-8093EC10F338}" styleName="Açık Stil 1 - Vurgu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2DE63D5-997A-4646-A377-4702673A728D}" styleName="Açık Stil 2 - Vurgu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Açık Stil 2 - Vurgu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Açık Stil 2 - Vurgu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2838BEF-8BB2-4498-84A7-C5851F593DF1}" styleName="Orta Stil 4 - Vurgu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Orta Stil 4 - Vurgu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C89EF96-8CEA-46FF-86C4-4CE0E7609802}" styleName="Açık Stil 3 - Vurgu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8" autoAdjust="0"/>
    <p:restoredTop sz="94660"/>
  </p:normalViewPr>
  <p:slideViewPr>
    <p:cSldViewPr showGuides="1">
      <p:cViewPr varScale="1">
        <p:scale>
          <a:sx n="76" d="100"/>
          <a:sy n="76" d="100"/>
        </p:scale>
        <p:origin x="216" y="576"/>
      </p:cViewPr>
      <p:guideLst>
        <p:guide pos="3839"/>
        <p:guide orient="horz" pos="2160"/>
      </p:guideLst>
    </p:cSldViewPr>
  </p:slideViewPr>
  <p:notesTextViewPr>
    <p:cViewPr>
      <p:scale>
        <a:sx n="1" d="1"/>
        <a:sy n="1" d="1"/>
      </p:scale>
      <p:origin x="0" y="0"/>
    </p:cViewPr>
  </p:notesTextViewPr>
  <p:notesViewPr>
    <p:cSldViewPr>
      <p:cViewPr varScale="1">
        <p:scale>
          <a:sx n="90" d="100"/>
          <a:sy n="90" d="100"/>
        </p:scale>
        <p:origin x="377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comments/modernComment_131_A97705C9.xml><?xml version="1.0" encoding="utf-8"?>
<p188:cmLst xmlns:a="http://schemas.openxmlformats.org/drawingml/2006/main" xmlns:r="http://schemas.openxmlformats.org/officeDocument/2006/relationships" xmlns:p188="http://schemas.microsoft.com/office/powerpoint/2018/8/main">
  <p188:cm id="{FB3DCE8D-44CF-47A5-BDBC-DCF59F22B3E6}" authorId="{00000000-0000-0000-0000-000000000000}" status="resolved" created="2023-08-29T10:15:21.348">
    <ac:txMkLst xmlns:ac="http://schemas.microsoft.com/office/drawing/2013/main/command">
      <pc:docMk xmlns:pc="http://schemas.microsoft.com/office/powerpoint/2013/main/command"/>
      <pc:sldMk xmlns:pc="http://schemas.microsoft.com/office/powerpoint/2013/main/command" cId="2843149769" sldId="305"/>
      <ac:spMk id="3" creationId="{F0B98526-A611-4810-9458-F7A573209578}"/>
      <ac:txMk cp="508" len="17">
        <ac:context len="592" hash="1183714668"/>
      </ac:txMk>
    </ac:txMkLst>
    <p188:pos x="2055862" y="3324968"/>
    <p188:txBody>
      <a:bodyPr/>
      <a:lstStyle/>
      <a:p>
        <a:r>
          <a:rPr lang="tr-TR"/>
          <a:t>Bunu ekledim Hocam. </a:t>
        </a:r>
      </a:p>
    </p188:txBody>
    <p188:extLst>
      <p:ext xmlns:p="http://schemas.openxmlformats.org/presentationml/2006/main" uri="{5BB2D875-25FF-4072-B9AC-8F64D62656EB}">
        <p228:taskDetails xmlns:p228="http://schemas.microsoft.com/office/powerpoint/2022/08/main">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tr-TR" dirty="0">
              <a:solidFill>
                <a:schemeClr val="tx2"/>
              </a:solidFill>
            </a:endParaRPr>
          </a:p>
        </p:txBody>
      </p:sp>
      <p:sp>
        <p:nvSpPr>
          <p:cNvPr id="3" name="Tarih Yer Tutucusu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06766E61-8483-4E85-A7AA-B03676934E74}" type="datetime1">
              <a:rPr lang="tr-TR" smtClean="0">
                <a:solidFill>
                  <a:schemeClr val="tx2"/>
                </a:solidFill>
              </a:rPr>
              <a:pPr algn="r" rtl="0"/>
              <a:t>22.09.2026</a:t>
            </a:fld>
            <a:endParaRPr lang="tr-TR" dirty="0">
              <a:solidFill>
                <a:schemeClr val="tx2"/>
              </a:solidFill>
            </a:endParaRPr>
          </a:p>
        </p:txBody>
      </p:sp>
      <p:sp>
        <p:nvSpPr>
          <p:cNvPr id="4" name="Alt Bilgi Yer Tutucusu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tr-TR" dirty="0">
              <a:solidFill>
                <a:schemeClr val="tx2"/>
              </a:solidFill>
            </a:endParaRPr>
          </a:p>
        </p:txBody>
      </p:sp>
      <p:sp>
        <p:nvSpPr>
          <p:cNvPr id="5" name="Slayt Numarası Yer Tutucusu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CFD77566-CD65-4859-9FA1-43956DC85B8C}" type="slidenum">
              <a:rPr lang="tr-TR" smtClean="0">
                <a:solidFill>
                  <a:schemeClr val="tx2"/>
                </a:solidFill>
              </a:rPr>
              <a:pPr algn="r" rtl="0"/>
              <a:t>‹#›</a:t>
            </a:fld>
            <a:endParaRPr lang="tr-TR" dirty="0">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solidFill>
                  <a:schemeClr val="tx2"/>
                </a:solidFill>
              </a:defRPr>
            </a:lvl1pPr>
          </a:lstStyle>
          <a:p>
            <a:pPr rtl="0"/>
            <a:endParaRPr lang="tr-TR" noProof="0" dirty="0"/>
          </a:p>
        </p:txBody>
      </p:sp>
      <p:sp>
        <p:nvSpPr>
          <p:cNvPr id="3" name="Tarih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solidFill>
                  <a:schemeClr val="tx2"/>
                </a:solidFill>
              </a:defRPr>
            </a:lvl1pPr>
          </a:lstStyle>
          <a:p>
            <a:fld id="{D4890AD5-4316-40C1-84C6-5DB9875CE083}" type="datetime1">
              <a:rPr lang="tr-TR" smtClean="0"/>
              <a:pPr/>
              <a:t>22.09.2026</a:t>
            </a:fld>
            <a:endParaRPr lang="tr-TR" dirty="0"/>
          </a:p>
        </p:txBody>
      </p:sp>
      <p:sp>
        <p:nvSpPr>
          <p:cNvPr id="4" name="Slayt Görüntüsü Yer Tutucusu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solidFill>
                  <a:schemeClr val="tx2"/>
                </a:solidFill>
              </a:defRPr>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rtl="0">
              <a:defRPr sz="1200">
                <a:solidFill>
                  <a:schemeClr val="tx2"/>
                </a:solidFill>
              </a:defRPr>
            </a:lvl1pPr>
          </a:lstStyle>
          <a:p>
            <a:fld id="{B8796F01-7154-41E0-B48B-A6921757531A}" type="slidenum">
              <a:rPr lang="tr-TR" smtClean="0"/>
              <a:pPr/>
              <a:t>‹#›</a:t>
            </a:fld>
            <a:endParaRPr lang="tr-TR" dirty="0"/>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Başlık 1"/>
          <p:cNvSpPr>
            <a:spLocks noGrp="1"/>
          </p:cNvSpPr>
          <p:nvPr>
            <p:ph type="ctrTitle"/>
          </p:nvPr>
        </p:nvSpPr>
        <p:spPr>
          <a:xfrm>
            <a:off x="4672383" y="1498601"/>
            <a:ext cx="7008574" cy="3298825"/>
          </a:xfrm>
        </p:spPr>
        <p:txBody>
          <a:bodyPr rtlCol="0">
            <a:normAutofit/>
          </a:bodyPr>
          <a:lstStyle>
            <a:lvl1pPr algn="l" rtl="0">
              <a:lnSpc>
                <a:spcPct val="90000"/>
              </a:lnSpc>
              <a:defRPr sz="5400" cap="none" baseline="0"/>
            </a:lvl1pPr>
          </a:lstStyle>
          <a:p>
            <a:pPr rtl="0"/>
            <a:r>
              <a:rPr lang="tr-TR" noProof="0"/>
              <a:t>Asıl başlık stili için tıklatın</a:t>
            </a:r>
            <a:endParaRPr lang="tr-TR" noProof="0" dirty="0"/>
          </a:p>
        </p:txBody>
      </p:sp>
      <p:sp>
        <p:nvSpPr>
          <p:cNvPr id="3" name="Alt Başlık 2"/>
          <p:cNvSpPr>
            <a:spLocks noGrp="1"/>
          </p:cNvSpPr>
          <p:nvPr>
            <p:ph type="subTitle" idx="1"/>
          </p:nvPr>
        </p:nvSpPr>
        <p:spPr>
          <a:xfrm>
            <a:off x="4672383" y="4927600"/>
            <a:ext cx="7008574" cy="1244600"/>
          </a:xfrm>
        </p:spPr>
        <p:txBody>
          <a:bodyPr rtlCol="0">
            <a:normAutofit/>
          </a:bodyPr>
          <a:lstStyle>
            <a:lvl1pPr marL="0" indent="0" algn="l" rtl="0">
              <a:spcBef>
                <a:spcPts val="0"/>
              </a:spcBef>
              <a:buNone/>
              <a:defRPr sz="2800" b="0">
                <a:solidFill>
                  <a:schemeClr val="tx1"/>
                </a:solidFill>
              </a:defRPr>
            </a:lvl1pPr>
            <a:lvl2pPr marL="609493" indent="0" algn="ctr" rtl="0">
              <a:buNone/>
              <a:defRPr>
                <a:solidFill>
                  <a:schemeClr val="tx1">
                    <a:tint val="75000"/>
                  </a:schemeClr>
                </a:solidFill>
              </a:defRPr>
            </a:lvl2pPr>
            <a:lvl3pPr marL="1218987" indent="0" algn="ctr" rtl="0">
              <a:buNone/>
              <a:defRPr>
                <a:solidFill>
                  <a:schemeClr val="tx1">
                    <a:tint val="75000"/>
                  </a:schemeClr>
                </a:solidFill>
              </a:defRPr>
            </a:lvl3pPr>
            <a:lvl4pPr marL="1828480" indent="0" algn="ctr" rtl="0">
              <a:buNone/>
              <a:defRPr>
                <a:solidFill>
                  <a:schemeClr val="tx1">
                    <a:tint val="75000"/>
                  </a:schemeClr>
                </a:solidFill>
              </a:defRPr>
            </a:lvl4pPr>
            <a:lvl5pPr marL="2437973" indent="0" algn="ctr" rtl="0">
              <a:buNone/>
              <a:defRPr>
                <a:solidFill>
                  <a:schemeClr val="tx1">
                    <a:tint val="75000"/>
                  </a:schemeClr>
                </a:solidFill>
              </a:defRPr>
            </a:lvl5pPr>
            <a:lvl6pPr marL="3047467" indent="0" algn="ctr" rtl="0">
              <a:buNone/>
              <a:defRPr>
                <a:solidFill>
                  <a:schemeClr val="tx1">
                    <a:tint val="75000"/>
                  </a:schemeClr>
                </a:solidFill>
              </a:defRPr>
            </a:lvl6pPr>
            <a:lvl7pPr marL="3656960" indent="0" algn="ctr" rtl="0">
              <a:buNone/>
              <a:defRPr>
                <a:solidFill>
                  <a:schemeClr val="tx1">
                    <a:tint val="75000"/>
                  </a:schemeClr>
                </a:solidFill>
              </a:defRPr>
            </a:lvl7pPr>
            <a:lvl8pPr marL="4266453" indent="0" algn="ctr" rtl="0">
              <a:buNone/>
              <a:defRPr>
                <a:solidFill>
                  <a:schemeClr val="tx1">
                    <a:tint val="75000"/>
                  </a:schemeClr>
                </a:solidFill>
              </a:defRPr>
            </a:lvl8pPr>
            <a:lvl9pPr marL="4875947" indent="0" algn="ctr" rtl="0">
              <a:buNone/>
              <a:defRPr>
                <a:solidFill>
                  <a:schemeClr val="tx1">
                    <a:tint val="75000"/>
                  </a:schemeClr>
                </a:solidFill>
              </a:defRPr>
            </a:lvl9pPr>
          </a:lstStyle>
          <a:p>
            <a:pPr rtl="0"/>
            <a:r>
              <a:rPr lang="tr-TR" noProof="0"/>
              <a:t>Asıl alt başlık stilini düzenlemek için tıklatın</a:t>
            </a:r>
            <a:endParaRPr lang="tr-TR" noProof="0" dirty="0"/>
          </a:p>
        </p:txBody>
      </p:sp>
    </p:spTree>
    <p:extLst>
      <p:ext uri="{BB962C8B-B14F-4D97-AF65-F5344CB8AC3E}">
        <p14:creationId xmlns:p14="http://schemas.microsoft.com/office/powerpoint/2010/main" val="3222770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 için tıklatın</a:t>
            </a:r>
            <a:endParaRPr lang="tr-TR" noProof="0" dirty="0"/>
          </a:p>
        </p:txBody>
      </p:sp>
      <p:sp>
        <p:nvSpPr>
          <p:cNvPr id="3" name="İçerik Yer Tutucusu 2"/>
          <p:cNvSpPr>
            <a:spLocks noGrp="1"/>
          </p:cNvSpPr>
          <p:nvPr>
            <p:ph idx="1"/>
          </p:nvPr>
        </p:nvSpPr>
        <p:spPr/>
        <p:txBody>
          <a:bodyPr rtlCol="0"/>
          <a:lstStyle>
            <a:lvl5pPr algn="l" rtl="0">
              <a:defRPr/>
            </a:lvl5pPr>
            <a:lvl6pPr algn="l" rtl="0">
              <a:defRPr/>
            </a:lvl6pPr>
            <a:lvl7pPr algn="l" rtl="0">
              <a:defRPr baseline="0"/>
            </a:lvl7pPr>
            <a:lvl8pPr algn="l" rtl="0">
              <a:defRPr baseline="0"/>
            </a:lvl8pPr>
            <a:lvl9pPr algn="l" rtl="0">
              <a:defRPr baseline="0"/>
            </a:lvl9pPr>
          </a:lstStyle>
          <a:p>
            <a:pPr lvl="0" rtl="0"/>
            <a:r>
              <a:rPr lang="tr-TR" noProof="0"/>
              <a:t>Asıl metin stillerini düzenlemek için tıklatın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lvl1pPr>
              <a:defRPr/>
            </a:lvl1pPr>
          </a:lstStyle>
          <a:p>
            <a:fld id="{D9CD94FF-AF33-4AFA-A6D6-D15D6E4AF075}" type="datetime1">
              <a:rPr lang="tr-TR" smtClean="0"/>
              <a:pPr/>
              <a:t>22.09.2026</a:t>
            </a:fld>
            <a:endParaRPr lang="tr-TR"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DA60BA0E-20D0-4E7C-B286-26C960A6788F}" type="slidenum">
              <a:rPr lang="tr-TR" noProof="0" smtClean="0"/>
              <a:t>‹#›</a:t>
            </a:fld>
            <a:endParaRPr lang="tr-TR" noProof="0" dirty="0"/>
          </a:p>
        </p:txBody>
      </p:sp>
    </p:spTree>
    <p:extLst>
      <p:ext uri="{BB962C8B-B14F-4D97-AF65-F5344CB8AC3E}">
        <p14:creationId xmlns:p14="http://schemas.microsoft.com/office/powerpoint/2010/main" val="1563524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Başlık 1"/>
          <p:cNvSpPr>
            <a:spLocks noGrp="1"/>
          </p:cNvSpPr>
          <p:nvPr>
            <p:ph type="title"/>
          </p:nvPr>
        </p:nvSpPr>
        <p:spPr>
          <a:xfrm>
            <a:off x="812589" y="4445000"/>
            <a:ext cx="7008574" cy="1930400"/>
          </a:xfrm>
        </p:spPr>
        <p:txBody>
          <a:bodyPr rtlCol="0" anchor="t">
            <a:normAutofit/>
          </a:bodyPr>
          <a:lstStyle>
            <a:lvl1pPr algn="l" rtl="0">
              <a:defRPr sz="5400" b="0" cap="none" baseline="0"/>
            </a:lvl1pPr>
          </a:lstStyle>
          <a:p>
            <a:pPr rtl="0"/>
            <a:r>
              <a:rPr lang="tr-TR" noProof="0"/>
              <a:t>Asıl başlık stili için tıklatın</a:t>
            </a:r>
            <a:endParaRPr lang="tr-TR" noProof="0" dirty="0"/>
          </a:p>
        </p:txBody>
      </p:sp>
      <p:sp>
        <p:nvSpPr>
          <p:cNvPr id="3" name="Metin Yer Tutucusu 2"/>
          <p:cNvSpPr>
            <a:spLocks noGrp="1"/>
          </p:cNvSpPr>
          <p:nvPr>
            <p:ph type="body" idx="1"/>
          </p:nvPr>
        </p:nvSpPr>
        <p:spPr>
          <a:xfrm>
            <a:off x="812589" y="3124200"/>
            <a:ext cx="7008574" cy="1296987"/>
          </a:xfrm>
        </p:spPr>
        <p:txBody>
          <a:bodyPr rtlCol="0" anchor="b">
            <a:normAutofit/>
          </a:bodyPr>
          <a:lstStyle>
            <a:lvl1pPr marL="0" indent="0" algn="l" rtl="0">
              <a:spcBef>
                <a:spcPts val="0"/>
              </a:spcBef>
              <a:buNone/>
              <a:defRPr sz="2800">
                <a:solidFill>
                  <a:schemeClr val="tx1"/>
                </a:solidFill>
              </a:defRPr>
            </a:lvl1pPr>
            <a:lvl2pPr marL="609493" indent="0" algn="l" rtl="0">
              <a:buNone/>
              <a:defRPr sz="2400">
                <a:solidFill>
                  <a:schemeClr val="tx1">
                    <a:tint val="75000"/>
                  </a:schemeClr>
                </a:solidFill>
              </a:defRPr>
            </a:lvl2pPr>
            <a:lvl3pPr marL="1218987" indent="0" algn="l" rtl="0">
              <a:buNone/>
              <a:defRPr sz="2100">
                <a:solidFill>
                  <a:schemeClr val="tx1">
                    <a:tint val="75000"/>
                  </a:schemeClr>
                </a:solidFill>
              </a:defRPr>
            </a:lvl3pPr>
            <a:lvl4pPr marL="1828480" indent="0" algn="l" rtl="0">
              <a:buNone/>
              <a:defRPr sz="1900">
                <a:solidFill>
                  <a:schemeClr val="tx1">
                    <a:tint val="75000"/>
                  </a:schemeClr>
                </a:solidFill>
              </a:defRPr>
            </a:lvl4pPr>
            <a:lvl5pPr marL="2437973" indent="0" algn="l" rtl="0">
              <a:buNone/>
              <a:defRPr sz="1900">
                <a:solidFill>
                  <a:schemeClr val="tx1">
                    <a:tint val="75000"/>
                  </a:schemeClr>
                </a:solidFill>
              </a:defRPr>
            </a:lvl5pPr>
            <a:lvl6pPr marL="3047467" indent="0" algn="l" rtl="0">
              <a:buNone/>
              <a:defRPr sz="1900">
                <a:solidFill>
                  <a:schemeClr val="tx1">
                    <a:tint val="75000"/>
                  </a:schemeClr>
                </a:solidFill>
              </a:defRPr>
            </a:lvl6pPr>
            <a:lvl7pPr marL="3656960" indent="0" algn="l" rtl="0">
              <a:buNone/>
              <a:defRPr sz="1900">
                <a:solidFill>
                  <a:schemeClr val="tx1">
                    <a:tint val="75000"/>
                  </a:schemeClr>
                </a:solidFill>
              </a:defRPr>
            </a:lvl7pPr>
            <a:lvl8pPr marL="4266453" indent="0" algn="l" rtl="0">
              <a:buNone/>
              <a:defRPr sz="1900">
                <a:solidFill>
                  <a:schemeClr val="tx1">
                    <a:tint val="75000"/>
                  </a:schemeClr>
                </a:solidFill>
              </a:defRPr>
            </a:lvl8pPr>
            <a:lvl9pPr marL="4875947" indent="0" algn="l" rtl="0">
              <a:buNone/>
              <a:defRPr sz="1900">
                <a:solidFill>
                  <a:schemeClr val="tx1">
                    <a:tint val="75000"/>
                  </a:schemeClr>
                </a:solidFill>
              </a:defRPr>
            </a:lvl9pPr>
          </a:lstStyle>
          <a:p>
            <a:pPr lvl="0" rtl="0"/>
            <a:r>
              <a:rPr lang="tr-TR" noProof="0"/>
              <a:t>Asıl metin stillerini düzenlemek için tıklatın</a:t>
            </a:r>
          </a:p>
        </p:txBody>
      </p:sp>
    </p:spTree>
    <p:extLst>
      <p:ext uri="{BB962C8B-B14F-4D97-AF65-F5344CB8AC3E}">
        <p14:creationId xmlns:p14="http://schemas.microsoft.com/office/powerpoint/2010/main" val="4196340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 için tıklatın</a:t>
            </a:r>
            <a:endParaRPr lang="tr-TR" noProof="0" dirty="0"/>
          </a:p>
        </p:txBody>
      </p:sp>
      <p:sp>
        <p:nvSpPr>
          <p:cNvPr id="3" name="İçerik Yer Tutucusu 2"/>
          <p:cNvSpPr>
            <a:spLocks noGrp="1"/>
          </p:cNvSpPr>
          <p:nvPr>
            <p:ph sz="half" idx="1"/>
          </p:nvPr>
        </p:nvSpPr>
        <p:spPr>
          <a:xfrm>
            <a:off x="1117309" y="1701800"/>
            <a:ext cx="4977104" cy="4470400"/>
          </a:xfrm>
        </p:spPr>
        <p:txBody>
          <a:bodyPr rtlCol="0">
            <a:normAutofit/>
          </a:bodyPr>
          <a:lstStyle>
            <a:lvl1pPr algn="l" rtl="0">
              <a:defRPr sz="2400"/>
            </a:lvl1pPr>
            <a:lvl2pPr algn="l" rtl="0">
              <a:defRPr sz="20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tıklatın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İçerik Yer Tutucusu 3"/>
          <p:cNvSpPr>
            <a:spLocks noGrp="1"/>
          </p:cNvSpPr>
          <p:nvPr>
            <p:ph sz="half" idx="2"/>
          </p:nvPr>
        </p:nvSpPr>
        <p:spPr>
          <a:xfrm>
            <a:off x="6297559" y="1701800"/>
            <a:ext cx="4977104" cy="4470400"/>
          </a:xfrm>
        </p:spPr>
        <p:txBody>
          <a:bodyPr rtlCol="0">
            <a:normAutofit/>
          </a:bodyPr>
          <a:lstStyle>
            <a:lvl1pPr algn="l" rtl="0">
              <a:defRPr sz="2400"/>
            </a:lvl1pPr>
            <a:lvl2pPr algn="l" rtl="0">
              <a:defRPr sz="20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tıklatın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5" name="Tarih Yer Tutucusu 4"/>
          <p:cNvSpPr>
            <a:spLocks noGrp="1"/>
          </p:cNvSpPr>
          <p:nvPr>
            <p:ph type="dt" sz="half" idx="10"/>
          </p:nvPr>
        </p:nvSpPr>
        <p:spPr/>
        <p:txBody>
          <a:bodyPr rtlCol="0"/>
          <a:lstStyle>
            <a:lvl1pPr>
              <a:defRPr/>
            </a:lvl1pPr>
          </a:lstStyle>
          <a:p>
            <a:fld id="{4260B1F9-9B61-4E5E-BE20-BD0526E05453}" type="datetime1">
              <a:rPr lang="tr-TR" smtClean="0"/>
              <a:pPr/>
              <a:t>22.09.2026</a:t>
            </a:fld>
            <a:endParaRPr lang="tr-TR"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3489339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algn="l" rtl="0">
              <a:defRPr/>
            </a:lvl1pPr>
          </a:lstStyle>
          <a:p>
            <a:pPr rtl="0"/>
            <a:r>
              <a:rPr lang="tr-TR" noProof="0"/>
              <a:t>Asıl başlık stili için tıklatın</a:t>
            </a:r>
            <a:endParaRPr lang="tr-TR" noProof="0" dirty="0"/>
          </a:p>
        </p:txBody>
      </p:sp>
      <p:sp>
        <p:nvSpPr>
          <p:cNvPr id="3" name="Metin Yer Tutucusu 2"/>
          <p:cNvSpPr>
            <a:spLocks noGrp="1"/>
          </p:cNvSpPr>
          <p:nvPr>
            <p:ph type="body" idx="1"/>
          </p:nvPr>
        </p:nvSpPr>
        <p:spPr>
          <a:xfrm>
            <a:off x="1121372" y="1608835"/>
            <a:ext cx="4973041" cy="753363"/>
          </a:xfrm>
        </p:spPr>
        <p:txBody>
          <a:bodyPr rtlCol="0" anchor="b">
            <a:noAutofit/>
          </a:bodyPr>
          <a:lstStyle>
            <a:lvl1pPr marL="0" indent="0" algn="l" rtl="0">
              <a:spcBef>
                <a:spcPts val="0"/>
              </a:spcBef>
              <a:buNone/>
              <a:defRPr sz="2000" b="1"/>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tr-TR" noProof="0"/>
              <a:t>Asıl metin stillerini düzenlemek için tıklatın</a:t>
            </a:r>
          </a:p>
        </p:txBody>
      </p:sp>
      <p:sp>
        <p:nvSpPr>
          <p:cNvPr id="4" name="İçerik Yer Tutucusu 3"/>
          <p:cNvSpPr>
            <a:spLocks noGrp="1"/>
          </p:cNvSpPr>
          <p:nvPr>
            <p:ph sz="half" idx="2"/>
          </p:nvPr>
        </p:nvSpPr>
        <p:spPr>
          <a:xfrm>
            <a:off x="1117309" y="2590800"/>
            <a:ext cx="4977104" cy="3581400"/>
          </a:xfrm>
        </p:spPr>
        <p:txBody>
          <a:bodyPr rtlCol="0">
            <a:normAutofit/>
          </a:bodyPr>
          <a:lstStyle>
            <a:lvl1pPr algn="l" rtl="0">
              <a:defRPr sz="2000"/>
            </a:lvl1pPr>
            <a:lvl2pPr algn="l" rtl="0">
              <a:defRPr sz="18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tıklatın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5" name="Metin Yer Tutucusu 4"/>
          <p:cNvSpPr>
            <a:spLocks noGrp="1"/>
          </p:cNvSpPr>
          <p:nvPr>
            <p:ph type="body" sz="quarter" idx="3"/>
          </p:nvPr>
        </p:nvSpPr>
        <p:spPr>
          <a:xfrm>
            <a:off x="6301622" y="1608836"/>
            <a:ext cx="4973041" cy="753362"/>
          </a:xfrm>
        </p:spPr>
        <p:txBody>
          <a:bodyPr rtlCol="0" anchor="b">
            <a:noAutofit/>
          </a:bodyPr>
          <a:lstStyle>
            <a:lvl1pPr marL="0" indent="0" algn="l" rtl="0">
              <a:spcBef>
                <a:spcPts val="0"/>
              </a:spcBef>
              <a:buNone/>
              <a:defRPr sz="2000" b="1"/>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tr-TR" noProof="0"/>
              <a:t>Asıl metin stillerini düzenlemek için tıklatın</a:t>
            </a:r>
          </a:p>
        </p:txBody>
      </p:sp>
      <p:sp>
        <p:nvSpPr>
          <p:cNvPr id="6" name="İçerik Yer Tutucusu 5"/>
          <p:cNvSpPr>
            <a:spLocks noGrp="1"/>
          </p:cNvSpPr>
          <p:nvPr>
            <p:ph sz="quarter" idx="4"/>
          </p:nvPr>
        </p:nvSpPr>
        <p:spPr>
          <a:xfrm>
            <a:off x="6297559" y="2590800"/>
            <a:ext cx="4977104" cy="3581400"/>
          </a:xfrm>
        </p:spPr>
        <p:txBody>
          <a:bodyPr rtlCol="0">
            <a:normAutofit/>
          </a:bodyPr>
          <a:lstStyle>
            <a:lvl1pPr algn="l" rtl="0">
              <a:defRPr sz="2000"/>
            </a:lvl1pPr>
            <a:lvl2pPr algn="l" rtl="0">
              <a:defRPr sz="18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tıklatın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7" name="Tarih Yer Tutucusu 6"/>
          <p:cNvSpPr>
            <a:spLocks noGrp="1"/>
          </p:cNvSpPr>
          <p:nvPr>
            <p:ph type="dt" sz="half" idx="10"/>
          </p:nvPr>
        </p:nvSpPr>
        <p:spPr/>
        <p:txBody>
          <a:bodyPr rtlCol="0"/>
          <a:lstStyle>
            <a:lvl1pPr>
              <a:defRPr/>
            </a:lvl1pPr>
          </a:lstStyle>
          <a:p>
            <a:fld id="{874B9DD9-F15D-4B9F-93EF-364AA77EACFA}" type="datetime1">
              <a:rPr lang="tr-TR" smtClean="0"/>
              <a:pPr/>
              <a:t>22.09.2026</a:t>
            </a:fld>
            <a:endParaRPr lang="tr-TR" dirty="0"/>
          </a:p>
        </p:txBody>
      </p:sp>
      <p:sp>
        <p:nvSpPr>
          <p:cNvPr id="8" name="Alt Bilgi Yer Tutucusu 7"/>
          <p:cNvSpPr>
            <a:spLocks noGrp="1"/>
          </p:cNvSpPr>
          <p:nvPr>
            <p:ph type="ftr" sz="quarter" idx="11"/>
          </p:nvPr>
        </p:nvSpPr>
        <p:spPr/>
        <p:txBody>
          <a:bodyPr rtlCol="0"/>
          <a:lstStyle/>
          <a:p>
            <a:pPr rtl="0"/>
            <a:endParaRPr lang="tr-TR" noProof="0" dirty="0"/>
          </a:p>
        </p:txBody>
      </p:sp>
      <p:sp>
        <p:nvSpPr>
          <p:cNvPr id="9" name="Slayt Numarası Yer Tutucusu 8"/>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355283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 için tıklatın</a:t>
            </a:r>
            <a:endParaRPr lang="tr-TR" noProof="0" dirty="0"/>
          </a:p>
        </p:txBody>
      </p:sp>
      <p:sp>
        <p:nvSpPr>
          <p:cNvPr id="3" name="Tarih Yer Tutucusu 2"/>
          <p:cNvSpPr>
            <a:spLocks noGrp="1"/>
          </p:cNvSpPr>
          <p:nvPr>
            <p:ph type="dt" sz="half" idx="10"/>
          </p:nvPr>
        </p:nvSpPr>
        <p:spPr/>
        <p:txBody>
          <a:bodyPr rtlCol="0"/>
          <a:lstStyle>
            <a:lvl1pPr>
              <a:defRPr/>
            </a:lvl1pPr>
          </a:lstStyle>
          <a:p>
            <a:fld id="{79802B63-CB18-4428-940D-76000F7D0D7F}" type="datetime1">
              <a:rPr lang="tr-TR" smtClean="0"/>
              <a:pPr/>
              <a:t>22.09.2026</a:t>
            </a:fld>
            <a:endParaRPr lang="tr-TR" dirty="0"/>
          </a:p>
        </p:txBody>
      </p:sp>
      <p:sp>
        <p:nvSpPr>
          <p:cNvPr id="4" name="Alt Bilgi Yer Tutucusu 3"/>
          <p:cNvSpPr>
            <a:spLocks noGrp="1"/>
          </p:cNvSpPr>
          <p:nvPr>
            <p:ph type="ftr" sz="quarter" idx="11"/>
          </p:nvPr>
        </p:nvSpPr>
        <p:spPr/>
        <p:txBody>
          <a:bodyPr rtlCol="0"/>
          <a:lstStyle/>
          <a:p>
            <a:pPr rtl="0"/>
            <a:endParaRPr lang="tr-TR" noProof="0" dirty="0"/>
          </a:p>
        </p:txBody>
      </p:sp>
      <p:sp>
        <p:nvSpPr>
          <p:cNvPr id="5" name="Slayt Numarası Yer Tutucusu 4"/>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3516763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Tarih Yer Tutucusu 1"/>
          <p:cNvSpPr>
            <a:spLocks noGrp="1"/>
          </p:cNvSpPr>
          <p:nvPr>
            <p:ph type="dt" sz="half" idx="10"/>
          </p:nvPr>
        </p:nvSpPr>
        <p:spPr/>
        <p:txBody>
          <a:bodyPr rtlCol="0"/>
          <a:lstStyle>
            <a:lvl1pPr>
              <a:defRPr/>
            </a:lvl1pPr>
          </a:lstStyle>
          <a:p>
            <a:fld id="{4A3D9A3A-F2D1-49D2-9940-81A32FD4BC1B}" type="datetime1">
              <a:rPr lang="tr-TR" smtClean="0"/>
              <a:pPr/>
              <a:t>22.09.2026</a:t>
            </a:fld>
            <a:endParaRPr lang="tr-TR" dirty="0"/>
          </a:p>
        </p:txBody>
      </p:sp>
      <p:sp>
        <p:nvSpPr>
          <p:cNvPr id="3" name="Alt Bilgi Yer Tutucusu 2"/>
          <p:cNvSpPr>
            <a:spLocks noGrp="1"/>
          </p:cNvSpPr>
          <p:nvPr>
            <p:ph type="ftr" sz="quarter" idx="11"/>
          </p:nvPr>
        </p:nvSpPr>
        <p:spPr/>
        <p:txBody>
          <a:bodyPr rtlCol="0"/>
          <a:lstStyle/>
          <a:p>
            <a:pPr rtl="0"/>
            <a:endParaRPr lang="tr-TR" noProof="0" dirty="0"/>
          </a:p>
        </p:txBody>
      </p:sp>
      <p:sp>
        <p:nvSpPr>
          <p:cNvPr id="4" name="Slayt Numarası Yer Tutucusu 3"/>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206873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Resim Yazılı İçerik">
    <p:spTree>
      <p:nvGrpSpPr>
        <p:cNvPr id="1" name=""/>
        <p:cNvGrpSpPr/>
        <p:nvPr/>
      </p:nvGrpSpPr>
      <p:grpSpPr>
        <a:xfrm>
          <a:off x="0" y="0"/>
          <a:ext cx="0" cy="0"/>
          <a:chOff x="0" y="0"/>
          <a:chExt cx="0" cy="0"/>
        </a:xfrm>
      </p:grpSpPr>
      <p:sp>
        <p:nvSpPr>
          <p:cNvPr id="8" name="Dikdörtgen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tr-TR" noProof="0" dirty="0"/>
          </a:p>
        </p:txBody>
      </p:sp>
      <p:sp>
        <p:nvSpPr>
          <p:cNvPr id="2" name="Başlık 1"/>
          <p:cNvSpPr>
            <a:spLocks noGrp="1"/>
          </p:cNvSpPr>
          <p:nvPr>
            <p:ph type="title"/>
          </p:nvPr>
        </p:nvSpPr>
        <p:spPr>
          <a:xfrm>
            <a:off x="304721" y="1701800"/>
            <a:ext cx="3351927" cy="2844800"/>
          </a:xfrm>
        </p:spPr>
        <p:txBody>
          <a:bodyPr rtlCol="0" anchor="b">
            <a:normAutofit/>
          </a:bodyPr>
          <a:lstStyle>
            <a:lvl1pPr algn="l" rtl="0">
              <a:defRPr sz="2000" b="1"/>
            </a:lvl1pPr>
          </a:lstStyle>
          <a:p>
            <a:pPr rtl="0"/>
            <a:r>
              <a:rPr lang="tr-TR" noProof="0"/>
              <a:t>Asıl başlık stili için tıklatın</a:t>
            </a:r>
            <a:endParaRPr lang="tr-TR" noProof="0" dirty="0"/>
          </a:p>
        </p:txBody>
      </p:sp>
      <p:sp>
        <p:nvSpPr>
          <p:cNvPr id="3" name="İçerik Yer Tutucusu 2"/>
          <p:cNvSpPr>
            <a:spLocks noGrp="1"/>
          </p:cNvSpPr>
          <p:nvPr>
            <p:ph idx="1"/>
          </p:nvPr>
        </p:nvSpPr>
        <p:spPr>
          <a:xfrm>
            <a:off x="4469236" y="482600"/>
            <a:ext cx="6805427" cy="5892800"/>
          </a:xfrm>
        </p:spPr>
        <p:txBody>
          <a:bodyPr rtlCol="0">
            <a:normAutofit/>
          </a:bodyPr>
          <a:lstStyle>
            <a:lvl1pPr algn="l" rtl="0">
              <a:defRPr sz="2400"/>
            </a:lvl1pPr>
            <a:lvl2pPr algn="l" rtl="0">
              <a:defRPr sz="2000"/>
            </a:lvl2pPr>
            <a:lvl3pPr algn="l" rtl="0">
              <a:defRPr sz="1800"/>
            </a:lvl3pPr>
            <a:lvl4pPr algn="l" rtl="0">
              <a:defRPr sz="1800"/>
            </a:lvl4pPr>
            <a:lvl5pPr algn="l" rtl="0">
              <a:defRPr sz="1800"/>
            </a:lvl5pPr>
            <a:lvl6pPr algn="l" rtl="0">
              <a:defRPr sz="1800"/>
            </a:lvl6pPr>
            <a:lvl7pPr algn="l" rtl="0">
              <a:defRPr sz="1800"/>
            </a:lvl7pPr>
            <a:lvl8pPr algn="l" rtl="0">
              <a:defRPr sz="1800"/>
            </a:lvl8pPr>
            <a:lvl9pPr algn="l" rtl="0">
              <a:defRPr sz="1800"/>
            </a:lvl9pPr>
          </a:lstStyle>
          <a:p>
            <a:pPr lvl="0" rtl="0"/>
            <a:r>
              <a:rPr lang="tr-TR" noProof="0"/>
              <a:t>Asıl metin stillerini düzenlemek için tıklatın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Metin Yer Tutucusu 3"/>
          <p:cNvSpPr>
            <a:spLocks noGrp="1"/>
          </p:cNvSpPr>
          <p:nvPr>
            <p:ph type="body" sz="half" idx="2"/>
          </p:nvPr>
        </p:nvSpPr>
        <p:spPr>
          <a:xfrm>
            <a:off x="304721" y="4648200"/>
            <a:ext cx="3351927" cy="1727200"/>
          </a:xfrm>
        </p:spPr>
        <p:txBody>
          <a:bodyPr rtlCol="0">
            <a:normAutofit/>
          </a:bodyPr>
          <a:lstStyle>
            <a:lvl1pPr marL="0" indent="0" algn="l" rtl="0">
              <a:spcBef>
                <a:spcPts val="1200"/>
              </a:spcBef>
              <a:buNone/>
              <a:defRPr sz="16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tr-TR" noProof="0"/>
              <a:t>Asıl metin stillerini düzenlemek için tıklatın</a:t>
            </a:r>
          </a:p>
        </p:txBody>
      </p:sp>
      <p:sp>
        <p:nvSpPr>
          <p:cNvPr id="5" name="Tarih Yer Tutucusu 4"/>
          <p:cNvSpPr>
            <a:spLocks noGrp="1"/>
          </p:cNvSpPr>
          <p:nvPr>
            <p:ph type="dt" sz="half" idx="10"/>
          </p:nvPr>
        </p:nvSpPr>
        <p:spPr/>
        <p:txBody>
          <a:bodyPr rtlCol="0"/>
          <a:lstStyle>
            <a:lvl1pPr>
              <a:defRPr/>
            </a:lvl1pPr>
          </a:lstStyle>
          <a:p>
            <a:fld id="{9A7729AD-F7C7-473C-BE4B-248522DE8F48}" type="datetime1">
              <a:rPr lang="tr-TR" smtClean="0"/>
              <a:pPr/>
              <a:t>22.09.2026</a:t>
            </a:fld>
            <a:endParaRPr lang="tr-TR"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2DFBB78A-01B4-41F2-96B0-677A4A282832}" type="slidenum">
              <a:rPr lang="tr-TR" noProof="0" smtClean="0"/>
              <a:t>‹#›</a:t>
            </a:fld>
            <a:endParaRPr lang="tr-TR" noProof="0" dirty="0"/>
          </a:p>
        </p:txBody>
      </p:sp>
    </p:spTree>
    <p:extLst>
      <p:ext uri="{BB962C8B-B14F-4D97-AF65-F5344CB8AC3E}">
        <p14:creationId xmlns:p14="http://schemas.microsoft.com/office/powerpoint/2010/main" val="196807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Resim Yazılı Resim">
    <p:spTree>
      <p:nvGrpSpPr>
        <p:cNvPr id="1" name=""/>
        <p:cNvGrpSpPr/>
        <p:nvPr/>
      </p:nvGrpSpPr>
      <p:grpSpPr>
        <a:xfrm>
          <a:off x="0" y="0"/>
          <a:ext cx="0" cy="0"/>
          <a:chOff x="0" y="0"/>
          <a:chExt cx="0" cy="0"/>
        </a:xfrm>
      </p:grpSpPr>
      <p:sp>
        <p:nvSpPr>
          <p:cNvPr id="8" name="Dikdörtgen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tr-TR" noProof="0" dirty="0"/>
          </a:p>
        </p:txBody>
      </p:sp>
      <p:sp>
        <p:nvSpPr>
          <p:cNvPr id="2" name="Başlık 1"/>
          <p:cNvSpPr>
            <a:spLocks noGrp="1"/>
          </p:cNvSpPr>
          <p:nvPr>
            <p:ph type="title"/>
          </p:nvPr>
        </p:nvSpPr>
        <p:spPr>
          <a:xfrm>
            <a:off x="2437765" y="4800600"/>
            <a:ext cx="7313295" cy="762000"/>
          </a:xfrm>
        </p:spPr>
        <p:txBody>
          <a:bodyPr rtlCol="0" anchor="b">
            <a:normAutofit/>
          </a:bodyPr>
          <a:lstStyle>
            <a:lvl1pPr algn="l" rtl="0">
              <a:defRPr sz="2000" b="1"/>
            </a:lvl1pPr>
          </a:lstStyle>
          <a:p>
            <a:pPr rtl="0"/>
            <a:r>
              <a:rPr lang="tr-TR" noProof="0"/>
              <a:t>Asıl başlık stili için tıklatın</a:t>
            </a:r>
            <a:endParaRPr lang="tr-TR" noProof="0" dirty="0"/>
          </a:p>
        </p:txBody>
      </p:sp>
      <p:sp>
        <p:nvSpPr>
          <p:cNvPr id="3" name="Resim Yer Tutucusu 2"/>
          <p:cNvSpPr>
            <a:spLocks noGrp="1"/>
          </p:cNvSpPr>
          <p:nvPr>
            <p:ph type="pic" idx="1"/>
          </p:nvPr>
        </p:nvSpPr>
        <p:spPr>
          <a:xfrm>
            <a:off x="2437765" y="279401"/>
            <a:ext cx="7313295" cy="4448175"/>
          </a:xfrm>
        </p:spPr>
        <p:txBody>
          <a:bodyPr rtlCol="0">
            <a:normAutofit/>
          </a:bodyPr>
          <a:lstStyle>
            <a:lvl1pPr marL="0" indent="0" algn="l" rtl="0">
              <a:buNone/>
              <a:defRPr sz="2800"/>
            </a:lvl1pPr>
            <a:lvl2pPr marL="609493" indent="0" algn="l" rtl="0">
              <a:buNone/>
              <a:defRPr sz="3700"/>
            </a:lvl2pPr>
            <a:lvl3pPr marL="1218987" indent="0" algn="l" rtl="0">
              <a:buNone/>
              <a:defRPr sz="3200"/>
            </a:lvl3pPr>
            <a:lvl4pPr marL="1828480" indent="0" algn="l" rtl="0">
              <a:buNone/>
              <a:defRPr sz="2700"/>
            </a:lvl4pPr>
            <a:lvl5pPr marL="2437973" indent="0" algn="l" rtl="0">
              <a:buNone/>
              <a:defRPr sz="2700"/>
            </a:lvl5pPr>
            <a:lvl6pPr marL="3047467" indent="0" algn="l" rtl="0">
              <a:buNone/>
              <a:defRPr sz="2700"/>
            </a:lvl6pPr>
            <a:lvl7pPr marL="3656960" indent="0" algn="l" rtl="0">
              <a:buNone/>
              <a:defRPr sz="2700"/>
            </a:lvl7pPr>
            <a:lvl8pPr marL="4266453" indent="0" algn="l" rtl="0">
              <a:buNone/>
              <a:defRPr sz="2700"/>
            </a:lvl8pPr>
            <a:lvl9pPr marL="4875947" indent="0" algn="l" rtl="0">
              <a:buNone/>
              <a:defRPr sz="2700"/>
            </a:lvl9pPr>
          </a:lstStyle>
          <a:p>
            <a:pPr rtl="0"/>
            <a:r>
              <a:rPr lang="tr-TR" noProof="0"/>
              <a:t>Resim eklemek için simgeyi tıklatın</a:t>
            </a:r>
            <a:endParaRPr lang="tr-TR" noProof="0" dirty="0"/>
          </a:p>
        </p:txBody>
      </p:sp>
      <p:sp>
        <p:nvSpPr>
          <p:cNvPr id="4" name="Metin Yer Tutucusu 3"/>
          <p:cNvSpPr>
            <a:spLocks noGrp="1"/>
          </p:cNvSpPr>
          <p:nvPr>
            <p:ph type="body" sz="half" idx="2"/>
          </p:nvPr>
        </p:nvSpPr>
        <p:spPr>
          <a:xfrm>
            <a:off x="2437765" y="5562600"/>
            <a:ext cx="7313295" cy="812800"/>
          </a:xfrm>
        </p:spPr>
        <p:txBody>
          <a:bodyPr rtlCol="0">
            <a:normAutofit/>
          </a:bodyPr>
          <a:lstStyle>
            <a:lvl1pPr marL="0" indent="0" algn="l" rtl="0">
              <a:spcBef>
                <a:spcPts val="0"/>
              </a:spcBef>
              <a:buNone/>
              <a:defRPr sz="16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tr-TR" noProof="0"/>
              <a:t>Asıl metin stillerini düzenlemek için tıklatın</a:t>
            </a:r>
          </a:p>
        </p:txBody>
      </p:sp>
      <p:sp>
        <p:nvSpPr>
          <p:cNvPr id="5" name="Tarih Yer Tutucusu 4"/>
          <p:cNvSpPr>
            <a:spLocks noGrp="1"/>
          </p:cNvSpPr>
          <p:nvPr>
            <p:ph type="dt" sz="half" idx="10"/>
          </p:nvPr>
        </p:nvSpPr>
        <p:spPr/>
        <p:txBody>
          <a:bodyPr rtlCol="0"/>
          <a:lstStyle>
            <a:lvl1pPr>
              <a:defRPr/>
            </a:lvl1pPr>
          </a:lstStyle>
          <a:p>
            <a:fld id="{FCFCCC71-70BB-43D3-97CB-6EEE61369627}" type="datetime1">
              <a:rPr lang="tr-TR" smtClean="0"/>
              <a:pPr/>
              <a:t>22.09.2026</a:t>
            </a:fld>
            <a:endParaRPr lang="tr-TR"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2DFBB78A-01B4-41F2-96B0-677A4A282832}" type="slidenum">
              <a:rPr lang="tr-TR" noProof="0" smtClean="0"/>
              <a:t>‹#›</a:t>
            </a:fld>
            <a:endParaRPr lang="tr-TR" noProof="0" dirty="0"/>
          </a:p>
        </p:txBody>
      </p:sp>
    </p:spTree>
    <p:extLst>
      <p:ext uri="{BB962C8B-B14F-4D97-AF65-F5344CB8AC3E}">
        <p14:creationId xmlns:p14="http://schemas.microsoft.com/office/powerpoint/2010/main" val="122133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 için tıklatın</a:t>
            </a:r>
            <a:endParaRPr lang="tr-TR" noProof="0" dirty="0"/>
          </a:p>
        </p:txBody>
      </p:sp>
      <p:sp>
        <p:nvSpPr>
          <p:cNvPr id="3" name="Dikey Metin Yer Tutucusu 2"/>
          <p:cNvSpPr>
            <a:spLocks noGrp="1"/>
          </p:cNvSpPr>
          <p:nvPr>
            <p:ph type="body" orient="vert" idx="1"/>
          </p:nvPr>
        </p:nvSpPr>
        <p:spPr/>
        <p:txBody>
          <a:bodyPr vert="eaVert" rtlCol="0"/>
          <a:lstStyle/>
          <a:p>
            <a:pPr lvl="0" rtl="0"/>
            <a:r>
              <a:rPr lang="tr-TR" noProof="0"/>
              <a:t>Asıl metin stillerini düzenlemek için tıklatın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lvl1pPr>
              <a:defRPr/>
            </a:lvl1pPr>
          </a:lstStyle>
          <a:p>
            <a:fld id="{D2393C2F-276E-45A2-A26D-280D43F4DEC0}" type="datetime1">
              <a:rPr lang="tr-TR" smtClean="0"/>
              <a:pPr/>
              <a:t>22.09.2026</a:t>
            </a:fld>
            <a:endParaRPr lang="tr-TR"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591C5AD9-787D-40FA-8A4D-16A055B9AF81}" type="slidenum">
              <a:rPr lang="tr-TR" noProof="0" smtClean="0"/>
              <a:t>‹#›</a:t>
            </a:fld>
            <a:endParaRPr lang="tr-TR" noProof="0" dirty="0"/>
          </a:p>
        </p:txBody>
      </p:sp>
    </p:spTree>
    <p:extLst>
      <p:ext uri="{BB962C8B-B14F-4D97-AF65-F5344CB8AC3E}">
        <p14:creationId xmlns:p14="http://schemas.microsoft.com/office/powerpoint/2010/main" val="1010434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9852633" y="274638"/>
            <a:ext cx="1422030" cy="5897561"/>
          </a:xfrm>
        </p:spPr>
        <p:txBody>
          <a:bodyPr vert="eaVert" rtlCol="0"/>
          <a:lstStyle>
            <a:lvl1pPr rtl="0">
              <a:defRPr/>
            </a:lvl1pPr>
          </a:lstStyle>
          <a:p>
            <a:pPr rtl="0"/>
            <a:r>
              <a:rPr lang="tr-TR" noProof="0"/>
              <a:t>Asıl başlık stili için tıklatın</a:t>
            </a:r>
            <a:endParaRPr lang="tr-TR" noProof="0" dirty="0"/>
          </a:p>
        </p:txBody>
      </p:sp>
      <p:sp>
        <p:nvSpPr>
          <p:cNvPr id="3" name="Dikey Metin Yer Tutucusu 2"/>
          <p:cNvSpPr>
            <a:spLocks noGrp="1"/>
          </p:cNvSpPr>
          <p:nvPr>
            <p:ph type="body" orient="vert" idx="1"/>
          </p:nvPr>
        </p:nvSpPr>
        <p:spPr>
          <a:xfrm>
            <a:off x="1117309" y="274638"/>
            <a:ext cx="8532178" cy="5897561"/>
          </a:xfrm>
        </p:spPr>
        <p:txBody>
          <a:bodyPr vert="eaVert" rtlCol="0"/>
          <a:lstStyle/>
          <a:p>
            <a:pPr lvl="0" rtl="0"/>
            <a:r>
              <a:rPr lang="tr-TR" noProof="0"/>
              <a:t>Asıl metin stillerini düzenlemek için tıklatın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lvl1pPr>
              <a:defRPr/>
            </a:lvl1pPr>
          </a:lstStyle>
          <a:p>
            <a:fld id="{6EE73423-0FCB-43D8-A89E-348919C940EF}" type="datetime1">
              <a:rPr lang="tr-TR" smtClean="0"/>
              <a:pPr/>
              <a:t>22.09.2026</a:t>
            </a:fld>
            <a:endParaRPr lang="tr-TR"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591C5AD9-787D-40FA-8A4D-16A055B9AF81}" type="slidenum">
              <a:rPr lang="tr-TR" noProof="0" smtClean="0"/>
              <a:t>‹#›</a:t>
            </a:fld>
            <a:endParaRPr lang="tr-TR" noProof="0" dirty="0"/>
          </a:p>
        </p:txBody>
      </p:sp>
    </p:spTree>
    <p:extLst>
      <p:ext uri="{BB962C8B-B14F-4D97-AF65-F5344CB8AC3E}">
        <p14:creationId xmlns:p14="http://schemas.microsoft.com/office/powerpoint/2010/main" val="365071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9" name="Dikdörtgen 8"/>
          <p:cNvSpPr/>
          <p:nvPr/>
        </p:nvSpPr>
        <p:spPr>
          <a:xfrm>
            <a:off x="304721" y="0"/>
            <a:ext cx="11579384"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tr-TR" noProof="0" dirty="0"/>
          </a:p>
        </p:txBody>
      </p:sp>
      <p:sp>
        <p:nvSpPr>
          <p:cNvPr id="2" name="Başlık Yer Tutucusu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pPr rtl="0"/>
            <a:r>
              <a:rPr lang="tr-TR" noProof="0" dirty="0"/>
              <a:t>Asıl başlık stili için tıklatın</a:t>
            </a:r>
          </a:p>
        </p:txBody>
      </p:sp>
      <p:sp>
        <p:nvSpPr>
          <p:cNvPr id="3" name="Metin Yer Tutucusu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4" name="Tarih Yer Tutucusu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rtl="0">
              <a:defRPr sz="1200">
                <a:solidFill>
                  <a:schemeClr val="tx2">
                    <a:lumMod val="50000"/>
                    <a:lumOff val="50000"/>
                  </a:schemeClr>
                </a:solidFill>
              </a:defRPr>
            </a:lvl1pPr>
          </a:lstStyle>
          <a:p>
            <a:fld id="{4E217E46-B403-4530-8B5B-57B5C1217BD3}" type="datetime1">
              <a:rPr lang="tr-TR" smtClean="0"/>
              <a:pPr/>
              <a:t>22.09.2026</a:t>
            </a:fld>
            <a:endParaRPr lang="tr-TR" dirty="0"/>
          </a:p>
        </p:txBody>
      </p:sp>
      <p:sp>
        <p:nvSpPr>
          <p:cNvPr id="5" name="Alt Bilgi Yer Tutucusu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rtl="0">
              <a:defRPr sz="1200">
                <a:solidFill>
                  <a:schemeClr val="tx2">
                    <a:lumMod val="50000"/>
                    <a:lumOff val="50000"/>
                  </a:schemeClr>
                </a:solidFill>
              </a:defRPr>
            </a:lvl1pPr>
          </a:lstStyle>
          <a:p>
            <a:pPr rtl="0"/>
            <a:endParaRPr lang="tr-TR" noProof="0" dirty="0"/>
          </a:p>
        </p:txBody>
      </p:sp>
      <p:sp>
        <p:nvSpPr>
          <p:cNvPr id="6" name="Slayt Numarası Yer Tutucusu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rtl="0">
              <a:defRPr sz="1200">
                <a:solidFill>
                  <a:schemeClr val="tx2">
                    <a:lumMod val="50000"/>
                    <a:lumOff val="50000"/>
                  </a:schemeClr>
                </a:solidFill>
              </a:defRPr>
            </a:lvl1pPr>
          </a:lstStyle>
          <a:p>
            <a:fld id="{EB37DED6-D4C7-42EE-AB49-D2E39E64FDE4}" type="slidenum">
              <a:rPr lang="tr-TR" smtClean="0"/>
              <a:pPr/>
              <a:t>‹#›</a:t>
            </a:fld>
            <a:endParaRPr lang="tr-TR" dirty="0"/>
          </a:p>
        </p:txBody>
      </p:sp>
    </p:spTree>
    <p:extLst>
      <p:ext uri="{BB962C8B-B14F-4D97-AF65-F5344CB8AC3E}">
        <p14:creationId xmlns:p14="http://schemas.microsoft.com/office/powerpoint/2010/main" val="1544047913"/>
      </p:ext>
    </p:extLst>
  </p:cSld>
  <p:clrMap bg1="lt1" tx1="dk1" bg2="lt2" tx2="dk2" accent1="accent1" accent2="accent2" accent3="accent3" accent4="accent4" accent5="accent5" accent6="accent6" hlink="hlink" folHlink="folHlink"/>
  <p:sldLayoutIdLst>
    <p:sldLayoutId id="2147483661" r:id="rId1"/>
    <p:sldLayoutId id="2147483679" r:id="rId2"/>
    <p:sldLayoutId id="2147483663" r:id="rId3"/>
    <p:sldLayoutId id="2147483664" r:id="rId4"/>
    <p:sldLayoutId id="2147483665" r:id="rId5"/>
    <p:sldLayoutId id="2147483666" r:id="rId6"/>
    <p:sldLayoutId id="2147483667" r:id="rId7"/>
    <p:sldLayoutId id="2147483675" r:id="rId8"/>
    <p:sldLayoutId id="2147483676" r:id="rId9"/>
    <p:sldLayoutId id="2147483677" r:id="rId10"/>
    <p:sldLayoutId id="214748367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85000"/>
        </a:lnSpc>
        <a:spcBef>
          <a:spcPct val="0"/>
        </a:spcBef>
        <a:buNone/>
        <a:tabLst/>
        <a:defRPr sz="4400" kern="1200" cap="none" baseline="0">
          <a:solidFill>
            <a:schemeClr val="tx1"/>
          </a:solidFill>
          <a:latin typeface="+mj-lt"/>
          <a:ea typeface="+mj-ea"/>
          <a:cs typeface="+mj-cs"/>
        </a:defRPr>
      </a:lvl1pPr>
    </p:titleStyle>
    <p:bodyStyle>
      <a:lvl1pPr marL="304747" indent="-304747" algn="l" defTabSz="1218987" rtl="0" eaLnBrk="1" latinLnBrk="0" hangingPunct="1">
        <a:lnSpc>
          <a:spcPct val="95000"/>
        </a:lnSpc>
        <a:spcBef>
          <a:spcPts val="1866"/>
        </a:spcBef>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5pPr>
      <a:lvl6pPr marL="2437973"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6pPr>
      <a:lvl7pPr marL="286461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7pPr>
      <a:lvl8pPr marL="3291264"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8pPr>
      <a:lvl9pPr marL="377885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131_A97705C9.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mailto:ogrenciydyo@uludag.edu.tr"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3217904" y="980728"/>
            <a:ext cx="8970921" cy="3298551"/>
          </a:xfrm>
        </p:spPr>
        <p:txBody>
          <a:bodyPr rtlCol="0">
            <a:normAutofit fontScale="90000"/>
          </a:bodyPr>
          <a:lstStyle/>
          <a:p>
            <a:pPr algn="ctr" rtl="0"/>
            <a:br>
              <a:rPr lang="tr-TR" b="1" dirty="0"/>
            </a:br>
            <a:br>
              <a:rPr lang="tr-TR" b="1" dirty="0"/>
            </a:br>
            <a:r>
              <a:rPr lang="tr-TR" b="1" dirty="0">
                <a:latin typeface="Britannic Bold" panose="020B0903060703020204" pitchFamily="34" charset="0"/>
              </a:rPr>
              <a:t>BURSA ULUDAĞ ÜNİVERSİTESİ</a:t>
            </a:r>
            <a:br>
              <a:rPr lang="tr-TR" b="1" dirty="0"/>
            </a:br>
            <a:endParaRPr lang="en-US" b="1" dirty="0"/>
          </a:p>
        </p:txBody>
      </p:sp>
      <p:sp>
        <p:nvSpPr>
          <p:cNvPr id="3" name="Alt Başlık 2"/>
          <p:cNvSpPr>
            <a:spLocks noGrp="1"/>
          </p:cNvSpPr>
          <p:nvPr>
            <p:ph type="subTitle" idx="1"/>
          </p:nvPr>
        </p:nvSpPr>
        <p:spPr>
          <a:xfrm>
            <a:off x="4199076" y="4221088"/>
            <a:ext cx="7151919" cy="1008112"/>
          </a:xfrm>
        </p:spPr>
        <p:txBody>
          <a:bodyPr rtlCol="0"/>
          <a:lstStyle/>
          <a:p>
            <a:pPr algn="ctr" rtl="0"/>
            <a:endParaRPr lang="tr-TR" dirty="0"/>
          </a:p>
          <a:p>
            <a:pPr algn="ctr" rtl="0"/>
            <a:r>
              <a:rPr lang="tr-TR" dirty="0"/>
              <a:t>YABANCI DİLLER YÜKSEKOKULU </a:t>
            </a:r>
            <a:endParaRPr lang="en-US" dirty="0"/>
          </a:p>
        </p:txBody>
      </p:sp>
      <p:pic>
        <p:nvPicPr>
          <p:cNvPr id="6" name="Resim 5">
            <a:extLst>
              <a:ext uri="{FF2B5EF4-FFF2-40B4-BE49-F238E27FC236}">
                <a16:creationId xmlns:a16="http://schemas.microsoft.com/office/drawing/2014/main" id="{5F71F31B-08E1-4454-A51A-F082DD5C6C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4412" y="404664"/>
            <a:ext cx="1957487" cy="1957487"/>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5034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8E08CB14-BC58-D894-3DD6-F8D05EE02CC6}"/>
              </a:ext>
            </a:extLst>
          </p:cNvPr>
          <p:cNvSpPr>
            <a:spLocks noGrp="1"/>
          </p:cNvSpPr>
          <p:nvPr>
            <p:ph type="title"/>
          </p:nvPr>
        </p:nvSpPr>
        <p:spPr>
          <a:xfrm>
            <a:off x="1117309" y="76200"/>
            <a:ext cx="10157354" cy="1397000"/>
          </a:xfrm>
        </p:spPr>
        <p:txBody>
          <a:bodyPr/>
          <a:lstStyle/>
          <a:p>
            <a:r>
              <a:rPr lang="tr-TR" dirty="0"/>
              <a:t>Müdürün Mesajı</a:t>
            </a:r>
            <a:endParaRPr lang="en-US" dirty="0"/>
          </a:p>
        </p:txBody>
      </p:sp>
      <p:sp>
        <p:nvSpPr>
          <p:cNvPr id="14" name="İçerik Yer Tutucusu 13"/>
          <p:cNvSpPr>
            <a:spLocks noGrp="1"/>
          </p:cNvSpPr>
          <p:nvPr>
            <p:ph sz="half" idx="1"/>
          </p:nvPr>
        </p:nvSpPr>
        <p:spPr>
          <a:xfrm>
            <a:off x="765820" y="1844824"/>
            <a:ext cx="6382899" cy="4470400"/>
          </a:xfrm>
        </p:spPr>
        <p:txBody>
          <a:bodyPr rtlCol="0">
            <a:normAutofit/>
          </a:bodyPr>
          <a:lstStyle/>
          <a:p>
            <a:pPr marL="0" indent="0">
              <a:buNone/>
            </a:pPr>
            <a:r>
              <a:rPr lang="tr-TR" sz="1500" b="1" dirty="0"/>
              <a:t>Sevgili öğrenciler;</a:t>
            </a:r>
          </a:p>
          <a:p>
            <a:pPr marL="0" indent="0">
              <a:buNone/>
            </a:pPr>
            <a:r>
              <a:rPr lang="tr-TR" sz="1500" b="1" dirty="0"/>
              <a:t>Ülkemizin değerli üniversitelerinden Bursa Uludağ Üniversitesi’ne kayıt yaptırmaya hak kazandığınız için sizleri tebrik eder, Yabancı Diller Yüksekokulu’ndaki bu süreci en etkin ve yararlı bir şekilde geçirip yabancı dilini aktif kullanabilen bireyler olarak fakültelerinize geçmenizi temenni ederim.</a:t>
            </a:r>
          </a:p>
          <a:p>
            <a:pPr marL="0" indent="0">
              <a:buNone/>
            </a:pPr>
            <a:r>
              <a:rPr lang="tr-TR" sz="1500" b="1" dirty="0"/>
              <a:t>Size başarı dolu bir üniversite yaşamı diliyorum.</a:t>
            </a:r>
          </a:p>
          <a:p>
            <a:pPr marL="0" indent="0">
              <a:buNone/>
            </a:pPr>
            <a:r>
              <a:rPr lang="tr-TR" sz="1500" dirty="0"/>
              <a:t>				</a:t>
            </a:r>
          </a:p>
          <a:p>
            <a:pPr marL="0" indent="0">
              <a:buNone/>
            </a:pPr>
            <a:r>
              <a:rPr lang="tr-TR" sz="1500" dirty="0"/>
              <a:t>                                                                  </a:t>
            </a:r>
            <a:r>
              <a:rPr lang="tr-TR" sz="1500" b="1" dirty="0"/>
              <a:t>Prof. Dr. İsmail Güler</a:t>
            </a:r>
          </a:p>
          <a:p>
            <a:pPr marL="0" indent="0">
              <a:buNone/>
            </a:pPr>
            <a:r>
              <a:rPr lang="tr-TR" sz="1500" b="1" dirty="0"/>
              <a:t>	                           Yabancı Diller Yüksekokulu Müdürü</a:t>
            </a:r>
          </a:p>
          <a:p>
            <a:pPr rtl="0"/>
            <a:endParaRPr lang="tr-TR" sz="1500" dirty="0"/>
          </a:p>
        </p:txBody>
      </p:sp>
      <p:pic>
        <p:nvPicPr>
          <p:cNvPr id="2" name="Resim 1"/>
          <p:cNvPicPr>
            <a:picLocks noChangeAspect="1"/>
          </p:cNvPicPr>
          <p:nvPr/>
        </p:nvPicPr>
        <p:blipFill rotWithShape="1">
          <a:blip r:embed="rId2"/>
          <a:srcRect l="9165" r="5664" b="-1"/>
          <a:stretch/>
        </p:blipFill>
        <p:spPr>
          <a:xfrm>
            <a:off x="7418832" y="1844824"/>
            <a:ext cx="3855831" cy="3463280"/>
          </a:xfrm>
          <a:prstGeom prst="rect">
            <a:avLst/>
          </a:prstGeom>
          <a:noFill/>
        </p:spPr>
      </p:pic>
    </p:spTree>
    <p:extLst>
      <p:ext uri="{BB962C8B-B14F-4D97-AF65-F5344CB8AC3E}">
        <p14:creationId xmlns:p14="http://schemas.microsoft.com/office/powerpoint/2010/main" val="7111829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1144901" y="99983"/>
            <a:ext cx="10157354" cy="664721"/>
          </a:xfrm>
        </p:spPr>
        <p:txBody>
          <a:bodyPr rtlCol="0">
            <a:noAutofit/>
          </a:bodyPr>
          <a:lstStyle/>
          <a:p>
            <a:pPr algn="ctr"/>
            <a:r>
              <a:rPr lang="tr-TR" sz="3600" b="1" dirty="0"/>
              <a:t>Eğitim Felsefemiz</a:t>
            </a:r>
            <a:endParaRPr lang="en-US" sz="3600" b="1" dirty="0"/>
          </a:p>
        </p:txBody>
      </p:sp>
      <p:pic>
        <p:nvPicPr>
          <p:cNvPr id="4" name="İçerik Yer Tutucusu 3"/>
          <p:cNvPicPr>
            <a:picLocks noGrp="1" noChangeAspect="1"/>
          </p:cNvPicPr>
          <p:nvPr>
            <p:ph idx="1"/>
          </p:nvPr>
        </p:nvPicPr>
        <p:blipFill>
          <a:blip r:embed="rId2"/>
          <a:stretch>
            <a:fillRect/>
          </a:stretch>
        </p:blipFill>
        <p:spPr>
          <a:xfrm>
            <a:off x="1756794" y="3892996"/>
            <a:ext cx="3384376" cy="2789698"/>
          </a:xfrm>
          <a:prstGeom prst="rect">
            <a:avLst/>
          </a:prstGeom>
        </p:spPr>
      </p:pic>
      <p:sp>
        <p:nvSpPr>
          <p:cNvPr id="5" name="Metin kutusu 4">
            <a:extLst>
              <a:ext uri="{FF2B5EF4-FFF2-40B4-BE49-F238E27FC236}">
                <a16:creationId xmlns:a16="http://schemas.microsoft.com/office/drawing/2014/main" id="{3A758C43-26B3-ED69-5A96-25A1EBF4CC89}"/>
              </a:ext>
            </a:extLst>
          </p:cNvPr>
          <p:cNvSpPr txBox="1"/>
          <p:nvPr/>
        </p:nvSpPr>
        <p:spPr>
          <a:xfrm>
            <a:off x="287971" y="870320"/>
            <a:ext cx="11299725" cy="3139321"/>
          </a:xfrm>
          <a:prstGeom prst="rect">
            <a:avLst/>
          </a:prstGeom>
          <a:noFill/>
        </p:spPr>
        <p:txBody>
          <a:bodyPr wrap="square">
            <a:spAutoFit/>
          </a:bodyPr>
          <a:lstStyle/>
          <a:p>
            <a:pPr marL="0" indent="0">
              <a:buNone/>
            </a:pPr>
            <a:r>
              <a:rPr lang="tr-TR" sz="1800" b="1" dirty="0"/>
              <a:t>Eğitim felsefemiz iki ana temel unsurdan oluşmaktadır:</a:t>
            </a:r>
          </a:p>
          <a:p>
            <a:pPr marL="0" indent="0" algn="just">
              <a:buNone/>
            </a:pPr>
            <a:endParaRPr lang="tr-TR" sz="1800" dirty="0"/>
          </a:p>
          <a:p>
            <a:pPr marL="457200" indent="-457200" algn="just">
              <a:buAutoNum type="arabicPeriod"/>
            </a:pPr>
            <a:r>
              <a:rPr lang="it-IT" sz="1800" dirty="0"/>
              <a:t>Avrupa Dilleri Ortak Çerçeve Programı</a:t>
            </a:r>
            <a:r>
              <a:rPr lang="tr-TR" sz="1800" dirty="0" err="1"/>
              <a:t>nda</a:t>
            </a:r>
            <a:r>
              <a:rPr lang="tr-TR" sz="1800" dirty="0"/>
              <a:t> tanımlanan eylem odaklı yaklaşım: Bu yaklaşım doğrultusunda kurumumuzda başarılı olarak tanımlanan öğrenci; Yabancı dilde bilgi alışverişinde bulunabilen ve işbirlikçi görevleri yerine getiren; genel ve iletişimsel dil yeterliliklerini geliştirmiş; ve yabancı dilde çeşitli görevleri yerine getirmek için uygun stratejileri kullanabilen öğrenci olarak tanımlanır. </a:t>
            </a:r>
          </a:p>
          <a:p>
            <a:pPr marL="457200" indent="-457200" algn="just">
              <a:buAutoNum type="arabicPeriod"/>
            </a:pPr>
            <a:r>
              <a:rPr lang="tr-TR" sz="1800" dirty="0"/>
              <a:t>21. Yüzyıl becerileri: Kurumumuzda başarılı olarak tanımlanan öğrenci kendi öğreniminin sorumluluğunu üstlenir ve dil öğrenmenin, 21. yüzyıl becerilerini (zaman odaklı, ürün odaklı vb.) kullanmayı ve sınıf dışında öğrenmeyi gerektiren ömür boyu süren bir süreç olduğunun farkındadır.</a:t>
            </a:r>
          </a:p>
        </p:txBody>
      </p:sp>
      <p:pic>
        <p:nvPicPr>
          <p:cNvPr id="6" name="Resim 5">
            <a:extLst>
              <a:ext uri="{FF2B5EF4-FFF2-40B4-BE49-F238E27FC236}">
                <a16:creationId xmlns:a16="http://schemas.microsoft.com/office/drawing/2014/main" id="{33AB57DE-D0F4-23DF-627C-287D3CA0A18C}"/>
              </a:ext>
            </a:extLst>
          </p:cNvPr>
          <p:cNvPicPr>
            <a:picLocks noChangeAspect="1"/>
          </p:cNvPicPr>
          <p:nvPr/>
        </p:nvPicPr>
        <p:blipFill>
          <a:blip r:embed="rId3"/>
          <a:stretch>
            <a:fillRect/>
          </a:stretch>
        </p:blipFill>
        <p:spPr>
          <a:xfrm>
            <a:off x="6094414" y="3817675"/>
            <a:ext cx="5806440" cy="2940341"/>
          </a:xfrm>
          <a:prstGeom prst="rect">
            <a:avLst/>
          </a:prstGeom>
        </p:spPr>
      </p:pic>
      <p:sp>
        <p:nvSpPr>
          <p:cNvPr id="7" name="Artı 6">
            <a:extLst>
              <a:ext uri="{FF2B5EF4-FFF2-40B4-BE49-F238E27FC236}">
                <a16:creationId xmlns:a16="http://schemas.microsoft.com/office/drawing/2014/main" id="{136D7D38-2D73-7F57-E05E-EBEE15DC357E}"/>
              </a:ext>
            </a:extLst>
          </p:cNvPr>
          <p:cNvSpPr/>
          <p:nvPr/>
        </p:nvSpPr>
        <p:spPr>
          <a:xfrm>
            <a:off x="5333557" y="4941168"/>
            <a:ext cx="568469" cy="576064"/>
          </a:xfrm>
          <a:prstGeom prst="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8" name="Resim 7">
            <a:extLst>
              <a:ext uri="{FF2B5EF4-FFF2-40B4-BE49-F238E27FC236}">
                <a16:creationId xmlns:a16="http://schemas.microsoft.com/office/drawing/2014/main" id="{1BF23DF2-8836-C150-7023-4790128E085E}"/>
              </a:ext>
            </a:extLst>
          </p:cNvPr>
          <p:cNvPicPr>
            <a:picLocks noChangeAspect="1"/>
          </p:cNvPicPr>
          <p:nvPr/>
        </p:nvPicPr>
        <p:blipFill>
          <a:blip r:embed="rId4"/>
          <a:stretch>
            <a:fillRect/>
          </a:stretch>
        </p:blipFill>
        <p:spPr>
          <a:xfrm>
            <a:off x="9118748" y="148142"/>
            <a:ext cx="2513734" cy="1296144"/>
          </a:xfrm>
          <a:prstGeom prst="rect">
            <a:avLst/>
          </a:prstGeom>
        </p:spPr>
      </p:pic>
    </p:spTree>
    <p:extLst>
      <p:ext uri="{BB962C8B-B14F-4D97-AF65-F5344CB8AC3E}">
        <p14:creationId xmlns:p14="http://schemas.microsoft.com/office/powerpoint/2010/main" val="2474917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1B6E061-B71F-4B63-94B9-2D5DF5A46143}"/>
              </a:ext>
            </a:extLst>
          </p:cNvPr>
          <p:cNvSpPr>
            <a:spLocks noGrp="1"/>
          </p:cNvSpPr>
          <p:nvPr>
            <p:ph type="title"/>
          </p:nvPr>
        </p:nvSpPr>
        <p:spPr>
          <a:xfrm>
            <a:off x="1117308" y="76200"/>
            <a:ext cx="10233688" cy="1624608"/>
          </a:xfrm>
        </p:spPr>
        <p:txBody>
          <a:bodyPr anchor="b">
            <a:normAutofit/>
          </a:bodyPr>
          <a:lstStyle/>
          <a:p>
            <a:pPr algn="ctr"/>
            <a:r>
              <a:rPr lang="tr-TR" sz="3600" b="1" dirty="0"/>
              <a:t>OKULUMUZ YABANCI DİL EĞİTİMİ 2022 YILINDA EAQUALS TARAFINDAN AKREDİTE EDİLMİŞTİR</a:t>
            </a:r>
            <a:r>
              <a:rPr lang="tr-TR" b="1" dirty="0"/>
              <a:t>.   </a:t>
            </a:r>
          </a:p>
        </p:txBody>
      </p:sp>
      <p:sp>
        <p:nvSpPr>
          <p:cNvPr id="3" name="İçerik Yer Tutucusu 2">
            <a:extLst>
              <a:ext uri="{FF2B5EF4-FFF2-40B4-BE49-F238E27FC236}">
                <a16:creationId xmlns:a16="http://schemas.microsoft.com/office/drawing/2014/main" id="{F0B98526-A611-4810-9458-F7A573209578}"/>
              </a:ext>
            </a:extLst>
          </p:cNvPr>
          <p:cNvSpPr>
            <a:spLocks noGrp="1"/>
          </p:cNvSpPr>
          <p:nvPr>
            <p:ph sz="half" idx="2"/>
          </p:nvPr>
        </p:nvSpPr>
        <p:spPr>
          <a:xfrm>
            <a:off x="477788" y="2132857"/>
            <a:ext cx="6048672" cy="4039344"/>
          </a:xfrm>
        </p:spPr>
        <p:txBody>
          <a:bodyPr>
            <a:normAutofit lnSpcReduction="10000"/>
          </a:bodyPr>
          <a:lstStyle/>
          <a:p>
            <a:pPr marL="0" indent="0">
              <a:buNone/>
            </a:pPr>
            <a:r>
              <a:rPr lang="tr-TR" sz="1800" b="1" dirty="0"/>
              <a:t>EAQUALS, 1991’de kurulmuş dil eğitiminde mükemmelliği teşvik etmek için var olan ve kâr amacı gütmeyen uluslararası bir üyelik birliğidir ve Avrupa Birliğinin dil politikalarının gelişimine katkı sağlamaktadır.</a:t>
            </a:r>
          </a:p>
          <a:p>
            <a:pPr marL="0" indent="0">
              <a:buNone/>
            </a:pPr>
            <a:r>
              <a:rPr lang="tr-TR" sz="1800" b="1" dirty="0"/>
              <a:t>Yabancı dil okullarını akredite etmenin yanında misyonu doğrultusunda yabancı dil eğitiminde kaliteyi dünya çapında artırmayı hedefleyen EAQUALS, kurumların ve bireylerin gelişimi için müfredat, ölçme değerlendirme, mesleki gelişim gibi alanlarda danışmanlık ve eğitim hizmetleri de sunmaktadır. </a:t>
            </a:r>
          </a:p>
          <a:p>
            <a:pPr marL="0" indent="0">
              <a:buNone/>
            </a:pPr>
            <a:r>
              <a:rPr lang="tr-TR" sz="1800" b="1" dirty="0"/>
              <a:t>Bu akreditasyon, öğrencilerimize mezun oldukları okul olarak prestij sağlamaktadır.</a:t>
            </a:r>
          </a:p>
        </p:txBody>
      </p:sp>
      <p:pic>
        <p:nvPicPr>
          <p:cNvPr id="5" name="İçerik Yer Tutucusu 4">
            <a:extLst>
              <a:ext uri="{FF2B5EF4-FFF2-40B4-BE49-F238E27FC236}">
                <a16:creationId xmlns:a16="http://schemas.microsoft.com/office/drawing/2014/main" id="{521434E3-B7FC-406D-A836-0ADC0250C5A5}"/>
              </a:ext>
            </a:extLst>
          </p:cNvPr>
          <p:cNvPicPr>
            <a:picLocks noGrp="1" noChangeAspect="1"/>
          </p:cNvPicPr>
          <p:nvPr>
            <p:ph sz="quarter" idx="4"/>
          </p:nvPr>
        </p:nvPicPr>
        <p:blipFill>
          <a:blip r:embed="rId3"/>
          <a:stretch>
            <a:fillRect/>
          </a:stretch>
        </p:blipFill>
        <p:spPr>
          <a:xfrm>
            <a:off x="6733933" y="2420888"/>
            <a:ext cx="4977104" cy="2500994"/>
          </a:xfrm>
          <a:prstGeom prst="rect">
            <a:avLst/>
          </a:prstGeom>
          <a:noFill/>
        </p:spPr>
      </p:pic>
    </p:spTree>
    <p:extLst>
      <p:ext uri="{BB962C8B-B14F-4D97-AF65-F5344CB8AC3E}">
        <p14:creationId xmlns:p14="http://schemas.microsoft.com/office/powerpoint/2010/main" val="2843149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1">
            <a:extLst>
              <a:ext uri="{FF2B5EF4-FFF2-40B4-BE49-F238E27FC236}">
                <a16:creationId xmlns:a16="http://schemas.microsoft.com/office/drawing/2014/main" id="{E06C0F40-E806-ACA9-C404-5E360FE10234}"/>
              </a:ext>
            </a:extLst>
          </p:cNvPr>
          <p:cNvSpPr>
            <a:spLocks noGrp="1"/>
          </p:cNvSpPr>
          <p:nvPr>
            <p:ph type="title"/>
          </p:nvPr>
        </p:nvSpPr>
        <p:spPr>
          <a:xfrm>
            <a:off x="1117309" y="76200"/>
            <a:ext cx="10157354" cy="1397000"/>
          </a:xfrm>
        </p:spPr>
        <p:txBody>
          <a:bodyPr rtlCol="0">
            <a:normAutofit/>
          </a:bodyPr>
          <a:lstStyle/>
          <a:p>
            <a:pPr algn="ctr" rtl="0"/>
            <a:r>
              <a:rPr lang="tr-TR" sz="3600" b="1" dirty="0"/>
              <a:t>AKADEMİK TAKVİM</a:t>
            </a:r>
            <a:endParaRPr lang="tr-TR" sz="3600" b="1" dirty="0">
              <a:latin typeface="Century Gothic" panose="020B0502020202020204" pitchFamily="34" charset="0"/>
            </a:endParaRPr>
          </a:p>
        </p:txBody>
      </p:sp>
      <p:sp>
        <p:nvSpPr>
          <p:cNvPr id="6" name="İçerik Yer Tutucusu 4">
            <a:extLst>
              <a:ext uri="{FF2B5EF4-FFF2-40B4-BE49-F238E27FC236}">
                <a16:creationId xmlns:a16="http://schemas.microsoft.com/office/drawing/2014/main" id="{A2EC3D85-BDE6-0D62-36A2-0AB572D3AB96}"/>
              </a:ext>
            </a:extLst>
          </p:cNvPr>
          <p:cNvSpPr txBox="1">
            <a:spLocks/>
          </p:cNvSpPr>
          <p:nvPr/>
        </p:nvSpPr>
        <p:spPr>
          <a:xfrm>
            <a:off x="981844" y="1701800"/>
            <a:ext cx="10441160" cy="4751536"/>
          </a:xfrm>
          <a:prstGeom prst="rect">
            <a:avLst/>
          </a:prstGeom>
        </p:spPr>
        <p:txBody>
          <a:bodyPr vert="horz" lIns="121899" tIns="60949" rIns="121899" bIns="60949" rtlCol="0" anchor="t">
            <a:normAutofit lnSpcReduction="10000"/>
          </a:bodyPr>
          <a:lstStyle>
            <a:lvl1pPr marL="0" indent="0" algn="l" defTabSz="1218987" rtl="0" eaLnBrk="1" latinLnBrk="0" hangingPunct="1">
              <a:lnSpc>
                <a:spcPct val="95000"/>
              </a:lnSpc>
              <a:spcBef>
                <a:spcPts val="1866"/>
              </a:spcBef>
              <a:buSzPct val="100000"/>
              <a:buFont typeface="Arial" pitchFamily="34" charset="0"/>
              <a:buNone/>
              <a:defRPr sz="2800" kern="1200">
                <a:solidFill>
                  <a:schemeClr val="tx1"/>
                </a:solidFill>
                <a:latin typeface="+mn-lt"/>
                <a:ea typeface="+mn-ea"/>
                <a:cs typeface="+mn-cs"/>
              </a:defRPr>
            </a:lvl1pPr>
            <a:lvl2pPr marL="609493" indent="0" algn="l" defTabSz="1218987" rtl="0" eaLnBrk="1" latinLnBrk="0" hangingPunct="1">
              <a:lnSpc>
                <a:spcPct val="95000"/>
              </a:lnSpc>
              <a:spcBef>
                <a:spcPts val="1066"/>
              </a:spcBef>
              <a:buSzPct val="100000"/>
              <a:buFont typeface="Century Gothic" pitchFamily="34" charset="0"/>
              <a:buNone/>
              <a:defRPr sz="3700" kern="1200">
                <a:solidFill>
                  <a:schemeClr val="tx1"/>
                </a:solidFill>
                <a:latin typeface="+mn-lt"/>
                <a:ea typeface="+mn-ea"/>
                <a:cs typeface="+mn-cs"/>
              </a:defRPr>
            </a:lvl2pPr>
            <a:lvl3pPr marL="1218987" indent="0" algn="l" defTabSz="1218987" rtl="0" eaLnBrk="1" latinLnBrk="0" hangingPunct="1">
              <a:lnSpc>
                <a:spcPct val="95000"/>
              </a:lnSpc>
              <a:spcBef>
                <a:spcPts val="1066"/>
              </a:spcBef>
              <a:buSzPct val="100000"/>
              <a:buFont typeface="Century Gothic" pitchFamily="34" charset="0"/>
              <a:buNone/>
              <a:defRPr sz="3200" kern="1200">
                <a:solidFill>
                  <a:schemeClr val="tx1"/>
                </a:solidFill>
                <a:latin typeface="+mn-lt"/>
                <a:ea typeface="+mn-ea"/>
                <a:cs typeface="+mn-cs"/>
              </a:defRPr>
            </a:lvl3pPr>
            <a:lvl4pPr marL="1828480" indent="0" algn="l" defTabSz="1218987" rtl="0" eaLnBrk="1" latinLnBrk="0" hangingPunct="1">
              <a:lnSpc>
                <a:spcPct val="95000"/>
              </a:lnSpc>
              <a:spcBef>
                <a:spcPts val="1066"/>
              </a:spcBef>
              <a:buSzPct val="100000"/>
              <a:buFont typeface="Century Gothic" pitchFamily="34" charset="0"/>
              <a:buNone/>
              <a:defRPr sz="2700" kern="1200">
                <a:solidFill>
                  <a:schemeClr val="tx1"/>
                </a:solidFill>
                <a:latin typeface="+mn-lt"/>
                <a:ea typeface="+mn-ea"/>
                <a:cs typeface="+mn-cs"/>
              </a:defRPr>
            </a:lvl4pPr>
            <a:lvl5pPr marL="2437973" indent="0" algn="l" defTabSz="1218987" rtl="0" eaLnBrk="1" latinLnBrk="0" hangingPunct="1">
              <a:lnSpc>
                <a:spcPct val="95000"/>
              </a:lnSpc>
              <a:spcBef>
                <a:spcPts val="1066"/>
              </a:spcBef>
              <a:buSzPct val="100000"/>
              <a:buFont typeface="Century Gothic" pitchFamily="34" charset="0"/>
              <a:buNone/>
              <a:defRPr sz="2700" kern="1200">
                <a:solidFill>
                  <a:schemeClr val="tx1"/>
                </a:solidFill>
                <a:latin typeface="+mn-lt"/>
                <a:ea typeface="+mn-ea"/>
                <a:cs typeface="+mn-cs"/>
              </a:defRPr>
            </a:lvl5pPr>
            <a:lvl6pPr marL="3047467" indent="0" algn="l" defTabSz="1218987" rtl="0" eaLnBrk="1" latinLnBrk="0" hangingPunct="1">
              <a:lnSpc>
                <a:spcPct val="95000"/>
              </a:lnSpc>
              <a:spcBef>
                <a:spcPts val="1066"/>
              </a:spcBef>
              <a:buSzPct val="90000"/>
              <a:buFont typeface="Century Gothic" pitchFamily="34" charset="0"/>
              <a:buNone/>
              <a:defRPr sz="2700" kern="1200">
                <a:solidFill>
                  <a:schemeClr val="tx1"/>
                </a:solidFill>
                <a:latin typeface="+mn-lt"/>
                <a:ea typeface="+mn-ea"/>
                <a:cs typeface="+mn-cs"/>
              </a:defRPr>
            </a:lvl6pPr>
            <a:lvl7pPr marL="3656960" indent="0" algn="l" defTabSz="1218987" rtl="0" eaLnBrk="1" latinLnBrk="0" hangingPunct="1">
              <a:lnSpc>
                <a:spcPct val="95000"/>
              </a:lnSpc>
              <a:spcBef>
                <a:spcPts val="1066"/>
              </a:spcBef>
              <a:buSzPct val="90000"/>
              <a:buFont typeface="Century Gothic" pitchFamily="34" charset="0"/>
              <a:buNone/>
              <a:defRPr sz="2700" kern="1200">
                <a:solidFill>
                  <a:schemeClr val="tx1"/>
                </a:solidFill>
                <a:latin typeface="+mn-lt"/>
                <a:ea typeface="+mn-ea"/>
                <a:cs typeface="+mn-cs"/>
              </a:defRPr>
            </a:lvl7pPr>
            <a:lvl8pPr marL="4266453" indent="0" algn="l" defTabSz="1218987" rtl="0" eaLnBrk="1" latinLnBrk="0" hangingPunct="1">
              <a:lnSpc>
                <a:spcPct val="95000"/>
              </a:lnSpc>
              <a:spcBef>
                <a:spcPts val="1066"/>
              </a:spcBef>
              <a:buSzPct val="90000"/>
              <a:buFont typeface="Century Gothic" pitchFamily="34" charset="0"/>
              <a:buNone/>
              <a:defRPr sz="2700" kern="1200">
                <a:solidFill>
                  <a:schemeClr val="tx1"/>
                </a:solidFill>
                <a:latin typeface="+mn-lt"/>
                <a:ea typeface="+mn-ea"/>
                <a:cs typeface="+mn-cs"/>
              </a:defRPr>
            </a:lvl8pPr>
            <a:lvl9pPr marL="4875947" indent="0" algn="l" defTabSz="1218987" rtl="0" eaLnBrk="1" latinLnBrk="0" hangingPunct="1">
              <a:lnSpc>
                <a:spcPct val="95000"/>
              </a:lnSpc>
              <a:spcBef>
                <a:spcPts val="1066"/>
              </a:spcBef>
              <a:buSzPct val="90000"/>
              <a:buFont typeface="Century Gothic" pitchFamily="34" charset="0"/>
              <a:buNone/>
              <a:defRPr sz="2700" kern="1200">
                <a:solidFill>
                  <a:schemeClr val="tx1"/>
                </a:solidFill>
                <a:latin typeface="+mn-lt"/>
                <a:ea typeface="+mn-ea"/>
                <a:cs typeface="+mn-cs"/>
              </a:defRPr>
            </a:lvl9pPr>
          </a:lstStyle>
          <a:p>
            <a:r>
              <a:rPr lang="tr-TR" b="1" dirty="0"/>
              <a:t>GÜZ YARIYILI</a:t>
            </a:r>
            <a:r>
              <a:rPr lang="tr-TR" dirty="0"/>
              <a:t>	</a:t>
            </a:r>
          </a:p>
          <a:p>
            <a:r>
              <a:rPr lang="tr-TR" dirty="0"/>
              <a:t>28 Eylül 202</a:t>
            </a:r>
            <a:r>
              <a:rPr lang="en-US" dirty="0"/>
              <a:t>6</a:t>
            </a:r>
            <a:r>
              <a:rPr lang="tr-TR" dirty="0"/>
              <a:t> Eğitim-Öğretimin (Derslerin) Başlaması</a:t>
            </a:r>
          </a:p>
          <a:p>
            <a:r>
              <a:rPr lang="tr-TR" dirty="0"/>
              <a:t>0</a:t>
            </a:r>
            <a:r>
              <a:rPr lang="en-US" dirty="0"/>
              <a:t>8</a:t>
            </a:r>
            <a:r>
              <a:rPr lang="tr-TR" dirty="0"/>
              <a:t> Ocak 202</a:t>
            </a:r>
            <a:r>
              <a:rPr lang="en-US" dirty="0"/>
              <a:t>7</a:t>
            </a:r>
            <a:r>
              <a:rPr lang="tr-TR" dirty="0"/>
              <a:t> Eğitim-Öğretimin (Derslerin) Sona Ermesi</a:t>
            </a:r>
          </a:p>
          <a:p>
            <a:r>
              <a:rPr lang="en-GB" dirty="0"/>
              <a:t>11 - 22 Ocak 2027 </a:t>
            </a:r>
            <a:r>
              <a:rPr lang="tr-TR" dirty="0"/>
              <a:t>(12 gün)Yarıyıl Sonu Sınavları </a:t>
            </a:r>
          </a:p>
          <a:p>
            <a:r>
              <a:rPr lang="en-GB" dirty="0"/>
              <a:t>25 Ocak 2027 - 31 Ocak 2027 </a:t>
            </a:r>
            <a:r>
              <a:rPr lang="tr-TR" dirty="0"/>
              <a:t>(7 gün) ARA</a:t>
            </a:r>
          </a:p>
          <a:p>
            <a:r>
              <a:rPr lang="en-GB" dirty="0"/>
              <a:t>01 </a:t>
            </a:r>
            <a:r>
              <a:rPr lang="en-GB" dirty="0" err="1"/>
              <a:t>Şubat</a:t>
            </a:r>
            <a:r>
              <a:rPr lang="en-GB" dirty="0"/>
              <a:t> 2027 - 06 </a:t>
            </a:r>
            <a:r>
              <a:rPr lang="en-GB" dirty="0" err="1"/>
              <a:t>Şubat</a:t>
            </a:r>
            <a:r>
              <a:rPr lang="en-GB" dirty="0"/>
              <a:t> 2027 </a:t>
            </a:r>
            <a:r>
              <a:rPr lang="tr-TR" dirty="0"/>
              <a:t>(6 gün) Bütünleme Sınavları</a:t>
            </a:r>
          </a:p>
          <a:p>
            <a:r>
              <a:rPr lang="tr-TR" dirty="0"/>
              <a:t>Akademik takvimin detaylarına Bursa Uludağ Üniversitesi web sayfasından ulaşabilirsiniz.</a:t>
            </a:r>
          </a:p>
          <a:p>
            <a:endParaRPr lang="tr-TR" dirty="0"/>
          </a:p>
        </p:txBody>
      </p:sp>
    </p:spTree>
    <p:extLst>
      <p:ext uri="{BB962C8B-B14F-4D97-AF65-F5344CB8AC3E}">
        <p14:creationId xmlns:p14="http://schemas.microsoft.com/office/powerpoint/2010/main" val="21134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Başlık 1">
            <a:extLst>
              <a:ext uri="{FF2B5EF4-FFF2-40B4-BE49-F238E27FC236}">
                <a16:creationId xmlns:a16="http://schemas.microsoft.com/office/drawing/2014/main" id="{AAFB34ED-740C-02DF-9C8A-C7FFA951AE3A}"/>
              </a:ext>
            </a:extLst>
          </p:cNvPr>
          <p:cNvSpPr txBox="1">
            <a:spLocks/>
          </p:cNvSpPr>
          <p:nvPr/>
        </p:nvSpPr>
        <p:spPr>
          <a:xfrm>
            <a:off x="989739" y="345641"/>
            <a:ext cx="10157354" cy="1397000"/>
          </a:xfrm>
          <a:prstGeom prst="rect">
            <a:avLst/>
          </a:prstGeom>
        </p:spPr>
        <p:txBody>
          <a:bodyPr vert="horz" lIns="121899" tIns="60949" rIns="121899" bIns="60949" rtlCol="0" anchor="b">
            <a:normAutofit/>
          </a:bodyPr>
          <a:lstStyle>
            <a:lvl1pPr algn="l" defTabSz="1218987" rtl="0" eaLnBrk="1" latinLnBrk="0" hangingPunct="1">
              <a:lnSpc>
                <a:spcPct val="85000"/>
              </a:lnSpc>
              <a:spcBef>
                <a:spcPct val="0"/>
              </a:spcBef>
              <a:buNone/>
              <a:tabLst/>
              <a:defRPr sz="4400" kern="1200" cap="none" baseline="0">
                <a:solidFill>
                  <a:schemeClr val="tx1"/>
                </a:solidFill>
                <a:latin typeface="+mj-lt"/>
                <a:ea typeface="+mj-ea"/>
                <a:cs typeface="+mj-cs"/>
              </a:defRPr>
            </a:lvl1pPr>
          </a:lstStyle>
          <a:p>
            <a:pPr algn="ctr"/>
            <a:r>
              <a:rPr lang="tr-TR" b="1" dirty="0"/>
              <a:t>DERSLER</a:t>
            </a:r>
          </a:p>
        </p:txBody>
      </p:sp>
      <p:sp>
        <p:nvSpPr>
          <p:cNvPr id="8" name="İçerik Yer Tutucusu 2">
            <a:extLst>
              <a:ext uri="{FF2B5EF4-FFF2-40B4-BE49-F238E27FC236}">
                <a16:creationId xmlns:a16="http://schemas.microsoft.com/office/drawing/2014/main" id="{DDCD9540-E5B8-96C5-20E0-4AE7E12B3AB6}"/>
              </a:ext>
            </a:extLst>
          </p:cNvPr>
          <p:cNvSpPr>
            <a:spLocks noGrp="1"/>
          </p:cNvSpPr>
          <p:nvPr>
            <p:ph idx="1"/>
          </p:nvPr>
        </p:nvSpPr>
        <p:spPr>
          <a:xfrm>
            <a:off x="1015735" y="1971650"/>
            <a:ext cx="10157354" cy="4381404"/>
          </a:xfrm>
        </p:spPr>
        <p:txBody>
          <a:bodyPr>
            <a:normAutofit/>
          </a:bodyPr>
          <a:lstStyle/>
          <a:p>
            <a:pPr>
              <a:lnSpc>
                <a:spcPct val="120000"/>
              </a:lnSpc>
              <a:spcBef>
                <a:spcPts val="300"/>
              </a:spcBef>
            </a:pPr>
            <a:r>
              <a:rPr lang="tr-TR" dirty="0"/>
              <a:t>Yabancı Dil dersi Güz döneminde Yabancı Dil (YAD105) adıyla haftada 4 ders saati olarak programlanmaktadır.</a:t>
            </a:r>
          </a:p>
          <a:p>
            <a:r>
              <a:rPr lang="tr-TR" dirty="0"/>
              <a:t>Derslerimiz, Senkron (Eşzamanlı) olarak </a:t>
            </a:r>
            <a:r>
              <a:rPr lang="en-US" dirty="0"/>
              <a:t>Microsoft Teams </a:t>
            </a:r>
            <a:r>
              <a:rPr lang="tr-TR" dirty="0"/>
              <a:t>üzerinden yapılacaktır.</a:t>
            </a:r>
          </a:p>
          <a:p>
            <a:pPr>
              <a:lnSpc>
                <a:spcPct val="120000"/>
              </a:lnSpc>
              <a:spcBef>
                <a:spcPts val="1200"/>
              </a:spcBef>
            </a:pPr>
            <a:r>
              <a:rPr lang="tr-TR" dirty="0"/>
              <a:t>Senkron (Eşzamanlı) derslere giriş için gerekli olan link, </a:t>
            </a:r>
            <a:r>
              <a:rPr lang="tr-TR" b="1" u="sng" dirty="0"/>
              <a:t>UKEY</a:t>
            </a:r>
            <a:r>
              <a:rPr lang="tr-TR" b="1" dirty="0"/>
              <a:t> </a:t>
            </a:r>
            <a:r>
              <a:rPr lang="tr-TR" dirty="0"/>
              <a:t>üzerinden sizlere ulaştırılmıştır.</a:t>
            </a:r>
            <a:r>
              <a:rPr lang="en-US" dirty="0"/>
              <a:t> </a:t>
            </a:r>
            <a:r>
              <a:rPr lang="en-US" dirty="0" err="1"/>
              <a:t>Ayrıca</a:t>
            </a:r>
            <a:r>
              <a:rPr lang="en-US" dirty="0"/>
              <a:t> </a:t>
            </a:r>
            <a:r>
              <a:rPr lang="en-US" dirty="0" err="1"/>
              <a:t>bu</a:t>
            </a:r>
            <a:r>
              <a:rPr lang="en-US" dirty="0"/>
              <a:t> link “Ders </a:t>
            </a:r>
            <a:r>
              <a:rPr lang="en-US" dirty="0" err="1"/>
              <a:t>materyalleri</a:t>
            </a:r>
            <a:r>
              <a:rPr lang="en-US" dirty="0"/>
              <a:t>” </a:t>
            </a:r>
            <a:r>
              <a:rPr lang="en-US" dirty="0" err="1"/>
              <a:t>sekmesinde</a:t>
            </a:r>
            <a:r>
              <a:rPr lang="en-US" dirty="0"/>
              <a:t> “Ders </a:t>
            </a:r>
            <a:r>
              <a:rPr lang="en-US" dirty="0" err="1"/>
              <a:t>erişim</a:t>
            </a:r>
            <a:r>
              <a:rPr lang="en-US" dirty="0"/>
              <a:t> </a:t>
            </a:r>
            <a:r>
              <a:rPr lang="en-US" dirty="0" err="1"/>
              <a:t>linki</a:t>
            </a:r>
            <a:r>
              <a:rPr lang="en-US" dirty="0"/>
              <a:t>” </a:t>
            </a:r>
            <a:r>
              <a:rPr lang="en-US" dirty="0" err="1"/>
              <a:t>adıyla</a:t>
            </a:r>
            <a:r>
              <a:rPr lang="en-US" dirty="0"/>
              <a:t> da </a:t>
            </a:r>
            <a:r>
              <a:rPr lang="en-US" dirty="0" err="1"/>
              <a:t>paylaşılmıştır</a:t>
            </a:r>
            <a:r>
              <a:rPr lang="en-US" dirty="0"/>
              <a:t>. </a:t>
            </a:r>
            <a:r>
              <a:rPr lang="tr-TR" dirty="0"/>
              <a:t>Bu link ile dönem boyu derslere giriş </a:t>
            </a:r>
            <a:r>
              <a:rPr lang="en-US" dirty="0" err="1"/>
              <a:t>yapabilirsiniz</a:t>
            </a:r>
            <a:r>
              <a:rPr lang="en-US" dirty="0"/>
              <a:t>.</a:t>
            </a:r>
            <a:endParaRPr lang="tr-TR" dirty="0"/>
          </a:p>
          <a:p>
            <a:endParaRPr lang="tr-TR" dirty="0"/>
          </a:p>
        </p:txBody>
      </p:sp>
      <p:pic>
        <p:nvPicPr>
          <p:cNvPr id="3" name="Picture 2" descr="A book with a white owl&#10;&#10;Description automatically generated">
            <a:extLst>
              <a:ext uri="{FF2B5EF4-FFF2-40B4-BE49-F238E27FC236}">
                <a16:creationId xmlns:a16="http://schemas.microsoft.com/office/drawing/2014/main" id="{91657D51-6634-1BC3-FFF3-9B9D851004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443784">
            <a:off x="10117558" y="509226"/>
            <a:ext cx="1217255" cy="1626622"/>
          </a:xfrm>
          <a:prstGeom prst="rect">
            <a:avLst/>
          </a:prstGeom>
        </p:spPr>
      </p:pic>
    </p:spTree>
    <p:extLst>
      <p:ext uri="{BB962C8B-B14F-4D97-AF65-F5344CB8AC3E}">
        <p14:creationId xmlns:p14="http://schemas.microsoft.com/office/powerpoint/2010/main" val="196179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4F326A5-2333-4CA0-8089-A951D528219A}"/>
              </a:ext>
            </a:extLst>
          </p:cNvPr>
          <p:cNvSpPr>
            <a:spLocks noGrp="1"/>
          </p:cNvSpPr>
          <p:nvPr>
            <p:ph type="title"/>
          </p:nvPr>
        </p:nvSpPr>
        <p:spPr>
          <a:xfrm>
            <a:off x="479229" y="1196752"/>
            <a:ext cx="7271367" cy="3738488"/>
          </a:xfrm>
        </p:spPr>
        <p:txBody>
          <a:bodyPr>
            <a:normAutofit/>
          </a:bodyPr>
          <a:lstStyle/>
          <a:p>
            <a:r>
              <a:rPr lang="tr-TR" b="1" dirty="0"/>
              <a:t>DERSLERİMİZDE KULLANACAĞIMIZ MATERYALLER VE DİJİTAL ARAÇLAR</a:t>
            </a:r>
          </a:p>
        </p:txBody>
      </p:sp>
    </p:spTree>
    <p:extLst>
      <p:ext uri="{BB962C8B-B14F-4D97-AF65-F5344CB8AC3E}">
        <p14:creationId xmlns:p14="http://schemas.microsoft.com/office/powerpoint/2010/main" val="2707168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681BA33-FDF3-4FDA-AD09-6ED6FD9F17BE}"/>
              </a:ext>
            </a:extLst>
          </p:cNvPr>
          <p:cNvSpPr>
            <a:spLocks noGrp="1"/>
          </p:cNvSpPr>
          <p:nvPr>
            <p:ph type="title"/>
          </p:nvPr>
        </p:nvSpPr>
        <p:spPr>
          <a:xfrm>
            <a:off x="325379" y="2463800"/>
            <a:ext cx="7008574" cy="1930400"/>
          </a:xfrm>
        </p:spPr>
        <p:txBody>
          <a:bodyPr>
            <a:normAutofit fontScale="90000"/>
          </a:bodyPr>
          <a:lstStyle/>
          <a:p>
            <a:pPr algn="ctr"/>
            <a:r>
              <a:rPr lang="en-US" sz="2400" dirty="0"/>
              <a:t>Online</a:t>
            </a:r>
            <a:r>
              <a:rPr lang="tr-TR" sz="2400" dirty="0"/>
              <a:t> derslerimizde kullanacağımız konferans programımız </a:t>
            </a:r>
            <a:r>
              <a:rPr lang="en-US" sz="2400" b="1" dirty="0"/>
              <a:t>Mic</a:t>
            </a:r>
            <a:r>
              <a:rPr lang="tr-TR" sz="2400" b="1" dirty="0" err="1"/>
              <a:t>rosoft</a:t>
            </a:r>
            <a:r>
              <a:rPr lang="tr-TR" sz="2400" b="1" dirty="0"/>
              <a:t> </a:t>
            </a:r>
            <a:r>
              <a:rPr lang="en-US" sz="2400" b="1" dirty="0"/>
              <a:t>T</a:t>
            </a:r>
            <a:r>
              <a:rPr lang="tr-TR" sz="2400" b="1" dirty="0" err="1"/>
              <a:t>eams</a:t>
            </a:r>
            <a:r>
              <a:rPr lang="tr-TR" sz="2400" b="1" dirty="0"/>
              <a:t> </a:t>
            </a:r>
            <a:r>
              <a:rPr lang="tr-TR" sz="2400" dirty="0"/>
              <a:t>uygulamasıdır. </a:t>
            </a:r>
            <a:r>
              <a:rPr lang="en-US" sz="2400" dirty="0"/>
              <a:t>Ü</a:t>
            </a:r>
            <a:r>
              <a:rPr lang="tr-TR" sz="2400" dirty="0" err="1"/>
              <a:t>niversitemiz</a:t>
            </a:r>
            <a:r>
              <a:rPr lang="tr-TR" sz="2400" dirty="0"/>
              <a:t> öğrencilerine lisanslı kullanım hakkı verilen uygulamanın kayıt ve kurulum işlemleri için lütfen </a:t>
            </a:r>
            <a:r>
              <a:rPr lang="en-US" sz="2400" dirty="0" err="1"/>
              <a:t>ders</a:t>
            </a:r>
            <a:r>
              <a:rPr lang="en-US" sz="2400" dirty="0"/>
              <a:t> </a:t>
            </a:r>
            <a:r>
              <a:rPr lang="en-US" sz="2400" dirty="0" err="1"/>
              <a:t>materyali</a:t>
            </a:r>
            <a:r>
              <a:rPr lang="en-US" sz="2400" dirty="0"/>
              <a:t> </a:t>
            </a:r>
            <a:r>
              <a:rPr lang="en-US" sz="2400" dirty="0" err="1"/>
              <a:t>olarak</a:t>
            </a:r>
            <a:r>
              <a:rPr lang="en-US" sz="2400" dirty="0"/>
              <a:t> </a:t>
            </a:r>
            <a:r>
              <a:rPr lang="en-US" sz="2400" dirty="0" err="1"/>
              <a:t>paylaşılmış</a:t>
            </a:r>
            <a:r>
              <a:rPr lang="en-US" sz="2400" dirty="0"/>
              <a:t> </a:t>
            </a:r>
            <a:r>
              <a:rPr lang="en-US" sz="2400" dirty="0" err="1"/>
              <a:t>olan</a:t>
            </a:r>
            <a:r>
              <a:rPr lang="en-US" sz="2400" dirty="0"/>
              <a:t> </a:t>
            </a:r>
            <a:r>
              <a:rPr lang="tr-TR" sz="2400" dirty="0"/>
              <a:t>ilgili </a:t>
            </a:r>
            <a:r>
              <a:rPr lang="en-US" sz="2400" dirty="0" err="1"/>
              <a:t>dosyaları</a:t>
            </a:r>
            <a:r>
              <a:rPr lang="tr-TR" sz="2400" dirty="0"/>
              <a:t> i</a:t>
            </a:r>
            <a:r>
              <a:rPr lang="en-US" sz="2400" dirty="0" err="1"/>
              <a:t>ncele</a:t>
            </a:r>
            <a:r>
              <a:rPr lang="tr-TR" sz="2400" dirty="0" err="1"/>
              <a:t>yiniz</a:t>
            </a:r>
            <a:r>
              <a:rPr lang="tr-TR" sz="2400" dirty="0"/>
              <a:t>. Her öğrencimizin </a:t>
            </a:r>
            <a:r>
              <a:rPr lang="tr-TR" sz="2400" b="1" i="1" u="sng" dirty="0"/>
              <a:t>uludag.edu.tr </a:t>
            </a:r>
            <a:r>
              <a:rPr lang="tr-TR" sz="2400" dirty="0"/>
              <a:t>uzantılı mail adreslerini aktif olarak kullanma</a:t>
            </a:r>
            <a:r>
              <a:rPr lang="en-US" sz="2400" dirty="0" err="1"/>
              <a:t>sı</a:t>
            </a:r>
            <a:r>
              <a:rPr lang="tr-TR" sz="2400" dirty="0"/>
              <a:t> gerekmektedir</a:t>
            </a:r>
            <a:r>
              <a:rPr lang="tr-TR" sz="1600" dirty="0"/>
              <a:t>.</a:t>
            </a:r>
            <a:br>
              <a:rPr lang="tr-TR" sz="1600" dirty="0"/>
            </a:br>
            <a:br>
              <a:rPr lang="tr-TR" sz="1600" dirty="0"/>
            </a:br>
            <a:br>
              <a:rPr lang="tr-TR" sz="1600" dirty="0"/>
            </a:br>
            <a:r>
              <a:rPr lang="tr-TR" sz="2000" b="1" dirty="0"/>
              <a:t>MICROSOFT TEAMS KURULUMU İLE İLGİLİ SORUN YAŞAYAN ÖĞRENCİLER </a:t>
            </a:r>
            <a:r>
              <a:rPr lang="en-US" sz="2000" b="1" dirty="0" err="1"/>
              <a:t>KENDİ</a:t>
            </a:r>
            <a:r>
              <a:rPr lang="en-US" sz="2000" b="1" dirty="0"/>
              <a:t> </a:t>
            </a:r>
            <a:r>
              <a:rPr lang="en-US" sz="2000" b="1" dirty="0" err="1"/>
              <a:t>BÖLÜMLERİNİN</a:t>
            </a:r>
            <a:r>
              <a:rPr lang="en-US" sz="2000" b="1" dirty="0"/>
              <a:t> </a:t>
            </a:r>
            <a:r>
              <a:rPr lang="tr-TR" sz="2000" b="1" dirty="0"/>
              <a:t>ÖĞRENCİ İŞLERİNE MÜRACAAT EDEBİLİR.</a:t>
            </a:r>
            <a:endParaRPr lang="tr-TR" sz="1600" b="1" i="1" u="sng" dirty="0"/>
          </a:p>
        </p:txBody>
      </p:sp>
      <p:pic>
        <p:nvPicPr>
          <p:cNvPr id="4" name="Resim 3">
            <a:extLst>
              <a:ext uri="{FF2B5EF4-FFF2-40B4-BE49-F238E27FC236}">
                <a16:creationId xmlns:a16="http://schemas.microsoft.com/office/drawing/2014/main" id="{43BCA99A-E477-450E-BB71-3EB51528A55A}"/>
              </a:ext>
            </a:extLst>
          </p:cNvPr>
          <p:cNvPicPr>
            <a:picLocks noChangeAspect="1"/>
          </p:cNvPicPr>
          <p:nvPr/>
        </p:nvPicPr>
        <p:blipFill>
          <a:blip r:embed="rId2"/>
          <a:stretch>
            <a:fillRect/>
          </a:stretch>
        </p:blipFill>
        <p:spPr>
          <a:xfrm>
            <a:off x="693812" y="620688"/>
            <a:ext cx="2876550" cy="1590675"/>
          </a:xfrm>
          <a:prstGeom prst="rect">
            <a:avLst/>
          </a:prstGeom>
        </p:spPr>
      </p:pic>
    </p:spTree>
    <p:extLst>
      <p:ext uri="{BB962C8B-B14F-4D97-AF65-F5344CB8AC3E}">
        <p14:creationId xmlns:p14="http://schemas.microsoft.com/office/powerpoint/2010/main" val="4077900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4">
            <a:extLst>
              <a:ext uri="{FF2B5EF4-FFF2-40B4-BE49-F238E27FC236}">
                <a16:creationId xmlns:a16="http://schemas.microsoft.com/office/drawing/2014/main" id="{05619E71-C7BA-CF67-AF13-4AA2FDBA9AA1}"/>
              </a:ext>
            </a:extLst>
          </p:cNvPr>
          <p:cNvPicPr>
            <a:picLocks noChangeAspect="1"/>
          </p:cNvPicPr>
          <p:nvPr/>
        </p:nvPicPr>
        <p:blipFill>
          <a:blip r:embed="rId2"/>
          <a:stretch>
            <a:fillRect/>
          </a:stretch>
        </p:blipFill>
        <p:spPr>
          <a:xfrm>
            <a:off x="4006180" y="44624"/>
            <a:ext cx="7200799" cy="1765281"/>
          </a:xfrm>
          <a:prstGeom prst="rect">
            <a:avLst/>
          </a:prstGeom>
        </p:spPr>
      </p:pic>
      <p:sp>
        <p:nvSpPr>
          <p:cNvPr id="10" name="İçerik Yer Tutucusu 2">
            <a:extLst>
              <a:ext uri="{FF2B5EF4-FFF2-40B4-BE49-F238E27FC236}">
                <a16:creationId xmlns:a16="http://schemas.microsoft.com/office/drawing/2014/main" id="{68532155-F46B-B5E5-30D7-4ECAD93F0CA0}"/>
              </a:ext>
            </a:extLst>
          </p:cNvPr>
          <p:cNvSpPr txBox="1">
            <a:spLocks/>
          </p:cNvSpPr>
          <p:nvPr/>
        </p:nvSpPr>
        <p:spPr>
          <a:xfrm>
            <a:off x="3286100" y="1951751"/>
            <a:ext cx="8712968" cy="4933633"/>
          </a:xfrm>
          <a:prstGeom prst="rect">
            <a:avLst/>
          </a:prstGeom>
        </p:spPr>
        <p:txBody>
          <a:bodyPr vert="horz" lIns="121899" tIns="60949" rIns="121899" bIns="60949" rtlCol="0">
            <a:normAutofit/>
          </a:bodyPr>
          <a:lstStyle>
            <a:lvl1pPr marL="0" indent="0" algn="l" defTabSz="1218987" rtl="0" eaLnBrk="1" latinLnBrk="0" hangingPunct="1">
              <a:lnSpc>
                <a:spcPct val="95000"/>
              </a:lnSpc>
              <a:spcBef>
                <a:spcPts val="0"/>
              </a:spcBef>
              <a:buSzPct val="100000"/>
              <a:buFont typeface="Arial" pitchFamily="34" charset="0"/>
              <a:buNone/>
              <a:defRPr sz="2800" b="0" kern="1200">
                <a:solidFill>
                  <a:schemeClr val="tx1"/>
                </a:solidFill>
                <a:latin typeface="+mn-lt"/>
                <a:ea typeface="+mn-ea"/>
                <a:cs typeface="+mn-cs"/>
              </a:defRPr>
            </a:lvl1pPr>
            <a:lvl2pPr marL="609493" indent="0" algn="ctr" defTabSz="1218987" rtl="0" eaLnBrk="1" latinLnBrk="0" hangingPunct="1">
              <a:lnSpc>
                <a:spcPct val="95000"/>
              </a:lnSpc>
              <a:spcBef>
                <a:spcPts val="1066"/>
              </a:spcBef>
              <a:buSzPct val="100000"/>
              <a:buFont typeface="Century Gothic" pitchFamily="34" charset="0"/>
              <a:buNone/>
              <a:defRPr sz="2000" kern="1200">
                <a:solidFill>
                  <a:schemeClr val="tx1">
                    <a:tint val="75000"/>
                  </a:schemeClr>
                </a:solidFill>
                <a:latin typeface="+mn-lt"/>
                <a:ea typeface="+mn-ea"/>
                <a:cs typeface="+mn-cs"/>
              </a:defRPr>
            </a:lvl2pPr>
            <a:lvl3pPr marL="1218987" indent="0" algn="ctr" defTabSz="1218987" rtl="0" eaLnBrk="1" latinLnBrk="0" hangingPunct="1">
              <a:lnSpc>
                <a:spcPct val="95000"/>
              </a:lnSpc>
              <a:spcBef>
                <a:spcPts val="1066"/>
              </a:spcBef>
              <a:buSzPct val="100000"/>
              <a:buFont typeface="Century Gothic" pitchFamily="34" charset="0"/>
              <a:buNone/>
              <a:defRPr sz="1800" kern="1200">
                <a:solidFill>
                  <a:schemeClr val="tx1">
                    <a:tint val="75000"/>
                  </a:schemeClr>
                </a:solidFill>
                <a:latin typeface="+mn-lt"/>
                <a:ea typeface="+mn-ea"/>
                <a:cs typeface="+mn-cs"/>
              </a:defRPr>
            </a:lvl3pPr>
            <a:lvl4pPr marL="1828480" indent="0" algn="ctr" defTabSz="1218987" rtl="0" eaLnBrk="1" latinLnBrk="0" hangingPunct="1">
              <a:lnSpc>
                <a:spcPct val="95000"/>
              </a:lnSpc>
              <a:spcBef>
                <a:spcPts val="1066"/>
              </a:spcBef>
              <a:buSzPct val="100000"/>
              <a:buFont typeface="Century Gothic" pitchFamily="34" charset="0"/>
              <a:buNone/>
              <a:defRPr sz="1800" kern="1200">
                <a:solidFill>
                  <a:schemeClr val="tx1">
                    <a:tint val="75000"/>
                  </a:schemeClr>
                </a:solidFill>
                <a:latin typeface="+mn-lt"/>
                <a:ea typeface="+mn-ea"/>
                <a:cs typeface="+mn-cs"/>
              </a:defRPr>
            </a:lvl4pPr>
            <a:lvl5pPr marL="2437973" indent="0" algn="ctr" defTabSz="1218987" rtl="0" eaLnBrk="1" latinLnBrk="0" hangingPunct="1">
              <a:lnSpc>
                <a:spcPct val="95000"/>
              </a:lnSpc>
              <a:spcBef>
                <a:spcPts val="1066"/>
              </a:spcBef>
              <a:buSzPct val="100000"/>
              <a:buFont typeface="Century Gothic" pitchFamily="34" charset="0"/>
              <a:buNone/>
              <a:defRPr sz="1800" kern="1200">
                <a:solidFill>
                  <a:schemeClr val="tx1">
                    <a:tint val="75000"/>
                  </a:schemeClr>
                </a:solidFill>
                <a:latin typeface="+mn-lt"/>
                <a:ea typeface="+mn-ea"/>
                <a:cs typeface="+mn-cs"/>
              </a:defRPr>
            </a:lvl5pPr>
            <a:lvl6pPr marL="3047467"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6pPr>
            <a:lvl7pPr marL="3656960"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7pPr>
            <a:lvl8pPr marL="4266453"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8pPr>
            <a:lvl9pPr marL="4875947"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9pPr>
          </a:lstStyle>
          <a:p>
            <a:pPr marL="457200" indent="-457200">
              <a:buFont typeface="Arial" panose="020B0604020202020204" pitchFamily="34" charset="0"/>
              <a:buChar char="•"/>
            </a:pPr>
            <a:r>
              <a:rPr lang="tr-TR" sz="2400" dirty="0"/>
              <a:t>Ders esnasında dersin verimliliği için tüm öğrencilerin derse katılımı önemlidir. Dersler yüksekokul tarafından kayıt altına alınacak olup, kişisel verilerin korunması kanunu kapsamında hiçbir sosyal mecrada paylaşılmayacaktır.</a:t>
            </a:r>
          </a:p>
          <a:p>
            <a:pPr marL="457200" indent="-457200">
              <a:buFont typeface="Arial" panose="020B0604020202020204" pitchFamily="34" charset="0"/>
              <a:buChar char="•"/>
            </a:pPr>
            <a:r>
              <a:rPr lang="tr-TR" sz="2400" dirty="0"/>
              <a:t>Öğrencilerimizin </a:t>
            </a:r>
            <a:r>
              <a:rPr lang="tr-TR" sz="2400" u="sng" dirty="0"/>
              <a:t>canlı bağlantı esnasında kayıt, ekran görüntüsü, resim vb. alması kesinlikle yasaktır</a:t>
            </a:r>
            <a:r>
              <a:rPr lang="tr-TR" sz="2400" dirty="0"/>
              <a:t>. Aynı şekilde sizlerle paylaşılan videoların da üçüncü kişiler ile </a:t>
            </a:r>
            <a:r>
              <a:rPr lang="tr-TR" sz="2400" u="sng" dirty="0"/>
              <a:t>paylaşılması, çoğaltılması vb. işlemlerde bulunulması yasaktır</a:t>
            </a:r>
            <a:r>
              <a:rPr lang="tr-TR" sz="2400" dirty="0"/>
              <a:t>.</a:t>
            </a:r>
          </a:p>
        </p:txBody>
      </p:sp>
      <p:pic>
        <p:nvPicPr>
          <p:cNvPr id="11" name="Resim 4">
            <a:extLst>
              <a:ext uri="{FF2B5EF4-FFF2-40B4-BE49-F238E27FC236}">
                <a16:creationId xmlns:a16="http://schemas.microsoft.com/office/drawing/2014/main" id="{4137F6D4-A0DC-BB3E-DC69-B131F874685F}"/>
              </a:ext>
            </a:extLst>
          </p:cNvPr>
          <p:cNvPicPr>
            <a:picLocks noChangeAspect="1"/>
          </p:cNvPicPr>
          <p:nvPr/>
        </p:nvPicPr>
        <p:blipFill>
          <a:blip r:embed="rId3"/>
          <a:stretch>
            <a:fillRect/>
          </a:stretch>
        </p:blipFill>
        <p:spPr>
          <a:xfrm>
            <a:off x="10284009" y="5073701"/>
            <a:ext cx="1787067" cy="1811683"/>
          </a:xfrm>
          <a:prstGeom prst="rect">
            <a:avLst/>
          </a:prstGeom>
          <a:noFill/>
        </p:spPr>
      </p:pic>
    </p:spTree>
    <p:extLst>
      <p:ext uri="{BB962C8B-B14F-4D97-AF65-F5344CB8AC3E}">
        <p14:creationId xmlns:p14="http://schemas.microsoft.com/office/powerpoint/2010/main" val="2573493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Metin kutusu 16">
            <a:extLst>
              <a:ext uri="{FF2B5EF4-FFF2-40B4-BE49-F238E27FC236}">
                <a16:creationId xmlns:a16="http://schemas.microsoft.com/office/drawing/2014/main" id="{DCFFFAFD-B2A5-BD0A-CC01-4A75E2442F86}"/>
              </a:ext>
            </a:extLst>
          </p:cNvPr>
          <p:cNvSpPr txBox="1"/>
          <p:nvPr/>
        </p:nvSpPr>
        <p:spPr>
          <a:xfrm>
            <a:off x="3718148" y="1060082"/>
            <a:ext cx="4505794" cy="794064"/>
          </a:xfrm>
          <a:prstGeom prst="rect">
            <a:avLst/>
          </a:prstGeom>
          <a:noFill/>
        </p:spPr>
        <p:txBody>
          <a:bodyPr wrap="square" rtlCol="0">
            <a:spAutoFit/>
          </a:bodyPr>
          <a:lstStyle/>
          <a:p>
            <a:pPr algn="ctr">
              <a:lnSpc>
                <a:spcPct val="95000"/>
              </a:lnSpc>
            </a:pPr>
            <a:r>
              <a:rPr lang="tr-TR" b="1" dirty="0"/>
              <a:t>ÖNLİSANS </a:t>
            </a:r>
          </a:p>
          <a:p>
            <a:pPr algn="ctr">
              <a:lnSpc>
                <a:spcPct val="95000"/>
              </a:lnSpc>
            </a:pPr>
            <a:r>
              <a:rPr lang="tr-TR" b="1" dirty="0"/>
              <a:t>(MESLEK YÜKSEKOKULLARI)</a:t>
            </a:r>
          </a:p>
        </p:txBody>
      </p:sp>
      <p:sp>
        <p:nvSpPr>
          <p:cNvPr id="13" name="Başlık 1">
            <a:extLst>
              <a:ext uri="{FF2B5EF4-FFF2-40B4-BE49-F238E27FC236}">
                <a16:creationId xmlns:a16="http://schemas.microsoft.com/office/drawing/2014/main" id="{D09903DD-EABB-0146-12A9-C207205FCC46}"/>
              </a:ext>
            </a:extLst>
          </p:cNvPr>
          <p:cNvSpPr txBox="1">
            <a:spLocks/>
          </p:cNvSpPr>
          <p:nvPr/>
        </p:nvSpPr>
        <p:spPr>
          <a:xfrm>
            <a:off x="765820" y="-315416"/>
            <a:ext cx="11300931" cy="1378857"/>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tabLst/>
              <a:defRPr sz="5400" kern="1200" cap="none" baseline="0">
                <a:solidFill>
                  <a:schemeClr val="tx1"/>
                </a:solidFill>
                <a:latin typeface="+mj-lt"/>
                <a:ea typeface="+mj-ea"/>
                <a:cs typeface="+mj-cs"/>
              </a:defRPr>
            </a:lvl1pPr>
          </a:lstStyle>
          <a:p>
            <a:pPr algn="ctr"/>
            <a:r>
              <a:rPr lang="tr-TR" b="1" dirty="0"/>
              <a:t>YAD105 DERS KİTABI</a:t>
            </a:r>
            <a:endParaRPr lang="tr-TR" b="1" dirty="0">
              <a:latin typeface="Century Gothic" panose="020B0502020202020204" pitchFamily="34" charset="0"/>
            </a:endParaRPr>
          </a:p>
        </p:txBody>
      </p:sp>
      <p:pic>
        <p:nvPicPr>
          <p:cNvPr id="5" name="Picture 4" descr="A book with a white owl&#10;&#10;Description automatically generated">
            <a:extLst>
              <a:ext uri="{FF2B5EF4-FFF2-40B4-BE49-F238E27FC236}">
                <a16:creationId xmlns:a16="http://schemas.microsoft.com/office/drawing/2014/main" id="{B7C02257-4DBC-B1FC-9FB5-04051B3820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0444" y="1988840"/>
            <a:ext cx="3206136" cy="4284368"/>
          </a:xfrm>
          <a:prstGeom prst="rect">
            <a:avLst/>
          </a:prstGeom>
        </p:spPr>
      </p:pic>
    </p:spTree>
    <p:extLst>
      <p:ext uri="{BB962C8B-B14F-4D97-AF65-F5344CB8AC3E}">
        <p14:creationId xmlns:p14="http://schemas.microsoft.com/office/powerpoint/2010/main" val="2190511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çerik Yer Tutucusu 2">
            <a:extLst>
              <a:ext uri="{FF2B5EF4-FFF2-40B4-BE49-F238E27FC236}">
                <a16:creationId xmlns:a16="http://schemas.microsoft.com/office/drawing/2014/main" id="{37E1665C-6E2A-9626-B564-9C354D87FEF9}"/>
              </a:ext>
            </a:extLst>
          </p:cNvPr>
          <p:cNvSpPr txBox="1">
            <a:spLocks/>
          </p:cNvSpPr>
          <p:nvPr/>
        </p:nvSpPr>
        <p:spPr>
          <a:xfrm>
            <a:off x="3142084" y="1052736"/>
            <a:ext cx="9073008" cy="5472608"/>
          </a:xfrm>
          <a:prstGeom prst="rect">
            <a:avLst/>
          </a:prstGeom>
        </p:spPr>
        <p:txBody>
          <a:bodyPr vert="horz" lIns="121899" tIns="60949" rIns="121899" bIns="60949" rtlCol="0">
            <a:normAutofit/>
          </a:bodyPr>
          <a:lstStyle>
            <a:lvl1pPr marL="0" indent="0" algn="l" defTabSz="1218987" rtl="0" eaLnBrk="1" latinLnBrk="0" hangingPunct="1">
              <a:lnSpc>
                <a:spcPct val="95000"/>
              </a:lnSpc>
              <a:spcBef>
                <a:spcPts val="0"/>
              </a:spcBef>
              <a:buSzPct val="100000"/>
              <a:buFont typeface="Arial" pitchFamily="34" charset="0"/>
              <a:buNone/>
              <a:defRPr sz="2800" b="0" kern="1200">
                <a:solidFill>
                  <a:schemeClr val="tx1"/>
                </a:solidFill>
                <a:latin typeface="+mn-lt"/>
                <a:ea typeface="+mn-ea"/>
                <a:cs typeface="+mn-cs"/>
              </a:defRPr>
            </a:lvl1pPr>
            <a:lvl2pPr marL="609493" indent="0" algn="ctr" defTabSz="1218987" rtl="0" eaLnBrk="1" latinLnBrk="0" hangingPunct="1">
              <a:lnSpc>
                <a:spcPct val="95000"/>
              </a:lnSpc>
              <a:spcBef>
                <a:spcPts val="1066"/>
              </a:spcBef>
              <a:buSzPct val="100000"/>
              <a:buFont typeface="Century Gothic" pitchFamily="34" charset="0"/>
              <a:buNone/>
              <a:defRPr sz="2000" kern="1200">
                <a:solidFill>
                  <a:schemeClr val="tx1">
                    <a:tint val="75000"/>
                  </a:schemeClr>
                </a:solidFill>
                <a:latin typeface="+mn-lt"/>
                <a:ea typeface="+mn-ea"/>
                <a:cs typeface="+mn-cs"/>
              </a:defRPr>
            </a:lvl2pPr>
            <a:lvl3pPr marL="1218987" indent="0" algn="ctr" defTabSz="1218987" rtl="0" eaLnBrk="1" latinLnBrk="0" hangingPunct="1">
              <a:lnSpc>
                <a:spcPct val="95000"/>
              </a:lnSpc>
              <a:spcBef>
                <a:spcPts val="1066"/>
              </a:spcBef>
              <a:buSzPct val="100000"/>
              <a:buFont typeface="Century Gothic" pitchFamily="34" charset="0"/>
              <a:buNone/>
              <a:defRPr sz="1800" kern="1200">
                <a:solidFill>
                  <a:schemeClr val="tx1">
                    <a:tint val="75000"/>
                  </a:schemeClr>
                </a:solidFill>
                <a:latin typeface="+mn-lt"/>
                <a:ea typeface="+mn-ea"/>
                <a:cs typeface="+mn-cs"/>
              </a:defRPr>
            </a:lvl3pPr>
            <a:lvl4pPr marL="1828480" indent="0" algn="ctr" defTabSz="1218987" rtl="0" eaLnBrk="1" latinLnBrk="0" hangingPunct="1">
              <a:lnSpc>
                <a:spcPct val="95000"/>
              </a:lnSpc>
              <a:spcBef>
                <a:spcPts val="1066"/>
              </a:spcBef>
              <a:buSzPct val="100000"/>
              <a:buFont typeface="Century Gothic" pitchFamily="34" charset="0"/>
              <a:buNone/>
              <a:defRPr sz="1800" kern="1200">
                <a:solidFill>
                  <a:schemeClr val="tx1">
                    <a:tint val="75000"/>
                  </a:schemeClr>
                </a:solidFill>
                <a:latin typeface="+mn-lt"/>
                <a:ea typeface="+mn-ea"/>
                <a:cs typeface="+mn-cs"/>
              </a:defRPr>
            </a:lvl4pPr>
            <a:lvl5pPr marL="2437973" indent="0" algn="ctr" defTabSz="1218987" rtl="0" eaLnBrk="1" latinLnBrk="0" hangingPunct="1">
              <a:lnSpc>
                <a:spcPct val="95000"/>
              </a:lnSpc>
              <a:spcBef>
                <a:spcPts val="1066"/>
              </a:spcBef>
              <a:buSzPct val="100000"/>
              <a:buFont typeface="Century Gothic" pitchFamily="34" charset="0"/>
              <a:buNone/>
              <a:defRPr sz="1800" kern="1200">
                <a:solidFill>
                  <a:schemeClr val="tx1">
                    <a:tint val="75000"/>
                  </a:schemeClr>
                </a:solidFill>
                <a:latin typeface="+mn-lt"/>
                <a:ea typeface="+mn-ea"/>
                <a:cs typeface="+mn-cs"/>
              </a:defRPr>
            </a:lvl5pPr>
            <a:lvl6pPr marL="3047467"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6pPr>
            <a:lvl7pPr marL="3656960"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7pPr>
            <a:lvl8pPr marL="4266453"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8pPr>
            <a:lvl9pPr marL="4875947"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9pPr>
          </a:lstStyle>
          <a:p>
            <a:endParaRPr lang="tr-TR" dirty="0"/>
          </a:p>
          <a:p>
            <a:pPr>
              <a:lnSpc>
                <a:spcPct val="100000"/>
              </a:lnSpc>
              <a:spcBef>
                <a:spcPts val="1200"/>
              </a:spcBef>
            </a:pPr>
            <a:r>
              <a:rPr lang="tr-TR" dirty="0"/>
              <a:t>Önümüzdeki haftadan itibaren derslere kitaplarınız ve eşzamanlı dersleri takip edeceğiniz cihazlarla katılmanız gerekmektedir. Dersleri telefonunuz ile takip edecekseniz, </a:t>
            </a:r>
            <a:r>
              <a:rPr lang="en-US" dirty="0"/>
              <a:t>Microsoft Teams </a:t>
            </a:r>
            <a:r>
              <a:rPr lang="en-US" dirty="0" err="1"/>
              <a:t>uygulamasını</a:t>
            </a:r>
            <a:r>
              <a:rPr lang="tr-TR" dirty="0"/>
              <a:t> yüklediğinizden emin olunuz.</a:t>
            </a:r>
          </a:p>
          <a:p>
            <a:pPr>
              <a:lnSpc>
                <a:spcPct val="100000"/>
              </a:lnSpc>
              <a:spcBef>
                <a:spcPts val="1200"/>
              </a:spcBef>
            </a:pPr>
            <a:r>
              <a:rPr lang="tr-TR" dirty="0"/>
              <a:t>Ders yılı boyunca kullanacağınız ders kitaplarını satın almak isteyenler için satış noktaları aşağıda verilmiştir:</a:t>
            </a:r>
          </a:p>
        </p:txBody>
      </p:sp>
      <p:sp>
        <p:nvSpPr>
          <p:cNvPr id="2" name="Başlık 1">
            <a:extLst>
              <a:ext uri="{FF2B5EF4-FFF2-40B4-BE49-F238E27FC236}">
                <a16:creationId xmlns:a16="http://schemas.microsoft.com/office/drawing/2014/main" id="{195E0F6A-83EF-FB16-EEAF-B0C6745C2BF7}"/>
              </a:ext>
            </a:extLst>
          </p:cNvPr>
          <p:cNvSpPr txBox="1">
            <a:spLocks/>
          </p:cNvSpPr>
          <p:nvPr/>
        </p:nvSpPr>
        <p:spPr>
          <a:xfrm>
            <a:off x="882527" y="-10616"/>
            <a:ext cx="11300931" cy="1378857"/>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tabLst/>
              <a:defRPr sz="5400" kern="1200" cap="none" baseline="0">
                <a:solidFill>
                  <a:schemeClr val="tx1"/>
                </a:solidFill>
                <a:latin typeface="+mj-lt"/>
                <a:ea typeface="+mj-ea"/>
                <a:cs typeface="+mj-cs"/>
              </a:defRPr>
            </a:lvl1pPr>
          </a:lstStyle>
          <a:p>
            <a:pPr algn="ctr"/>
            <a:r>
              <a:rPr lang="tr-TR" b="1" dirty="0"/>
              <a:t>YAD105 DERS KİTABI</a:t>
            </a:r>
            <a:endParaRPr lang="tr-TR" b="1" dirty="0">
              <a:latin typeface="Century Gothic" panose="020B0502020202020204" pitchFamily="34" charset="0"/>
            </a:endParaRPr>
          </a:p>
        </p:txBody>
      </p:sp>
    </p:spTree>
    <p:extLst>
      <p:ext uri="{BB962C8B-B14F-4D97-AF65-F5344CB8AC3E}">
        <p14:creationId xmlns:p14="http://schemas.microsoft.com/office/powerpoint/2010/main" val="1102987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7AE5C1E1-57E8-2CC6-EE45-CBB0F4F5278A}"/>
              </a:ext>
            </a:extLst>
          </p:cNvPr>
          <p:cNvSpPr txBox="1">
            <a:spLocks/>
          </p:cNvSpPr>
          <p:nvPr/>
        </p:nvSpPr>
        <p:spPr>
          <a:xfrm>
            <a:off x="1117308" y="187536"/>
            <a:ext cx="10157354" cy="996528"/>
          </a:xfrm>
          <a:prstGeom prst="rect">
            <a:avLst/>
          </a:prstGeom>
        </p:spPr>
        <p:txBody>
          <a:bodyPr vert="horz" lIns="121899" tIns="60949" rIns="121899" bIns="60949" rtlCol="0" anchor="b">
            <a:normAutofit/>
          </a:bodyPr>
          <a:lstStyle>
            <a:lvl1pPr algn="l" defTabSz="1218987" rtl="0" eaLnBrk="1" latinLnBrk="0" hangingPunct="1">
              <a:lnSpc>
                <a:spcPct val="85000"/>
              </a:lnSpc>
              <a:spcBef>
                <a:spcPct val="0"/>
              </a:spcBef>
              <a:buNone/>
              <a:tabLst/>
              <a:defRPr sz="4400" kern="1200" cap="none" baseline="0">
                <a:solidFill>
                  <a:schemeClr val="tx1"/>
                </a:solidFill>
                <a:latin typeface="+mj-lt"/>
                <a:ea typeface="+mj-ea"/>
                <a:cs typeface="+mj-cs"/>
              </a:defRPr>
            </a:lvl1pPr>
          </a:lstStyle>
          <a:p>
            <a:r>
              <a:rPr lang="tr-TR" b="1" dirty="0"/>
              <a:t>YAD105 DERS KİTABI</a:t>
            </a:r>
            <a:endParaRPr lang="en-GB" dirty="0"/>
          </a:p>
        </p:txBody>
      </p:sp>
      <p:sp>
        <p:nvSpPr>
          <p:cNvPr id="5" name="İçerik Yer Tutucusu 2">
            <a:extLst>
              <a:ext uri="{FF2B5EF4-FFF2-40B4-BE49-F238E27FC236}">
                <a16:creationId xmlns:a16="http://schemas.microsoft.com/office/drawing/2014/main" id="{2B14B928-A525-35F0-836F-D3B40BF04120}"/>
              </a:ext>
            </a:extLst>
          </p:cNvPr>
          <p:cNvSpPr>
            <a:spLocks noGrp="1"/>
          </p:cNvSpPr>
          <p:nvPr>
            <p:ph sz="half" idx="1"/>
          </p:nvPr>
        </p:nvSpPr>
        <p:spPr>
          <a:xfrm>
            <a:off x="1117308" y="1485280"/>
            <a:ext cx="5193127" cy="4903440"/>
          </a:xfrm>
        </p:spPr>
        <p:txBody>
          <a:bodyPr>
            <a:normAutofit fontScale="70000" lnSpcReduction="20000"/>
          </a:bodyPr>
          <a:lstStyle/>
          <a:p>
            <a:r>
              <a:rPr lang="tr-TR" b="1" u="sng" dirty="0"/>
              <a:t>Yabancı Diller Yüksek Okulunda kurulan kitap standı</a:t>
            </a:r>
          </a:p>
          <a:p>
            <a:r>
              <a:rPr lang="tr-TR" dirty="0"/>
              <a:t>BKM Özlüce</a:t>
            </a:r>
          </a:p>
          <a:p>
            <a:r>
              <a:rPr lang="tr-TR" dirty="0"/>
              <a:t>BKM FSM</a:t>
            </a:r>
          </a:p>
          <a:p>
            <a:r>
              <a:rPr lang="tr-TR" dirty="0"/>
              <a:t>BKM Heykel</a:t>
            </a:r>
          </a:p>
          <a:p>
            <a:r>
              <a:rPr lang="tr-TR" dirty="0"/>
              <a:t>BKM İstanbul yolu</a:t>
            </a:r>
          </a:p>
          <a:p>
            <a:r>
              <a:rPr lang="tr-TR" dirty="0"/>
              <a:t>Algı Kitapevi (Sönmez İş Hanı)</a:t>
            </a:r>
          </a:p>
          <a:p>
            <a:r>
              <a:rPr lang="tr-TR" dirty="0"/>
              <a:t>D&amp;A Kitapevi Algı kitapevi (Sönmez İş Hanı)</a:t>
            </a:r>
          </a:p>
          <a:p>
            <a:r>
              <a:rPr lang="tr-TR" dirty="0"/>
              <a:t>Ekin kitapevi </a:t>
            </a:r>
          </a:p>
          <a:p>
            <a:endParaRPr lang="tr-TR" dirty="0"/>
          </a:p>
        </p:txBody>
      </p:sp>
      <p:sp>
        <p:nvSpPr>
          <p:cNvPr id="9" name="İçerik Yer Tutucusu 3">
            <a:extLst>
              <a:ext uri="{FF2B5EF4-FFF2-40B4-BE49-F238E27FC236}">
                <a16:creationId xmlns:a16="http://schemas.microsoft.com/office/drawing/2014/main" id="{E9A1E3E0-54B8-A148-FF30-E797E6D886A7}"/>
              </a:ext>
            </a:extLst>
          </p:cNvPr>
          <p:cNvSpPr>
            <a:spLocks noGrp="1"/>
          </p:cNvSpPr>
          <p:nvPr>
            <p:ph sz="half" idx="2"/>
          </p:nvPr>
        </p:nvSpPr>
        <p:spPr>
          <a:xfrm>
            <a:off x="6670476" y="1485280"/>
            <a:ext cx="4604186" cy="4470400"/>
          </a:xfrm>
        </p:spPr>
        <p:txBody>
          <a:bodyPr>
            <a:normAutofit fontScale="70000" lnSpcReduction="20000"/>
          </a:bodyPr>
          <a:lstStyle/>
          <a:p>
            <a:r>
              <a:rPr lang="tr-TR" dirty="0"/>
              <a:t>Dora kitapevi</a:t>
            </a:r>
          </a:p>
          <a:p>
            <a:r>
              <a:rPr lang="tr-TR" dirty="0" err="1"/>
              <a:t>Medyay</a:t>
            </a:r>
            <a:r>
              <a:rPr lang="tr-TR" dirty="0"/>
              <a:t> Kitapevi </a:t>
            </a:r>
          </a:p>
          <a:p>
            <a:r>
              <a:rPr lang="tr-TR" dirty="0"/>
              <a:t>Kampüs Basım Yayın</a:t>
            </a:r>
          </a:p>
          <a:p>
            <a:r>
              <a:rPr lang="tr-TR" dirty="0"/>
              <a:t>Gemlik Hakan Kırtasiye</a:t>
            </a:r>
          </a:p>
          <a:p>
            <a:r>
              <a:rPr lang="tr-TR" dirty="0"/>
              <a:t>Karacabey Ütopya Kitap Kafe </a:t>
            </a:r>
          </a:p>
          <a:p>
            <a:r>
              <a:rPr lang="tr-TR" dirty="0"/>
              <a:t>Mustafakemalpaşa </a:t>
            </a:r>
            <a:r>
              <a:rPr lang="tr-TR" dirty="0" err="1"/>
              <a:t>Antares</a:t>
            </a:r>
            <a:r>
              <a:rPr lang="tr-TR" dirty="0"/>
              <a:t> Kitap Kafe</a:t>
            </a:r>
          </a:p>
          <a:p>
            <a:r>
              <a:rPr lang="tr-TR" dirty="0"/>
              <a:t>İnegöl Bilgi Baskı Kitapevi </a:t>
            </a:r>
          </a:p>
          <a:p>
            <a:r>
              <a:rPr lang="tr-TR" dirty="0"/>
              <a:t>Yenişehir Akademi Kırtasiye </a:t>
            </a:r>
          </a:p>
          <a:p>
            <a:r>
              <a:rPr lang="tr-TR" dirty="0"/>
              <a:t>İznik Demir Kırtasiye</a:t>
            </a:r>
          </a:p>
          <a:p>
            <a:r>
              <a:rPr lang="tr-TR" dirty="0"/>
              <a:t>Orhangazi İrem Kırtasiye </a:t>
            </a:r>
          </a:p>
          <a:p>
            <a:endParaRPr lang="en-GB" dirty="0"/>
          </a:p>
        </p:txBody>
      </p:sp>
    </p:spTree>
    <p:extLst>
      <p:ext uri="{BB962C8B-B14F-4D97-AF65-F5344CB8AC3E}">
        <p14:creationId xmlns:p14="http://schemas.microsoft.com/office/powerpoint/2010/main" val="106779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a:extLst>
              <a:ext uri="{FF2B5EF4-FFF2-40B4-BE49-F238E27FC236}">
                <a16:creationId xmlns:a16="http://schemas.microsoft.com/office/drawing/2014/main" id="{DCF48CFD-A8CB-6BBF-BCCE-56688A6B1543}"/>
              </a:ext>
            </a:extLst>
          </p:cNvPr>
          <p:cNvSpPr>
            <a:spLocks noGrp="1"/>
          </p:cNvSpPr>
          <p:nvPr>
            <p:ph type="title"/>
          </p:nvPr>
        </p:nvSpPr>
        <p:spPr>
          <a:xfrm>
            <a:off x="1117309" y="76200"/>
            <a:ext cx="10157354" cy="1397000"/>
          </a:xfrm>
        </p:spPr>
        <p:txBody>
          <a:bodyPr>
            <a:normAutofit/>
          </a:bodyPr>
          <a:lstStyle/>
          <a:p>
            <a:pPr algn="ctr"/>
            <a:r>
              <a:rPr lang="tr-TR" b="1" dirty="0"/>
              <a:t>DEĞERLENDİRME</a:t>
            </a:r>
          </a:p>
        </p:txBody>
      </p:sp>
      <p:sp>
        <p:nvSpPr>
          <p:cNvPr id="6" name="İçerik Yer Tutucusu 4">
            <a:extLst>
              <a:ext uri="{FF2B5EF4-FFF2-40B4-BE49-F238E27FC236}">
                <a16:creationId xmlns:a16="http://schemas.microsoft.com/office/drawing/2014/main" id="{2A8ECD77-8E6D-DB97-55AC-B6CA8E8CA11B}"/>
              </a:ext>
            </a:extLst>
          </p:cNvPr>
          <p:cNvSpPr>
            <a:spLocks noGrp="1"/>
          </p:cNvSpPr>
          <p:nvPr>
            <p:ph idx="1"/>
          </p:nvPr>
        </p:nvSpPr>
        <p:spPr>
          <a:xfrm>
            <a:off x="1117309" y="1701800"/>
            <a:ext cx="10157354" cy="4470400"/>
          </a:xfrm>
        </p:spPr>
        <p:txBody>
          <a:bodyPr/>
          <a:lstStyle/>
          <a:p>
            <a:r>
              <a:rPr lang="tr-TR" dirty="0"/>
              <a:t>YAD105 dersi değerlendirmesi bir Ara Sınav (Vize) ve bir Yarıyıl Sonu Sınavı (Final) olmak üzere iki aşamada yapılmaktadır.</a:t>
            </a:r>
          </a:p>
          <a:p>
            <a:endParaRPr lang="tr-TR" dirty="0"/>
          </a:p>
        </p:txBody>
      </p:sp>
      <p:graphicFrame>
        <p:nvGraphicFramePr>
          <p:cNvPr id="7" name="İçerik Yer Tutucusu 3">
            <a:extLst>
              <a:ext uri="{FF2B5EF4-FFF2-40B4-BE49-F238E27FC236}">
                <a16:creationId xmlns:a16="http://schemas.microsoft.com/office/drawing/2014/main" id="{86645686-A137-26FB-BF7C-B46C712A1BB9}"/>
              </a:ext>
            </a:extLst>
          </p:cNvPr>
          <p:cNvGraphicFramePr>
            <a:graphicFrameLocks/>
          </p:cNvGraphicFramePr>
          <p:nvPr>
            <p:extLst>
              <p:ext uri="{D42A27DB-BD31-4B8C-83A1-F6EECF244321}">
                <p14:modId xmlns:p14="http://schemas.microsoft.com/office/powerpoint/2010/main" val="4140501232"/>
              </p:ext>
            </p:extLst>
          </p:nvPr>
        </p:nvGraphicFramePr>
        <p:xfrm>
          <a:off x="1269876" y="2708920"/>
          <a:ext cx="9223463" cy="2885319"/>
        </p:xfrm>
        <a:graphic>
          <a:graphicData uri="http://schemas.openxmlformats.org/drawingml/2006/table">
            <a:tbl>
              <a:tblPr firstRow="1" bandRow="1">
                <a:tableStyleId>{3B4B98B0-60AC-42C2-AFA5-B58CD77FA1E5}</a:tableStyleId>
              </a:tblPr>
              <a:tblGrid>
                <a:gridCol w="4110895">
                  <a:extLst>
                    <a:ext uri="{9D8B030D-6E8A-4147-A177-3AD203B41FA5}">
                      <a16:colId xmlns:a16="http://schemas.microsoft.com/office/drawing/2014/main" val="406304290"/>
                    </a:ext>
                  </a:extLst>
                </a:gridCol>
                <a:gridCol w="2808312">
                  <a:extLst>
                    <a:ext uri="{9D8B030D-6E8A-4147-A177-3AD203B41FA5}">
                      <a16:colId xmlns:a16="http://schemas.microsoft.com/office/drawing/2014/main" val="688117520"/>
                    </a:ext>
                  </a:extLst>
                </a:gridCol>
                <a:gridCol w="2304256">
                  <a:extLst>
                    <a:ext uri="{9D8B030D-6E8A-4147-A177-3AD203B41FA5}">
                      <a16:colId xmlns:a16="http://schemas.microsoft.com/office/drawing/2014/main" val="4235041066"/>
                    </a:ext>
                  </a:extLst>
                </a:gridCol>
              </a:tblGrid>
              <a:tr h="966162">
                <a:tc>
                  <a:txBody>
                    <a:bodyPr/>
                    <a:lstStyle/>
                    <a:p>
                      <a:r>
                        <a:rPr lang="tr-TR" dirty="0"/>
                        <a:t>Değerlendirme Aracı</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tr-TR" dirty="0"/>
                        <a:t>Uygulama</a:t>
                      </a:r>
                      <a:r>
                        <a:rPr lang="tr-TR" baseline="0" dirty="0"/>
                        <a:t> Adedi </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tr-TR" dirty="0"/>
                        <a:t>Ağırlık Oranı</a:t>
                      </a:r>
                    </a:p>
                  </a:txBody>
                  <a:tcP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4908594"/>
                  </a:ext>
                </a:extLst>
              </a:tr>
              <a:tr h="952995">
                <a:tc>
                  <a:txBody>
                    <a:bodyPr/>
                    <a:lstStyle/>
                    <a:p>
                      <a:r>
                        <a:rPr lang="tr-TR" dirty="0"/>
                        <a:t>Ara Sınav </a:t>
                      </a:r>
                      <a:r>
                        <a:rPr lang="tr-TR" baseline="0" dirty="0"/>
                        <a:t>(Vize)</a:t>
                      </a:r>
                      <a:endParaRPr lang="tr-TR" dirty="0"/>
                    </a:p>
                  </a:txBody>
                  <a:tcPr>
                    <a:lnL>
                      <a:noFill/>
                    </a:lnL>
                    <a:lnR>
                      <a:noFill/>
                    </a:lnR>
                    <a:lnT w="12700" cmpd="sng">
                      <a:noFill/>
                    </a:lnT>
                    <a:lnB>
                      <a:noFill/>
                    </a:lnB>
                    <a:lnTlToBr w="12700" cmpd="sng">
                      <a:noFill/>
                      <a:prstDash val="solid"/>
                    </a:lnTlToBr>
                    <a:lnBlToTr w="12700" cmpd="sng">
                      <a:noFill/>
                      <a:prstDash val="solid"/>
                    </a:lnBlToTr>
                  </a:tcPr>
                </a:tc>
                <a:tc>
                  <a:txBody>
                    <a:bodyPr/>
                    <a:lstStyle/>
                    <a:p>
                      <a:pPr algn="ctr"/>
                      <a:r>
                        <a:rPr lang="tr-TR" dirty="0"/>
                        <a:t>1</a:t>
                      </a:r>
                    </a:p>
                  </a:txBody>
                  <a:tcPr>
                    <a:lnL>
                      <a:noFill/>
                    </a:lnL>
                    <a:lnR>
                      <a:noFill/>
                    </a:lnR>
                    <a:lnT w="12700" cmpd="sng">
                      <a:noFill/>
                    </a:lnT>
                    <a:lnB>
                      <a:noFill/>
                    </a:lnB>
                    <a:lnTlToBr w="12700" cmpd="sng">
                      <a:noFill/>
                      <a:prstDash val="solid"/>
                    </a:lnTlToBr>
                    <a:lnBlToTr w="12700" cmpd="sng">
                      <a:noFill/>
                      <a:prstDash val="solid"/>
                    </a:lnBlToTr>
                  </a:tcPr>
                </a:tc>
                <a:tc>
                  <a:txBody>
                    <a:bodyPr/>
                    <a:lstStyle/>
                    <a:p>
                      <a:r>
                        <a:rPr lang="tr-TR" dirty="0"/>
                        <a:t>%40</a:t>
                      </a:r>
                    </a:p>
                  </a:txBody>
                  <a:tcP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96281776"/>
                  </a:ext>
                </a:extLst>
              </a:tr>
              <a:tr h="966162">
                <a:tc>
                  <a:txBody>
                    <a:bodyPr/>
                    <a:lstStyle/>
                    <a:p>
                      <a:r>
                        <a:rPr lang="tr-TR" dirty="0"/>
                        <a:t>Yarıyıl Sonu Sınavı (Final)</a:t>
                      </a:r>
                    </a:p>
                  </a:txBody>
                  <a:tcPr>
                    <a:lnL>
                      <a:noFill/>
                    </a:lnL>
                    <a:lnR>
                      <a:noFill/>
                    </a:lnR>
                    <a:lnT>
                      <a:noFill/>
                    </a:lnT>
                    <a:lnB w="12700" cmpd="sng">
                      <a:noFill/>
                    </a:lnB>
                    <a:lnTlToBr w="12700" cmpd="sng">
                      <a:noFill/>
                      <a:prstDash val="solid"/>
                    </a:lnTlToBr>
                    <a:lnBlToTr w="12700" cmpd="sng">
                      <a:noFill/>
                      <a:prstDash val="solid"/>
                    </a:lnBlToTr>
                  </a:tcPr>
                </a:tc>
                <a:tc>
                  <a:txBody>
                    <a:bodyPr/>
                    <a:lstStyle/>
                    <a:p>
                      <a:pPr algn="ctr"/>
                      <a:r>
                        <a:rPr lang="tr-TR" dirty="0"/>
                        <a:t>1</a:t>
                      </a:r>
                    </a:p>
                  </a:txBody>
                  <a:tcPr>
                    <a:lnL>
                      <a:noFill/>
                    </a:lnL>
                    <a:lnR>
                      <a:noFill/>
                    </a:lnR>
                    <a:lnT>
                      <a:noFill/>
                    </a:lnT>
                    <a:lnB w="12700" cmpd="sng">
                      <a:noFill/>
                    </a:lnB>
                    <a:lnTlToBr w="12700" cmpd="sng">
                      <a:noFill/>
                      <a:prstDash val="solid"/>
                    </a:lnTlToBr>
                    <a:lnBlToTr w="12700" cmpd="sng">
                      <a:noFill/>
                      <a:prstDash val="solid"/>
                    </a:lnBlToTr>
                  </a:tcPr>
                </a:tc>
                <a:tc>
                  <a:txBody>
                    <a:bodyPr/>
                    <a:lstStyle/>
                    <a:p>
                      <a:r>
                        <a:rPr lang="tr-TR" dirty="0"/>
                        <a:t>%60</a:t>
                      </a:r>
                    </a:p>
                  </a:txBody>
                  <a:tcP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5923923"/>
                  </a:ext>
                </a:extLst>
              </a:tr>
            </a:tbl>
          </a:graphicData>
        </a:graphic>
      </p:graphicFrame>
    </p:spTree>
    <p:extLst>
      <p:ext uri="{BB962C8B-B14F-4D97-AF65-F5344CB8AC3E}">
        <p14:creationId xmlns:p14="http://schemas.microsoft.com/office/powerpoint/2010/main" val="1246531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6">
            <a:extLst>
              <a:ext uri="{FF2B5EF4-FFF2-40B4-BE49-F238E27FC236}">
                <a16:creationId xmlns:a16="http://schemas.microsoft.com/office/drawing/2014/main" id="{0BAB127A-F609-C13A-F085-8911FA72CA99}"/>
              </a:ext>
            </a:extLst>
          </p:cNvPr>
          <p:cNvSpPr>
            <a:spLocks noGrp="1"/>
          </p:cNvSpPr>
          <p:nvPr>
            <p:ph idx="1"/>
          </p:nvPr>
        </p:nvSpPr>
        <p:spPr>
          <a:xfrm>
            <a:off x="689536" y="1700808"/>
            <a:ext cx="10809751" cy="4470400"/>
          </a:xfrm>
        </p:spPr>
        <p:txBody>
          <a:bodyPr/>
          <a:lstStyle/>
          <a:p>
            <a:r>
              <a:rPr lang="tr-TR" dirty="0"/>
              <a:t>YAD105 Dersi, Sabit Aralıklı Değerlendirme ile değerlendirilmektedir; bağıl değerlendirme/ çan eğrisi </a:t>
            </a:r>
            <a:r>
              <a:rPr lang="tr-TR" b="1" u="sng" dirty="0"/>
              <a:t>uygulanmamaktadır</a:t>
            </a:r>
            <a:r>
              <a:rPr lang="tr-TR" dirty="0"/>
              <a:t>.</a:t>
            </a:r>
          </a:p>
          <a:p>
            <a:r>
              <a:rPr lang="tr-TR" dirty="0"/>
              <a:t>Öğrencilerin bu dersten başarılı sayılabilmesi için, ara sınav notunun %40’ı ve final sınavı notunun %60’ının toplamının </a:t>
            </a:r>
            <a:r>
              <a:rPr lang="tr-TR" b="1" dirty="0"/>
              <a:t>50 ve üzeri</a:t>
            </a:r>
            <a:r>
              <a:rPr lang="tr-TR" dirty="0"/>
              <a:t> olması gerekmektedir. </a:t>
            </a:r>
          </a:p>
          <a:p>
            <a:r>
              <a:rPr lang="tr-TR" dirty="0"/>
              <a:t>Ayrıca, üniversitemizde Yarıyıl Sonu Sınav Limiti (YSSL) uygulaması da bulunmaktadır. YSSL dersimiz için 50’dir. Yani öğrencilerin başarılı olmak için ara sınav notu kaç olursa olsun, final sınavından </a:t>
            </a:r>
            <a:r>
              <a:rPr lang="tr-TR" b="1" dirty="0"/>
              <a:t>en az 50 </a:t>
            </a:r>
            <a:r>
              <a:rPr lang="tr-TR" dirty="0"/>
              <a:t>almaları gerekmektedir.</a:t>
            </a:r>
          </a:p>
        </p:txBody>
      </p:sp>
      <p:sp>
        <p:nvSpPr>
          <p:cNvPr id="6" name="Unvan 1">
            <a:extLst>
              <a:ext uri="{FF2B5EF4-FFF2-40B4-BE49-F238E27FC236}">
                <a16:creationId xmlns:a16="http://schemas.microsoft.com/office/drawing/2014/main" id="{EFC4BC23-A13F-E591-3737-6A18B928C545}"/>
              </a:ext>
            </a:extLst>
          </p:cNvPr>
          <p:cNvSpPr>
            <a:spLocks noGrp="1"/>
          </p:cNvSpPr>
          <p:nvPr>
            <p:ph type="title"/>
          </p:nvPr>
        </p:nvSpPr>
        <p:spPr>
          <a:xfrm>
            <a:off x="1117309" y="76200"/>
            <a:ext cx="10157354" cy="1397000"/>
          </a:xfrm>
        </p:spPr>
        <p:txBody>
          <a:bodyPr>
            <a:normAutofit/>
          </a:bodyPr>
          <a:lstStyle/>
          <a:p>
            <a:pPr algn="ctr"/>
            <a:r>
              <a:rPr lang="tr-TR" b="1" dirty="0"/>
              <a:t>DEĞERLENDİRME</a:t>
            </a:r>
          </a:p>
        </p:txBody>
      </p:sp>
    </p:spTree>
    <p:extLst>
      <p:ext uri="{BB962C8B-B14F-4D97-AF65-F5344CB8AC3E}">
        <p14:creationId xmlns:p14="http://schemas.microsoft.com/office/powerpoint/2010/main" val="2047531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çerik Yer Tutucusu 3">
            <a:extLst>
              <a:ext uri="{FF2B5EF4-FFF2-40B4-BE49-F238E27FC236}">
                <a16:creationId xmlns:a16="http://schemas.microsoft.com/office/drawing/2014/main" id="{D17A0549-DAA2-2EF4-6ECE-4B2D620D86A9}"/>
              </a:ext>
            </a:extLst>
          </p:cNvPr>
          <p:cNvGraphicFramePr>
            <a:graphicFrameLocks noGrp="1"/>
          </p:cNvGraphicFramePr>
          <p:nvPr>
            <p:ph idx="1"/>
            <p:extLst>
              <p:ext uri="{D42A27DB-BD31-4B8C-83A1-F6EECF244321}">
                <p14:modId xmlns:p14="http://schemas.microsoft.com/office/powerpoint/2010/main" val="2065771567"/>
              </p:ext>
            </p:extLst>
          </p:nvPr>
        </p:nvGraphicFramePr>
        <p:xfrm>
          <a:off x="2205980" y="1625600"/>
          <a:ext cx="7617618" cy="4937760"/>
        </p:xfrm>
        <a:graphic>
          <a:graphicData uri="http://schemas.openxmlformats.org/drawingml/2006/table">
            <a:tbl>
              <a:tblPr firstRow="1" bandRow="1">
                <a:tableStyleId>{3B4B98B0-60AC-42C2-AFA5-B58CD77FA1E5}</a:tableStyleId>
              </a:tblPr>
              <a:tblGrid>
                <a:gridCol w="2539206">
                  <a:extLst>
                    <a:ext uri="{9D8B030D-6E8A-4147-A177-3AD203B41FA5}">
                      <a16:colId xmlns:a16="http://schemas.microsoft.com/office/drawing/2014/main" val="121837674"/>
                    </a:ext>
                  </a:extLst>
                </a:gridCol>
                <a:gridCol w="2539206">
                  <a:extLst>
                    <a:ext uri="{9D8B030D-6E8A-4147-A177-3AD203B41FA5}">
                      <a16:colId xmlns:a16="http://schemas.microsoft.com/office/drawing/2014/main" val="1470464806"/>
                    </a:ext>
                  </a:extLst>
                </a:gridCol>
                <a:gridCol w="2539206">
                  <a:extLst>
                    <a:ext uri="{9D8B030D-6E8A-4147-A177-3AD203B41FA5}">
                      <a16:colId xmlns:a16="http://schemas.microsoft.com/office/drawing/2014/main" val="2294178349"/>
                    </a:ext>
                  </a:extLst>
                </a:gridCol>
              </a:tblGrid>
              <a:tr h="370840">
                <a:tc>
                  <a:txBody>
                    <a:bodyPr/>
                    <a:lstStyle/>
                    <a:p>
                      <a:pPr algn="ctr"/>
                      <a:r>
                        <a:rPr lang="tr-TR" dirty="0"/>
                        <a:t>Sayısal Sınav Notu</a:t>
                      </a:r>
                    </a:p>
                  </a:txBody>
                  <a:tcPr>
                    <a:lnL w="12700" cap="flat" cmpd="sng" algn="ctr">
                      <a:solidFill>
                        <a:schemeClr val="accent1">
                          <a:lumMod val="75000"/>
                        </a:schemeClr>
                      </a:solidFill>
                      <a:prstDash val="solid"/>
                      <a:round/>
                      <a:headEnd type="none" w="med" len="med"/>
                      <a:tailEnd type="none" w="med" len="med"/>
                    </a:lnL>
                    <a:lnT w="12700" cap="flat" cmpd="sng" algn="ctr">
                      <a:solidFill>
                        <a:schemeClr val="accent1">
                          <a:lumMod val="75000"/>
                        </a:schemeClr>
                      </a:solidFill>
                      <a:prstDash val="solid"/>
                      <a:round/>
                      <a:headEnd type="none" w="med" len="med"/>
                      <a:tailEnd type="none" w="med" len="med"/>
                    </a:lnT>
                  </a:tcPr>
                </a:tc>
                <a:tc>
                  <a:txBody>
                    <a:bodyPr/>
                    <a:lstStyle/>
                    <a:p>
                      <a:pPr algn="ctr"/>
                      <a:r>
                        <a:rPr lang="tr-TR" dirty="0"/>
                        <a:t>Harf Notu</a:t>
                      </a:r>
                    </a:p>
                  </a:txBody>
                  <a:tcPr>
                    <a:lnT w="12700" cap="flat" cmpd="sng" algn="ctr">
                      <a:solidFill>
                        <a:schemeClr val="accent1">
                          <a:lumMod val="75000"/>
                        </a:schemeClr>
                      </a:solidFill>
                      <a:prstDash val="solid"/>
                      <a:round/>
                      <a:headEnd type="none" w="med" len="med"/>
                      <a:tailEnd type="none" w="med" len="med"/>
                    </a:lnT>
                  </a:tcPr>
                </a:tc>
                <a:tc>
                  <a:txBody>
                    <a:bodyPr/>
                    <a:lstStyle/>
                    <a:p>
                      <a:pPr algn="ctr"/>
                      <a:r>
                        <a:rPr lang="tr-TR" dirty="0"/>
                        <a:t>Ağırlık Katsayısı</a:t>
                      </a:r>
                    </a:p>
                  </a:txBody>
                  <a:tcPr>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tcPr>
                </a:tc>
                <a:extLst>
                  <a:ext uri="{0D108BD9-81ED-4DB2-BD59-A6C34878D82A}">
                    <a16:rowId xmlns:a16="http://schemas.microsoft.com/office/drawing/2014/main" val="67777939"/>
                  </a:ext>
                </a:extLst>
              </a:tr>
              <a:tr h="370840">
                <a:tc>
                  <a:txBody>
                    <a:bodyPr/>
                    <a:lstStyle/>
                    <a:p>
                      <a:pPr algn="ctr"/>
                      <a:r>
                        <a:rPr lang="tr-TR" dirty="0"/>
                        <a:t>85-100</a:t>
                      </a:r>
                    </a:p>
                  </a:txBody>
                  <a:tcPr>
                    <a:lnL w="12700" cap="flat" cmpd="sng" algn="ctr">
                      <a:solidFill>
                        <a:schemeClr val="accent1">
                          <a:lumMod val="75000"/>
                        </a:schemeClr>
                      </a:solidFill>
                      <a:prstDash val="solid"/>
                      <a:round/>
                      <a:headEnd type="none" w="med" len="med"/>
                      <a:tailEnd type="none" w="med" len="med"/>
                    </a:lnL>
                  </a:tcPr>
                </a:tc>
                <a:tc>
                  <a:txBody>
                    <a:bodyPr/>
                    <a:lstStyle/>
                    <a:p>
                      <a:pPr algn="ctr"/>
                      <a:r>
                        <a:rPr lang="tr-TR" dirty="0"/>
                        <a:t>AA</a:t>
                      </a:r>
                    </a:p>
                  </a:txBody>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tr-TR" sz="2400" kern="1200" dirty="0">
                          <a:solidFill>
                            <a:schemeClr val="tx1"/>
                          </a:solidFill>
                          <a:effectLst/>
                          <a:latin typeface="+mn-lt"/>
                          <a:ea typeface="+mn-ea"/>
                          <a:cs typeface="+mn-cs"/>
                        </a:rPr>
                        <a:t>4.0</a:t>
                      </a:r>
                      <a:endParaRPr lang="tr-TR" sz="2400" dirty="0"/>
                    </a:p>
                  </a:txBody>
                  <a:tcPr>
                    <a:lnR w="12700" cap="flat" cmpd="sng" algn="ctr">
                      <a:solidFill>
                        <a:schemeClr val="accent1">
                          <a:lumMod val="75000"/>
                        </a:schemeClr>
                      </a:solidFill>
                      <a:prstDash val="solid"/>
                      <a:round/>
                      <a:headEnd type="none" w="med" len="med"/>
                      <a:tailEnd type="none" w="med" len="med"/>
                    </a:lnR>
                  </a:tcPr>
                </a:tc>
                <a:extLst>
                  <a:ext uri="{0D108BD9-81ED-4DB2-BD59-A6C34878D82A}">
                    <a16:rowId xmlns:a16="http://schemas.microsoft.com/office/drawing/2014/main" val="1822155953"/>
                  </a:ext>
                </a:extLst>
              </a:tr>
              <a:tr h="370840">
                <a:tc>
                  <a:txBody>
                    <a:bodyPr/>
                    <a:lstStyle/>
                    <a:p>
                      <a:pPr algn="ctr"/>
                      <a:r>
                        <a:rPr lang="tr-TR" dirty="0"/>
                        <a:t>80-84</a:t>
                      </a:r>
                    </a:p>
                  </a:txBody>
                  <a:tcPr>
                    <a:lnL w="12700" cap="flat" cmpd="sng" algn="ctr">
                      <a:solidFill>
                        <a:schemeClr val="accent1">
                          <a:lumMod val="75000"/>
                        </a:schemeClr>
                      </a:solidFill>
                      <a:prstDash val="solid"/>
                      <a:round/>
                      <a:headEnd type="none" w="med" len="med"/>
                      <a:tailEnd type="none" w="med" len="med"/>
                    </a:lnL>
                  </a:tcPr>
                </a:tc>
                <a:tc>
                  <a:txBody>
                    <a:bodyPr/>
                    <a:lstStyle/>
                    <a:p>
                      <a:pPr algn="ctr"/>
                      <a:r>
                        <a:rPr lang="tr-TR" dirty="0"/>
                        <a:t>BA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2400" kern="1200" dirty="0">
                          <a:solidFill>
                            <a:schemeClr val="tx1"/>
                          </a:solidFill>
                          <a:effectLst/>
                          <a:latin typeface="+mn-lt"/>
                          <a:ea typeface="+mn-ea"/>
                          <a:cs typeface="+mn-cs"/>
                        </a:rPr>
                        <a:t>3.5</a:t>
                      </a:r>
                      <a:endParaRPr kumimoji="0" lang="tr-TR" sz="2400" b="0" i="0" u="none" strike="noStrike" kern="1200" cap="none" spc="0" normalizeH="0" baseline="0" noProof="0" dirty="0">
                        <a:ln>
                          <a:noFill/>
                        </a:ln>
                        <a:solidFill>
                          <a:prstClr val="black"/>
                        </a:solidFill>
                        <a:effectLst/>
                        <a:uLnTx/>
                        <a:uFillTx/>
                        <a:latin typeface="+mn-lt"/>
                        <a:ea typeface="+mn-ea"/>
                        <a:cs typeface="+mn-cs"/>
                      </a:endParaRPr>
                    </a:p>
                  </a:txBody>
                  <a:tcPr>
                    <a:lnR w="12700" cap="flat" cmpd="sng" algn="ctr">
                      <a:solidFill>
                        <a:schemeClr val="accent1">
                          <a:lumMod val="75000"/>
                        </a:schemeClr>
                      </a:solidFill>
                      <a:prstDash val="solid"/>
                      <a:round/>
                      <a:headEnd type="none" w="med" len="med"/>
                      <a:tailEnd type="none" w="med" len="med"/>
                    </a:lnR>
                  </a:tcPr>
                </a:tc>
                <a:extLst>
                  <a:ext uri="{0D108BD9-81ED-4DB2-BD59-A6C34878D82A}">
                    <a16:rowId xmlns:a16="http://schemas.microsoft.com/office/drawing/2014/main" val="2156178580"/>
                  </a:ext>
                </a:extLst>
              </a:tr>
              <a:tr h="370840">
                <a:tc>
                  <a:txBody>
                    <a:bodyPr/>
                    <a:lstStyle/>
                    <a:p>
                      <a:pPr algn="ctr"/>
                      <a:r>
                        <a:rPr lang="tr-TR" dirty="0"/>
                        <a:t>75-79</a:t>
                      </a:r>
                    </a:p>
                  </a:txBody>
                  <a:tcPr>
                    <a:lnL w="12700" cap="flat" cmpd="sng" algn="ctr">
                      <a:solidFill>
                        <a:schemeClr val="accent1">
                          <a:lumMod val="75000"/>
                        </a:schemeClr>
                      </a:solidFill>
                      <a:prstDash val="solid"/>
                      <a:round/>
                      <a:headEnd type="none" w="med" len="med"/>
                      <a:tailEnd type="none" w="med" len="med"/>
                    </a:lnL>
                  </a:tcPr>
                </a:tc>
                <a:tc>
                  <a:txBody>
                    <a:bodyPr/>
                    <a:lstStyle/>
                    <a:p>
                      <a:pPr algn="ctr"/>
                      <a:r>
                        <a:rPr lang="tr-TR" dirty="0"/>
                        <a:t>BB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2400" kern="1200" dirty="0">
                          <a:solidFill>
                            <a:schemeClr val="tx1"/>
                          </a:solidFill>
                          <a:effectLst/>
                          <a:latin typeface="+mn-lt"/>
                          <a:ea typeface="+mn-ea"/>
                          <a:cs typeface="+mn-cs"/>
                        </a:rPr>
                        <a:t>3.0 </a:t>
                      </a:r>
                      <a:endParaRPr kumimoji="0" lang="tr-TR" sz="2400" b="0" i="0" u="none" strike="noStrike" kern="1200" cap="none" spc="0" normalizeH="0" baseline="0" noProof="0" dirty="0">
                        <a:ln>
                          <a:noFill/>
                        </a:ln>
                        <a:solidFill>
                          <a:prstClr val="black"/>
                        </a:solidFill>
                        <a:effectLst/>
                        <a:uLnTx/>
                        <a:uFillTx/>
                        <a:latin typeface="+mn-lt"/>
                        <a:ea typeface="+mn-ea"/>
                        <a:cs typeface="+mn-cs"/>
                      </a:endParaRPr>
                    </a:p>
                  </a:txBody>
                  <a:tcPr>
                    <a:lnR w="12700" cap="flat" cmpd="sng" algn="ctr">
                      <a:solidFill>
                        <a:schemeClr val="accent1">
                          <a:lumMod val="75000"/>
                        </a:schemeClr>
                      </a:solidFill>
                      <a:prstDash val="solid"/>
                      <a:round/>
                      <a:headEnd type="none" w="med" len="med"/>
                      <a:tailEnd type="none" w="med" len="med"/>
                    </a:lnR>
                  </a:tcPr>
                </a:tc>
                <a:extLst>
                  <a:ext uri="{0D108BD9-81ED-4DB2-BD59-A6C34878D82A}">
                    <a16:rowId xmlns:a16="http://schemas.microsoft.com/office/drawing/2014/main" val="3649406164"/>
                  </a:ext>
                </a:extLst>
              </a:tr>
              <a:tr h="370840">
                <a:tc>
                  <a:txBody>
                    <a:bodyPr/>
                    <a:lstStyle/>
                    <a:p>
                      <a:pPr algn="ctr"/>
                      <a:r>
                        <a:rPr lang="tr-TR" dirty="0"/>
                        <a:t>70-74</a:t>
                      </a:r>
                    </a:p>
                  </a:txBody>
                  <a:tcPr>
                    <a:lnL w="12700" cap="flat" cmpd="sng" algn="ctr">
                      <a:solidFill>
                        <a:schemeClr val="accent1">
                          <a:lumMod val="75000"/>
                        </a:schemeClr>
                      </a:solidFill>
                      <a:prstDash val="solid"/>
                      <a:round/>
                      <a:headEnd type="none" w="med" len="med"/>
                      <a:tailEnd type="none" w="med" len="med"/>
                    </a:lnL>
                  </a:tcPr>
                </a:tc>
                <a:tc>
                  <a:txBody>
                    <a:bodyPr/>
                    <a:lstStyle/>
                    <a:p>
                      <a:pPr algn="ctr"/>
                      <a:r>
                        <a:rPr lang="tr-TR" dirty="0"/>
                        <a:t>CB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2400" kern="1200" dirty="0">
                          <a:solidFill>
                            <a:schemeClr val="tx1"/>
                          </a:solidFill>
                          <a:effectLst/>
                          <a:latin typeface="+mn-lt"/>
                          <a:ea typeface="+mn-ea"/>
                          <a:cs typeface="+mn-cs"/>
                        </a:rPr>
                        <a:t>2.5</a:t>
                      </a:r>
                      <a:endParaRPr kumimoji="0" lang="tr-TR" sz="2400" b="0" i="0" u="none" strike="noStrike" kern="1200" cap="none" spc="0" normalizeH="0" baseline="0" noProof="0" dirty="0">
                        <a:ln>
                          <a:noFill/>
                        </a:ln>
                        <a:solidFill>
                          <a:prstClr val="black"/>
                        </a:solidFill>
                        <a:effectLst/>
                        <a:uLnTx/>
                        <a:uFillTx/>
                        <a:latin typeface="+mn-lt"/>
                        <a:ea typeface="+mn-ea"/>
                        <a:cs typeface="+mn-cs"/>
                      </a:endParaRPr>
                    </a:p>
                  </a:txBody>
                  <a:tcPr>
                    <a:lnR w="12700" cap="flat" cmpd="sng" algn="ctr">
                      <a:solidFill>
                        <a:schemeClr val="accent1">
                          <a:lumMod val="75000"/>
                        </a:schemeClr>
                      </a:solidFill>
                      <a:prstDash val="solid"/>
                      <a:round/>
                      <a:headEnd type="none" w="med" len="med"/>
                      <a:tailEnd type="none" w="med" len="med"/>
                    </a:lnR>
                  </a:tcPr>
                </a:tc>
                <a:extLst>
                  <a:ext uri="{0D108BD9-81ED-4DB2-BD59-A6C34878D82A}">
                    <a16:rowId xmlns:a16="http://schemas.microsoft.com/office/drawing/2014/main" val="2773754389"/>
                  </a:ext>
                </a:extLst>
              </a:tr>
              <a:tr h="370840">
                <a:tc>
                  <a:txBody>
                    <a:bodyPr/>
                    <a:lstStyle/>
                    <a:p>
                      <a:pPr algn="ctr"/>
                      <a:r>
                        <a:rPr lang="tr-TR" dirty="0"/>
                        <a:t>60-69</a:t>
                      </a:r>
                    </a:p>
                  </a:txBody>
                  <a:tcPr>
                    <a:lnL w="12700" cap="flat" cmpd="sng" algn="ctr">
                      <a:solidFill>
                        <a:schemeClr val="accent1">
                          <a:lumMod val="75000"/>
                        </a:schemeClr>
                      </a:solidFill>
                      <a:prstDash val="solid"/>
                      <a:round/>
                      <a:headEnd type="none" w="med" len="med"/>
                      <a:tailEnd type="none" w="med" len="med"/>
                    </a:lnL>
                  </a:tcPr>
                </a:tc>
                <a:tc>
                  <a:txBody>
                    <a:bodyPr/>
                    <a:lstStyle/>
                    <a:p>
                      <a:pPr algn="ctr"/>
                      <a:r>
                        <a:rPr lang="tr-TR" dirty="0"/>
                        <a:t>CC</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2400" kern="1200" dirty="0">
                          <a:solidFill>
                            <a:schemeClr val="tx1"/>
                          </a:solidFill>
                          <a:effectLst/>
                          <a:latin typeface="+mn-lt"/>
                          <a:ea typeface="+mn-ea"/>
                          <a:cs typeface="+mn-cs"/>
                        </a:rPr>
                        <a:t>2.0</a:t>
                      </a:r>
                      <a:endParaRPr kumimoji="0" lang="tr-TR" sz="2400" b="0" i="0" u="none" strike="noStrike" kern="1200" cap="none" spc="0" normalizeH="0" baseline="0" noProof="0" dirty="0">
                        <a:ln>
                          <a:noFill/>
                        </a:ln>
                        <a:solidFill>
                          <a:prstClr val="black"/>
                        </a:solidFill>
                        <a:effectLst/>
                        <a:uLnTx/>
                        <a:uFillTx/>
                        <a:latin typeface="+mn-lt"/>
                        <a:ea typeface="+mn-ea"/>
                        <a:cs typeface="+mn-cs"/>
                      </a:endParaRPr>
                    </a:p>
                  </a:txBody>
                  <a:tcPr>
                    <a:lnR w="12700" cap="flat" cmpd="sng" algn="ctr">
                      <a:solidFill>
                        <a:schemeClr val="accent1">
                          <a:lumMod val="75000"/>
                        </a:schemeClr>
                      </a:solidFill>
                      <a:prstDash val="solid"/>
                      <a:round/>
                      <a:headEnd type="none" w="med" len="med"/>
                      <a:tailEnd type="none" w="med" len="med"/>
                    </a:lnR>
                  </a:tcPr>
                </a:tc>
                <a:extLst>
                  <a:ext uri="{0D108BD9-81ED-4DB2-BD59-A6C34878D82A}">
                    <a16:rowId xmlns:a16="http://schemas.microsoft.com/office/drawing/2014/main" val="3808530990"/>
                  </a:ext>
                </a:extLst>
              </a:tr>
              <a:tr h="370840">
                <a:tc>
                  <a:txBody>
                    <a:bodyPr/>
                    <a:lstStyle/>
                    <a:p>
                      <a:pPr algn="ctr"/>
                      <a:r>
                        <a:rPr lang="tr-TR" dirty="0"/>
                        <a:t>55-59</a:t>
                      </a:r>
                    </a:p>
                  </a:txBody>
                  <a:tcPr>
                    <a:lnL w="12700" cap="flat" cmpd="sng" algn="ctr">
                      <a:solidFill>
                        <a:schemeClr val="accent1">
                          <a:lumMod val="75000"/>
                        </a:schemeClr>
                      </a:solidFill>
                      <a:prstDash val="solid"/>
                      <a:round/>
                      <a:headEnd type="none" w="med" len="med"/>
                      <a:tailEnd type="none" w="med" len="med"/>
                    </a:lnL>
                  </a:tcPr>
                </a:tc>
                <a:tc>
                  <a:txBody>
                    <a:bodyPr/>
                    <a:lstStyle/>
                    <a:p>
                      <a:pPr algn="ctr"/>
                      <a:r>
                        <a:rPr lang="tr-TR" dirty="0"/>
                        <a:t>DC</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2400" kern="1200" dirty="0">
                          <a:solidFill>
                            <a:schemeClr val="tx1"/>
                          </a:solidFill>
                          <a:effectLst/>
                          <a:latin typeface="+mn-lt"/>
                          <a:ea typeface="+mn-ea"/>
                          <a:cs typeface="+mn-cs"/>
                        </a:rPr>
                        <a:t>1.5</a:t>
                      </a:r>
                      <a:endParaRPr kumimoji="0" lang="tr-TR" sz="2400" b="0" i="0" u="none" strike="noStrike" kern="1200" cap="none" spc="0" normalizeH="0" baseline="0" noProof="0" dirty="0">
                        <a:ln>
                          <a:noFill/>
                        </a:ln>
                        <a:solidFill>
                          <a:prstClr val="black"/>
                        </a:solidFill>
                        <a:effectLst/>
                        <a:uLnTx/>
                        <a:uFillTx/>
                        <a:latin typeface="+mn-lt"/>
                        <a:ea typeface="+mn-ea"/>
                        <a:cs typeface="+mn-cs"/>
                      </a:endParaRPr>
                    </a:p>
                  </a:txBody>
                  <a:tcPr>
                    <a:lnR w="12700" cap="flat" cmpd="sng" algn="ctr">
                      <a:solidFill>
                        <a:schemeClr val="accent1">
                          <a:lumMod val="75000"/>
                        </a:schemeClr>
                      </a:solidFill>
                      <a:prstDash val="solid"/>
                      <a:round/>
                      <a:headEnd type="none" w="med" len="med"/>
                      <a:tailEnd type="none" w="med" len="med"/>
                    </a:lnR>
                  </a:tcPr>
                </a:tc>
                <a:extLst>
                  <a:ext uri="{0D108BD9-81ED-4DB2-BD59-A6C34878D82A}">
                    <a16:rowId xmlns:a16="http://schemas.microsoft.com/office/drawing/2014/main" val="245734372"/>
                  </a:ext>
                </a:extLst>
              </a:tr>
              <a:tr h="370840">
                <a:tc>
                  <a:txBody>
                    <a:bodyPr/>
                    <a:lstStyle/>
                    <a:p>
                      <a:pPr algn="ctr"/>
                      <a:r>
                        <a:rPr lang="tr-TR" dirty="0"/>
                        <a:t>50-54</a:t>
                      </a:r>
                    </a:p>
                  </a:txBody>
                  <a:tcPr>
                    <a:lnL w="12700" cap="flat" cmpd="sng" algn="ctr">
                      <a:solidFill>
                        <a:schemeClr val="accent1">
                          <a:lumMod val="75000"/>
                        </a:schemeClr>
                      </a:solidFill>
                      <a:prstDash val="solid"/>
                      <a:round/>
                      <a:headEnd type="none" w="med" len="med"/>
                      <a:tailEnd type="none" w="med" len="med"/>
                    </a:lnL>
                  </a:tcPr>
                </a:tc>
                <a:tc>
                  <a:txBody>
                    <a:bodyPr/>
                    <a:lstStyle/>
                    <a:p>
                      <a:pPr algn="ctr"/>
                      <a:r>
                        <a:rPr lang="tr-TR" dirty="0"/>
                        <a:t>DD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2400" kern="1200" dirty="0">
                          <a:solidFill>
                            <a:schemeClr val="tx1"/>
                          </a:solidFill>
                          <a:effectLst/>
                          <a:latin typeface="+mn-lt"/>
                          <a:ea typeface="+mn-ea"/>
                          <a:cs typeface="+mn-cs"/>
                        </a:rPr>
                        <a:t>1.0</a:t>
                      </a:r>
                      <a:endParaRPr kumimoji="0" lang="tr-TR" sz="2400" b="0" i="0" u="none" strike="noStrike" kern="1200" cap="none" spc="0" normalizeH="0" baseline="0" noProof="0" dirty="0">
                        <a:ln>
                          <a:noFill/>
                        </a:ln>
                        <a:solidFill>
                          <a:prstClr val="black"/>
                        </a:solidFill>
                        <a:effectLst/>
                        <a:uLnTx/>
                        <a:uFillTx/>
                        <a:latin typeface="+mn-lt"/>
                        <a:ea typeface="+mn-ea"/>
                        <a:cs typeface="+mn-cs"/>
                      </a:endParaRPr>
                    </a:p>
                  </a:txBody>
                  <a:tcPr>
                    <a:lnR w="12700" cap="flat" cmpd="sng" algn="ctr">
                      <a:solidFill>
                        <a:schemeClr val="accent1">
                          <a:lumMod val="75000"/>
                        </a:schemeClr>
                      </a:solidFill>
                      <a:prstDash val="solid"/>
                      <a:round/>
                      <a:headEnd type="none" w="med" len="med"/>
                      <a:tailEnd type="none" w="med" len="med"/>
                    </a:lnR>
                  </a:tcPr>
                </a:tc>
                <a:extLst>
                  <a:ext uri="{0D108BD9-81ED-4DB2-BD59-A6C34878D82A}">
                    <a16:rowId xmlns:a16="http://schemas.microsoft.com/office/drawing/2014/main" val="2673171796"/>
                  </a:ext>
                </a:extLst>
              </a:tr>
              <a:tr h="370840">
                <a:tc>
                  <a:txBody>
                    <a:bodyPr/>
                    <a:lstStyle/>
                    <a:p>
                      <a:pPr algn="ctr"/>
                      <a:r>
                        <a:rPr lang="tr-TR" dirty="0"/>
                        <a:t>40-49</a:t>
                      </a:r>
                    </a:p>
                  </a:txBody>
                  <a:tcPr>
                    <a:lnL w="12700" cap="flat" cmpd="sng" algn="ctr">
                      <a:solidFill>
                        <a:schemeClr val="accent1">
                          <a:lumMod val="75000"/>
                        </a:schemeClr>
                      </a:solidFill>
                      <a:prstDash val="solid"/>
                      <a:round/>
                      <a:headEnd type="none" w="med" len="med"/>
                      <a:tailEnd type="none" w="med" len="med"/>
                    </a:lnL>
                  </a:tcPr>
                </a:tc>
                <a:tc>
                  <a:txBody>
                    <a:bodyPr/>
                    <a:lstStyle/>
                    <a:p>
                      <a:pPr algn="ctr"/>
                      <a:r>
                        <a:rPr lang="tr-TR" dirty="0"/>
                        <a:t>FD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2400" kern="1200" dirty="0">
                          <a:solidFill>
                            <a:schemeClr val="tx1"/>
                          </a:solidFill>
                          <a:effectLst/>
                          <a:latin typeface="+mn-lt"/>
                          <a:ea typeface="+mn-ea"/>
                          <a:cs typeface="+mn-cs"/>
                        </a:rPr>
                        <a:t>0.5</a:t>
                      </a:r>
                      <a:endParaRPr kumimoji="0" lang="tr-TR" sz="2400" b="0" i="0" u="none" strike="noStrike" kern="1200" cap="none" spc="0" normalizeH="0" baseline="0" noProof="0" dirty="0">
                        <a:ln>
                          <a:noFill/>
                        </a:ln>
                        <a:solidFill>
                          <a:prstClr val="black"/>
                        </a:solidFill>
                        <a:effectLst/>
                        <a:uLnTx/>
                        <a:uFillTx/>
                        <a:latin typeface="+mn-lt"/>
                        <a:ea typeface="+mn-ea"/>
                        <a:cs typeface="+mn-cs"/>
                      </a:endParaRPr>
                    </a:p>
                  </a:txBody>
                  <a:tcPr>
                    <a:lnR w="12700" cap="flat" cmpd="sng" algn="ctr">
                      <a:solidFill>
                        <a:schemeClr val="accent1">
                          <a:lumMod val="75000"/>
                        </a:schemeClr>
                      </a:solidFill>
                      <a:prstDash val="solid"/>
                      <a:round/>
                      <a:headEnd type="none" w="med" len="med"/>
                      <a:tailEnd type="none" w="med" len="med"/>
                    </a:lnR>
                  </a:tcPr>
                </a:tc>
                <a:extLst>
                  <a:ext uri="{0D108BD9-81ED-4DB2-BD59-A6C34878D82A}">
                    <a16:rowId xmlns:a16="http://schemas.microsoft.com/office/drawing/2014/main" val="1790966032"/>
                  </a:ext>
                </a:extLst>
              </a:tr>
              <a:tr h="370840">
                <a:tc>
                  <a:txBody>
                    <a:bodyPr/>
                    <a:lstStyle/>
                    <a:p>
                      <a:pPr algn="ctr"/>
                      <a:r>
                        <a:rPr lang="tr-TR" dirty="0"/>
                        <a:t>0-39</a:t>
                      </a:r>
                    </a:p>
                  </a:txBody>
                  <a:tcPr>
                    <a:lnL w="12700" cap="flat" cmpd="sng" algn="ctr">
                      <a:solidFill>
                        <a:schemeClr val="accent1">
                          <a:lumMod val="75000"/>
                        </a:schemeClr>
                      </a:solidFill>
                      <a:prstDash val="solid"/>
                      <a:round/>
                      <a:headEnd type="none" w="med" len="med"/>
                      <a:tailEnd type="none" w="med" len="med"/>
                    </a:lnL>
                    <a:lnB w="12700" cap="flat" cmpd="sng" algn="ctr">
                      <a:solidFill>
                        <a:schemeClr val="accent1">
                          <a:lumMod val="75000"/>
                        </a:schemeClr>
                      </a:solidFill>
                      <a:prstDash val="solid"/>
                      <a:round/>
                      <a:headEnd type="none" w="med" len="med"/>
                      <a:tailEnd type="none" w="med" len="med"/>
                    </a:lnB>
                  </a:tcPr>
                </a:tc>
                <a:tc>
                  <a:txBody>
                    <a:bodyPr/>
                    <a:lstStyle/>
                    <a:p>
                      <a:pPr algn="ctr"/>
                      <a:r>
                        <a:rPr lang="tr-TR" dirty="0"/>
                        <a:t>FF</a:t>
                      </a:r>
                    </a:p>
                  </a:txBody>
                  <a:tcPr>
                    <a:lnB w="12700" cap="flat" cmpd="sng" algn="ctr">
                      <a:solidFill>
                        <a:schemeClr val="accent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r-TR" sz="2400" kern="1200" dirty="0">
                          <a:solidFill>
                            <a:schemeClr val="tx1"/>
                          </a:solidFill>
                          <a:effectLst/>
                          <a:latin typeface="+mn-lt"/>
                          <a:ea typeface="+mn-ea"/>
                          <a:cs typeface="+mn-cs"/>
                        </a:rPr>
                        <a:t>0.0</a:t>
                      </a:r>
                      <a:endParaRPr kumimoji="0" lang="tr-TR" sz="2400" b="0" i="0" u="none" strike="noStrike" kern="1200" cap="none" spc="0" normalizeH="0" baseline="0" noProof="0" dirty="0">
                        <a:ln>
                          <a:noFill/>
                        </a:ln>
                        <a:solidFill>
                          <a:prstClr val="black"/>
                        </a:solidFill>
                        <a:effectLst/>
                        <a:uLnTx/>
                        <a:uFillTx/>
                        <a:latin typeface="+mn-lt"/>
                        <a:ea typeface="+mn-ea"/>
                        <a:cs typeface="+mn-cs"/>
                      </a:endParaRPr>
                    </a:p>
                  </a:txBody>
                  <a:tcPr>
                    <a:lnR w="12700" cap="flat" cmpd="sng" algn="ctr">
                      <a:solidFill>
                        <a:schemeClr val="accent1">
                          <a:lumMod val="75000"/>
                        </a:schemeClr>
                      </a:solidFill>
                      <a:prstDash val="solid"/>
                      <a:round/>
                      <a:headEnd type="none" w="med" len="med"/>
                      <a:tailEnd type="none" w="med" len="med"/>
                    </a:lnR>
                    <a:lnB w="12700" cap="flat" cmpd="sng" algn="ctr">
                      <a:solidFill>
                        <a:schemeClr val="accent1">
                          <a:lumMod val="75000"/>
                        </a:schemeClr>
                      </a:solidFill>
                      <a:prstDash val="solid"/>
                      <a:round/>
                      <a:headEnd type="none" w="med" len="med"/>
                      <a:tailEnd type="none" w="med" len="med"/>
                    </a:lnB>
                  </a:tcPr>
                </a:tc>
                <a:extLst>
                  <a:ext uri="{0D108BD9-81ED-4DB2-BD59-A6C34878D82A}">
                    <a16:rowId xmlns:a16="http://schemas.microsoft.com/office/drawing/2014/main" val="751372344"/>
                  </a:ext>
                </a:extLst>
              </a:tr>
            </a:tbl>
          </a:graphicData>
        </a:graphic>
      </p:graphicFrame>
      <p:sp>
        <p:nvSpPr>
          <p:cNvPr id="9" name="Unvan 1">
            <a:extLst>
              <a:ext uri="{FF2B5EF4-FFF2-40B4-BE49-F238E27FC236}">
                <a16:creationId xmlns:a16="http://schemas.microsoft.com/office/drawing/2014/main" id="{4C048B21-9A32-EF20-57F8-DCC16FE8E932}"/>
              </a:ext>
            </a:extLst>
          </p:cNvPr>
          <p:cNvSpPr txBox="1">
            <a:spLocks/>
          </p:cNvSpPr>
          <p:nvPr/>
        </p:nvSpPr>
        <p:spPr>
          <a:xfrm>
            <a:off x="1128669" y="479872"/>
            <a:ext cx="10157354" cy="716880"/>
          </a:xfrm>
          <a:prstGeom prst="rect">
            <a:avLst/>
          </a:prstGeom>
        </p:spPr>
        <p:txBody>
          <a:bodyPr vert="horz" lIns="121899" tIns="60949" rIns="121899" bIns="60949" rtlCol="0" anchor="b">
            <a:normAutofit/>
          </a:bodyPr>
          <a:lst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Century Gothic" panose="020B0502020202020204" pitchFamily="34" charset="0"/>
                <a:ea typeface="+mj-ea"/>
                <a:cs typeface="+mj-cs"/>
              </a:defRPr>
            </a:lvl1pPr>
          </a:lstStyle>
          <a:p>
            <a:pPr algn="ctr"/>
            <a:r>
              <a:rPr lang="tr-TR" sz="3600" b="1" dirty="0"/>
              <a:t>SABİT ARALIKLI DEĞERLENDİRME TABLOSU</a:t>
            </a:r>
          </a:p>
        </p:txBody>
      </p:sp>
    </p:spTree>
    <p:extLst>
      <p:ext uri="{BB962C8B-B14F-4D97-AF65-F5344CB8AC3E}">
        <p14:creationId xmlns:p14="http://schemas.microsoft.com/office/powerpoint/2010/main" val="297959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Başlık 1">
            <a:extLst>
              <a:ext uri="{FF2B5EF4-FFF2-40B4-BE49-F238E27FC236}">
                <a16:creationId xmlns:a16="http://schemas.microsoft.com/office/drawing/2014/main" id="{D681899D-F1E5-C7BF-48AA-2D41C6D1D1C7}"/>
              </a:ext>
            </a:extLst>
          </p:cNvPr>
          <p:cNvSpPr txBox="1">
            <a:spLocks/>
          </p:cNvSpPr>
          <p:nvPr/>
        </p:nvSpPr>
        <p:spPr>
          <a:xfrm>
            <a:off x="1629916" y="1052736"/>
            <a:ext cx="7674777" cy="3730599"/>
          </a:xfrm>
          <a:prstGeom prst="rect">
            <a:avLst/>
          </a:prstGeom>
        </p:spPr>
        <p:txBody>
          <a:bodyPr vert="horz" lIns="121899" tIns="60949" rIns="121899" bIns="60949" rtlCol="0" anchor="b">
            <a:normAutofit/>
          </a:bodyPr>
          <a:lstStyle>
            <a:lvl1pPr algn="l" defTabSz="1218987" rtl="0" eaLnBrk="1" latinLnBrk="0" hangingPunct="1">
              <a:lnSpc>
                <a:spcPct val="85000"/>
              </a:lnSpc>
              <a:spcBef>
                <a:spcPct val="0"/>
              </a:spcBef>
              <a:buNone/>
              <a:tabLst/>
              <a:defRPr sz="4400" kern="1200" cap="none" baseline="0">
                <a:solidFill>
                  <a:schemeClr val="tx1"/>
                </a:solidFill>
                <a:latin typeface="+mj-lt"/>
                <a:ea typeface="+mj-ea"/>
                <a:cs typeface="+mj-cs"/>
              </a:defRPr>
            </a:lvl1pPr>
          </a:lstStyle>
          <a:p>
            <a:pPr marL="304165" indent="-304165">
              <a:lnSpc>
                <a:spcPct val="95000"/>
              </a:lnSpc>
              <a:spcBef>
                <a:spcPts val="1866"/>
              </a:spcBef>
              <a:defRPr/>
            </a:pPr>
            <a:r>
              <a:rPr lang="tr-TR" sz="2400" b="1" dirty="0">
                <a:latin typeface="Century Gothic"/>
                <a:ea typeface="+mn-ea"/>
                <a:cs typeface="+mn-cs"/>
              </a:rPr>
              <a:t>Sınav Sonuçlarına İtiraz; </a:t>
            </a:r>
            <a:br>
              <a:rPr lang="tr-TR" sz="2400" b="1" dirty="0">
                <a:latin typeface="Century Gothic" panose="020B0502020202020204" pitchFamily="34" charset="0"/>
                <a:ea typeface="+mn-ea"/>
                <a:cs typeface="+mn-cs"/>
              </a:rPr>
            </a:br>
            <a:br>
              <a:rPr lang="tr-TR" sz="2400" b="1" dirty="0">
                <a:latin typeface="Century Gothic" panose="020B0502020202020204" pitchFamily="34" charset="0"/>
                <a:ea typeface="+mn-ea"/>
                <a:cs typeface="+mn-cs"/>
              </a:rPr>
            </a:br>
            <a:r>
              <a:rPr lang="tr-TR" sz="2400" dirty="0">
                <a:latin typeface="Century Gothic"/>
                <a:ea typeface="+mn-ea"/>
                <a:cs typeface="+mn-cs"/>
              </a:rPr>
              <a:t>Sınavlarda maddi hata olduğunu düşünen öğrenciler, sınav sonuçlarının ilanını takip eden üç iş günü içinde dersin yürütücüsü ile iletişime geçebilirler. </a:t>
            </a:r>
            <a:endParaRPr lang="tr-TR" dirty="0">
              <a:latin typeface="Century Gothic"/>
            </a:endParaRPr>
          </a:p>
        </p:txBody>
      </p:sp>
    </p:spTree>
    <p:extLst>
      <p:ext uri="{BB962C8B-B14F-4D97-AF65-F5344CB8AC3E}">
        <p14:creationId xmlns:p14="http://schemas.microsoft.com/office/powerpoint/2010/main" val="1171281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89641FCD-5262-3964-F696-CCB823AD3782}"/>
              </a:ext>
            </a:extLst>
          </p:cNvPr>
          <p:cNvSpPr txBox="1">
            <a:spLocks/>
          </p:cNvSpPr>
          <p:nvPr/>
        </p:nvSpPr>
        <p:spPr>
          <a:xfrm>
            <a:off x="-242292" y="374953"/>
            <a:ext cx="8074042" cy="86508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tabLst/>
              <a:defRPr sz="5400" kern="1200" cap="none" baseline="0">
                <a:solidFill>
                  <a:schemeClr val="tx1"/>
                </a:solidFill>
                <a:latin typeface="+mj-lt"/>
                <a:ea typeface="+mj-ea"/>
                <a:cs typeface="+mj-cs"/>
              </a:defRPr>
            </a:lvl1pPr>
          </a:lstStyle>
          <a:p>
            <a:pPr algn="ctr"/>
            <a:r>
              <a:rPr lang="tr-TR" sz="2400" b="1" dirty="0"/>
              <a:t>Öğrenci Mazeretleri ve Sağlık Raporları</a:t>
            </a:r>
          </a:p>
        </p:txBody>
      </p:sp>
      <p:sp>
        <p:nvSpPr>
          <p:cNvPr id="3" name="İçerik Yer Tutucusu 2">
            <a:extLst>
              <a:ext uri="{FF2B5EF4-FFF2-40B4-BE49-F238E27FC236}">
                <a16:creationId xmlns:a16="http://schemas.microsoft.com/office/drawing/2014/main" id="{1645A85A-130F-353B-8F90-AA5CC72EA5F8}"/>
              </a:ext>
            </a:extLst>
          </p:cNvPr>
          <p:cNvSpPr txBox="1">
            <a:spLocks/>
          </p:cNvSpPr>
          <p:nvPr/>
        </p:nvSpPr>
        <p:spPr>
          <a:xfrm>
            <a:off x="909837" y="1268760"/>
            <a:ext cx="10371264" cy="5525046"/>
          </a:xfrm>
          <a:prstGeom prst="rect">
            <a:avLst/>
          </a:prstGeom>
        </p:spPr>
        <p:txBody>
          <a:bodyPr vert="horz" lIns="121899" tIns="60949" rIns="121899" bIns="60949" rtlCol="0">
            <a:normAutofit/>
          </a:bodyPr>
          <a:lstStyle>
            <a:lvl1pPr marL="0" indent="0" algn="l" defTabSz="1218987" rtl="0" eaLnBrk="1" latinLnBrk="0" hangingPunct="1">
              <a:lnSpc>
                <a:spcPct val="95000"/>
              </a:lnSpc>
              <a:spcBef>
                <a:spcPts val="0"/>
              </a:spcBef>
              <a:buSzPct val="100000"/>
              <a:buFont typeface="Arial" pitchFamily="34" charset="0"/>
              <a:buNone/>
              <a:defRPr sz="2800" b="0" kern="1200">
                <a:solidFill>
                  <a:schemeClr val="tx1"/>
                </a:solidFill>
                <a:latin typeface="+mn-lt"/>
                <a:ea typeface="+mn-ea"/>
                <a:cs typeface="+mn-cs"/>
              </a:defRPr>
            </a:lvl1pPr>
            <a:lvl2pPr marL="609493" indent="0" algn="ctr" defTabSz="1218987" rtl="0" eaLnBrk="1" latinLnBrk="0" hangingPunct="1">
              <a:lnSpc>
                <a:spcPct val="95000"/>
              </a:lnSpc>
              <a:spcBef>
                <a:spcPts val="1066"/>
              </a:spcBef>
              <a:buSzPct val="100000"/>
              <a:buFont typeface="Century Gothic" pitchFamily="34" charset="0"/>
              <a:buNone/>
              <a:defRPr sz="2000" kern="1200">
                <a:solidFill>
                  <a:schemeClr val="tx1">
                    <a:tint val="75000"/>
                  </a:schemeClr>
                </a:solidFill>
                <a:latin typeface="+mn-lt"/>
                <a:ea typeface="+mn-ea"/>
                <a:cs typeface="+mn-cs"/>
              </a:defRPr>
            </a:lvl2pPr>
            <a:lvl3pPr marL="1218987" indent="0" algn="ctr" defTabSz="1218987" rtl="0" eaLnBrk="1" latinLnBrk="0" hangingPunct="1">
              <a:lnSpc>
                <a:spcPct val="95000"/>
              </a:lnSpc>
              <a:spcBef>
                <a:spcPts val="1066"/>
              </a:spcBef>
              <a:buSzPct val="100000"/>
              <a:buFont typeface="Century Gothic" pitchFamily="34" charset="0"/>
              <a:buNone/>
              <a:defRPr sz="1800" kern="1200">
                <a:solidFill>
                  <a:schemeClr val="tx1">
                    <a:tint val="75000"/>
                  </a:schemeClr>
                </a:solidFill>
                <a:latin typeface="+mn-lt"/>
                <a:ea typeface="+mn-ea"/>
                <a:cs typeface="+mn-cs"/>
              </a:defRPr>
            </a:lvl3pPr>
            <a:lvl4pPr marL="1828480" indent="0" algn="ctr" defTabSz="1218987" rtl="0" eaLnBrk="1" latinLnBrk="0" hangingPunct="1">
              <a:lnSpc>
                <a:spcPct val="95000"/>
              </a:lnSpc>
              <a:spcBef>
                <a:spcPts val="1066"/>
              </a:spcBef>
              <a:buSzPct val="100000"/>
              <a:buFont typeface="Century Gothic" pitchFamily="34" charset="0"/>
              <a:buNone/>
              <a:defRPr sz="1800" kern="1200">
                <a:solidFill>
                  <a:schemeClr val="tx1">
                    <a:tint val="75000"/>
                  </a:schemeClr>
                </a:solidFill>
                <a:latin typeface="+mn-lt"/>
                <a:ea typeface="+mn-ea"/>
                <a:cs typeface="+mn-cs"/>
              </a:defRPr>
            </a:lvl4pPr>
            <a:lvl5pPr marL="2437973" indent="0" algn="ctr" defTabSz="1218987" rtl="0" eaLnBrk="1" latinLnBrk="0" hangingPunct="1">
              <a:lnSpc>
                <a:spcPct val="95000"/>
              </a:lnSpc>
              <a:spcBef>
                <a:spcPts val="1066"/>
              </a:spcBef>
              <a:buSzPct val="100000"/>
              <a:buFont typeface="Century Gothic" pitchFamily="34" charset="0"/>
              <a:buNone/>
              <a:defRPr sz="1800" kern="1200">
                <a:solidFill>
                  <a:schemeClr val="tx1">
                    <a:tint val="75000"/>
                  </a:schemeClr>
                </a:solidFill>
                <a:latin typeface="+mn-lt"/>
                <a:ea typeface="+mn-ea"/>
                <a:cs typeface="+mn-cs"/>
              </a:defRPr>
            </a:lvl5pPr>
            <a:lvl6pPr marL="3047467"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6pPr>
            <a:lvl7pPr marL="3656960"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7pPr>
            <a:lvl8pPr marL="4266453"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8pPr>
            <a:lvl9pPr marL="4875947" indent="0" algn="ctr" defTabSz="1218987" rtl="0" eaLnBrk="1" latinLnBrk="0" hangingPunct="1">
              <a:lnSpc>
                <a:spcPct val="95000"/>
              </a:lnSpc>
              <a:spcBef>
                <a:spcPts val="1066"/>
              </a:spcBef>
              <a:buSzPct val="90000"/>
              <a:buFont typeface="Century Gothic" pitchFamily="34" charset="0"/>
              <a:buNone/>
              <a:defRPr sz="1800" kern="1200">
                <a:solidFill>
                  <a:schemeClr val="tx1">
                    <a:tint val="75000"/>
                  </a:schemeClr>
                </a:solidFill>
                <a:latin typeface="+mn-lt"/>
                <a:ea typeface="+mn-ea"/>
                <a:cs typeface="+mn-cs"/>
              </a:defRPr>
            </a:lvl9pPr>
          </a:lstStyle>
          <a:p>
            <a:pPr marL="342900" indent="-342900">
              <a:buFont typeface="Arial" panose="020B0604020202020204" pitchFamily="34" charset="0"/>
              <a:buChar char="•"/>
            </a:pPr>
            <a:r>
              <a:rPr lang="tr-TR" sz="2400" dirty="0"/>
              <a:t>Öğrencilerimizin mazeretleri ya da sağlık sorunları nedeniyle katılamadıkları sınavlar olması durumunda, mazeretlerini gösterir belge veya sağlık raporları ile </a:t>
            </a:r>
            <a:r>
              <a:rPr lang="tr-TR" sz="2400" dirty="0">
                <a:hlinkClick r:id="rId2"/>
              </a:rPr>
              <a:t>ogrenciydyo@uludag.edu.tr</a:t>
            </a:r>
            <a:r>
              <a:rPr lang="tr-TR" sz="2400" dirty="0"/>
              <a:t> adresine</a:t>
            </a:r>
            <a:r>
              <a:rPr lang="en-US" sz="2400" dirty="0"/>
              <a:t> </a:t>
            </a:r>
            <a:r>
              <a:rPr lang="tr-TR" sz="2400" dirty="0"/>
              <a:t>başvurmaları gerekmektedir. (</a:t>
            </a:r>
            <a:r>
              <a:rPr lang="en-US" sz="2400" dirty="0"/>
              <a:t>Online </a:t>
            </a:r>
            <a:r>
              <a:rPr lang="en-US" sz="2400" dirty="0" err="1"/>
              <a:t>sınavlarda</a:t>
            </a:r>
            <a:r>
              <a:rPr lang="en-US" sz="2400" dirty="0"/>
              <a:t> </a:t>
            </a:r>
            <a:r>
              <a:rPr lang="en-US" sz="2400" dirty="0" err="1"/>
              <a:t>ise</a:t>
            </a:r>
            <a:r>
              <a:rPr lang="en-US" sz="2400" dirty="0"/>
              <a:t>; </a:t>
            </a:r>
            <a:r>
              <a:rPr lang="en-US" sz="2400" dirty="0" err="1"/>
              <a:t>sistem</a:t>
            </a:r>
            <a:r>
              <a:rPr lang="en-US" sz="2400" dirty="0"/>
              <a:t> </a:t>
            </a:r>
            <a:r>
              <a:rPr lang="en-US" sz="2400" dirty="0" err="1"/>
              <a:t>kaynaklı</a:t>
            </a:r>
            <a:r>
              <a:rPr lang="en-US" sz="2400" dirty="0"/>
              <a:t> </a:t>
            </a:r>
            <a:r>
              <a:rPr lang="en-US" sz="2400" dirty="0" err="1"/>
              <a:t>sorun</a:t>
            </a:r>
            <a:r>
              <a:rPr lang="en-US" sz="2400" dirty="0"/>
              <a:t> </a:t>
            </a:r>
            <a:r>
              <a:rPr lang="en-US" sz="2400" dirty="0" err="1"/>
              <a:t>yaşayan</a:t>
            </a:r>
            <a:r>
              <a:rPr lang="en-US" sz="2400" dirty="0"/>
              <a:t> </a:t>
            </a:r>
            <a:r>
              <a:rPr lang="en-US" sz="2400" dirty="0" err="1"/>
              <a:t>öğrencilerin</a:t>
            </a:r>
            <a:r>
              <a:rPr lang="en-US" sz="2400" dirty="0"/>
              <a:t> </a:t>
            </a:r>
            <a:r>
              <a:rPr lang="tr-TR" sz="2400" dirty="0"/>
              <a:t>mümkünse sınav anında</a:t>
            </a:r>
            <a:r>
              <a:rPr lang="en-US" sz="2400" dirty="0"/>
              <a:t> </a:t>
            </a:r>
            <a:r>
              <a:rPr lang="en-US" sz="2400" dirty="0" err="1"/>
              <a:t>sorunu</a:t>
            </a:r>
            <a:r>
              <a:rPr lang="en-US" sz="2400" dirty="0"/>
              <a:t> </a:t>
            </a:r>
            <a:r>
              <a:rPr lang="en-US" sz="2400" dirty="0" err="1"/>
              <a:t>belgeleyerek</a:t>
            </a:r>
            <a:r>
              <a:rPr lang="en-US" sz="2400" dirty="0"/>
              <a:t> </a:t>
            </a:r>
            <a:r>
              <a:rPr lang="en-US" sz="2400" dirty="0" err="1"/>
              <a:t>yine</a:t>
            </a:r>
            <a:r>
              <a:rPr lang="en-US" sz="2400" dirty="0"/>
              <a:t> </a:t>
            </a:r>
            <a:r>
              <a:rPr lang="tr-TR" sz="2400" dirty="0">
                <a:hlinkClick r:id="rId2"/>
              </a:rPr>
              <a:t>ogrenciydyo@uludag.edu.tr</a:t>
            </a:r>
            <a:r>
              <a:rPr lang="tr-TR" sz="2400" dirty="0"/>
              <a:t> adresine başvurmaları </a:t>
            </a:r>
            <a:r>
              <a:rPr lang="tr-TR" sz="2400" dirty="0" err="1"/>
              <a:t>gerekmektedi</a:t>
            </a:r>
            <a:r>
              <a:rPr lang="en-US" sz="2400" dirty="0"/>
              <a:t>r</a:t>
            </a:r>
            <a:r>
              <a:rPr lang="tr-TR" sz="2400" dirty="0"/>
              <a:t>) </a:t>
            </a:r>
          </a:p>
          <a:p>
            <a:pPr marL="342900" indent="-342900">
              <a:buFont typeface="Arial" panose="020B0604020202020204" pitchFamily="34" charset="0"/>
              <a:buChar char="•"/>
            </a:pPr>
            <a:r>
              <a:rPr lang="tr-TR" sz="2400" dirty="0"/>
              <a:t>Bursa Uludağ Üniversitesi senatosunca mazeret sınavı yapılması kararı alınması halinde, Yüksekokul Yönetim Kurulu tarafından mazereti kabul edilen öğrencilere mazeret sınavı yapılır. Mazeret sınav tarihleri Yüksekokul Yönetim Kurulu tarafından belirlenir ve ilan edilir. </a:t>
            </a:r>
          </a:p>
          <a:p>
            <a:pPr marL="342900" indent="-342900">
              <a:buFont typeface="Arial" panose="020B0604020202020204" pitchFamily="34" charset="0"/>
              <a:buChar char="•"/>
            </a:pPr>
            <a:r>
              <a:rPr lang="tr-TR" sz="2400" dirty="0"/>
              <a:t>Öğrencilerimizin alacağı sağlık raporları devamsızlık yerine geçmez. </a:t>
            </a:r>
          </a:p>
        </p:txBody>
      </p:sp>
    </p:spTree>
    <p:extLst>
      <p:ext uri="{BB962C8B-B14F-4D97-AF65-F5344CB8AC3E}">
        <p14:creationId xmlns:p14="http://schemas.microsoft.com/office/powerpoint/2010/main" val="410126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C8D1211-1BB1-498F-896D-E221670B6930}"/>
              </a:ext>
            </a:extLst>
          </p:cNvPr>
          <p:cNvSpPr>
            <a:spLocks noGrp="1"/>
          </p:cNvSpPr>
          <p:nvPr>
            <p:ph type="ctrTitle"/>
          </p:nvPr>
        </p:nvSpPr>
        <p:spPr>
          <a:xfrm>
            <a:off x="3934172" y="1498601"/>
            <a:ext cx="7746785" cy="2650479"/>
          </a:xfrm>
        </p:spPr>
        <p:txBody>
          <a:bodyPr/>
          <a:lstStyle/>
          <a:p>
            <a:pPr algn="ctr"/>
            <a:r>
              <a:rPr kumimoji="0" lang="tr-TR" sz="3600" b="1" i="0" u="none" strike="noStrike" kern="1200" cap="none" spc="0" normalizeH="0" baseline="0" noProof="0" dirty="0">
                <a:ln>
                  <a:noFill/>
                </a:ln>
                <a:effectLst/>
                <a:uLnTx/>
                <a:uFillTx/>
                <a:latin typeface="Century Gothic" panose="020B0502020202020204" pitchFamily="34" charset="0"/>
                <a:ea typeface="+mj-ea"/>
                <a:cs typeface="+mj-cs"/>
              </a:rPr>
              <a:t>Öğrencilerimizin Yerine Getirmeleri Gereken Sorumlulukları</a:t>
            </a:r>
            <a:endParaRPr lang="tr-TR" dirty="0"/>
          </a:p>
        </p:txBody>
      </p:sp>
    </p:spTree>
    <p:extLst>
      <p:ext uri="{BB962C8B-B14F-4D97-AF65-F5344CB8AC3E}">
        <p14:creationId xmlns:p14="http://schemas.microsoft.com/office/powerpoint/2010/main" val="3235901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2DC9405-E3B0-479E-9827-BF9F9FBB3B53}"/>
              </a:ext>
            </a:extLst>
          </p:cNvPr>
          <p:cNvSpPr>
            <a:spLocks noGrp="1"/>
          </p:cNvSpPr>
          <p:nvPr>
            <p:ph type="title"/>
          </p:nvPr>
        </p:nvSpPr>
        <p:spPr>
          <a:xfrm>
            <a:off x="1117309" y="76200"/>
            <a:ext cx="10157354" cy="832520"/>
          </a:xfrm>
        </p:spPr>
        <p:txBody>
          <a:bodyPr>
            <a:normAutofit/>
          </a:bodyPr>
          <a:lstStyle/>
          <a:p>
            <a:r>
              <a:rPr lang="tr-TR" sz="2800" b="1" dirty="0"/>
              <a:t>Derslere hazır bulunma</a:t>
            </a:r>
            <a:endParaRPr lang="en-US" sz="2800" b="1" dirty="0"/>
          </a:p>
        </p:txBody>
      </p:sp>
      <p:pic>
        <p:nvPicPr>
          <p:cNvPr id="5" name="Resim 4">
            <a:extLst>
              <a:ext uri="{FF2B5EF4-FFF2-40B4-BE49-F238E27FC236}">
                <a16:creationId xmlns:a16="http://schemas.microsoft.com/office/drawing/2014/main" id="{0B378977-61BB-4D26-BDB8-F6B2F2880B3E}"/>
              </a:ext>
            </a:extLst>
          </p:cNvPr>
          <p:cNvPicPr>
            <a:picLocks noChangeAspect="1"/>
          </p:cNvPicPr>
          <p:nvPr/>
        </p:nvPicPr>
        <p:blipFill>
          <a:blip r:embed="rId2"/>
          <a:stretch>
            <a:fillRect/>
          </a:stretch>
        </p:blipFill>
        <p:spPr>
          <a:xfrm>
            <a:off x="1341884" y="1052736"/>
            <a:ext cx="3752967" cy="3275971"/>
          </a:xfrm>
          <a:prstGeom prst="rect">
            <a:avLst/>
          </a:prstGeom>
          <a:noFill/>
        </p:spPr>
      </p:pic>
      <p:sp>
        <p:nvSpPr>
          <p:cNvPr id="4" name="Metin Yer Tutucusu 3">
            <a:extLst>
              <a:ext uri="{FF2B5EF4-FFF2-40B4-BE49-F238E27FC236}">
                <a16:creationId xmlns:a16="http://schemas.microsoft.com/office/drawing/2014/main" id="{E0A44800-E242-42EA-AD56-3F18D8549A4B}"/>
              </a:ext>
            </a:extLst>
          </p:cNvPr>
          <p:cNvSpPr>
            <a:spLocks noGrp="1"/>
          </p:cNvSpPr>
          <p:nvPr>
            <p:ph sz="half" idx="2"/>
          </p:nvPr>
        </p:nvSpPr>
        <p:spPr>
          <a:xfrm>
            <a:off x="5097384" y="1040931"/>
            <a:ext cx="5976665" cy="3275971"/>
          </a:xfrm>
        </p:spPr>
        <p:txBody>
          <a:bodyPr>
            <a:normAutofit/>
          </a:bodyPr>
          <a:lstStyle/>
          <a:p>
            <a:pPr marL="342900" indent="-342900">
              <a:buFont typeface="Arial" panose="020B0604020202020204" pitchFamily="34" charset="0"/>
              <a:buChar char="•"/>
            </a:pPr>
            <a:r>
              <a:rPr lang="tr-TR" sz="1800" dirty="0"/>
              <a:t>Öğrenciler derslere zamanında ve ders materyalleri ile katılmalıdır.</a:t>
            </a:r>
          </a:p>
          <a:p>
            <a:pPr marL="342900" indent="-342900">
              <a:buFont typeface="Arial" panose="020B0604020202020204" pitchFamily="34" charset="0"/>
              <a:buChar char="•"/>
            </a:pPr>
            <a:r>
              <a:rPr lang="tr-TR" sz="1800" dirty="0"/>
              <a:t>Yüz yüze yapılan derslerde olduğu gibi çevrim içi derslerde de dersin huzurunu bozmak, diğer öğrencilerin dikkatini dağıtmak disiplin suçudur.</a:t>
            </a:r>
          </a:p>
          <a:p>
            <a:pPr marL="342900" indent="-342900">
              <a:buFont typeface="Arial" panose="020B0604020202020204" pitchFamily="34" charset="0"/>
              <a:buChar char="•"/>
            </a:pPr>
            <a:r>
              <a:rPr lang="tr-TR" sz="1800" dirty="0"/>
              <a:t>Dönem boyunca işlenecek konuların haftalık dağılımı </a:t>
            </a:r>
            <a:r>
              <a:rPr lang="tr-TR" sz="1800" dirty="0" err="1"/>
              <a:t>Ukey</a:t>
            </a:r>
            <a:r>
              <a:rPr lang="tr-TR" sz="1800" dirty="0"/>
              <a:t> Sisteminde bulunan haftalık ders takip çizelgesin</a:t>
            </a:r>
            <a:r>
              <a:rPr lang="en-US" sz="1800" dirty="0"/>
              <a:t>de </a:t>
            </a:r>
            <a:r>
              <a:rPr lang="en-US" sz="1800" dirty="0" err="1"/>
              <a:t>paylaşılmıştır</a:t>
            </a:r>
            <a:r>
              <a:rPr lang="en-US" sz="1800" dirty="0"/>
              <a:t>;</a:t>
            </a:r>
            <a:r>
              <a:rPr lang="tr-TR" sz="1800" dirty="0"/>
              <a:t> haftalık olarak takip etmeniz derslerden maksimum verim elde etmek açısından oldukça önemlidir.</a:t>
            </a:r>
          </a:p>
          <a:p>
            <a:pPr marL="342900" indent="-342900">
              <a:buFont typeface="Arial" panose="020B0604020202020204" pitchFamily="34" charset="0"/>
              <a:buChar char="•"/>
            </a:pPr>
            <a:endParaRPr lang="tr-TR" sz="1400" dirty="0"/>
          </a:p>
        </p:txBody>
      </p:sp>
      <p:sp>
        <p:nvSpPr>
          <p:cNvPr id="2" name="Metin kutusu 1">
            <a:extLst>
              <a:ext uri="{FF2B5EF4-FFF2-40B4-BE49-F238E27FC236}">
                <a16:creationId xmlns:a16="http://schemas.microsoft.com/office/drawing/2014/main" id="{176491CF-C5F1-A5DC-B90A-916FA55300EF}"/>
              </a:ext>
            </a:extLst>
          </p:cNvPr>
          <p:cNvSpPr txBox="1"/>
          <p:nvPr/>
        </p:nvSpPr>
        <p:spPr>
          <a:xfrm>
            <a:off x="999592" y="4869160"/>
            <a:ext cx="10276249" cy="707886"/>
          </a:xfrm>
          <a:prstGeom prst="rect">
            <a:avLst/>
          </a:prstGeom>
          <a:noFill/>
        </p:spPr>
        <p:txBody>
          <a:bodyPr wrap="square">
            <a:spAutoFit/>
          </a:bodyPr>
          <a:lstStyle/>
          <a:p>
            <a:pPr marL="342900" indent="-342900">
              <a:buFont typeface="Arial" panose="020B0604020202020204" pitchFamily="34" charset="0"/>
              <a:buChar char="•"/>
            </a:pPr>
            <a:r>
              <a:rPr lang="tr-TR" sz="2000" b="1" u="sng" dirty="0"/>
              <a:t>Üniversitemizin tüm binalarından ücretsiz olarak Wifi (</a:t>
            </a:r>
            <a:r>
              <a:rPr lang="tr-TR" sz="2000" b="1" u="sng" dirty="0" err="1"/>
              <a:t>eduroam</a:t>
            </a:r>
            <a:r>
              <a:rPr lang="tr-TR" sz="2000" b="1" u="sng" dirty="0"/>
              <a:t>) hizmeti bulunmaktadır. Kullanımı ile ilgili bilgi web sayfasında mevcuttur. </a:t>
            </a:r>
            <a:endParaRPr lang="tr-TR" sz="2000" b="1" dirty="0">
              <a:solidFill>
                <a:srgbClr val="FF0000"/>
              </a:solidFill>
            </a:endParaRPr>
          </a:p>
        </p:txBody>
      </p:sp>
    </p:spTree>
    <p:extLst>
      <p:ext uri="{BB962C8B-B14F-4D97-AF65-F5344CB8AC3E}">
        <p14:creationId xmlns:p14="http://schemas.microsoft.com/office/powerpoint/2010/main" val="1495482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2DC9405-E3B0-479E-9827-BF9F9FBB3B53}"/>
              </a:ext>
            </a:extLst>
          </p:cNvPr>
          <p:cNvSpPr>
            <a:spLocks noGrp="1"/>
          </p:cNvSpPr>
          <p:nvPr>
            <p:ph type="title"/>
          </p:nvPr>
        </p:nvSpPr>
        <p:spPr>
          <a:xfrm>
            <a:off x="1117309" y="76200"/>
            <a:ext cx="10157354" cy="832520"/>
          </a:xfrm>
        </p:spPr>
        <p:txBody>
          <a:bodyPr>
            <a:normAutofit/>
          </a:bodyPr>
          <a:lstStyle/>
          <a:p>
            <a:r>
              <a:rPr lang="tr-TR" sz="2800" b="1" dirty="0"/>
              <a:t>Materyal Takibi</a:t>
            </a:r>
            <a:endParaRPr lang="en-US" sz="2800" b="1" dirty="0"/>
          </a:p>
        </p:txBody>
      </p:sp>
      <p:pic>
        <p:nvPicPr>
          <p:cNvPr id="5" name="Resim 4">
            <a:extLst>
              <a:ext uri="{FF2B5EF4-FFF2-40B4-BE49-F238E27FC236}">
                <a16:creationId xmlns:a16="http://schemas.microsoft.com/office/drawing/2014/main" id="{0B378977-61BB-4D26-BDB8-F6B2F2880B3E}"/>
              </a:ext>
            </a:extLst>
          </p:cNvPr>
          <p:cNvPicPr>
            <a:picLocks noChangeAspect="1"/>
          </p:cNvPicPr>
          <p:nvPr/>
        </p:nvPicPr>
        <p:blipFill>
          <a:blip r:embed="rId2"/>
          <a:stretch>
            <a:fillRect/>
          </a:stretch>
        </p:blipFill>
        <p:spPr>
          <a:xfrm>
            <a:off x="1341885" y="1052737"/>
            <a:ext cx="3134722" cy="2736304"/>
          </a:xfrm>
          <a:prstGeom prst="rect">
            <a:avLst/>
          </a:prstGeom>
          <a:noFill/>
        </p:spPr>
      </p:pic>
      <p:sp>
        <p:nvSpPr>
          <p:cNvPr id="4" name="Metin Yer Tutucusu 3">
            <a:extLst>
              <a:ext uri="{FF2B5EF4-FFF2-40B4-BE49-F238E27FC236}">
                <a16:creationId xmlns:a16="http://schemas.microsoft.com/office/drawing/2014/main" id="{E0A44800-E242-42EA-AD56-3F18D8549A4B}"/>
              </a:ext>
            </a:extLst>
          </p:cNvPr>
          <p:cNvSpPr>
            <a:spLocks noGrp="1"/>
          </p:cNvSpPr>
          <p:nvPr>
            <p:ph sz="half" idx="2"/>
          </p:nvPr>
        </p:nvSpPr>
        <p:spPr>
          <a:xfrm>
            <a:off x="4654252" y="1040931"/>
            <a:ext cx="6534981" cy="4476301"/>
          </a:xfrm>
        </p:spPr>
        <p:txBody>
          <a:bodyPr>
            <a:normAutofit/>
          </a:bodyPr>
          <a:lstStyle/>
          <a:p>
            <a:pPr>
              <a:lnSpc>
                <a:spcPct val="120000"/>
              </a:lnSpc>
              <a:spcBef>
                <a:spcPts val="1200"/>
              </a:spcBef>
              <a:spcAft>
                <a:spcPts val="300"/>
              </a:spcAft>
            </a:pPr>
            <a:r>
              <a:rPr lang="tr-TR" sz="1800" dirty="0" err="1"/>
              <a:t>Ukey’den</a:t>
            </a:r>
            <a:r>
              <a:rPr lang="tr-TR" sz="1800" dirty="0"/>
              <a:t> gönderilen mesajlar, </a:t>
            </a:r>
            <a:r>
              <a:rPr lang="tr-TR" sz="1800" b="1" u="sng" dirty="0" err="1"/>
              <a:t>uludag.edu.tr</a:t>
            </a:r>
            <a:r>
              <a:rPr lang="tr-TR" sz="1800" dirty="0"/>
              <a:t> uzantılı mail adreslerine iletileceğinden, öğrencilerin üniversite mail hesaplarını düzenli olarak takip etmeleri önemlidir. </a:t>
            </a:r>
          </a:p>
          <a:p>
            <a:pPr>
              <a:lnSpc>
                <a:spcPct val="120000"/>
              </a:lnSpc>
              <a:spcBef>
                <a:spcPts val="1200"/>
              </a:spcBef>
            </a:pPr>
            <a:r>
              <a:rPr lang="tr-TR" sz="1800" dirty="0"/>
              <a:t>Öğrencilerimiz de, dersi veren hocalarıyla iletişimini </a:t>
            </a:r>
            <a:r>
              <a:rPr lang="tr-TR" sz="1800" b="1" u="sng" dirty="0" err="1"/>
              <a:t>uludag.edu.tr</a:t>
            </a:r>
            <a:r>
              <a:rPr lang="tr-TR" sz="1800" dirty="0"/>
              <a:t> uzantılı mail adresleri ile yine </a:t>
            </a:r>
            <a:r>
              <a:rPr lang="tr-TR" sz="1800" b="1" u="sng" dirty="0"/>
              <a:t>UKEY</a:t>
            </a:r>
            <a:r>
              <a:rPr lang="tr-TR" sz="1800" dirty="0"/>
              <a:t> üzerinden yapacaklardır. </a:t>
            </a:r>
          </a:p>
          <a:p>
            <a:pPr>
              <a:lnSpc>
                <a:spcPct val="120000"/>
              </a:lnSpc>
              <a:spcBef>
                <a:spcPts val="1200"/>
              </a:spcBef>
            </a:pPr>
            <a:r>
              <a:rPr lang="tr-TR" sz="1800" dirty="0"/>
              <a:t>Öğrencilerin bireysel öğrenme süreçlerini daha verimli hale getirmeleri için derslere devam etmeleri, ödevlerini yapmaları ve </a:t>
            </a:r>
            <a:r>
              <a:rPr lang="tr-TR" sz="1800" b="1" u="sng" dirty="0"/>
              <a:t>UKEY</a:t>
            </a:r>
            <a:r>
              <a:rPr lang="tr-TR" sz="1800" dirty="0"/>
              <a:t> üzerinden paylaşılacak materyalleri takip etmeleri gerekmektedir.</a:t>
            </a:r>
          </a:p>
          <a:p>
            <a:pPr marL="342900" indent="-342900">
              <a:buFont typeface="Arial" panose="020B0604020202020204" pitchFamily="34" charset="0"/>
              <a:buChar char="•"/>
            </a:pPr>
            <a:endParaRPr lang="tr-TR" sz="1400" dirty="0"/>
          </a:p>
        </p:txBody>
      </p:sp>
      <p:sp>
        <p:nvSpPr>
          <p:cNvPr id="2" name="Metin kutusu 1">
            <a:extLst>
              <a:ext uri="{FF2B5EF4-FFF2-40B4-BE49-F238E27FC236}">
                <a16:creationId xmlns:a16="http://schemas.microsoft.com/office/drawing/2014/main" id="{176491CF-C5F1-A5DC-B90A-916FA55300EF}"/>
              </a:ext>
            </a:extLst>
          </p:cNvPr>
          <p:cNvSpPr txBox="1"/>
          <p:nvPr/>
        </p:nvSpPr>
        <p:spPr>
          <a:xfrm>
            <a:off x="693812" y="5661248"/>
            <a:ext cx="10276249" cy="707886"/>
          </a:xfrm>
          <a:prstGeom prst="rect">
            <a:avLst/>
          </a:prstGeom>
          <a:noFill/>
        </p:spPr>
        <p:txBody>
          <a:bodyPr wrap="square">
            <a:spAutoFit/>
          </a:bodyPr>
          <a:lstStyle/>
          <a:p>
            <a:pPr marL="342900" indent="-342900">
              <a:buFont typeface="Arial" panose="020B0604020202020204" pitchFamily="34" charset="0"/>
              <a:buChar char="•"/>
            </a:pPr>
            <a:r>
              <a:rPr lang="tr-TR" sz="2000" b="1" u="sng" dirty="0"/>
              <a:t>Üniversitemizin tüm binalarından ücretsiz olarak Wifi (</a:t>
            </a:r>
            <a:r>
              <a:rPr lang="tr-TR" sz="2000" b="1" u="sng" dirty="0" err="1"/>
              <a:t>eduroam</a:t>
            </a:r>
            <a:r>
              <a:rPr lang="tr-TR" sz="2000" b="1" u="sng" dirty="0"/>
              <a:t>) hizmeti bulunmaktadır. Kullanımı ile ilgili bilgi web sayfasında mevcuttur. </a:t>
            </a:r>
            <a:endParaRPr lang="tr-TR" sz="2000" b="1" dirty="0">
              <a:solidFill>
                <a:srgbClr val="FF0000"/>
              </a:solidFill>
            </a:endParaRPr>
          </a:p>
        </p:txBody>
      </p:sp>
    </p:spTree>
    <p:extLst>
      <p:ext uri="{BB962C8B-B14F-4D97-AF65-F5344CB8AC3E}">
        <p14:creationId xmlns:p14="http://schemas.microsoft.com/office/powerpoint/2010/main" val="102356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A9AD32E-2311-485B-BB85-2D471FC4CE42}"/>
              </a:ext>
            </a:extLst>
          </p:cNvPr>
          <p:cNvSpPr>
            <a:spLocks noGrp="1"/>
          </p:cNvSpPr>
          <p:nvPr>
            <p:ph sz="half" idx="2"/>
          </p:nvPr>
        </p:nvSpPr>
        <p:spPr>
          <a:xfrm>
            <a:off x="6297559" y="1701800"/>
            <a:ext cx="4977104" cy="4470400"/>
          </a:xfrm>
        </p:spPr>
        <p:txBody>
          <a:bodyPr>
            <a:normAutofit/>
          </a:bodyPr>
          <a:lstStyle/>
          <a:p>
            <a:pPr marL="0" marR="0" lvl="0" indent="0" algn="ctr" defTabSz="1218987" rtl="0" eaLnBrk="1" fontAlgn="auto" latinLnBrk="0" hangingPunct="1">
              <a:spcBef>
                <a:spcPts val="1866"/>
              </a:spcBef>
              <a:spcAft>
                <a:spcPts val="0"/>
              </a:spcAft>
              <a:buClr>
                <a:srgbClr val="51C3F9">
                  <a:lumMod val="50000"/>
                </a:srgbClr>
              </a:buClr>
              <a:buSzPct val="100000"/>
              <a:buFont typeface="Arial" pitchFamily="34" charset="0"/>
              <a:buNone/>
              <a:tabLst/>
              <a:defRPr/>
            </a:pPr>
            <a:r>
              <a:rPr lang="tr-TR" sz="4800" b="1" dirty="0"/>
              <a:t>HEPİNİZE BAŞARILI ve SAĞLIKLI        BİR YIL DİLİYORUZ.</a:t>
            </a:r>
          </a:p>
        </p:txBody>
      </p:sp>
      <p:pic>
        <p:nvPicPr>
          <p:cNvPr id="4" name="Resim 3">
            <a:extLst>
              <a:ext uri="{FF2B5EF4-FFF2-40B4-BE49-F238E27FC236}">
                <a16:creationId xmlns:a16="http://schemas.microsoft.com/office/drawing/2014/main" id="{2C51E610-42D3-415A-93BD-EBEA5A8E10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785" y="1340768"/>
            <a:ext cx="4523627" cy="4523627"/>
          </a:xfrm>
          <a:prstGeom prst="rect">
            <a:avLst/>
          </a:prstGeom>
        </p:spPr>
      </p:pic>
    </p:spTree>
    <p:extLst>
      <p:ext uri="{BB962C8B-B14F-4D97-AF65-F5344CB8AC3E}">
        <p14:creationId xmlns:p14="http://schemas.microsoft.com/office/powerpoint/2010/main" val="889254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itaplar 16 x 9">
  <a:themeElements>
    <a:clrScheme name="Books_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extLst>
    <a:ext uri="{05A4C25C-085E-4340-85A3-A5531E510DB2}">
      <thm15:themeFamily xmlns:thm15="http://schemas.microsoft.com/office/thememl/2012/main" name="Office_9412019_TF02787940_TF02787940.potx" id="{28172E8D-EAD7-4AC2-8B44-6816FF20E00E}" vid="{89738596-E4E7-4B62-90A4-7590996B647A}"/>
    </a:ext>
  </a:extLst>
</a:theme>
</file>

<file path=ppt/theme/theme2.xml><?xml version="1.0" encoding="utf-8"?>
<a:theme xmlns:a="http://schemas.openxmlformats.org/drawingml/2006/main" name="Office Teması">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ppt/theme/theme3.xml><?xml version="1.0" encoding="utf-8"?>
<a:theme xmlns:a="http://schemas.openxmlformats.org/drawingml/2006/main" name="Office Teması">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9D04DB40CBBAD94294D72011AD624CBC" ma:contentTypeVersion="12" ma:contentTypeDescription="Yeni belge oluşturun." ma:contentTypeScope="" ma:versionID="0b8423ba3ebd53964b382abdee1d0f0e">
  <xsd:schema xmlns:xsd="http://www.w3.org/2001/XMLSchema" xmlns:xs="http://www.w3.org/2001/XMLSchema" xmlns:p="http://schemas.microsoft.com/office/2006/metadata/properties" xmlns:ns2="a20b5bb5-774e-4794-b439-e3ee95d4f754" xmlns:ns3="c6e0a242-d0cd-471f-b107-65597557aca9" targetNamespace="http://schemas.microsoft.com/office/2006/metadata/properties" ma:root="true" ma:fieldsID="a596eca2b2f995a65ac5af29a58e5676" ns2:_="" ns3:_="">
    <xsd:import namespace="a20b5bb5-774e-4794-b439-e3ee95d4f754"/>
    <xsd:import namespace="c6e0a242-d0cd-471f-b107-65597557aca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0b5bb5-774e-4794-b439-e3ee95d4f7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Resim Etiketleri" ma:readOnly="false" ma:fieldId="{5cf76f15-5ced-4ddc-b409-7134ff3c332f}" ma:taxonomyMulti="true" ma:sspId="9db1c256-a82f-462e-a929-e998d7a0a03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6e0a242-d0cd-471f-b107-65597557aca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d7f7d49-8610-4871-abfd-653cdbc635a9}" ma:internalName="TaxCatchAll" ma:showField="CatchAllData" ma:web="c6e0a242-d0cd-471f-b107-65597557ac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20b5bb5-774e-4794-b439-e3ee95d4f754">
      <Terms xmlns="http://schemas.microsoft.com/office/infopath/2007/PartnerControls"/>
    </lcf76f155ced4ddcb4097134ff3c332f>
    <TaxCatchAll xmlns="c6e0a242-d0cd-471f-b107-65597557aca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A649BA-D060-4EAF-B411-986D0254764D}"/>
</file>

<file path=customXml/itemProps2.xml><?xml version="1.0" encoding="utf-8"?>
<ds:datastoreItem xmlns:ds="http://schemas.openxmlformats.org/officeDocument/2006/customXml" ds:itemID="{F301D382-32B0-43EE-932C-28906AF37617}">
  <ds:schemaRefs>
    <ds:schemaRef ds:uri="http://www.w3.org/XML/1998/namespace"/>
    <ds:schemaRef ds:uri="http://purl.org/dc/elements/1.1/"/>
    <ds:schemaRef ds:uri="http://schemas.openxmlformats.org/package/2006/metadata/core-properties"/>
    <ds:schemaRef ds:uri="http://schemas.microsoft.com/office/infopath/2007/PartnerControls"/>
    <ds:schemaRef ds:uri="http://schemas.microsoft.com/office/2006/documentManagement/types"/>
    <ds:schemaRef ds:uri="4873beb7-5857-4685-be1f-d57550cc96cc"/>
    <ds:schemaRef ds:uri="http://schemas.microsoft.com/office/2006/metadata/properties"/>
    <ds:schemaRef ds:uri="http://purl.org/dc/dcmitype/"/>
    <ds:schemaRef ds:uri="http://purl.org/dc/terms/"/>
    <ds:schemaRef ds:uri="a20b5bb5-774e-4794-b439-e3ee95d4f754"/>
    <ds:schemaRef ds:uri="c6e0a242-d0cd-471f-b107-65597557aca9"/>
  </ds:schemaRefs>
</ds:datastoreItem>
</file>

<file path=customXml/itemProps3.xml><?xml version="1.0" encoding="utf-8"?>
<ds:datastoreItem xmlns:ds="http://schemas.openxmlformats.org/officeDocument/2006/customXml" ds:itemID="{81013E8B-86D1-49A1-BDFC-E198D37C96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1167</Words>
  <Application>Microsoft Macintosh PowerPoint</Application>
  <PresentationFormat>Custom</PresentationFormat>
  <Paragraphs>124</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Britannic Bold</vt:lpstr>
      <vt:lpstr>Century Gothic</vt:lpstr>
      <vt:lpstr>Kitaplar 16 x 9</vt:lpstr>
      <vt:lpstr>  BURSA ULUDAĞ ÜNİVERSİTESİ </vt:lpstr>
      <vt:lpstr>Müdürün Mesajı</vt:lpstr>
      <vt:lpstr>Eğitim Felsefemiz</vt:lpstr>
      <vt:lpstr>OKULUMUZ YABANCI DİL EĞİTİMİ 2022 YILINDA EAQUALS TARAFINDAN AKREDİTE EDİLMİŞTİR.   </vt:lpstr>
      <vt:lpstr>AKADEMİK TAKVİM</vt:lpstr>
      <vt:lpstr>PowerPoint Presentation</vt:lpstr>
      <vt:lpstr>DERSLERİMİZDE KULLANACAĞIMIZ MATERYALLER VE DİJİTAL ARAÇLAR</vt:lpstr>
      <vt:lpstr>Online derslerimizde kullanacağımız konferans programımız Microsoft Teams uygulamasıdır. Üniversitemiz öğrencilerine lisanslı kullanım hakkı verilen uygulamanın kayıt ve kurulum işlemleri için lütfen ders materyali olarak paylaşılmış olan ilgili dosyaları inceleyiniz. Her öğrencimizin uludag.edu.tr uzantılı mail adreslerini aktif olarak kullanması gerekmektedir.   MICROSOFT TEAMS KURULUMU İLE İLGİLİ SORUN YAŞAYAN ÖĞRENCİLER KENDİ BÖLÜMLERİNİN ÖĞRENCİ İŞLERİNE MÜRACAAT EDEBİLİR.</vt:lpstr>
      <vt:lpstr>PowerPoint Presentation</vt:lpstr>
      <vt:lpstr>PowerPoint Presentation</vt:lpstr>
      <vt:lpstr>PowerPoint Presentation</vt:lpstr>
      <vt:lpstr>PowerPoint Presentation</vt:lpstr>
      <vt:lpstr>DEĞERLENDİRME</vt:lpstr>
      <vt:lpstr>DEĞERLENDİRME</vt:lpstr>
      <vt:lpstr>PowerPoint Presentation</vt:lpstr>
      <vt:lpstr>PowerPoint Presentation</vt:lpstr>
      <vt:lpstr>PowerPoint Presentation</vt:lpstr>
      <vt:lpstr>Öğrencilerimizin Yerine Getirmeleri Gereken Sorumlulukları</vt:lpstr>
      <vt:lpstr>Derslere hazır bulunma</vt:lpstr>
      <vt:lpstr>Materyal Takibi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BURSA ULUDAĞ ÜNİVERSİTESİ </dc:title>
  <dc:creator/>
  <cp:lastModifiedBy/>
  <cp:revision>23</cp:revision>
  <dcterms:created xsi:type="dcterms:W3CDTF">2021-09-07T10:40:45Z</dcterms:created>
  <dcterms:modified xsi:type="dcterms:W3CDTF">2026-09-22T09:52:44Z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0x0101009D04DB40CBBAD94294D72011AD624CBC</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